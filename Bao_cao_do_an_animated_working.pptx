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DM Sans Bold" pitchFamily="2" charset="77"/>
      <p:regular r:id="rId38"/>
      <p:bold r:id="rId39"/>
    </p:embeddedFont>
    <p:embeddedFont>
      <p:font typeface="IBM Plex Mono" panose="020B0509050203000203" pitchFamily="49" charset="77"/>
      <p:regular r:id="rId40"/>
      <p:bold r:id="rId41"/>
      <p:italic r:id="rId42"/>
      <p:boldItalic r:id="rId43"/>
    </p:embeddedFont>
    <p:embeddedFont>
      <p:font typeface="Roboto Bold Italics" panose="02000000000000000000" pitchFamily="2" charset="0"/>
      <p:regular r:id="rId44"/>
      <p:bold r:id="rId45"/>
      <p:italic r:id="rId46"/>
      <p:boldItalic r:id="rId47"/>
    </p:embeddedFont>
    <p:embeddedFont>
      <p:font typeface="Roboto Italics" panose="02000000000000000000" pitchFamily="2" charset="0"/>
      <p:regular r:id="rId48"/>
      <p:italic r:id="rId49"/>
    </p:embeddedFont>
    <p:embeddedFont>
      <p:font typeface="Roboto Slab" pitchFamily="2" charset="0"/>
      <p:regular r:id="rId50"/>
      <p:bold r:id="rId51"/>
    </p:embeddedFont>
    <p:embeddedFont>
      <p:font typeface="Roboto Slab Bold"/>
      <p:regular r:id="rId52"/>
      <p:bold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D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 autoAdjust="0"/>
    <p:restoredTop sz="94677" autoAdjust="0"/>
  </p:normalViewPr>
  <p:slideViewPr>
    <p:cSldViewPr>
      <p:cViewPr varScale="1">
        <p:scale>
          <a:sx n="140" d="100"/>
          <a:sy n="140" d="100"/>
        </p:scale>
        <p:origin x="968" y="-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D6ED65-3F23-5842-BEB8-A88377FAD26D}" type="datetimeFigureOut">
              <a:rPr lang="en-VN" smtClean="0"/>
              <a:t>12/6/26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13500-058A-DE4F-A714-06CB82829E2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076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5860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19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9686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C13500-058A-DE4F-A714-06CB82829E2B}" type="slidenum">
              <a:rPr lang="en-VN" smtClean="0"/>
              <a:t>20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3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pn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61779" y="1102374"/>
            <a:ext cx="2024168" cy="2144246"/>
          </a:xfrm>
          <a:custGeom>
            <a:avLst/>
            <a:gdLst/>
            <a:ahLst/>
            <a:cxnLst/>
            <a:rect l="l" t="t" r="r" b="b"/>
            <a:pathLst>
              <a:path w="2024168" h="2144246">
                <a:moveTo>
                  <a:pt x="0" y="0"/>
                </a:moveTo>
                <a:lnTo>
                  <a:pt x="2024169" y="0"/>
                </a:lnTo>
                <a:lnTo>
                  <a:pt x="2024169" y="2144246"/>
                </a:lnTo>
                <a:lnTo>
                  <a:pt x="0" y="2144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6" name="TextBox 6"/>
          <p:cNvSpPr txBox="1"/>
          <p:nvPr/>
        </p:nvSpPr>
        <p:spPr>
          <a:xfrm>
            <a:off x="7769084" y="199955"/>
            <a:ext cx="4009560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08359" y="5394517"/>
            <a:ext cx="12131009" cy="124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4"/>
              </a:lnSpc>
            </a:pPr>
            <a:r>
              <a:rPr lang="en-US" sz="4129" b="1" spc="11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NGHIÊN CỨU PHÁT TRIỂN TRỢ LÝ ẢO PHÁP LUẬT CHO CHUYỂN ĐỔI SỐ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64929" y="7594683"/>
            <a:ext cx="4063812" cy="153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 viên thực hiện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Vương Văn Duy</a:t>
            </a:r>
          </a:p>
          <a:p>
            <a:pPr algn="l">
              <a:lnSpc>
                <a:spcPts val="3559"/>
              </a:lnSpc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Giảng viên hướng dẫn</a:t>
            </a:r>
          </a:p>
          <a:p>
            <a:pPr marL="548995" lvl="1" indent="-274498" algn="l">
              <a:lnSpc>
                <a:spcPts val="3559"/>
              </a:lnSpc>
              <a:buFont typeface="Arial"/>
              <a:buChar char="•"/>
            </a:pPr>
            <a:r>
              <a:rPr lang="en-US" sz="2542" spc="6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ThS. Trần Đức Thịnh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44389" y="3916574"/>
            <a:ext cx="5858949" cy="34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7"/>
              </a:lnSpc>
            </a:pPr>
            <a:r>
              <a:rPr lang="en-US" sz="3099" b="1" spc="74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BÁO CÁO ĐỒ ÁN TỐT NGHIỆP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64929" y="4809801"/>
            <a:ext cx="3577720" cy="3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3042" spc="73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 TÀI: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469617" y="2876965"/>
            <a:ext cx="9348766" cy="975360"/>
            <a:chOff x="0" y="0"/>
            <a:chExt cx="2462276" cy="257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1. PHÁT BIỂU BÀI TOÁN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01061" y="1861633"/>
            <a:ext cx="2885878" cy="477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3"/>
              </a:lnSpc>
            </a:pPr>
            <a:r>
              <a:rPr lang="en-US" sz="4299" b="1" spc="103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NỘI DUNG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469617" y="4171115"/>
            <a:ext cx="9348766" cy="975360"/>
            <a:chOff x="0" y="0"/>
            <a:chExt cx="2462276" cy="257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2. CƠ SỞ LÝ THUYẾT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469617" y="5460800"/>
            <a:ext cx="9348766" cy="975360"/>
            <a:chOff x="0" y="0"/>
            <a:chExt cx="2462276" cy="257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3. XÂY DỰNG HỆ THỐNG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69617" y="6750485"/>
            <a:ext cx="9348766" cy="975360"/>
            <a:chOff x="0" y="0"/>
            <a:chExt cx="2462276" cy="2570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62276" cy="257048"/>
            </a:xfrm>
            <a:custGeom>
              <a:avLst/>
              <a:gdLst/>
              <a:ahLst/>
              <a:cxnLst/>
              <a:rect l="l" t="t" r="r" b="b"/>
              <a:pathLst>
                <a:path w="2462276" h="257048">
                  <a:moveTo>
                    <a:pt x="2462276" y="19047"/>
                  </a:moveTo>
                  <a:lnTo>
                    <a:pt x="2462276" y="238001"/>
                  </a:lnTo>
                  <a:cubicBezTo>
                    <a:pt x="2462276" y="243053"/>
                    <a:pt x="2460269" y="247897"/>
                    <a:pt x="2456697" y="251469"/>
                  </a:cubicBezTo>
                  <a:cubicBezTo>
                    <a:pt x="2453125" y="255041"/>
                    <a:pt x="2448281" y="257048"/>
                    <a:pt x="2443229" y="257048"/>
                  </a:cubicBezTo>
                  <a:lnTo>
                    <a:pt x="19047" y="257048"/>
                  </a:lnTo>
                  <a:cubicBezTo>
                    <a:pt x="13995" y="257048"/>
                    <a:pt x="9151" y="255041"/>
                    <a:pt x="5579" y="251469"/>
                  </a:cubicBezTo>
                  <a:cubicBezTo>
                    <a:pt x="2007" y="247897"/>
                    <a:pt x="0" y="243053"/>
                    <a:pt x="0" y="238001"/>
                  </a:cubicBezTo>
                  <a:lnTo>
                    <a:pt x="0" y="19047"/>
                  </a:lnTo>
                  <a:cubicBezTo>
                    <a:pt x="0" y="13995"/>
                    <a:pt x="2007" y="9151"/>
                    <a:pt x="5579" y="5579"/>
                  </a:cubicBezTo>
                  <a:cubicBezTo>
                    <a:pt x="9151" y="2007"/>
                    <a:pt x="13995" y="0"/>
                    <a:pt x="19047" y="0"/>
                  </a:cubicBezTo>
                  <a:lnTo>
                    <a:pt x="2443229" y="0"/>
                  </a:lnTo>
                  <a:cubicBezTo>
                    <a:pt x="2448281" y="0"/>
                    <a:pt x="2453125" y="2007"/>
                    <a:pt x="2456697" y="5579"/>
                  </a:cubicBezTo>
                  <a:cubicBezTo>
                    <a:pt x="2460269" y="9151"/>
                    <a:pt x="2462276" y="13995"/>
                    <a:pt x="2462276" y="19047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462276" cy="314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4. THỰC NGHIỆM VÀ KẾT LUẬN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5" grpId="0"/>
      <p:bldP spid="8" grpId="0"/>
      <p:bldP spid="9" grpId="0"/>
      <p:bldP spid="12" grpId="0"/>
      <p:bldP spid="15" grpId="0"/>
      <p:bldP spid="22" grpId="0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PHÁT BIỂU BÀI TOÁN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1276" y="1095375"/>
            <a:ext cx="4921611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1.1. Lý do chọn đề tài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0801" y="1839543"/>
            <a:ext cx="9848374" cy="57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Bắt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từ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những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khó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khăn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trong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quá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trình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cứu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tiếp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cận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thông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tin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về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của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người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dân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đổi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bởi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40079" lvl="2" indent="-213360" algn="just">
              <a:lnSpc>
                <a:spcPts val="4479"/>
              </a:lnSpc>
              <a:buFont typeface="Arial"/>
              <a:buChar char="⚬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còn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6CB54-A106-5BB3-D804-7C230CE5E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274" y="1333500"/>
            <a:ext cx="6565345" cy="739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447607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1.2. Mục tiêu đề tài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725243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Mục tiêu xây dựng hệ thống Chatbot pháp luật đáp ứng những yêu cầu sau: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89385" y="3668453"/>
            <a:ext cx="5253012" cy="3901766"/>
            <a:chOff x="0" y="0"/>
            <a:chExt cx="7004016" cy="5202355"/>
          </a:xfrm>
        </p:grpSpPr>
        <p:sp>
          <p:nvSpPr>
            <p:cNvPr id="12" name="Freeform 12"/>
            <p:cNvSpPr/>
            <p:nvPr/>
          </p:nvSpPr>
          <p:spPr>
            <a:xfrm>
              <a:off x="2105326" y="0"/>
              <a:ext cx="2793365" cy="2793365"/>
            </a:xfrm>
            <a:custGeom>
              <a:avLst/>
              <a:gdLst/>
              <a:ahLst/>
              <a:cxnLst/>
              <a:rect l="l" t="t" r="r" b="b"/>
              <a:pathLst>
                <a:path w="2793365" h="2793365">
                  <a:moveTo>
                    <a:pt x="0" y="0"/>
                  </a:moveTo>
                  <a:lnTo>
                    <a:pt x="2793365" y="0"/>
                  </a:lnTo>
                  <a:lnTo>
                    <a:pt x="2793365" y="2793365"/>
                  </a:lnTo>
                  <a:lnTo>
                    <a:pt x="0" y="2793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Cung cấp câu trả lời có căn cứ, có nguồn tham chiếu và phù hợp với ngữ cảnh câu hỏi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83980" y="3733676"/>
            <a:ext cx="5253012" cy="3226890"/>
            <a:chOff x="0" y="0"/>
            <a:chExt cx="7004016" cy="4302519"/>
          </a:xfrm>
        </p:grpSpPr>
        <p:sp>
          <p:nvSpPr>
            <p:cNvPr id="15" name="Freeform 15"/>
            <p:cNvSpPr/>
            <p:nvPr/>
          </p:nvSpPr>
          <p:spPr>
            <a:xfrm>
              <a:off x="2139489" y="0"/>
              <a:ext cx="2725039" cy="2619438"/>
            </a:xfrm>
            <a:custGeom>
              <a:avLst/>
              <a:gdLst/>
              <a:ahLst/>
              <a:cxnLst/>
              <a:rect l="l" t="t" r="r" b="b"/>
              <a:pathLst>
                <a:path w="2725039" h="2619438">
                  <a:moveTo>
                    <a:pt x="0" y="0"/>
                  </a:moveTo>
                  <a:lnTo>
                    <a:pt x="2725039" y="0"/>
                  </a:lnTo>
                  <a:lnTo>
                    <a:pt x="2725039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79" b="-8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820920"/>
              <a:ext cx="7004016" cy="14815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Hỗ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trợ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người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dùng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cứu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tư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pháp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luật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bằng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ngôn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ngữ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tự</a:t>
              </a:r>
              <a:r>
                <a:rPr lang="en-US" sz="2400" b="1" dirty="0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00" b="1" dirty="0" err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nhiên</a:t>
              </a:r>
              <a:endParaRPr lang="en-US" sz="24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51008" y="3668453"/>
            <a:ext cx="5253012" cy="3901766"/>
            <a:chOff x="0" y="0"/>
            <a:chExt cx="7004016" cy="5202355"/>
          </a:xfrm>
        </p:grpSpPr>
        <p:sp>
          <p:nvSpPr>
            <p:cNvPr id="18" name="Freeform 18"/>
            <p:cNvSpPr/>
            <p:nvPr/>
          </p:nvSpPr>
          <p:spPr>
            <a:xfrm>
              <a:off x="2382198" y="0"/>
              <a:ext cx="2239620" cy="2619438"/>
            </a:xfrm>
            <a:custGeom>
              <a:avLst/>
              <a:gdLst/>
              <a:ahLst/>
              <a:cxnLst/>
              <a:rect l="l" t="t" r="r" b="b"/>
              <a:pathLst>
                <a:path w="2239620" h="2619438">
                  <a:moveTo>
                    <a:pt x="0" y="0"/>
                  </a:moveTo>
                  <a:lnTo>
                    <a:pt x="2239620" y="0"/>
                  </a:lnTo>
                  <a:lnTo>
                    <a:pt x="2239620" y="2619438"/>
                  </a:lnTo>
                  <a:lnTo>
                    <a:pt x="0" y="2619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" r="-4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907883"/>
              <a:ext cx="7004016" cy="2294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4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Tổ chức kho tri thức pháp luật để hệ thống có thể tìm kiếm, truy hồi và cập nhật dữ liệu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" grpId="0"/>
      <p:bldP spid="10" grpId="0"/>
      <p:bldP spid="11" grpId="0"/>
      <p:bldP spid="14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1" name="Group 11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2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839542" y="5360956"/>
            <a:ext cx="6608916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CƠ SỞ LÝ THUYẾT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601470" y="9477699"/>
            <a:ext cx="4657830" cy="436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 spc="5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MAJOR: INTERIOR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95375"/>
            <a:ext cx="277591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2.1. Chatbot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671" y="3728657"/>
            <a:ext cx="9848374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8" lvl="1" indent="-302259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diễn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dung.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011385" y="2359114"/>
            <a:ext cx="5575744" cy="5568772"/>
          </a:xfrm>
          <a:custGeom>
            <a:avLst/>
            <a:gdLst/>
            <a:ahLst/>
            <a:cxnLst/>
            <a:rect l="l" t="t" r="r" b="b"/>
            <a:pathLst>
              <a:path w="5575744" h="5568772">
                <a:moveTo>
                  <a:pt x="0" y="0"/>
                </a:moveTo>
                <a:lnTo>
                  <a:pt x="5575744" y="0"/>
                </a:lnTo>
                <a:lnTo>
                  <a:pt x="5575744" y="5568772"/>
                </a:lnTo>
                <a:lnTo>
                  <a:pt x="0" y="55687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2" r="-22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3" grpId="0"/>
      <p:bldP spid="4" grpId="0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1550" y="2630118"/>
            <a:ext cx="9201207" cy="398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soát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Thiếu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thuộc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155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dựa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trên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tập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1635993" y="1888127"/>
            <a:ext cx="5496614" cy="7121113"/>
            <a:chOff x="0" y="0"/>
            <a:chExt cx="7328819" cy="9494816"/>
          </a:xfrm>
        </p:grpSpPr>
        <p:sp>
          <p:nvSpPr>
            <p:cNvPr id="13" name="Freeform 13"/>
            <p:cNvSpPr/>
            <p:nvPr/>
          </p:nvSpPr>
          <p:spPr>
            <a:xfrm>
              <a:off x="4424571" y="3713219"/>
              <a:ext cx="2762174" cy="2409990"/>
            </a:xfrm>
            <a:custGeom>
              <a:avLst/>
              <a:gdLst/>
              <a:ahLst/>
              <a:cxnLst/>
              <a:rect l="l" t="t" r="r" b="b"/>
              <a:pathLst>
                <a:path w="2762174" h="2409990">
                  <a:moveTo>
                    <a:pt x="0" y="0"/>
                  </a:moveTo>
                  <a:lnTo>
                    <a:pt x="2762174" y="0"/>
                  </a:lnTo>
                  <a:lnTo>
                    <a:pt x="2762174" y="2409990"/>
                  </a:lnTo>
                  <a:lnTo>
                    <a:pt x="0" y="240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53" r="-53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0" y="3954332"/>
              <a:ext cx="2996639" cy="1977782"/>
              <a:chOff x="0" y="0"/>
              <a:chExt cx="635000" cy="419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0C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KỊCH BẢN 2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2996639" y="4943222"/>
              <a:ext cx="145296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332180" y="0"/>
              <a:ext cx="2996639" cy="1977782"/>
              <a:chOff x="0" y="0"/>
              <a:chExt cx="635000" cy="4191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FC9BA0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82307" y="7517034"/>
              <a:ext cx="2996639" cy="1977782"/>
              <a:chOff x="0" y="0"/>
              <a:chExt cx="635000" cy="4191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35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35000" h="419100">
                    <a:moveTo>
                      <a:pt x="67280" y="0"/>
                    </a:moveTo>
                    <a:lnTo>
                      <a:pt x="567720" y="0"/>
                    </a:lnTo>
                    <a:cubicBezTo>
                      <a:pt x="585564" y="0"/>
                      <a:pt x="602677" y="7088"/>
                      <a:pt x="615294" y="19706"/>
                    </a:cubicBezTo>
                    <a:cubicBezTo>
                      <a:pt x="627912" y="32323"/>
                      <a:pt x="635000" y="49436"/>
                      <a:pt x="635000" y="67280"/>
                    </a:cubicBezTo>
                    <a:lnTo>
                      <a:pt x="635000" y="351820"/>
                    </a:lnTo>
                    <a:cubicBezTo>
                      <a:pt x="635000" y="369664"/>
                      <a:pt x="627912" y="386777"/>
                      <a:pt x="615294" y="399394"/>
                    </a:cubicBezTo>
                    <a:cubicBezTo>
                      <a:pt x="602677" y="412012"/>
                      <a:pt x="585564" y="419100"/>
                      <a:pt x="567720" y="419100"/>
                    </a:cubicBezTo>
                    <a:lnTo>
                      <a:pt x="67280" y="419100"/>
                    </a:lnTo>
                    <a:cubicBezTo>
                      <a:pt x="49436" y="419100"/>
                      <a:pt x="32323" y="412012"/>
                      <a:pt x="19706" y="399394"/>
                    </a:cubicBezTo>
                    <a:cubicBezTo>
                      <a:pt x="7088" y="386777"/>
                      <a:pt x="0" y="369664"/>
                      <a:pt x="0" y="351820"/>
                    </a:cubicBezTo>
                    <a:lnTo>
                      <a:pt x="0" y="67280"/>
                    </a:lnTo>
                    <a:cubicBezTo>
                      <a:pt x="0" y="49436"/>
                      <a:pt x="7088" y="32323"/>
                      <a:pt x="19706" y="19706"/>
                    </a:cubicBezTo>
                    <a:cubicBezTo>
                      <a:pt x="32323" y="7088"/>
                      <a:pt x="49436" y="0"/>
                      <a:pt x="67280" y="0"/>
                    </a:cubicBezTo>
                    <a:close/>
                  </a:path>
                </a:pathLst>
              </a:custGeom>
              <a:solidFill>
                <a:srgbClr val="38B6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635000" cy="457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830499" y="1977782"/>
              <a:ext cx="0" cy="176045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  <p:sp>
          <p:nvSpPr>
            <p:cNvPr id="31" name="AutoShape 31"/>
            <p:cNvSpPr/>
            <p:nvPr/>
          </p:nvSpPr>
          <p:spPr>
            <a:xfrm flipH="1">
              <a:off x="5830499" y="6132250"/>
              <a:ext cx="25032" cy="13938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3" name="Freeform 33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Chatbot dựa trên LLMs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ngôn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nhiên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hiểu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cảnh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504770" y="9157959"/>
            <a:ext cx="6942696" cy="34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18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** “Bịa” là từ thể hiện việc tự nghĩ ra nội dung không có thật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89148" y="2474109"/>
            <a:ext cx="7516677" cy="1956573"/>
            <a:chOff x="0" y="0"/>
            <a:chExt cx="10022237" cy="2608765"/>
          </a:xfrm>
        </p:grpSpPr>
        <p:sp>
          <p:nvSpPr>
            <p:cNvPr id="14" name="Freeform 14"/>
            <p:cNvSpPr/>
            <p:nvPr/>
          </p:nvSpPr>
          <p:spPr>
            <a:xfrm>
              <a:off x="4312764" y="0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1682737"/>
              <a:ext cx="2758266" cy="876752"/>
              <a:chOff x="0" y="0"/>
              <a:chExt cx="544843" cy="1731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725497" y="1557261"/>
              <a:ext cx="2573274" cy="1051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1"/>
                </a:lnSpc>
              </a:pPr>
              <a:r>
                <a:rPr lang="en-US" sz="21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sinh câu trả lời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2758266" y="2121113"/>
              <a:ext cx="967231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263971" y="1682737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6298771" y="2121113"/>
              <a:ext cx="96520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345765" y="5143500"/>
            <a:ext cx="7360061" cy="3707261"/>
            <a:chOff x="0" y="0"/>
            <a:chExt cx="9813414" cy="4943015"/>
          </a:xfrm>
        </p:grpSpPr>
        <p:sp>
          <p:nvSpPr>
            <p:cNvPr id="25" name="TextBox 25"/>
            <p:cNvSpPr txBox="1"/>
            <p:nvPr/>
          </p:nvSpPr>
          <p:spPr>
            <a:xfrm>
              <a:off x="3863372" y="4439316"/>
              <a:ext cx="996239" cy="503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98"/>
                </a:lnSpc>
              </a:pPr>
              <a:r>
                <a:rPr lang="en-US" sz="21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3662115" y="3128435"/>
              <a:ext cx="1398740" cy="1404010"/>
            </a:xfrm>
            <a:custGeom>
              <a:avLst/>
              <a:gdLst/>
              <a:ahLst/>
              <a:cxnLst/>
              <a:rect l="l" t="t" r="r" b="b"/>
              <a:pathLst>
                <a:path w="1398740" h="1404010">
                  <a:moveTo>
                    <a:pt x="0" y="0"/>
                  </a:moveTo>
                  <a:lnTo>
                    <a:pt x="1398740" y="0"/>
                  </a:lnTo>
                  <a:lnTo>
                    <a:pt x="1398740" y="1404010"/>
                  </a:lnTo>
                  <a:lnTo>
                    <a:pt x="0" y="1404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7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668413" y="0"/>
              <a:ext cx="5145001" cy="3125588"/>
            </a:xfrm>
            <a:custGeom>
              <a:avLst/>
              <a:gdLst/>
              <a:ahLst/>
              <a:cxnLst/>
              <a:rect l="l" t="t" r="r" b="b"/>
              <a:pathLst>
                <a:path w="5145001" h="3125588">
                  <a:moveTo>
                    <a:pt x="0" y="0"/>
                  </a:moveTo>
                  <a:lnTo>
                    <a:pt x="5145001" y="0"/>
                  </a:lnTo>
                  <a:lnTo>
                    <a:pt x="5145001" y="3125588"/>
                  </a:lnTo>
                  <a:lnTo>
                    <a:pt x="0" y="3125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39" b="-13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55050" y="661498"/>
              <a:ext cx="2848216" cy="1243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1" spc="42">
                  <a:solidFill>
                    <a:srgbClr val="0D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Chưa được huấn luyện dữ liệu này =&gt; “bịa” ra dữ liệu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3219741"/>
              <a:ext cx="2717839" cy="1221398"/>
              <a:chOff x="0" y="0"/>
              <a:chExt cx="536857" cy="24126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36857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36857" h="241264">
                    <a:moveTo>
                      <a:pt x="106346" y="0"/>
                    </a:moveTo>
                    <a:lnTo>
                      <a:pt x="430511" y="0"/>
                    </a:lnTo>
                    <a:cubicBezTo>
                      <a:pt x="458716" y="0"/>
                      <a:pt x="485765" y="11204"/>
                      <a:pt x="505709" y="31148"/>
                    </a:cubicBezTo>
                    <a:cubicBezTo>
                      <a:pt x="525653" y="51092"/>
                      <a:pt x="536857" y="78141"/>
                      <a:pt x="536857" y="106346"/>
                    </a:cubicBezTo>
                    <a:lnTo>
                      <a:pt x="536857" y="134918"/>
                    </a:lnTo>
                    <a:cubicBezTo>
                      <a:pt x="536857" y="163122"/>
                      <a:pt x="525653" y="190172"/>
                      <a:pt x="505709" y="210116"/>
                    </a:cubicBezTo>
                    <a:cubicBezTo>
                      <a:pt x="485765" y="230060"/>
                      <a:pt x="458716" y="241264"/>
                      <a:pt x="430511" y="241264"/>
                    </a:cubicBezTo>
                    <a:lnTo>
                      <a:pt x="106346" y="241264"/>
                    </a:lnTo>
                    <a:cubicBezTo>
                      <a:pt x="78141" y="241264"/>
                      <a:pt x="51092" y="230060"/>
                      <a:pt x="31148" y="210116"/>
                    </a:cubicBezTo>
                    <a:cubicBezTo>
                      <a:pt x="11204" y="190172"/>
                      <a:pt x="0" y="163122"/>
                      <a:pt x="0" y="134918"/>
                    </a:cubicBezTo>
                    <a:lnTo>
                      <a:pt x="0" y="106346"/>
                    </a:lnTo>
                    <a:cubicBezTo>
                      <a:pt x="0" y="78141"/>
                      <a:pt x="11204" y="51092"/>
                      <a:pt x="31148" y="31148"/>
                    </a:cubicBezTo>
                    <a:cubicBezTo>
                      <a:pt x="51092" y="11204"/>
                      <a:pt x="78141" y="0"/>
                      <a:pt x="106346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536857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mới 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2027?</a:t>
                </a:r>
              </a:p>
            </p:txBody>
          </p:sp>
        </p:grpSp>
        <p:sp>
          <p:nvSpPr>
            <p:cNvPr id="32" name="AutoShape 32"/>
            <p:cNvSpPr/>
            <p:nvPr/>
          </p:nvSpPr>
          <p:spPr>
            <a:xfrm>
              <a:off x="2717839" y="3830440"/>
              <a:ext cx="9442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304264" y="3219741"/>
              <a:ext cx="2913783" cy="1221398"/>
              <a:chOff x="0" y="0"/>
              <a:chExt cx="575562" cy="24126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75562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575562" h="241264">
                    <a:moveTo>
                      <a:pt x="99195" y="0"/>
                    </a:moveTo>
                    <a:lnTo>
                      <a:pt x="476367" y="0"/>
                    </a:lnTo>
                    <a:cubicBezTo>
                      <a:pt x="502676" y="0"/>
                      <a:pt x="527906" y="10451"/>
                      <a:pt x="546509" y="29053"/>
                    </a:cubicBezTo>
                    <a:cubicBezTo>
                      <a:pt x="565111" y="47656"/>
                      <a:pt x="575562" y="72887"/>
                      <a:pt x="575562" y="99195"/>
                    </a:cubicBezTo>
                    <a:lnTo>
                      <a:pt x="575562" y="142069"/>
                    </a:lnTo>
                    <a:cubicBezTo>
                      <a:pt x="575562" y="168377"/>
                      <a:pt x="565111" y="193608"/>
                      <a:pt x="546509" y="212210"/>
                    </a:cubicBezTo>
                    <a:cubicBezTo>
                      <a:pt x="527906" y="230813"/>
                      <a:pt x="502676" y="241264"/>
                      <a:pt x="476367" y="241264"/>
                    </a:cubicBezTo>
                    <a:lnTo>
                      <a:pt x="99195" y="241264"/>
                    </a:lnTo>
                    <a:cubicBezTo>
                      <a:pt x="72887" y="241264"/>
                      <a:pt x="47656" y="230813"/>
                      <a:pt x="29053" y="212210"/>
                    </a:cubicBezTo>
                    <a:cubicBezTo>
                      <a:pt x="10451" y="193608"/>
                      <a:pt x="0" y="168377"/>
                      <a:pt x="0" y="142069"/>
                    </a:cubicBezTo>
                    <a:lnTo>
                      <a:pt x="0" y="99195"/>
                    </a:lnTo>
                    <a:cubicBezTo>
                      <a:pt x="0" y="72887"/>
                      <a:pt x="10451" y="47656"/>
                      <a:pt x="29053" y="29053"/>
                    </a:cubicBezTo>
                    <a:cubicBezTo>
                      <a:pt x="47656" y="10451"/>
                      <a:pt x="72887" y="0"/>
                      <a:pt x="99195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575562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Luật năm 2027 là...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5060855" y="3830440"/>
              <a:ext cx="1243409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574153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chế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28700" y="6646414"/>
            <a:ext cx="9079671" cy="2772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những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chưa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luyện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dung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sự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24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Hệ thống Chatbot dựa trên mô hình kiến trúc 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456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mô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 (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chatbot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,...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sẵn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RAG (Retrieval-Augmented Generation)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do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2562095" y="1644257"/>
            <a:ext cx="4883508" cy="7298471"/>
            <a:chOff x="0" y="0"/>
            <a:chExt cx="6511344" cy="9731295"/>
          </a:xfrm>
        </p:grpSpPr>
        <p:grpSp>
          <p:nvGrpSpPr>
            <p:cNvPr id="13" name="Group 13"/>
            <p:cNvGrpSpPr/>
            <p:nvPr/>
          </p:nvGrpSpPr>
          <p:grpSpPr>
            <a:xfrm>
              <a:off x="1870594" y="0"/>
              <a:ext cx="2758266" cy="876752"/>
              <a:chOff x="0" y="0"/>
              <a:chExt cx="544843" cy="17318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hỏi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3249727" y="876752"/>
              <a:ext cx="5945" cy="106680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870594" y="8854543"/>
              <a:ext cx="2758266" cy="876752"/>
              <a:chOff x="0" y="0"/>
              <a:chExt cx="544843" cy="1731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1">
              <a:off x="3249727" y="7839480"/>
              <a:ext cx="5945" cy="10150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1943552"/>
              <a:ext cx="6511344" cy="5895928"/>
              <a:chOff x="0" y="0"/>
              <a:chExt cx="1286191" cy="116462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286191" cy="1164628"/>
              </a:xfrm>
              <a:custGeom>
                <a:avLst/>
                <a:gdLst/>
                <a:ahLst/>
                <a:cxnLst/>
                <a:rect l="l" t="t" r="r" b="b"/>
                <a:pathLst>
                  <a:path w="1286191" h="1164628">
                    <a:moveTo>
                      <a:pt x="80851" y="0"/>
                    </a:moveTo>
                    <a:lnTo>
                      <a:pt x="1205340" y="0"/>
                    </a:lnTo>
                    <a:cubicBezTo>
                      <a:pt x="1226783" y="0"/>
                      <a:pt x="1247348" y="8518"/>
                      <a:pt x="1262511" y="23681"/>
                    </a:cubicBezTo>
                    <a:cubicBezTo>
                      <a:pt x="1277673" y="38843"/>
                      <a:pt x="1286191" y="59408"/>
                      <a:pt x="1286191" y="80851"/>
                    </a:cubicBezTo>
                    <a:lnTo>
                      <a:pt x="1286191" y="1083777"/>
                    </a:lnTo>
                    <a:cubicBezTo>
                      <a:pt x="1286191" y="1105220"/>
                      <a:pt x="1277673" y="1125784"/>
                      <a:pt x="1262511" y="1140947"/>
                    </a:cubicBezTo>
                    <a:cubicBezTo>
                      <a:pt x="1247348" y="1156110"/>
                      <a:pt x="1226783" y="1164628"/>
                      <a:pt x="1205340" y="1164628"/>
                    </a:cubicBezTo>
                    <a:lnTo>
                      <a:pt x="80851" y="1164628"/>
                    </a:lnTo>
                    <a:cubicBezTo>
                      <a:pt x="59408" y="1164628"/>
                      <a:pt x="38843" y="1156110"/>
                      <a:pt x="23681" y="1140947"/>
                    </a:cubicBezTo>
                    <a:cubicBezTo>
                      <a:pt x="8518" y="1125784"/>
                      <a:pt x="0" y="1105220"/>
                      <a:pt x="0" y="1083777"/>
                    </a:cubicBezTo>
                    <a:lnTo>
                      <a:pt x="0" y="80851"/>
                    </a:lnTo>
                    <a:cubicBezTo>
                      <a:pt x="0" y="59408"/>
                      <a:pt x="8518" y="38843"/>
                      <a:pt x="23681" y="23681"/>
                    </a:cubicBezTo>
                    <a:cubicBezTo>
                      <a:pt x="38843" y="8518"/>
                      <a:pt x="59408" y="0"/>
                      <a:pt x="80851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286191" cy="12027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1362538" y="2577586"/>
              <a:ext cx="1200302" cy="1204824"/>
            </a:xfrm>
            <a:custGeom>
              <a:avLst/>
              <a:gdLst/>
              <a:ahLst/>
              <a:cxnLst/>
              <a:rect l="l" t="t" r="r" b="b"/>
              <a:pathLst>
                <a:path w="1200302" h="1204824">
                  <a:moveTo>
                    <a:pt x="0" y="0"/>
                  </a:moveTo>
                  <a:lnTo>
                    <a:pt x="1200303" y="0"/>
                  </a:lnTo>
                  <a:lnTo>
                    <a:pt x="1200303" y="1204823"/>
                  </a:lnTo>
                  <a:lnTo>
                    <a:pt x="0" y="1204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88" r="-18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5233" y="3680860"/>
              <a:ext cx="854913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36346" y="3546863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 vấn CSDL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838289" y="2240185"/>
              <a:ext cx="1040587" cy="1217054"/>
            </a:xfrm>
            <a:custGeom>
              <a:avLst/>
              <a:gdLst/>
              <a:ahLst/>
              <a:cxnLst/>
              <a:rect l="l" t="t" r="r" b="b"/>
              <a:pathLst>
                <a:path w="1040587" h="1217054">
                  <a:moveTo>
                    <a:pt x="0" y="0"/>
                  </a:moveTo>
                  <a:lnTo>
                    <a:pt x="1040587" y="0"/>
                  </a:lnTo>
                  <a:lnTo>
                    <a:pt x="1040587" y="1217054"/>
                  </a:lnTo>
                  <a:lnTo>
                    <a:pt x="0" y="1217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9" b="-4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34114" y="6338284"/>
              <a:ext cx="1631226" cy="4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Tính toán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06846" y="4881531"/>
              <a:ext cx="1432484" cy="1416368"/>
            </a:xfrm>
            <a:custGeom>
              <a:avLst/>
              <a:gdLst/>
              <a:ahLst/>
              <a:cxnLst/>
              <a:rect l="l" t="t" r="r" b="b"/>
              <a:pathLst>
                <a:path w="1432484" h="1416368">
                  <a:moveTo>
                    <a:pt x="0" y="0"/>
                  </a:moveTo>
                  <a:lnTo>
                    <a:pt x="1432484" y="0"/>
                  </a:lnTo>
                  <a:lnTo>
                    <a:pt x="1432484" y="1416367"/>
                  </a:lnTo>
                  <a:lnTo>
                    <a:pt x="0" y="1416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t="-568" b="-569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03223" y="6094470"/>
              <a:ext cx="1444473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Lập kế hoạch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557554" y="4670203"/>
              <a:ext cx="1135786" cy="1385113"/>
            </a:xfrm>
            <a:custGeom>
              <a:avLst/>
              <a:gdLst/>
              <a:ahLst/>
              <a:cxnLst/>
              <a:rect l="l" t="t" r="r" b="b"/>
              <a:pathLst>
                <a:path w="1135786" h="1385113">
                  <a:moveTo>
                    <a:pt x="0" y="0"/>
                  </a:moveTo>
                  <a:lnTo>
                    <a:pt x="1135786" y="0"/>
                  </a:lnTo>
                  <a:lnTo>
                    <a:pt x="1135786" y="1385113"/>
                  </a:lnTo>
                  <a:lnTo>
                    <a:pt x="0" y="13851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110" b="-110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0244" y="6121927"/>
              <a:ext cx="1477416" cy="917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16"/>
                </a:lnSpc>
              </a:pPr>
              <a:r>
                <a:rPr lang="en-US" sz="1822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Đánh giá kết quả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21074" y="4670203"/>
              <a:ext cx="1295781" cy="1425893"/>
            </a:xfrm>
            <a:custGeom>
              <a:avLst/>
              <a:gdLst/>
              <a:ahLst/>
              <a:cxnLst/>
              <a:rect l="l" t="t" r="r" b="b"/>
              <a:pathLst>
                <a:path w="1295781" h="1425893">
                  <a:moveTo>
                    <a:pt x="0" y="0"/>
                  </a:moveTo>
                  <a:lnTo>
                    <a:pt x="1295781" y="0"/>
                  </a:lnTo>
                  <a:lnTo>
                    <a:pt x="1295781" y="1425892"/>
                  </a:lnTo>
                  <a:lnTo>
                    <a:pt x="0" y="142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151" r="-150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35" name="Freeform 3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95375"/>
            <a:ext cx="10321094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2.2. Một số phương pháp xây dựng Chatbot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AI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630118"/>
            <a:ext cx="9079671" cy="3896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trạng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chọn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mục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tiêu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AI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nền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biệt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LLMs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LLMs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thường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não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Agent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10522" y="2734893"/>
            <a:ext cx="6674961" cy="4480642"/>
            <a:chOff x="0" y="0"/>
            <a:chExt cx="8817826" cy="59190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7864" cy="5919089"/>
            </a:xfrm>
            <a:custGeom>
              <a:avLst/>
              <a:gdLst/>
              <a:ahLst/>
              <a:cxnLst/>
              <a:rect l="l" t="t" r="r" b="b"/>
              <a:pathLst>
                <a:path w="8817864" h="5919089">
                  <a:moveTo>
                    <a:pt x="0" y="0"/>
                  </a:moveTo>
                  <a:lnTo>
                    <a:pt x="8817864" y="0"/>
                  </a:lnTo>
                  <a:lnTo>
                    <a:pt x="8817864" y="5919089"/>
                  </a:lnTo>
                  <a:lnTo>
                    <a:pt x="0" y="5919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42" r="-14042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3960402" y="5674058"/>
            <a:ext cx="10367195" cy="3998429"/>
          </a:xfrm>
          <a:custGeom>
            <a:avLst/>
            <a:gdLst/>
            <a:ahLst/>
            <a:cxnLst/>
            <a:rect l="l" t="t" r="r" b="b"/>
            <a:pathLst>
              <a:path w="8935125" h="3225915">
                <a:moveTo>
                  <a:pt x="0" y="0"/>
                </a:moveTo>
                <a:lnTo>
                  <a:pt x="8935125" y="0"/>
                </a:lnTo>
                <a:lnTo>
                  <a:pt x="8935125" y="3225915"/>
                </a:lnTo>
                <a:lnTo>
                  <a:pt x="0" y="3225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5" r="-2023" b="-335"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TextBox 12"/>
          <p:cNvSpPr txBox="1"/>
          <p:nvPr/>
        </p:nvSpPr>
        <p:spPr>
          <a:xfrm>
            <a:off x="1028700" y="1095375"/>
            <a:ext cx="3954904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2.3. </a:t>
            </a:r>
            <a:r>
              <a:rPr lang="en-US" sz="3999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LangGraph</a:t>
            </a:r>
            <a:endParaRPr lang="en-US" sz="3999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1849068"/>
            <a:ext cx="16230600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LangGraph là một framework cho phép mô hình hóa luồng xử lý thành graph gồm node, edge và state.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Node tương ứng với các bước xử lý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Edge là các cạnh thể hiện hướng di chuyển giữa các node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State lưu thông tin xuyên suốt quá trình xử lý của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Conditional edge giúp kiểm soát hướng đi của graph theo điều kiện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3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39542" y="5360956"/>
            <a:ext cx="6885858" cy="630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8332886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3.1. Xác định môi trường của agent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AutoShape 12"/>
          <p:cNvSpPr/>
          <p:nvPr/>
        </p:nvSpPr>
        <p:spPr>
          <a:xfrm>
            <a:off x="2147797" y="2996784"/>
            <a:ext cx="0" cy="4208097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13" name="AutoShape 13"/>
          <p:cNvSpPr/>
          <p:nvPr/>
        </p:nvSpPr>
        <p:spPr>
          <a:xfrm>
            <a:off x="2147797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14" name="Group 14"/>
          <p:cNvGrpSpPr/>
          <p:nvPr/>
        </p:nvGrpSpPr>
        <p:grpSpPr>
          <a:xfrm>
            <a:off x="3198486" y="3590065"/>
            <a:ext cx="226074" cy="226074"/>
            <a:chOff x="0" y="0"/>
            <a:chExt cx="59542" cy="595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8700" y="2264629"/>
            <a:ext cx="2238194" cy="73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Môi</a:t>
            </a:r>
            <a:r>
              <a:rPr lang="en-US" sz="32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2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trường</a:t>
            </a:r>
            <a:endParaRPr lang="en-US" sz="32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537597" y="3220766"/>
            <a:ext cx="3337010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CSDL pháp luật nội bộ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Thông tin từ dữ liệu pháp luật Việt Nam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2147797" y="516307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0" name="Group 20"/>
          <p:cNvGrpSpPr/>
          <p:nvPr/>
        </p:nvGrpSpPr>
        <p:grpSpPr>
          <a:xfrm>
            <a:off x="3198486" y="5050038"/>
            <a:ext cx="205427" cy="226074"/>
            <a:chOff x="0" y="0"/>
            <a:chExt cx="54104" cy="5954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506628" y="4680738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pháp luật cập nhật từ bên ngoài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Các website dữ liệu pháp luật Việt Nam: thuvienphapluat.vn, vbpl.vn, v.v..</a:t>
            </a:r>
          </a:p>
        </p:txBody>
      </p:sp>
      <p:sp>
        <p:nvSpPr>
          <p:cNvPr id="24" name="AutoShape 24"/>
          <p:cNvSpPr/>
          <p:nvPr/>
        </p:nvSpPr>
        <p:spPr>
          <a:xfrm>
            <a:off x="2147797" y="6619129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25" name="Group 25"/>
          <p:cNvGrpSpPr/>
          <p:nvPr/>
        </p:nvGrpSpPr>
        <p:grpSpPr>
          <a:xfrm>
            <a:off x="3198486" y="6506092"/>
            <a:ext cx="205427" cy="226074"/>
            <a:chOff x="0" y="0"/>
            <a:chExt cx="54104" cy="595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06628" y="6136792"/>
            <a:ext cx="5854958" cy="76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Nguồn tri thức mới từ quản trị viên</a:t>
            </a:r>
          </a:p>
          <a:p>
            <a:pPr algn="l">
              <a:lnSpc>
                <a:spcPts val="2080"/>
              </a:lnSpc>
            </a:pPr>
            <a:r>
              <a:rPr lang="en-US" sz="1300" i="1">
                <a:solidFill>
                  <a:srgbClr val="0C1D4B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Văn bản PDF pháp luật đã xử lý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823583" y="2996784"/>
            <a:ext cx="0" cy="4374513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sp>
        <p:nvSpPr>
          <p:cNvPr id="30" name="AutoShape 30"/>
          <p:cNvSpPr/>
          <p:nvPr/>
        </p:nvSpPr>
        <p:spPr>
          <a:xfrm>
            <a:off x="10823583" y="3703102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1" name="Group 31"/>
          <p:cNvGrpSpPr/>
          <p:nvPr/>
        </p:nvGrpSpPr>
        <p:grpSpPr>
          <a:xfrm>
            <a:off x="11874273" y="3590065"/>
            <a:ext cx="226074" cy="226074"/>
            <a:chOff x="0" y="0"/>
            <a:chExt cx="59542" cy="595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542" cy="59542"/>
            </a:xfrm>
            <a:custGeom>
              <a:avLst/>
              <a:gdLst/>
              <a:ahLst/>
              <a:cxnLst/>
              <a:rect l="l" t="t" r="r" b="b"/>
              <a:pathLst>
                <a:path w="59542" h="59542">
                  <a:moveTo>
                    <a:pt x="29771" y="0"/>
                  </a:moveTo>
                  <a:cubicBezTo>
                    <a:pt x="13329" y="0"/>
                    <a:pt x="0" y="13329"/>
                    <a:pt x="0" y="29771"/>
                  </a:cubicBezTo>
                  <a:cubicBezTo>
                    <a:pt x="0" y="46213"/>
                    <a:pt x="13329" y="59542"/>
                    <a:pt x="29771" y="59542"/>
                  </a:cubicBezTo>
                  <a:cubicBezTo>
                    <a:pt x="46213" y="59542"/>
                    <a:pt x="59542" y="46213"/>
                    <a:pt x="59542" y="29771"/>
                  </a:cubicBezTo>
                  <a:cubicBezTo>
                    <a:pt x="59542" y="13329"/>
                    <a:pt x="46213" y="0"/>
                    <a:pt x="29771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" y="-42043"/>
              <a:ext cx="48378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200000" y="2264629"/>
            <a:ext cx="6200000" cy="732155"/>
          </a:xfrm>
          <a:prstGeom prst="rect">
            <a:avLst/>
          </a:prstGeom>
        </p:spPr>
        <p:txBody>
          <a:bodyPr lIns="254000" tIns="0" rIns="254000" bIns="0" rtlCol="0" anchor="t">
            <a:spAutoFit/>
          </a:bodyPr>
          <a:lstStyle/>
          <a:p>
            <a:pPr algn="ctr">
              <a:lnSpc>
                <a:spcPts val="6400"/>
              </a:lnSpc>
            </a:pPr>
            <a:r>
              <a:rPr lang="vi-VN" sz="32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Tập hành động của agent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14646" y="3390378"/>
            <a:ext cx="3337010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Trả lời câu hỏi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891410" y="4738125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37" name="Group 37"/>
          <p:cNvGrpSpPr/>
          <p:nvPr/>
        </p:nvGrpSpPr>
        <p:grpSpPr>
          <a:xfrm>
            <a:off x="11942099" y="4625088"/>
            <a:ext cx="205427" cy="226074"/>
            <a:chOff x="0" y="0"/>
            <a:chExt cx="54104" cy="595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214646" y="4453976"/>
            <a:ext cx="5854958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Truy hồi quy định pháp luật</a:t>
            </a:r>
          </a:p>
        </p:txBody>
      </p:sp>
      <p:sp>
        <p:nvSpPr>
          <p:cNvPr id="41" name="AutoShape 41"/>
          <p:cNvSpPr/>
          <p:nvPr/>
        </p:nvSpPr>
        <p:spPr>
          <a:xfrm flipV="1">
            <a:off x="10819711" y="5801723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2" name="Group 42"/>
          <p:cNvGrpSpPr/>
          <p:nvPr/>
        </p:nvGrpSpPr>
        <p:grpSpPr>
          <a:xfrm>
            <a:off x="11870400" y="5688686"/>
            <a:ext cx="205427" cy="226074"/>
            <a:chOff x="0" y="0"/>
            <a:chExt cx="54104" cy="595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2214646" y="5517574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 chứng và trích dẫn nguồn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0819711" y="6865320"/>
            <a:ext cx="1050689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VN"/>
          </a:p>
        </p:txBody>
      </p:sp>
      <p:grpSp>
        <p:nvGrpSpPr>
          <p:cNvPr id="47" name="Group 47"/>
          <p:cNvGrpSpPr/>
          <p:nvPr/>
        </p:nvGrpSpPr>
        <p:grpSpPr>
          <a:xfrm>
            <a:off x="11870400" y="6752283"/>
            <a:ext cx="205427" cy="226074"/>
            <a:chOff x="0" y="0"/>
            <a:chExt cx="54104" cy="5954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4104" cy="59542"/>
            </a:xfrm>
            <a:custGeom>
              <a:avLst/>
              <a:gdLst/>
              <a:ahLst/>
              <a:cxnLst/>
              <a:rect l="l" t="t" r="r" b="b"/>
              <a:pathLst>
                <a:path w="54104" h="59542">
                  <a:moveTo>
                    <a:pt x="27052" y="0"/>
                  </a:moveTo>
                  <a:cubicBezTo>
                    <a:pt x="12112" y="0"/>
                    <a:pt x="0" y="13329"/>
                    <a:pt x="0" y="29771"/>
                  </a:cubicBezTo>
                  <a:cubicBezTo>
                    <a:pt x="0" y="46213"/>
                    <a:pt x="12112" y="59542"/>
                    <a:pt x="27052" y="59542"/>
                  </a:cubicBezTo>
                  <a:cubicBezTo>
                    <a:pt x="41993" y="59542"/>
                    <a:pt x="54104" y="46213"/>
                    <a:pt x="54104" y="29771"/>
                  </a:cubicBezTo>
                  <a:cubicBezTo>
                    <a:pt x="54104" y="13329"/>
                    <a:pt x="41993" y="0"/>
                    <a:pt x="27052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72" y="-42043"/>
              <a:ext cx="43960" cy="960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2210774" y="6581171"/>
            <a:ext cx="4848862" cy="47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Đối chiếu nguồn cập nhật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43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135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43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1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43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245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43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43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355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43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41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43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presetID="10" presetClass="entr" presetSubtype="0" fill="hold" grpId="0" nodeType="withEffect">
                            <p:stCondLst>
                              <p:cond delay="465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" dur="43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" dur="43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withEffect">
                            <p:stCondLst>
                              <p:cond delay="575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3" dur="43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withEffect">
                            <p:stCondLst>
                              <p:cond delay="63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6" dur="43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7" presetID="10" presetClass="entr" presetSubtype="0" fill="hold" grpId="0" nodeType="withEffect">
                            <p:stCondLst>
                              <p:cond delay="685"/>
                            </p:stCondLst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9" dur="430"/>
                                  <p:tgtEl>
                                    <p:spTgt spid="4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withEffect">
                            <p:stCondLst>
                              <p:cond delay="74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2" dur="43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withEffect">
                            <p:stCondLst>
                              <p:cond delay="795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5" dur="43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8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8" dur="43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9" presetID="10" presetClass="entr" presetSubtype="0" fill="hold" grpId="0" nodeType="withEffect">
                            <p:stCondLst>
                              <p:cond delay="905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3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2" presetID="10" presetClass="entr" presetSubtype="0" fill="hold" grpId="0" nodeType="withEffect">
                            <p:stCondLst>
                              <p:cond delay="96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4" dur="43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5" presetID="10" presetClass="entr" presetSubtype="0" fill="hold" grpId="0" nodeType="withEffect">
                            <p:stCondLst>
                              <p:cond delay="1015"/>
                            </p:stCondLst>
                            <p:childTnLs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7" dur="430"/>
                                  <p:tgtEl>
                                    <p:spTgt spid="4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8" presetID="10" presetClass="entr" presetSubtype="0" fill="hold" grpId="0" nodeType="withEffect">
                            <p:stCondLst>
                              <p:cond delay="107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0" dur="430"/>
                                  <p:tgtEl>
                                    <p:spTgt spid="4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1125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3" dur="430"/>
                                  <p:tgtEl>
                                    <p:spTgt spid="4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withEffect">
                            <p:stCondLst>
                              <p:cond delay="118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6" dur="43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withEffect">
                            <p:stCondLst>
                              <p:cond delay="1235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9" dur="43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0" presetID="10" presetClass="entr" presetSubtype="0" fill="hold" grpId="0" nodeType="withEffect">
                            <p:stCondLst>
                              <p:cond delay="1290"/>
                            </p:stCondLst>
                            <p:childTnLs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2" dur="430"/>
                                  <p:tgtEl>
                                    <p:spTgt spid="5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3" presetID="10" presetClass="entr" presetSubtype="0" fill="hold" grpId="0" nodeType="withEffect">
                            <p:stCondLst>
                              <p:cond delay="1345"/>
                            </p:stCondLst>
                            <p:childTnLst>
                              <p:set>
                                <p:cBhvr>
                                  <p:cTn id="7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5" dur="43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6" presetID="10" presetClass="entr" presetSubtype="0" fill="hold" grpId="0" nodeType="with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8" dur="430"/>
                                  <p:tgtEl>
                                    <p:spTgt spid="4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9" presetID="10" presetClass="entr" presetSubtype="0" fill="hold" grpId="0" nodeType="withEffect">
                            <p:stCondLst>
                              <p:cond delay="1455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30"/>
                                  <p:tgtEl>
                                    <p:spTgt spid="4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 animBg="1"/>
      <p:bldP spid="13" grpId="0" animBg="1"/>
      <p:bldP spid="14" grpId="0"/>
      <p:bldP spid="17" grpId="0"/>
      <p:bldP spid="18" grpId="0"/>
      <p:bldP spid="19" grpId="0" animBg="1"/>
      <p:bldP spid="20" grpId="0"/>
      <p:bldP spid="23" grpId="0"/>
      <p:bldP spid="24" grpId="0" animBg="1"/>
      <p:bldP spid="25" grpId="0"/>
      <p:bldP spid="28" grpId="0"/>
      <p:bldP spid="29" grpId="0" animBg="1"/>
      <p:bldP spid="30" grpId="0" animBg="1"/>
      <p:bldP spid="31" grpId="0"/>
      <p:bldP spid="34" grpId="0"/>
      <p:bldP spid="35" grpId="0"/>
      <p:bldP spid="36" grpId="0" animBg="1"/>
      <p:bldP spid="37" grpId="0"/>
      <p:bldP spid="40" grpId="0"/>
      <p:bldP spid="41" grpId="0" animBg="1"/>
      <p:bldP spid="42" grpId="0"/>
      <p:bldP spid="45" grpId="0"/>
      <p:bldP spid="46" grpId="0" animBg="1"/>
      <p:bldP spid="47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09300" y="2124912"/>
            <a:ext cx="15788284" cy="7304457"/>
            <a:chOff x="0" y="0"/>
            <a:chExt cx="21051045" cy="9739277"/>
          </a:xfrm>
        </p:grpSpPr>
        <p:sp>
          <p:nvSpPr>
            <p:cNvPr id="13" name="Freeform 13"/>
            <p:cNvSpPr/>
            <p:nvPr/>
          </p:nvSpPr>
          <p:spPr>
            <a:xfrm>
              <a:off x="9065146" y="1511175"/>
              <a:ext cx="1154532" cy="1194854"/>
            </a:xfrm>
            <a:custGeom>
              <a:avLst/>
              <a:gdLst/>
              <a:ahLst/>
              <a:cxnLst/>
              <a:rect l="l" t="t" r="r" b="b"/>
              <a:pathLst>
                <a:path w="1154532" h="1194854">
                  <a:moveTo>
                    <a:pt x="0" y="0"/>
                  </a:moveTo>
                  <a:lnTo>
                    <a:pt x="1154531" y="0"/>
                  </a:lnTo>
                  <a:lnTo>
                    <a:pt x="1154531" y="1194854"/>
                  </a:lnTo>
                  <a:lnTo>
                    <a:pt x="0" y="1194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435" b="-43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13179" y="1517995"/>
              <a:ext cx="1092264" cy="1188034"/>
            </a:xfrm>
            <a:custGeom>
              <a:avLst/>
              <a:gdLst/>
              <a:ahLst/>
              <a:cxnLst/>
              <a:rect l="l" t="t" r="r" b="b"/>
              <a:pathLst>
                <a:path w="1092264" h="1188034">
                  <a:moveTo>
                    <a:pt x="0" y="0"/>
                  </a:moveTo>
                  <a:lnTo>
                    <a:pt x="1092264" y="0"/>
                  </a:lnTo>
                  <a:lnTo>
                    <a:pt x="1092264" y="1188034"/>
                  </a:lnTo>
                  <a:lnTo>
                    <a:pt x="0" y="1188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33" r="-333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966271" y="4533937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18390" y="7129067"/>
              <a:ext cx="1603822" cy="14397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Vector chunks từ văn bản pháp luật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083070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1" y="0"/>
                  </a:lnTo>
                  <a:lnTo>
                    <a:pt x="873391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999307" y="4715512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101644" y="7308900"/>
              <a:ext cx="873392" cy="1065111"/>
            </a:xfrm>
            <a:custGeom>
              <a:avLst/>
              <a:gdLst/>
              <a:ahLst/>
              <a:cxnLst/>
              <a:rect l="l" t="t" r="r" b="b"/>
              <a:pathLst>
                <a:path w="873392" h="1065111">
                  <a:moveTo>
                    <a:pt x="0" y="0"/>
                  </a:moveTo>
                  <a:lnTo>
                    <a:pt x="873392" y="0"/>
                  </a:lnTo>
                  <a:lnTo>
                    <a:pt x="873392" y="1065111"/>
                  </a:lnTo>
                  <a:lnTo>
                    <a:pt x="0" y="1065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87" r="-87"/>
              </a:stretch>
            </a:blipFill>
          </p:spPr>
          <p:txBody>
            <a:bodyPr/>
            <a:lstStyle/>
            <a:p>
              <a:endParaRPr lang="en-VN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8292779" y="1673636"/>
              <a:ext cx="2758266" cy="876752"/>
              <a:chOff x="0" y="0"/>
              <a:chExt cx="544843" cy="17318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544843" cy="173186"/>
              </a:xfrm>
              <a:custGeom>
                <a:avLst/>
                <a:gdLst/>
                <a:ahLst/>
                <a:cxnLst/>
                <a:rect l="l" t="t" r="r" b="b"/>
                <a:pathLst>
                  <a:path w="544843" h="173186">
                    <a:moveTo>
                      <a:pt x="86593" y="0"/>
                    </a:moveTo>
                    <a:lnTo>
                      <a:pt x="458250" y="0"/>
                    </a:lnTo>
                    <a:cubicBezTo>
                      <a:pt x="481216" y="0"/>
                      <a:pt x="503241" y="9123"/>
                      <a:pt x="519480" y="25362"/>
                    </a:cubicBezTo>
                    <a:cubicBezTo>
                      <a:pt x="535719" y="41602"/>
                      <a:pt x="544843" y="63627"/>
                      <a:pt x="544843" y="86593"/>
                    </a:cubicBezTo>
                    <a:lnTo>
                      <a:pt x="544843" y="86593"/>
                    </a:lnTo>
                    <a:cubicBezTo>
                      <a:pt x="544843" y="134417"/>
                      <a:pt x="506074" y="173186"/>
                      <a:pt x="458250" y="173186"/>
                    </a:cubicBezTo>
                    <a:lnTo>
                      <a:pt x="86593" y="173186"/>
                    </a:lnTo>
                    <a:cubicBezTo>
                      <a:pt x="63627" y="173186"/>
                      <a:pt x="41602" y="164062"/>
                      <a:pt x="25362" y="147823"/>
                    </a:cubicBezTo>
                    <a:cubicBezTo>
                      <a:pt x="9123" y="131584"/>
                      <a:pt x="0" y="109559"/>
                      <a:pt x="0" y="86593"/>
                    </a:cubicBezTo>
                    <a:lnTo>
                      <a:pt x="0" y="86593"/>
                    </a:lnTo>
                    <a:cubicBezTo>
                      <a:pt x="0" y="63627"/>
                      <a:pt x="9123" y="41602"/>
                      <a:pt x="25362" y="25362"/>
                    </a:cubicBezTo>
                    <a:cubicBezTo>
                      <a:pt x="41602" y="9123"/>
                      <a:pt x="63627" y="0"/>
                      <a:pt x="8659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544843" cy="2112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Trả lời</a:t>
                </a:r>
              </a:p>
            </p:txBody>
          </p:sp>
        </p:grpSp>
        <p:sp>
          <p:nvSpPr>
            <p:cNvPr id="23" name="AutoShape 23"/>
            <p:cNvSpPr/>
            <p:nvPr/>
          </p:nvSpPr>
          <p:spPr>
            <a:xfrm>
              <a:off x="1605443" y="2112012"/>
              <a:ext cx="7203590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0521129" y="2108602"/>
              <a:ext cx="7771650" cy="341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AutoShape 25"/>
            <p:cNvSpPr/>
            <p:nvPr/>
          </p:nvSpPr>
          <p:spPr>
            <a:xfrm flipV="1">
              <a:off x="6538340" y="5757204"/>
              <a:ext cx="0" cy="155169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 flipH="1">
              <a:off x="5122212" y="7841456"/>
              <a:ext cx="979432" cy="170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AutoShape 27"/>
            <p:cNvSpPr/>
            <p:nvPr/>
          </p:nvSpPr>
          <p:spPr>
            <a:xfrm flipV="1">
              <a:off x="6538340" y="2706029"/>
              <a:ext cx="2526806" cy="200948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H="1" flipV="1">
              <a:off x="12505304" y="5575629"/>
              <a:ext cx="14462" cy="173327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2956461" y="7841456"/>
              <a:ext cx="1050896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H="1" flipV="1">
              <a:off x="10219677" y="2706029"/>
              <a:ext cx="2285626" cy="182790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390211" y="0"/>
              <a:ext cx="15117799" cy="9739277"/>
              <a:chOff x="0" y="0"/>
              <a:chExt cx="2986232" cy="19238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2986232" cy="1923808"/>
              </a:xfrm>
              <a:custGeom>
                <a:avLst/>
                <a:gdLst/>
                <a:ahLst/>
                <a:cxnLst/>
                <a:rect l="l" t="t" r="r" b="b"/>
                <a:pathLst>
                  <a:path w="2986232" h="1923808">
                    <a:moveTo>
                      <a:pt x="0" y="0"/>
                    </a:moveTo>
                    <a:lnTo>
                      <a:pt x="2986232" y="0"/>
                    </a:lnTo>
                    <a:lnTo>
                      <a:pt x="2986232" y="1923808"/>
                    </a:lnTo>
                    <a:lnTo>
                      <a:pt x="0" y="1923808"/>
                    </a:lnTo>
                    <a:close/>
                  </a:path>
                </a:pathLst>
              </a:custGeom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47625"/>
                <a:ext cx="2986232" cy="1971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11775030" y="8459557"/>
              <a:ext cx="1489469" cy="723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2869961"/>
              <a:ext cx="2118622" cy="957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từ người dùng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2734" y="638772"/>
              <a:ext cx="5493448" cy="79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59"/>
                </a:lnSpc>
              </a:pPr>
              <a:r>
                <a:rPr lang="en-US" sz="17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 phân tích câu hỏi, điều phối công cụ và tổng hợp câu trả lời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30767" y="176938"/>
              <a:ext cx="1683291" cy="515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AI Agent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7352" y="4732403"/>
              <a:ext cx="1805775" cy="10713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hồi pháp luật nội bộ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352103" y="4858152"/>
              <a:ext cx="2512876" cy="334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truy vấn CSDL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23114" y="8476564"/>
              <a:ext cx="135853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CSDL</a:t>
              </a:r>
            </a:p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ChromaDB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007358" y="7480433"/>
              <a:ext cx="1202368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 sử hội thoại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096886" y="4629973"/>
              <a:ext cx="1078065" cy="1041692"/>
            </a:xfrm>
            <a:custGeom>
              <a:avLst/>
              <a:gdLst/>
              <a:ahLst/>
              <a:cxnLst/>
              <a:rect l="l" t="t" r="r" b="b"/>
              <a:pathLst>
                <a:path w="1078065" h="1041692">
                  <a:moveTo>
                    <a:pt x="0" y="0"/>
                  </a:moveTo>
                  <a:lnTo>
                    <a:pt x="1078065" y="0"/>
                  </a:lnTo>
                  <a:lnTo>
                    <a:pt x="1078065" y="1041692"/>
                  </a:lnTo>
                  <a:lnTo>
                    <a:pt x="0" y="1041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529" b="-52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43" name="AutoShape 43"/>
            <p:cNvSpPr/>
            <p:nvPr/>
          </p:nvSpPr>
          <p:spPr>
            <a:xfrm flipV="1">
              <a:off x="9635918" y="2706029"/>
              <a:ext cx="6493" cy="192394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4192" y="5784721"/>
              <a:ext cx="1323452" cy="702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1555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Tool web search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0695872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3.2. Mô hình tổng quan của hệ thống chatbot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70560" y="2281885"/>
            <a:ext cx="15631933" cy="7353415"/>
            <a:chOff x="0" y="0"/>
            <a:chExt cx="20842578" cy="9804554"/>
          </a:xfrm>
        </p:grpSpPr>
        <p:sp>
          <p:nvSpPr>
            <p:cNvPr id="13" name="Freeform 13"/>
            <p:cNvSpPr/>
            <p:nvPr/>
          </p:nvSpPr>
          <p:spPr>
            <a:xfrm>
              <a:off x="4674566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8682331" y="2999156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083225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88505" y="2997695"/>
              <a:ext cx="1182560" cy="1286243"/>
            </a:xfrm>
            <a:custGeom>
              <a:avLst/>
              <a:gdLst/>
              <a:ahLst/>
              <a:cxnLst/>
              <a:rect l="l" t="t" r="r" b="b"/>
              <a:pathLst>
                <a:path w="1182560" h="1286243">
                  <a:moveTo>
                    <a:pt x="0" y="0"/>
                  </a:moveTo>
                  <a:lnTo>
                    <a:pt x="1182561" y="0"/>
                  </a:lnTo>
                  <a:lnTo>
                    <a:pt x="1182561" y="1286244"/>
                  </a:lnTo>
                  <a:lnTo>
                    <a:pt x="0" y="1286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18" r="-11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845659" y="6371432"/>
              <a:ext cx="831355" cy="803300"/>
            </a:xfrm>
            <a:custGeom>
              <a:avLst/>
              <a:gdLst/>
              <a:ahLst/>
              <a:cxnLst/>
              <a:rect l="l" t="t" r="r" b="b"/>
              <a:pathLst>
                <a:path w="831355" h="803300">
                  <a:moveTo>
                    <a:pt x="0" y="0"/>
                  </a:moveTo>
                  <a:lnTo>
                    <a:pt x="831355" y="0"/>
                  </a:lnTo>
                  <a:lnTo>
                    <a:pt x="831355" y="803300"/>
                  </a:lnTo>
                  <a:lnTo>
                    <a:pt x="0" y="80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t="-178" b="-177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458360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Tin nhắn mới từ người dùng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31372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31787" y="207277"/>
              <a:ext cx="1720985" cy="79190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PostgreSQL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7414" y="2135658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 tích câu hỏi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92649" y="2135658"/>
              <a:ext cx="2190915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Verifier kiểm chứng kết quả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341128" y="5017343"/>
              <a:ext cx="1331354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Cần thực hiện tiếp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49277" y="7298557"/>
              <a:ext cx="1024118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 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66315" y="5201529"/>
              <a:ext cx="1331354" cy="361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Trả kết quả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1438" y="1657571"/>
              <a:ext cx="2107222" cy="7301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i="1">
                  <a:solidFill>
                    <a:srgbClr val="000000"/>
                  </a:solidFill>
                  <a:latin typeface="Roboto Italics"/>
                  <a:ea typeface="Roboto Italics"/>
                  <a:cs typeface="Roboto Italics"/>
                  <a:sym typeface="Roboto Italics"/>
                </a:rPr>
                <a:t>Lấy lịch sử trò chuyện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090017" y="2911534"/>
              <a:ext cx="4302852" cy="1438264"/>
              <a:chOff x="0" y="0"/>
              <a:chExt cx="849926" cy="284134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49926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849926" h="284134">
                    <a:moveTo>
                      <a:pt x="849926" y="59975"/>
                    </a:moveTo>
                    <a:lnTo>
                      <a:pt x="849926" y="224159"/>
                    </a:lnTo>
                    <a:cubicBezTo>
                      <a:pt x="849926" y="240065"/>
                      <a:pt x="843608" y="255320"/>
                      <a:pt x="832360" y="266567"/>
                    </a:cubicBezTo>
                    <a:cubicBezTo>
                      <a:pt x="821112" y="277815"/>
                      <a:pt x="805858" y="284134"/>
                      <a:pt x="789951" y="284134"/>
                    </a:cubicBezTo>
                    <a:lnTo>
                      <a:pt x="59975" y="284134"/>
                    </a:lnTo>
                    <a:cubicBezTo>
                      <a:pt x="26852" y="284134"/>
                      <a:pt x="0" y="257282"/>
                      <a:pt x="0" y="224159"/>
                    </a:cubicBezTo>
                    <a:lnTo>
                      <a:pt x="0" y="59975"/>
                    </a:lnTo>
                    <a:cubicBezTo>
                      <a:pt x="0" y="44069"/>
                      <a:pt x="6319" y="28814"/>
                      <a:pt x="17566" y="17566"/>
                    </a:cubicBezTo>
                    <a:cubicBezTo>
                      <a:pt x="28814" y="6319"/>
                      <a:pt x="44069" y="0"/>
                      <a:pt x="59975" y="0"/>
                    </a:cubicBezTo>
                    <a:lnTo>
                      <a:pt x="789951" y="0"/>
                    </a:lnTo>
                    <a:cubicBezTo>
                      <a:pt x="823075" y="0"/>
                      <a:pt x="849926" y="26852"/>
                      <a:pt x="849926" y="59975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49926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Tổng hợp context cuộc trò chuyện</a:t>
                </a:r>
              </a:p>
            </p:txBody>
          </p:sp>
        </p:grpSp>
        <p:sp>
          <p:nvSpPr>
            <p:cNvPr id="30" name="AutoShape 30"/>
            <p:cNvSpPr/>
            <p:nvPr/>
          </p:nvSpPr>
          <p:spPr>
            <a:xfrm>
              <a:off x="5241443" y="1382624"/>
              <a:ext cx="0" cy="15289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671066" y="3630666"/>
              <a:ext cx="1419244" cy="1015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7392576" y="3625171"/>
              <a:ext cx="1289754" cy="549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739017" y="2997695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30"/>
                  </a:lnTo>
                  <a:lnTo>
                    <a:pt x="0" y="1252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81544" y="1767285"/>
              <a:ext cx="2159584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Điều phối các tool để thu thập context</a:t>
              </a:r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9892095" y="3623710"/>
              <a:ext cx="1846922" cy="146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2562195" y="4249725"/>
              <a:ext cx="598294" cy="2121707"/>
            </a:xfrm>
            <a:custGeom>
              <a:avLst/>
              <a:gdLst/>
              <a:ahLst/>
              <a:cxnLst/>
              <a:rect l="l" t="t" r="r" b="b"/>
              <a:pathLst>
                <a:path w="598294" h="2121707">
                  <a:moveTo>
                    <a:pt x="386586" y="0"/>
                  </a:moveTo>
                  <a:quadBezTo>
                    <a:pt x="954193" y="1199493"/>
                    <a:pt x="0" y="2121707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66733" y="4249725"/>
              <a:ext cx="378926" cy="2121707"/>
            </a:xfrm>
            <a:custGeom>
              <a:avLst/>
              <a:gdLst/>
              <a:ahLst/>
              <a:cxnLst/>
              <a:rect l="l" t="t" r="r" b="b"/>
              <a:pathLst>
                <a:path w="378926" h="2121707">
                  <a:moveTo>
                    <a:pt x="378926" y="2121707"/>
                  </a:moveTo>
                  <a:quadBezTo>
                    <a:pt x="-321209" y="1093364"/>
                    <a:pt x="272284" y="0"/>
                  </a:quadBezTo>
                </a:path>
              </a:pathLst>
            </a:custGeom>
            <a:ln w="508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332273" y="4380980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12948781" y="3623710"/>
              <a:ext cx="2134444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16292989" y="3623710"/>
              <a:ext cx="142261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17715389" y="2904578"/>
              <a:ext cx="3127189" cy="1438264"/>
              <a:chOff x="0" y="0"/>
              <a:chExt cx="617702" cy="28413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617702" cy="284134"/>
              </a:xfrm>
              <a:custGeom>
                <a:avLst/>
                <a:gdLst/>
                <a:ahLst/>
                <a:cxnLst/>
                <a:rect l="l" t="t" r="r" b="b"/>
                <a:pathLst>
                  <a:path w="617702" h="284134">
                    <a:moveTo>
                      <a:pt x="617702" y="82523"/>
                    </a:moveTo>
                    <a:lnTo>
                      <a:pt x="617702" y="201611"/>
                    </a:lnTo>
                    <a:cubicBezTo>
                      <a:pt x="617702" y="223497"/>
                      <a:pt x="609008" y="244487"/>
                      <a:pt x="593532" y="259963"/>
                    </a:cubicBezTo>
                    <a:cubicBezTo>
                      <a:pt x="578056" y="275439"/>
                      <a:pt x="557066" y="284134"/>
                      <a:pt x="535179" y="284134"/>
                    </a:cubicBezTo>
                    <a:lnTo>
                      <a:pt x="82523" y="284134"/>
                    </a:lnTo>
                    <a:cubicBezTo>
                      <a:pt x="60636" y="284134"/>
                      <a:pt x="39646" y="275439"/>
                      <a:pt x="24170" y="259963"/>
                    </a:cubicBezTo>
                    <a:cubicBezTo>
                      <a:pt x="8694" y="244487"/>
                      <a:pt x="0" y="223497"/>
                      <a:pt x="0" y="201611"/>
                    </a:cubicBezTo>
                    <a:lnTo>
                      <a:pt x="0" y="82523"/>
                    </a:lnTo>
                    <a:cubicBezTo>
                      <a:pt x="0" y="60636"/>
                      <a:pt x="8694" y="39646"/>
                      <a:pt x="24170" y="24170"/>
                    </a:cubicBezTo>
                    <a:cubicBezTo>
                      <a:pt x="39646" y="8694"/>
                      <a:pt x="60636" y="0"/>
                      <a:pt x="82523" y="0"/>
                    </a:cubicBezTo>
                    <a:lnTo>
                      <a:pt x="535179" y="0"/>
                    </a:lnTo>
                    <a:cubicBezTo>
                      <a:pt x="557066" y="0"/>
                      <a:pt x="578056" y="8694"/>
                      <a:pt x="593532" y="24170"/>
                    </a:cubicBezTo>
                    <a:cubicBezTo>
                      <a:pt x="609008" y="39646"/>
                      <a:pt x="617702" y="60636"/>
                      <a:pt x="617702" y="82523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617702" cy="32223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Câu trả lời có căn cứ pháp lý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5667717" y="9320859"/>
              <a:ext cx="8823519" cy="483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99"/>
                </a:lnSpc>
              </a:pPr>
              <a:r>
                <a:rPr lang="en-US" sz="1999" b="1" i="1">
                  <a:solidFill>
                    <a:srgbClr val="0C1D4B"/>
                  </a:solidFill>
                  <a:latin typeface="Roboto Bold Italics"/>
                  <a:ea typeface="Roboto Bold Italics"/>
                  <a:cs typeface="Roboto Bold Italics"/>
                  <a:sym typeface="Roboto Bold Italics"/>
                </a:rPr>
                <a:t>Hành trình của một tin nhắn khi đi qua hệ thống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5617179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3.3. Đồ thị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0CCFE10-199A-0BD4-F5D5-B886110E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534" y="1862752"/>
            <a:ext cx="11550931" cy="75575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5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Guardrail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bỏ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yêu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ngoài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phạm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vai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trò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lọc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duyệt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nghiêm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ngặt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AI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Nam...”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057400" y="5576253"/>
            <a:ext cx="14108375" cy="2159286"/>
            <a:chOff x="0" y="0"/>
            <a:chExt cx="18811166" cy="2879048"/>
          </a:xfrm>
        </p:grpSpPr>
        <p:sp>
          <p:nvSpPr>
            <p:cNvPr id="16" name="Freeform 16"/>
            <p:cNvSpPr/>
            <p:nvPr/>
          </p:nvSpPr>
          <p:spPr>
            <a:xfrm>
              <a:off x="5991105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381696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30179"/>
              <a:ext cx="3326861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hỏi hiện tại của người dùng</a:t>
              </a: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326861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 flipV="1">
              <a:off x="7459585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459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1689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3" name="AutoShape 23"/>
            <p:cNvSpPr/>
            <p:nvPr/>
          </p:nvSpPr>
          <p:spPr>
            <a:xfrm flipV="1">
              <a:off x="11882196" y="722286"/>
              <a:ext cx="2787081" cy="74612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 dirty="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4669278" y="258286"/>
              <a:ext cx="4141889" cy="928000"/>
              <a:chOff x="0" y="0"/>
              <a:chExt cx="818151" cy="18330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11852051" y="1525854"/>
              <a:ext cx="2817227" cy="90539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4669278" y="1983443"/>
              <a:ext cx="4141889" cy="895606"/>
              <a:chOff x="0" y="0"/>
              <a:chExt cx="847743" cy="18330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Query_Analysis</a:t>
                </a:r>
              </a:p>
            </p:txBody>
          </p:sp>
        </p:grpSp>
      </p:grpSp>
      <p:sp>
        <p:nvSpPr>
          <p:cNvPr id="31" name="RestoredLabel Reject"/>
          <p:cNvSpPr txBox="1"/>
          <p:nvPr/>
        </p:nvSpPr>
        <p:spPr>
          <a:xfrm rot="20636467">
            <a:off x="11584938" y="5997653"/>
            <a:ext cx="920124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REJECT</a:t>
            </a:r>
          </a:p>
        </p:txBody>
      </p:sp>
      <p:sp>
        <p:nvSpPr>
          <p:cNvPr id="32" name="RestoredLabel Valid"/>
          <p:cNvSpPr txBox="1"/>
          <p:nvPr/>
        </p:nvSpPr>
        <p:spPr>
          <a:xfrm rot="1100000">
            <a:off x="11703989" y="6743952"/>
            <a:ext cx="735650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VALID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5" grpId="0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Query_Analysis</a:t>
            </a:r>
            <a:endParaRPr lang="en-US" sz="3000" b="1" dirty="0">
              <a:solidFill>
                <a:srgbClr val="0C1D4B"/>
              </a:solidFill>
              <a:latin typeface="Roboto Slab Bold"/>
              <a:ea typeface="Roboto Slab Bold"/>
              <a:cs typeface="Roboto Slab Bold"/>
              <a:sym typeface="Roboto Slab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chuyên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Nam.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tạo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TỐI ƯU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2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543497" y="5269448"/>
            <a:ext cx="14843164" cy="2013203"/>
            <a:chOff x="0" y="0"/>
            <a:chExt cx="19790886" cy="2684271"/>
          </a:xfrm>
        </p:grpSpPr>
        <p:sp>
          <p:nvSpPr>
            <p:cNvPr id="15" name="Freeform 15"/>
            <p:cNvSpPr/>
            <p:nvPr/>
          </p:nvSpPr>
          <p:spPr>
            <a:xfrm>
              <a:off x="5358055" y="1213536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9748647" y="1131359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39252"/>
              <a:ext cx="2693812" cy="1099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  <a:spcBef>
                  <a:spcPct val="0"/>
                </a:spcBef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hỏi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qua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kiểm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tra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2693812" y="1907815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6826535" y="1907815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1542" y="436387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3846" y="351923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1249147" y="1907815"/>
              <a:ext cx="4399850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5648997" y="1460012"/>
              <a:ext cx="4141889" cy="895606"/>
              <a:chOff x="0" y="0"/>
              <a:chExt cx="847743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47743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47743" h="183309">
                    <a:moveTo>
                      <a:pt x="69783" y="0"/>
                    </a:moveTo>
                    <a:lnTo>
                      <a:pt x="777961" y="0"/>
                    </a:lnTo>
                    <a:cubicBezTo>
                      <a:pt x="796468" y="0"/>
                      <a:pt x="814218" y="7352"/>
                      <a:pt x="827304" y="20439"/>
                    </a:cubicBezTo>
                    <a:cubicBezTo>
                      <a:pt x="840391" y="33526"/>
                      <a:pt x="847743" y="51275"/>
                      <a:pt x="847743" y="69783"/>
                    </a:cubicBezTo>
                    <a:lnTo>
                      <a:pt x="847743" y="113526"/>
                    </a:lnTo>
                    <a:cubicBezTo>
                      <a:pt x="847743" y="132033"/>
                      <a:pt x="840391" y="149783"/>
                      <a:pt x="827304" y="162870"/>
                    </a:cubicBezTo>
                    <a:cubicBezTo>
                      <a:pt x="814218" y="175956"/>
                      <a:pt x="796468" y="183309"/>
                      <a:pt x="777961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47743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Agent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2113362" y="-76200"/>
              <a:ext cx="2671420" cy="1884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Các thuật ngữ pháp lý chính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Tóm tắt nhu cầu tra cứu</a:t>
              </a:r>
            </a:p>
          </p:txBody>
        </p:sp>
      </p:grpSp>
      <p:sp>
        <p:nvSpPr>
          <p:cNvPr id="27" name="RestoredJsonSample QueryAnalysis"/>
          <p:cNvSpPr txBox="1"/>
          <p:nvPr/>
        </p:nvSpPr>
        <p:spPr>
          <a:xfrm>
            <a:off x="4526576" y="7474397"/>
            <a:ext cx="8305800" cy="237987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C1D4B"/>
            </a:solidFill>
          </a:ln>
        </p:spPr>
        <p:txBody>
          <a:bodyPr wrap="square" lIns="170000" tIns="120000" rIns="170000" bIns="90000" rtlCol="0" anchor="t">
            <a:spAutoFit/>
          </a:bodyPr>
          <a:lstStyle/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{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"legal_topic": "Tội trộm cắp tài sản",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"legal_domain": "Hình sự",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"relevant_laws": ["Bộ luật Hình sự 2015"],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"internal_search_query": "tội trộm cắp tài sản khung hình phạt",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"web_search_query": "Điều 173 Bộ luật Hình sự 2015 quy định mới nhất",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"key_legal_terms": ["trộm cắp tài sản", "khung hình phạt"],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  "analysis_summary": "Tạo truy vấn tối ưu cho ChromaDB và web search"</a:t>
            </a:r>
          </a:p>
          <a:p>
            <a:pPr algn="l"/>
            <a:r>
              <a:rPr lang="vi-VN" sz="1400" dirty="0">
                <a:solidFill>
                  <a:srgbClr val="11111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vụ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tâm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lịch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thoại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sau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quyết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bước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tiếp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cần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nội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gọi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tool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nếu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bằng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Pháp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Việt Nam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cao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nghề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87249" y="6208517"/>
            <a:ext cx="13692416" cy="3609131"/>
            <a:chOff x="0" y="0"/>
            <a:chExt cx="18256555" cy="481217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0041"/>
              <a:ext cx="4713540" cy="2813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phân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tích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truy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vấn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Kết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quả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từ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các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công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cụ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nếu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đã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có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  <a:p>
              <a:pPr marL="523223" lvl="1" indent="-261612" algn="l">
                <a:lnSpc>
                  <a:spcPts val="3392"/>
                </a:lnSpc>
                <a:buFont typeface="Arial"/>
                <a:buChar char="•"/>
              </a:pP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Lịch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sử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hội</a:t>
              </a:r>
              <a:r>
                <a:rPr lang="en-US" sz="2423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2423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thoại</a:t>
              </a:r>
              <a:endParaRPr lang="en-US" sz="2423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483827" y="3916569"/>
              <a:ext cx="4069598" cy="895606"/>
              <a:chOff x="0" y="0"/>
              <a:chExt cx="832947" cy="18330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32947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32947" h="183309">
                    <a:moveTo>
                      <a:pt x="71022" y="0"/>
                    </a:moveTo>
                    <a:lnTo>
                      <a:pt x="761925" y="0"/>
                    </a:lnTo>
                    <a:cubicBezTo>
                      <a:pt x="801149" y="0"/>
                      <a:pt x="832947" y="31798"/>
                      <a:pt x="832947" y="71022"/>
                    </a:cubicBezTo>
                    <a:lnTo>
                      <a:pt x="832947" y="112286"/>
                    </a:lnTo>
                    <a:cubicBezTo>
                      <a:pt x="832947" y="151511"/>
                      <a:pt x="801149" y="183309"/>
                      <a:pt x="761925" y="183309"/>
                    </a:cubicBezTo>
                    <a:lnTo>
                      <a:pt x="71022" y="183309"/>
                    </a:lnTo>
                    <a:cubicBezTo>
                      <a:pt x="31798" y="183309"/>
                      <a:pt x="0" y="151511"/>
                      <a:pt x="0" y="112286"/>
                    </a:cubicBezTo>
                    <a:lnTo>
                      <a:pt x="0" y="71022"/>
                    </a:lnTo>
                    <a:cubicBezTo>
                      <a:pt x="0" y="31798"/>
                      <a:pt x="31798" y="0"/>
                      <a:pt x="71022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832947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Node Verifier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>
              <a:off x="13268876" y="1091782"/>
              <a:ext cx="32981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2518626" y="2275198"/>
              <a:ext cx="0" cy="164137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6567032" y="256524"/>
              <a:ext cx="1689522" cy="1670515"/>
            </a:xfrm>
            <a:custGeom>
              <a:avLst/>
              <a:gdLst/>
              <a:ahLst/>
              <a:cxnLst/>
              <a:rect l="l" t="t" r="r" b="b"/>
              <a:pathLst>
                <a:path w="1689522" h="1670515">
                  <a:moveTo>
                    <a:pt x="0" y="0"/>
                  </a:moveTo>
                  <a:lnTo>
                    <a:pt x="1689523" y="0"/>
                  </a:lnTo>
                  <a:lnTo>
                    <a:pt x="1689523" y="1670515"/>
                  </a:lnTo>
                  <a:lnTo>
                    <a:pt x="0" y="1670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40903" y="2657045"/>
              <a:ext cx="2671420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 b="1">
                  <a:solidFill>
                    <a:srgbClr val="0C1D4B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Enough evidence</a:t>
              </a:r>
            </a:p>
          </p:txBody>
        </p:sp>
      </p:grpSp>
      <p:sp>
        <p:nvSpPr>
          <p:cNvPr id="29" name="RestoredLabel Call tools"/>
          <p:cNvSpPr txBox="1"/>
          <p:nvPr/>
        </p:nvSpPr>
        <p:spPr>
          <a:xfrm>
            <a:off x="12355540" y="6682487"/>
            <a:ext cx="1040348" cy="284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18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Call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249755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3.4. Xây dựng các node trong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Node Verifier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Nhiệm vụ: kiểm tra lại câu trả lời cuối cùng trước khi phản hồi cho người dùng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PROMPT: “Kiểm tra câu trả lời pháp luật có bịa đặt không dựa trên dữ liệu đã thu thập được...”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5576253"/>
            <a:ext cx="15894478" cy="1736216"/>
            <a:chOff x="0" y="0"/>
            <a:chExt cx="21192638" cy="2314955"/>
          </a:xfrm>
        </p:grpSpPr>
        <p:sp>
          <p:nvSpPr>
            <p:cNvPr id="15" name="Freeform 15"/>
            <p:cNvSpPr/>
            <p:nvPr/>
          </p:nvSpPr>
          <p:spPr>
            <a:xfrm>
              <a:off x="7377784" y="804463"/>
              <a:ext cx="1468480" cy="1442782"/>
            </a:xfrm>
            <a:custGeom>
              <a:avLst/>
              <a:gdLst/>
              <a:ahLst/>
              <a:cxnLst/>
              <a:rect l="l" t="t" r="r" b="b"/>
              <a:pathLst>
                <a:path w="1468480" h="1442782">
                  <a:moveTo>
                    <a:pt x="0" y="0"/>
                  </a:moveTo>
                  <a:lnTo>
                    <a:pt x="1468480" y="0"/>
                  </a:lnTo>
                  <a:lnTo>
                    <a:pt x="1468480" y="1442782"/>
                  </a:lnTo>
                  <a:lnTo>
                    <a:pt x="0" y="144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768375" y="722286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1" y="0"/>
                  </a:lnTo>
                  <a:lnTo>
                    <a:pt x="1500501" y="1552912"/>
                  </a:lnTo>
                  <a:lnTo>
                    <a:pt x="0" y="1552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44429"/>
              <a:ext cx="4713540" cy="1670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92"/>
                </a:lnSpc>
              </a:pPr>
              <a:r>
                <a:rPr lang="en-US" sz="24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Câu trả lời của Agent và toàn bộ kết quả công cụ đã sử dụng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4713540" y="1498742"/>
              <a:ext cx="2664244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9" name="AutoShape 19"/>
            <p:cNvSpPr/>
            <p:nvPr/>
          </p:nvSpPr>
          <p:spPr>
            <a:xfrm flipV="1">
              <a:off x="8846264" y="1498742"/>
              <a:ext cx="2922111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3268876" y="1498742"/>
              <a:ext cx="3781873" cy="2711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51271" y="27314"/>
              <a:ext cx="4049764" cy="516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spcBef>
                  <a:spcPct val="0"/>
                </a:spcBef>
              </a:pPr>
              <a:r>
                <a:rPr lang="en-US" sz="2397" b="1" i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PROMT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3575" y="-57150"/>
              <a:ext cx="3830101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7050749" y="1061854"/>
              <a:ext cx="4141889" cy="928000"/>
              <a:chOff x="0" y="0"/>
              <a:chExt cx="818151" cy="18330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END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3733667" y="-16800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Tự sửa đổi và cập nhật nội dung sai sót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Xây dựng dữ liệu pháp luật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6230600" cy="282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Dữ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hóa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thay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thành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một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khối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lớn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Việc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chuẩn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trọng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vì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đặc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thù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Mỗi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gồm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law_id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article_id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title, text, year, topics, keywords, summary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671" y="5205189"/>
            <a:ext cx="16769608" cy="4467298"/>
            <a:chOff x="0" y="0"/>
            <a:chExt cx="22359478" cy="5956398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2233656"/>
              <a:ext cx="4333698" cy="2530487"/>
              <a:chOff x="0" y="0"/>
              <a:chExt cx="856039" cy="49984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56039" cy="499849"/>
              </a:xfrm>
              <a:custGeom>
                <a:avLst/>
                <a:gdLst/>
                <a:ahLst/>
                <a:cxnLst/>
                <a:rect l="l" t="t" r="r" b="b"/>
                <a:pathLst>
                  <a:path w="856039" h="499849">
                    <a:moveTo>
                      <a:pt x="66694" y="0"/>
                    </a:moveTo>
                    <a:lnTo>
                      <a:pt x="789345" y="0"/>
                    </a:lnTo>
                    <a:cubicBezTo>
                      <a:pt x="826179" y="0"/>
                      <a:pt x="856039" y="29860"/>
                      <a:pt x="856039" y="66694"/>
                    </a:cubicBezTo>
                    <a:lnTo>
                      <a:pt x="856039" y="433155"/>
                    </a:lnTo>
                    <a:cubicBezTo>
                      <a:pt x="856039" y="469989"/>
                      <a:pt x="826179" y="499849"/>
                      <a:pt x="789345" y="499849"/>
                    </a:cubicBezTo>
                    <a:lnTo>
                      <a:pt x="66694" y="499849"/>
                    </a:lnTo>
                    <a:cubicBezTo>
                      <a:pt x="29860" y="499849"/>
                      <a:pt x="0" y="469989"/>
                      <a:pt x="0" y="433155"/>
                    </a:cubicBezTo>
                    <a:lnTo>
                      <a:pt x="0" y="66694"/>
                    </a:lnTo>
                    <a:cubicBezTo>
                      <a:pt x="0" y="29860"/>
                      <a:pt x="29860" y="0"/>
                      <a:pt x="66694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19050"/>
                <a:ext cx="856039" cy="5188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"content": "Người nào trộm cắp tài sản của người khác..."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0504313" y="1041400"/>
              <a:ext cx="4596946" cy="4914998"/>
              <a:chOff x="0" y="0"/>
              <a:chExt cx="908039" cy="9708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1" name="AutoShape 21"/>
            <p:cNvSpPr/>
            <p:nvPr/>
          </p:nvSpPr>
          <p:spPr>
            <a:xfrm flipV="1">
              <a:off x="4333698" y="3498899"/>
              <a:ext cx="1212404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33212" y="3058777"/>
              <a:ext cx="1500501" cy="1552911"/>
            </a:xfrm>
            <a:custGeom>
              <a:avLst/>
              <a:gdLst/>
              <a:ahLst/>
              <a:cxnLst/>
              <a:rect l="l" t="t" r="r" b="b"/>
              <a:pathLst>
                <a:path w="1500501" h="1552911">
                  <a:moveTo>
                    <a:pt x="0" y="0"/>
                  </a:moveTo>
                  <a:lnTo>
                    <a:pt x="1500500" y="0"/>
                  </a:lnTo>
                  <a:lnTo>
                    <a:pt x="1500500" y="1552911"/>
                  </a:lnTo>
                  <a:lnTo>
                    <a:pt x="0" y="1552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46102" y="2328960"/>
              <a:ext cx="1674719" cy="6658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2"/>
                </a:lnSpc>
                <a:spcBef>
                  <a:spcPct val="0"/>
                </a:spcBef>
              </a:pPr>
              <a:r>
                <a:rPr lang="en-US" sz="3023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24" name="AutoShape 24"/>
            <p:cNvSpPr/>
            <p:nvPr/>
          </p:nvSpPr>
          <p:spPr>
            <a:xfrm flipV="1">
              <a:off x="7220822" y="3498899"/>
              <a:ext cx="3283491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8093" y="1997097"/>
              <a:ext cx="2671420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Làm sạch dữ liệu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Gắn metadata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8217589" y="2272183"/>
              <a:ext cx="4141889" cy="928000"/>
              <a:chOff x="0" y="0"/>
              <a:chExt cx="818151" cy="18330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ChromaDB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15101259" y="2736183"/>
              <a:ext cx="3116330" cy="762716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30"/>
            <p:cNvSpPr txBox="1"/>
            <p:nvPr/>
          </p:nvSpPr>
          <p:spPr>
            <a:xfrm rot="-860574">
              <a:off x="15314276" y="2127951"/>
              <a:ext cx="2671420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Chunking 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hoá 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998" y="1636453"/>
              <a:ext cx="1691701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thô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27942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8217589" y="3917271"/>
              <a:ext cx="4141889" cy="928000"/>
              <a:chOff x="0" y="0"/>
              <a:chExt cx="818151" cy="18330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8151" cy="183309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183309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13526"/>
                    </a:lnTo>
                    <a:cubicBezTo>
                      <a:pt x="818151" y="132033"/>
                      <a:pt x="810799" y="149783"/>
                      <a:pt x="797712" y="162870"/>
                    </a:cubicBezTo>
                    <a:cubicBezTo>
                      <a:pt x="784625" y="175956"/>
                      <a:pt x="766876" y="183309"/>
                      <a:pt x="748368" y="183309"/>
                    </a:cubicBezTo>
                    <a:lnTo>
                      <a:pt x="69783" y="183309"/>
                    </a:lnTo>
                    <a:cubicBezTo>
                      <a:pt x="51275" y="183309"/>
                      <a:pt x="33526" y="175956"/>
                      <a:pt x="20439" y="162870"/>
                    </a:cubicBezTo>
                    <a:cubicBezTo>
                      <a:pt x="7352" y="149783"/>
                      <a:pt x="0" y="132033"/>
                      <a:pt x="0" y="113526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8151" cy="2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MongoDB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>
              <a:off x="15101259" y="3498899"/>
              <a:ext cx="3116330" cy="882372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Chunking, Embedding và lưu trữ ChromaDB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13822752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Chiến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chunking lai: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ngắn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nguyên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dài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nhỏ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Ngưỡng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chia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cấu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hình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đa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1000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overlap 150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Embedding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kiếm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tương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đồng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ngữ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nghĩa</a:t>
            </a:r>
            <a:endParaRPr lang="en-US" sz="2400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Document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metadata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được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về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làm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context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400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cho</a:t>
            </a:r>
            <a:r>
              <a:rPr lang="en-US" sz="2400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0150" y="4606260"/>
            <a:ext cx="15707699" cy="5196422"/>
            <a:chOff x="0" y="0"/>
            <a:chExt cx="20943599" cy="692856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463004"/>
              <a:ext cx="4596946" cy="4914998"/>
              <a:chOff x="0" y="0"/>
              <a:chExt cx="908039" cy="97086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08039" cy="970864"/>
              </a:xfrm>
              <a:custGeom>
                <a:avLst/>
                <a:gdLst/>
                <a:ahLst/>
                <a:cxnLst/>
                <a:rect l="l" t="t" r="r" b="b"/>
                <a:pathLst>
                  <a:path w="908039" h="970864">
                    <a:moveTo>
                      <a:pt x="62875" y="0"/>
                    </a:moveTo>
                    <a:lnTo>
                      <a:pt x="845164" y="0"/>
                    </a:lnTo>
                    <a:cubicBezTo>
                      <a:pt x="879889" y="0"/>
                      <a:pt x="908039" y="28150"/>
                      <a:pt x="908039" y="62875"/>
                    </a:cubicBezTo>
                    <a:lnTo>
                      <a:pt x="908039" y="907989"/>
                    </a:lnTo>
                    <a:cubicBezTo>
                      <a:pt x="908039" y="942714"/>
                      <a:pt x="879889" y="970864"/>
                      <a:pt x="845164" y="970864"/>
                    </a:cubicBezTo>
                    <a:lnTo>
                      <a:pt x="62875" y="970864"/>
                    </a:lnTo>
                    <a:cubicBezTo>
                      <a:pt x="28150" y="970864"/>
                      <a:pt x="0" y="942714"/>
                      <a:pt x="0" y="907989"/>
                    </a:cubicBezTo>
                    <a:lnTo>
                      <a:pt x="0" y="62875"/>
                    </a:lnTo>
                    <a:cubicBezTo>
                      <a:pt x="0" y="28150"/>
                      <a:pt x="28150" y="0"/>
                      <a:pt x="62875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908039" cy="9899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"law_id":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"article_id":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"title": "Điều 173. Tội trộm cắp tài sản",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"text": "Người nào trộm cắp tài sản của người khác...",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"topics": ["Hình sự"],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"keywords": ["trộm cắp tài sản", "khung hình phạt"],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"summary": "Quy định về tội trộm cắp tài sản."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23629" y="345404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sau khi làm sạch và gắn metadata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596946" y="3920503"/>
              <a:ext cx="3024838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7621784" y="2874129"/>
              <a:ext cx="3056661" cy="2092748"/>
              <a:chOff x="0" y="0"/>
              <a:chExt cx="603785" cy="41338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03785" cy="413382"/>
              </a:xfrm>
              <a:custGeom>
                <a:avLst/>
                <a:gdLst/>
                <a:ahLst/>
                <a:cxnLst/>
                <a:rect l="l" t="t" r="r" b="b"/>
                <a:pathLst>
                  <a:path w="603785" h="413382">
                    <a:moveTo>
                      <a:pt x="94558" y="0"/>
                    </a:moveTo>
                    <a:lnTo>
                      <a:pt x="509227" y="0"/>
                    </a:lnTo>
                    <a:cubicBezTo>
                      <a:pt x="561450" y="0"/>
                      <a:pt x="603785" y="42335"/>
                      <a:pt x="603785" y="94558"/>
                    </a:cubicBezTo>
                    <a:lnTo>
                      <a:pt x="603785" y="318824"/>
                    </a:lnTo>
                    <a:cubicBezTo>
                      <a:pt x="603785" y="371047"/>
                      <a:pt x="561450" y="413382"/>
                      <a:pt x="509227" y="413382"/>
                    </a:cubicBezTo>
                    <a:lnTo>
                      <a:pt x="94558" y="413382"/>
                    </a:lnTo>
                    <a:cubicBezTo>
                      <a:pt x="42335" y="413382"/>
                      <a:pt x="0" y="371047"/>
                      <a:pt x="0" y="318824"/>
                    </a:cubicBezTo>
                    <a:lnTo>
                      <a:pt x="0" y="94558"/>
                    </a:lnTo>
                    <a:cubicBezTo>
                      <a:pt x="0" y="42335"/>
                      <a:pt x="42335" y="0"/>
                      <a:pt x="94558" y="0"/>
                    </a:cubicBezTo>
                    <a:close/>
                  </a:path>
                </a:pathLst>
              </a:custGeom>
              <a:solidFill>
                <a:srgbClr val="0D1D4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03785" cy="4514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Chunk 0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Chung 1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...</a:t>
                </a:r>
              </a:p>
            </p:txBody>
          </p:sp>
        </p:grpSp>
        <p:sp>
          <p:nvSpPr>
            <p:cNvPr id="25" name="AutoShape 25"/>
            <p:cNvSpPr/>
            <p:nvPr/>
          </p:nvSpPr>
          <p:spPr>
            <a:xfrm flipV="1">
              <a:off x="10678445" y="3920503"/>
              <a:ext cx="4266456" cy="0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4944901" y="912443"/>
              <a:ext cx="5998698" cy="6016119"/>
              <a:chOff x="0" y="0"/>
              <a:chExt cx="1184928" cy="118836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84928" cy="1188369"/>
              </a:xfrm>
              <a:custGeom>
                <a:avLst/>
                <a:gdLst/>
                <a:ahLst/>
                <a:cxnLst/>
                <a:rect l="l" t="t" r="r" b="b"/>
                <a:pathLst>
                  <a:path w="1184928" h="1188369">
                    <a:moveTo>
                      <a:pt x="48182" y="0"/>
                    </a:moveTo>
                    <a:lnTo>
                      <a:pt x="1136746" y="0"/>
                    </a:lnTo>
                    <a:cubicBezTo>
                      <a:pt x="1149524" y="0"/>
                      <a:pt x="1161780" y="5076"/>
                      <a:pt x="1170816" y="14112"/>
                    </a:cubicBezTo>
                    <a:cubicBezTo>
                      <a:pt x="1179852" y="23148"/>
                      <a:pt x="1184928" y="35404"/>
                      <a:pt x="1184928" y="48182"/>
                    </a:cubicBezTo>
                    <a:lnTo>
                      <a:pt x="1184928" y="1140187"/>
                    </a:lnTo>
                    <a:cubicBezTo>
                      <a:pt x="1184928" y="1152966"/>
                      <a:pt x="1179852" y="1165221"/>
                      <a:pt x="1170816" y="1174257"/>
                    </a:cubicBezTo>
                    <a:cubicBezTo>
                      <a:pt x="1161780" y="1183293"/>
                      <a:pt x="1149524" y="1188369"/>
                      <a:pt x="1136746" y="1188369"/>
                    </a:cubicBezTo>
                    <a:lnTo>
                      <a:pt x="48182" y="1188369"/>
                    </a:lnTo>
                    <a:cubicBezTo>
                      <a:pt x="35404" y="1188369"/>
                      <a:pt x="23148" y="1183293"/>
                      <a:pt x="14112" y="1174257"/>
                    </a:cubicBezTo>
                    <a:cubicBezTo>
                      <a:pt x="5076" y="1165221"/>
                      <a:pt x="0" y="1152966"/>
                      <a:pt x="0" y="1140187"/>
                    </a:cubicBezTo>
                    <a:lnTo>
                      <a:pt x="0" y="48182"/>
                    </a:lnTo>
                    <a:cubicBezTo>
                      <a:pt x="0" y="35404"/>
                      <a:pt x="5076" y="23148"/>
                      <a:pt x="14112" y="14112"/>
                    </a:cubicBezTo>
                    <a:cubicBezTo>
                      <a:pt x="23148" y="5076"/>
                      <a:pt x="35404" y="0"/>
                      <a:pt x="48182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1184928" cy="12074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"id": "100/2015/QH13_173_chunk0",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"document":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\n\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nNgười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nào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...",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"embedding": [0.12, -0.04, 0.31, "..."],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"metadata": {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law_id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"100/2015/QH13",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article_id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"173",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"title":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Điều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173.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chunk_index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0,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total_chunks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": 1,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"year": "2015",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"topics":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sự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"keywords": "[\"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\", \"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khung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hình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phạt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\"]",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  "summary": "Quy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định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về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tội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trộm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cắp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tài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</a:t>
                </a:r>
                <a:r>
                  <a:rPr lang="en-US" sz="1200" spc="28" dirty="0" err="1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sản</a:t>
                </a: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."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  }</a:t>
                </a:r>
              </a:p>
              <a:p>
                <a:pPr algn="l">
                  <a:lnSpc>
                    <a:spcPts val="1679"/>
                  </a:lnSpc>
                </a:pPr>
                <a:r>
                  <a:rPr lang="en-US" sz="1200" spc="28" dirty="0">
                    <a:solidFill>
                      <a:srgbClr val="0C1D4B"/>
                    </a:solidFill>
                    <a:latin typeface="IBM Plex Mono"/>
                    <a:ea typeface="IBM Plex Mono"/>
                    <a:cs typeface="IBM Plex Mono"/>
                    <a:sym typeface="IBM Plex Mono"/>
                  </a:rPr>
                  <a:t>}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6269407" y="-76200"/>
              <a:ext cx="3349687" cy="91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Dữ liệu lưu trữ trong ChromaDB</a:t>
              </a:r>
            </a:p>
          </p:txBody>
        </p:sp>
      </p:grpSp>
      <p:sp>
        <p:nvSpPr>
          <p:cNvPr id="30" name="RestoredLabel Chunking"/>
          <p:cNvSpPr txBox="1"/>
          <p:nvPr/>
        </p:nvSpPr>
        <p:spPr>
          <a:xfrm>
            <a:off x="5325549" y="7209497"/>
            <a:ext cx="109324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Chunking</a:t>
            </a:r>
          </a:p>
        </p:txBody>
      </p:sp>
      <p:sp>
        <p:nvSpPr>
          <p:cNvPr id="31" name="RestoredLabel Vector hoa"/>
          <p:cNvSpPr txBox="1"/>
          <p:nvPr/>
        </p:nvSpPr>
        <p:spPr>
          <a:xfrm>
            <a:off x="9610884" y="6972300"/>
            <a:ext cx="2471831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Vector hóa</a:t>
            </a:r>
            <a:br>
              <a:rPr dirty="0">
                <a:latin typeface="Roboto Slab" pitchFamily="2" charset="0"/>
                <a:ea typeface="Roboto Slab" pitchFamily="2" charset="0"/>
                <a:cs typeface="Roboto Slab" pitchFamily="2" charset="0"/>
              </a:rPr>
            </a:br>
            <a:r>
              <a:rPr lang="vi-VN" sz="1650" b="1" dirty="0">
                <a:solidFill>
                  <a:srgbClr val="0C1D4B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(vietnamese-bi-encoder)</a:t>
            </a:r>
          </a:p>
        </p:txBody>
      </p:sp>
      <p:grpSp>
        <p:nvGrpSpPr>
          <p:cNvPr id="32" name="Group 14">
            <a:extLst>
              <a:ext uri="{FF2B5EF4-FFF2-40B4-BE49-F238E27FC236}">
                <a16:creationId xmlns:a16="http://schemas.microsoft.com/office/drawing/2014/main" id="{9D024F3A-FBC0-6B89-EE73-884C6817F313}"/>
              </a:ext>
            </a:extLst>
          </p:cNvPr>
          <p:cNvGrpSpPr/>
          <p:nvPr/>
        </p:nvGrpSpPr>
        <p:grpSpPr>
          <a:xfrm>
            <a:off x="-970422" y="10287000"/>
            <a:ext cx="1940843" cy="970417"/>
            <a:chOff x="0" y="0"/>
            <a:chExt cx="2587790" cy="1293889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9F44947F-C1CD-1662-EE88-65EF103D7ADE}"/>
                </a:ext>
              </a:extLst>
            </p:cNvPr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6" grpId="0"/>
      <p:bldP spid="30" grpId="0"/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3311475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3.5. Xây dựng hệ thống truy vấn pháp luật nội bộ - RAG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Retrieve, Rerank và đóng gói Context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515818"/>
            <a:ext cx="9493147" cy="3849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 dụng internal_search_query được tạo từ node Query_Analysis tối ưu cho truy hồi nội bộ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encode truy vấn thành vector và tìm kiếm trong ChromaDB bằng độ tương đồng vector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Cross-encoder rerank lại các candidate chunks bằng cách chấm điểm trực tiếp từng cặp query - chunk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Kết quả sau đó được kiểm tra xung đột luật cũ -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Cuối cùng được đóng gói thành context pháp lý cho Agent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281427" y="1981987"/>
            <a:ext cx="5456191" cy="6905305"/>
            <a:chOff x="0" y="0"/>
            <a:chExt cx="7274921" cy="9207073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5251376" cy="1548488"/>
              <a:chOff x="0" y="0"/>
              <a:chExt cx="1037309" cy="30587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37309" cy="305874"/>
              </a:xfrm>
              <a:custGeom>
                <a:avLst/>
                <a:gdLst/>
                <a:ahLst/>
                <a:cxnLst/>
                <a:rect l="l" t="t" r="r" b="b"/>
                <a:pathLst>
                  <a:path w="1037309" h="305874">
                    <a:moveTo>
                      <a:pt x="55039" y="0"/>
                    </a:moveTo>
                    <a:lnTo>
                      <a:pt x="982270" y="0"/>
                    </a:lnTo>
                    <a:cubicBezTo>
                      <a:pt x="996867" y="0"/>
                      <a:pt x="1010866" y="5799"/>
                      <a:pt x="1021188" y="16121"/>
                    </a:cubicBezTo>
                    <a:cubicBezTo>
                      <a:pt x="1031510" y="26442"/>
                      <a:pt x="1037309" y="40442"/>
                      <a:pt x="1037309" y="55039"/>
                    </a:cubicBezTo>
                    <a:lnTo>
                      <a:pt x="1037309" y="250835"/>
                    </a:lnTo>
                    <a:cubicBezTo>
                      <a:pt x="1037309" y="281232"/>
                      <a:pt x="1012667" y="305874"/>
                      <a:pt x="982270" y="305874"/>
                    </a:cubicBezTo>
                    <a:lnTo>
                      <a:pt x="55039" y="305874"/>
                    </a:lnTo>
                    <a:cubicBezTo>
                      <a:pt x="24642" y="305874"/>
                      <a:pt x="0" y="281232"/>
                      <a:pt x="0" y="250835"/>
                    </a:cubicBezTo>
                    <a:lnTo>
                      <a:pt x="0" y="55039"/>
                    </a:lnTo>
                    <a:cubicBezTo>
                      <a:pt x="0" y="24642"/>
                      <a:pt x="24642" y="0"/>
                      <a:pt x="55039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037309" cy="34397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internal_search_query</a:t>
                </a:r>
              </a:p>
              <a:p>
                <a:pPr algn="ctr">
                  <a:lnSpc>
                    <a:spcPts val="2380"/>
                  </a:lnSpc>
                </a:pPr>
                <a:r>
                  <a:rPr lang="en-US" sz="1700" b="1" spc="4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(“tội trộm cắp tài sản khung hình phạt”)</a:t>
                </a:r>
              </a:p>
            </p:txBody>
          </p:sp>
        </p:grpSp>
        <p:sp>
          <p:nvSpPr>
            <p:cNvPr id="18" name="AutoShape 18"/>
            <p:cNvSpPr/>
            <p:nvPr/>
          </p:nvSpPr>
          <p:spPr>
            <a:xfrm flipH="1">
              <a:off x="2625688" y="1548488"/>
              <a:ext cx="0" cy="1797321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33587" y="5451162"/>
              <a:ext cx="3584202" cy="1704987"/>
              <a:chOff x="0" y="0"/>
              <a:chExt cx="707991" cy="3367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707991" cy="336788"/>
              </a:xfrm>
              <a:custGeom>
                <a:avLst/>
                <a:gdLst/>
                <a:ahLst/>
                <a:cxnLst/>
                <a:rect l="l" t="t" r="r" b="b"/>
                <a:pathLst>
                  <a:path w="707991" h="336788">
                    <a:moveTo>
                      <a:pt x="80640" y="0"/>
                    </a:moveTo>
                    <a:lnTo>
                      <a:pt x="627350" y="0"/>
                    </a:lnTo>
                    <a:cubicBezTo>
                      <a:pt x="671887" y="0"/>
                      <a:pt x="707991" y="36104"/>
                      <a:pt x="707991" y="80640"/>
                    </a:cubicBezTo>
                    <a:lnTo>
                      <a:pt x="707991" y="256147"/>
                    </a:lnTo>
                    <a:cubicBezTo>
                      <a:pt x="707991" y="300684"/>
                      <a:pt x="671887" y="336788"/>
                      <a:pt x="627350" y="336788"/>
                    </a:cubicBezTo>
                    <a:lnTo>
                      <a:pt x="80640" y="336788"/>
                    </a:lnTo>
                    <a:cubicBezTo>
                      <a:pt x="36104" y="336788"/>
                      <a:pt x="0" y="300684"/>
                      <a:pt x="0" y="256147"/>
                    </a:cubicBezTo>
                    <a:lnTo>
                      <a:pt x="0" y="80640"/>
                    </a:lnTo>
                    <a:cubicBezTo>
                      <a:pt x="0" y="36104"/>
                      <a:pt x="36104" y="0"/>
                      <a:pt x="80640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707991" cy="3748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10 Documents</a:t>
                </a:r>
              </a:p>
            </p:txBody>
          </p:sp>
        </p:grpSp>
        <p:sp>
          <p:nvSpPr>
            <p:cNvPr id="22" name="AutoShape 22"/>
            <p:cNvSpPr/>
            <p:nvPr/>
          </p:nvSpPr>
          <p:spPr>
            <a:xfrm>
              <a:off x="2625688" y="4607918"/>
              <a:ext cx="0" cy="843244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5688" y="1721574"/>
              <a:ext cx="4649233" cy="14019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Encode query (vietnamese-bi-encoder)</a:t>
              </a:r>
            </a:p>
            <a:p>
              <a:pPr marL="388620" lvl="1" indent="-194310" algn="l">
                <a:lnSpc>
                  <a:spcPts val="2880"/>
                </a:lnSpc>
                <a:buFont typeface="Arial"/>
                <a:buChar char="•"/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Vector search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2945" y="4760318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Cross-Encoder Rerank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625688" y="7156150"/>
              <a:ext cx="0" cy="1342137"/>
            </a:xfrm>
            <a:prstGeom prst="line">
              <a:avLst/>
            </a:prstGeom>
            <a:ln w="50800" cap="flat">
              <a:solidFill>
                <a:srgbClr val="0C0C6B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5803" y="3345810"/>
              <a:ext cx="3879769" cy="1262109"/>
              <a:chOff x="0" y="0"/>
              <a:chExt cx="766374" cy="24930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66374" cy="249305"/>
              </a:xfrm>
              <a:custGeom>
                <a:avLst/>
                <a:gdLst/>
                <a:ahLst/>
                <a:cxnLst/>
                <a:rect l="l" t="t" r="r" b="b"/>
                <a:pathLst>
                  <a:path w="766374" h="249305">
                    <a:moveTo>
                      <a:pt x="74497" y="0"/>
                    </a:moveTo>
                    <a:lnTo>
                      <a:pt x="691877" y="0"/>
                    </a:lnTo>
                    <a:cubicBezTo>
                      <a:pt x="711635" y="0"/>
                      <a:pt x="730583" y="7849"/>
                      <a:pt x="744554" y="21820"/>
                    </a:cubicBezTo>
                    <a:cubicBezTo>
                      <a:pt x="758525" y="35791"/>
                      <a:pt x="766374" y="54739"/>
                      <a:pt x="766374" y="74497"/>
                    </a:cubicBezTo>
                    <a:lnTo>
                      <a:pt x="766374" y="174808"/>
                    </a:lnTo>
                    <a:cubicBezTo>
                      <a:pt x="766374" y="194566"/>
                      <a:pt x="758525" y="213515"/>
                      <a:pt x="744554" y="227486"/>
                    </a:cubicBezTo>
                    <a:cubicBezTo>
                      <a:pt x="730583" y="241457"/>
                      <a:pt x="711635" y="249305"/>
                      <a:pt x="691877" y="249305"/>
                    </a:cubicBezTo>
                    <a:lnTo>
                      <a:pt x="74497" y="249305"/>
                    </a:lnTo>
                    <a:cubicBezTo>
                      <a:pt x="54739" y="249305"/>
                      <a:pt x="35791" y="241457"/>
                      <a:pt x="21820" y="227486"/>
                    </a:cubicBezTo>
                    <a:cubicBezTo>
                      <a:pt x="7849" y="213515"/>
                      <a:pt x="0" y="194566"/>
                      <a:pt x="0" y="174808"/>
                    </a:cubicBezTo>
                    <a:lnTo>
                      <a:pt x="0" y="74497"/>
                    </a:lnTo>
                    <a:cubicBezTo>
                      <a:pt x="0" y="54739"/>
                      <a:pt x="7849" y="35791"/>
                      <a:pt x="21820" y="21820"/>
                    </a:cubicBezTo>
                    <a:cubicBezTo>
                      <a:pt x="35791" y="7849"/>
                      <a:pt x="54739" y="0"/>
                      <a:pt x="74497" y="0"/>
                    </a:cubicBezTo>
                    <a:close/>
                  </a:path>
                </a:pathLst>
              </a:custGeom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66374" cy="2874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Candidate chunks</a:t>
                </a:r>
              </a:p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C1D4B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top 60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03316" y="8498287"/>
              <a:ext cx="3244744" cy="708786"/>
              <a:chOff x="0" y="0"/>
              <a:chExt cx="640937" cy="14000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40937" cy="140007"/>
              </a:xfrm>
              <a:custGeom>
                <a:avLst/>
                <a:gdLst/>
                <a:ahLst/>
                <a:cxnLst/>
                <a:rect l="l" t="t" r="r" b="b"/>
                <a:pathLst>
                  <a:path w="640937" h="140007">
                    <a:moveTo>
                      <a:pt x="70004" y="0"/>
                    </a:moveTo>
                    <a:lnTo>
                      <a:pt x="570933" y="0"/>
                    </a:lnTo>
                    <a:cubicBezTo>
                      <a:pt x="609595" y="0"/>
                      <a:pt x="640937" y="31342"/>
                      <a:pt x="640937" y="70004"/>
                    </a:cubicBezTo>
                    <a:lnTo>
                      <a:pt x="640937" y="70004"/>
                    </a:lnTo>
                    <a:cubicBezTo>
                      <a:pt x="640937" y="88570"/>
                      <a:pt x="633562" y="106375"/>
                      <a:pt x="620433" y="119504"/>
                    </a:cubicBezTo>
                    <a:cubicBezTo>
                      <a:pt x="607305" y="132632"/>
                      <a:pt x="589500" y="140007"/>
                      <a:pt x="570933" y="140007"/>
                    </a:cubicBezTo>
                    <a:lnTo>
                      <a:pt x="70004" y="140007"/>
                    </a:lnTo>
                    <a:cubicBezTo>
                      <a:pt x="51437" y="140007"/>
                      <a:pt x="33632" y="132632"/>
                      <a:pt x="20504" y="119504"/>
                    </a:cubicBezTo>
                    <a:cubicBezTo>
                      <a:pt x="7375" y="106375"/>
                      <a:pt x="0" y="88570"/>
                      <a:pt x="0" y="70004"/>
                    </a:cubicBezTo>
                    <a:lnTo>
                      <a:pt x="0" y="70004"/>
                    </a:lnTo>
                    <a:cubicBezTo>
                      <a:pt x="0" y="51437"/>
                      <a:pt x="7375" y="33632"/>
                      <a:pt x="20504" y="20504"/>
                    </a:cubicBezTo>
                    <a:cubicBezTo>
                      <a:pt x="33632" y="7375"/>
                      <a:pt x="51437" y="0"/>
                      <a:pt x="70004" y="0"/>
                    </a:cubicBezTo>
                    <a:close/>
                  </a:path>
                </a:pathLst>
              </a:custGeom>
              <a:solidFill>
                <a:srgbClr val="0C1D4B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40937" cy="17810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FFFFFF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Agent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2742945" y="7553443"/>
              <a:ext cx="3349687" cy="436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80"/>
                </a:lnSpc>
              </a:pPr>
              <a:r>
                <a:rPr lang="en-US" sz="1800">
                  <a:solidFill>
                    <a:srgbClr val="0C1D4B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Formatted Context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3.6. Cập nhật văn bản pháp luật từ Web Admin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328355" y="5380893"/>
            <a:ext cx="11631289" cy="2648006"/>
            <a:chOff x="0" y="0"/>
            <a:chExt cx="15508386" cy="3530675"/>
          </a:xfrm>
        </p:grpSpPr>
        <p:sp>
          <p:nvSpPr>
            <p:cNvPr id="13" name="AutoShape 13"/>
            <p:cNvSpPr/>
            <p:nvPr/>
          </p:nvSpPr>
          <p:spPr>
            <a:xfrm flipV="1">
              <a:off x="1671066" y="1984926"/>
              <a:ext cx="2046613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834374" y="1984926"/>
              <a:ext cx="3052901" cy="171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0147" y="1286725"/>
              <a:ext cx="1139290" cy="1430615"/>
            </a:xfrm>
            <a:custGeom>
              <a:avLst/>
              <a:gdLst/>
              <a:ahLst/>
              <a:cxnLst/>
              <a:rect l="l" t="t" r="r" b="b"/>
              <a:pathLst>
                <a:path w="1139290" h="1430615">
                  <a:moveTo>
                    <a:pt x="0" y="0"/>
                  </a:moveTo>
                  <a:lnTo>
                    <a:pt x="1139290" y="0"/>
                  </a:lnTo>
                  <a:lnTo>
                    <a:pt x="1139290" y="1430615"/>
                  </a:lnTo>
                  <a:lnTo>
                    <a:pt x="0" y="14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17679" y="926578"/>
              <a:ext cx="2116695" cy="2116695"/>
            </a:xfrm>
            <a:custGeom>
              <a:avLst/>
              <a:gdLst/>
              <a:ahLst/>
              <a:cxnLst/>
              <a:rect l="l" t="t" r="r" b="b"/>
              <a:pathLst>
                <a:path w="2116695" h="2116695">
                  <a:moveTo>
                    <a:pt x="0" y="0"/>
                  </a:moveTo>
                  <a:lnTo>
                    <a:pt x="2116695" y="0"/>
                  </a:lnTo>
                  <a:lnTo>
                    <a:pt x="2116695" y="2116695"/>
                  </a:lnTo>
                  <a:lnTo>
                    <a:pt x="0" y="21166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2819576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Văn bản pháp luật mới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36323" y="2819576"/>
              <a:ext cx="711669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54103" y="128501"/>
              <a:ext cx="2476109" cy="1079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Cấu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trúc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,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làm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sạch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và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gắn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metadata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cho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dữ</a:t>
              </a:r>
              <a:r>
                <a:rPr lang="en-US" sz="1599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 </a:t>
              </a:r>
              <a:r>
                <a:rPr lang="en-US" sz="1599" b="1" dirty="0" err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liệu</a:t>
              </a:r>
              <a:endParaRPr lang="en-US" sz="1599" b="1" dirty="0">
                <a:solidFill>
                  <a:srgbClr val="000000"/>
                </a:solidFill>
                <a:latin typeface="Roboto Slab Bold"/>
                <a:ea typeface="Roboto Slab Bold"/>
                <a:cs typeface="Roboto Slab Bold"/>
                <a:sym typeface="Roboto Slab Bold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887275" y="1376018"/>
              <a:ext cx="1209764" cy="1252030"/>
            </a:xfrm>
            <a:custGeom>
              <a:avLst/>
              <a:gdLst/>
              <a:ahLst/>
              <a:cxnLst/>
              <a:rect l="l" t="t" r="r" b="b"/>
              <a:pathLst>
                <a:path w="1209764" h="1252030">
                  <a:moveTo>
                    <a:pt x="0" y="0"/>
                  </a:moveTo>
                  <a:lnTo>
                    <a:pt x="1209764" y="0"/>
                  </a:lnTo>
                  <a:lnTo>
                    <a:pt x="1209764" y="1252029"/>
                  </a:lnTo>
                  <a:lnTo>
                    <a:pt x="0" y="1252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78" r="-178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6234" y="-28575"/>
              <a:ext cx="2159584" cy="71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OCR/Parse file PDF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0097039" y="2002032"/>
              <a:ext cx="1269458" cy="1531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en-V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11366497" y="1406649"/>
              <a:ext cx="4141889" cy="1221398"/>
              <a:chOff x="0" y="0"/>
              <a:chExt cx="818151" cy="24126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8151" cy="241264"/>
              </a:xfrm>
              <a:custGeom>
                <a:avLst/>
                <a:gdLst/>
                <a:ahLst/>
                <a:cxnLst/>
                <a:rect l="l" t="t" r="r" b="b"/>
                <a:pathLst>
                  <a:path w="818151" h="241264">
                    <a:moveTo>
                      <a:pt x="69783" y="0"/>
                    </a:moveTo>
                    <a:lnTo>
                      <a:pt x="748368" y="0"/>
                    </a:lnTo>
                    <a:cubicBezTo>
                      <a:pt x="786908" y="0"/>
                      <a:pt x="818151" y="31243"/>
                      <a:pt x="818151" y="69783"/>
                    </a:cubicBezTo>
                    <a:lnTo>
                      <a:pt x="818151" y="171481"/>
                    </a:lnTo>
                    <a:cubicBezTo>
                      <a:pt x="818151" y="189989"/>
                      <a:pt x="810799" y="207738"/>
                      <a:pt x="797712" y="220825"/>
                    </a:cubicBezTo>
                    <a:cubicBezTo>
                      <a:pt x="784625" y="233912"/>
                      <a:pt x="766876" y="241264"/>
                      <a:pt x="748368" y="241264"/>
                    </a:cubicBezTo>
                    <a:lnTo>
                      <a:pt x="69783" y="241264"/>
                    </a:lnTo>
                    <a:cubicBezTo>
                      <a:pt x="51275" y="241264"/>
                      <a:pt x="33526" y="233912"/>
                      <a:pt x="20439" y="220825"/>
                    </a:cubicBezTo>
                    <a:cubicBezTo>
                      <a:pt x="7352" y="207738"/>
                      <a:pt x="0" y="189989"/>
                      <a:pt x="0" y="171481"/>
                    </a:cubicBezTo>
                    <a:lnTo>
                      <a:pt x="0" y="69783"/>
                    </a:lnTo>
                    <a:cubicBezTo>
                      <a:pt x="0" y="51275"/>
                      <a:pt x="7352" y="33526"/>
                      <a:pt x="20439" y="20439"/>
                    </a:cubicBezTo>
                    <a:cubicBezTo>
                      <a:pt x="33526" y="7352"/>
                      <a:pt x="51275" y="0"/>
                      <a:pt x="69783" y="0"/>
                    </a:cubicBezTo>
                    <a:close/>
                  </a:path>
                </a:pathLst>
              </a:custGeom>
              <a:ln w="28575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818151" cy="279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r>
                  <a:rPr lang="en-US" sz="2100" b="1" spc="50">
                    <a:solidFill>
                      <a:srgbClr val="000000"/>
                    </a:solidFill>
                    <a:latin typeface="Roboto Slab Bold"/>
                    <a:ea typeface="Roboto Slab Bold"/>
                    <a:cs typeface="Roboto Slab Bold"/>
                    <a:sym typeface="Roboto Slab Bold"/>
                  </a:rPr>
                  <a:t>Dữ liệu sau khi được xử lý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949843" y="1868118"/>
            <a:ext cx="12056408" cy="190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Admin upload file PDF văn bản pháp luật mới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 thống tạo task xử lý để theo dõi trạng thái cập nhật</a:t>
            </a:r>
          </a:p>
          <a:p>
            <a:pPr marL="518162" lvl="1" indent="-259081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PDF được trích xuất nội dung bằng OCR và chuẩn hóa thành dữ liệu chuẩn sau đó được xử lý đưa vào MongoDB và ChromaDB</a:t>
            </a:r>
          </a:p>
        </p:txBody>
      </p:sp>
      <p:sp>
        <p:nvSpPr>
          <p:cNvPr id="27" name="RestoredLabel Du lieu tho"/>
          <p:cNvSpPr txBox="1"/>
          <p:nvPr/>
        </p:nvSpPr>
        <p:spPr>
          <a:xfrm>
            <a:off x="8087008" y="6527620"/>
            <a:ext cx="120385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vi-VN" sz="18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Dữ liệu thô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3.7. Mô hình tổng quan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87249" y="1629993"/>
            <a:ext cx="13868931" cy="7876660"/>
            <a:chOff x="0" y="0"/>
            <a:chExt cx="18491908" cy="10502212"/>
          </a:xfrm>
        </p:grpSpPr>
        <p:sp>
          <p:nvSpPr>
            <p:cNvPr id="13" name="Freeform 13"/>
            <p:cNvSpPr/>
            <p:nvPr/>
          </p:nvSpPr>
          <p:spPr>
            <a:xfrm>
              <a:off x="499293" y="4470125"/>
              <a:ext cx="1160998" cy="1917564"/>
            </a:xfrm>
            <a:custGeom>
              <a:avLst/>
              <a:gdLst/>
              <a:ahLst/>
              <a:cxnLst/>
              <a:rect l="l" t="t" r="r" b="b"/>
              <a:pathLst>
                <a:path w="1160998" h="1917564">
                  <a:moveTo>
                    <a:pt x="0" y="0"/>
                  </a:moveTo>
                  <a:lnTo>
                    <a:pt x="1160998" y="0"/>
                  </a:lnTo>
                  <a:lnTo>
                    <a:pt x="1160998" y="1917564"/>
                  </a:lnTo>
                  <a:lnTo>
                    <a:pt x="0" y="1917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13114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Mobile App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85" y="1810686"/>
              <a:ext cx="2007014" cy="1784418"/>
            </a:xfrm>
            <a:custGeom>
              <a:avLst/>
              <a:gdLst/>
              <a:ahLst/>
              <a:cxnLst/>
              <a:rect l="l" t="t" r="r" b="b"/>
              <a:pathLst>
                <a:path w="2007014" h="1784418">
                  <a:moveTo>
                    <a:pt x="0" y="0"/>
                  </a:moveTo>
                  <a:lnTo>
                    <a:pt x="2007014" y="0"/>
                  </a:lnTo>
                  <a:lnTo>
                    <a:pt x="2007014" y="1784418"/>
                  </a:lnTo>
                  <a:lnTo>
                    <a:pt x="0" y="1784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695598"/>
              <a:ext cx="2159584" cy="342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Admin Web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84344" y="62304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2"/>
                  </a:lnTo>
                  <a:lnTo>
                    <a:pt x="0" y="20669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67196" y="8435725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Chatbot 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(RAG Service)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374013" y="3057170"/>
              <a:ext cx="1822684" cy="2066961"/>
            </a:xfrm>
            <a:custGeom>
              <a:avLst/>
              <a:gdLst/>
              <a:ahLst/>
              <a:cxnLst/>
              <a:rect l="l" t="t" r="r" b="b"/>
              <a:pathLst>
                <a:path w="1822684" h="2066961">
                  <a:moveTo>
                    <a:pt x="0" y="0"/>
                  </a:moveTo>
                  <a:lnTo>
                    <a:pt x="1822684" y="0"/>
                  </a:lnTo>
                  <a:lnTo>
                    <a:pt x="1822684" y="2066961"/>
                  </a:lnTo>
                  <a:lnTo>
                    <a:pt x="0" y="2066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56865" y="5171947"/>
              <a:ext cx="2656980" cy="71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Backend</a:t>
              </a:r>
            </a:p>
            <a:p>
              <a:pPr algn="ctr">
                <a:lnSpc>
                  <a:spcPts val="2238"/>
                </a:lnSpc>
              </a:pPr>
              <a:r>
                <a:rPr lang="en-US" sz="1599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(Main Service)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828809" y="3132695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29075" y="4646514"/>
              <a:ext cx="1933223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(PostgreSQL)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6996101" y="491522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4" y="0"/>
                  </a:lnTo>
                  <a:lnTo>
                    <a:pt x="1133754" y="1382623"/>
                  </a:lnTo>
                  <a:lnTo>
                    <a:pt x="0" y="1382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634048" y="6456143"/>
              <a:ext cx="1857860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(ChromaDB)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1828809" y="0"/>
              <a:ext cx="1133754" cy="1382624"/>
            </a:xfrm>
            <a:custGeom>
              <a:avLst/>
              <a:gdLst/>
              <a:ahLst/>
              <a:cxnLst/>
              <a:rect l="l" t="t" r="r" b="b"/>
              <a:pathLst>
                <a:path w="1133754" h="1382624">
                  <a:moveTo>
                    <a:pt x="0" y="0"/>
                  </a:moveTo>
                  <a:lnTo>
                    <a:pt x="1133755" y="0"/>
                  </a:lnTo>
                  <a:lnTo>
                    <a:pt x="1133755" y="1382624"/>
                  </a:lnTo>
                  <a:lnTo>
                    <a:pt x="0" y="13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47" r="-346"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64728" y="1548738"/>
              <a:ext cx="1661916" cy="7919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Database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(MongoDB)</a:t>
              </a: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2159584" y="2924506"/>
              <a:ext cx="3797281" cy="122643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8" name="AutoShape 28"/>
            <p:cNvSpPr/>
            <p:nvPr/>
          </p:nvSpPr>
          <p:spPr>
            <a:xfrm flipV="1">
              <a:off x="2159584" y="4470125"/>
              <a:ext cx="3797281" cy="124285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613845" y="4470125"/>
              <a:ext cx="2453352" cy="295962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AutoShape 30"/>
            <p:cNvSpPr/>
            <p:nvPr/>
          </p:nvSpPr>
          <p:spPr>
            <a:xfrm flipV="1">
              <a:off x="13724176" y="6081636"/>
              <a:ext cx="2909871" cy="160702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6868159" y="8137156"/>
              <a:ext cx="1389637" cy="1420632"/>
            </a:xfrm>
            <a:custGeom>
              <a:avLst/>
              <a:gdLst/>
              <a:ahLst/>
              <a:cxnLst/>
              <a:rect l="l" t="t" r="r" b="b"/>
              <a:pathLst>
                <a:path w="1389637" h="1420632">
                  <a:moveTo>
                    <a:pt x="0" y="0"/>
                  </a:moveTo>
                  <a:lnTo>
                    <a:pt x="1389637" y="0"/>
                  </a:lnTo>
                  <a:lnTo>
                    <a:pt x="1389637" y="1420633"/>
                  </a:lnTo>
                  <a:lnTo>
                    <a:pt x="0" y="1420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V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6634048" y="9710189"/>
              <a:ext cx="1857860" cy="7920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2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LLMs</a:t>
              </a:r>
            </a:p>
            <a:p>
              <a:pPr algn="ctr">
                <a:lnSpc>
                  <a:spcPts val="2443"/>
                </a:lnSpc>
              </a:pPr>
              <a:r>
                <a:rPr lang="en-US" sz="1746" b="1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(Gemini API)</a:t>
              </a: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3724176" y="7997372"/>
              <a:ext cx="2909871" cy="132231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8613845" y="4070421"/>
              <a:ext cx="2815230" cy="21513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5" name="AutoShape 35"/>
            <p:cNvSpPr/>
            <p:nvPr/>
          </p:nvSpPr>
          <p:spPr>
            <a:xfrm flipV="1">
              <a:off x="8613845" y="1215592"/>
              <a:ext cx="2882777" cy="230439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8" name="TextBox 22">
              <a:extLst>
                <a:ext uri="{FF2B5EF4-FFF2-40B4-BE49-F238E27FC236}">
                  <a16:creationId xmlns:a16="http://schemas.microsoft.com/office/drawing/2014/main" id="{38D45818-63A8-6A42-EA98-4E26F84263A5}"/>
                </a:ext>
              </a:extLst>
            </p:cNvPr>
            <p:cNvSpPr txBox="1"/>
            <p:nvPr/>
          </p:nvSpPr>
          <p:spPr>
            <a:xfrm rot="1076333">
              <a:off x="2740775" y="3069957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Web socket</a:t>
              </a:r>
            </a:p>
          </p:txBody>
        </p:sp>
        <p:sp>
          <p:nvSpPr>
            <p:cNvPr id="39" name="TextBox 22">
              <a:extLst>
                <a:ext uri="{FF2B5EF4-FFF2-40B4-BE49-F238E27FC236}">
                  <a16:creationId xmlns:a16="http://schemas.microsoft.com/office/drawing/2014/main" id="{7C7AFC4A-EF3C-70CF-0D5E-D3B4835512E7}"/>
                </a:ext>
              </a:extLst>
            </p:cNvPr>
            <p:cNvSpPr txBox="1"/>
            <p:nvPr/>
          </p:nvSpPr>
          <p:spPr>
            <a:xfrm rot="20519852">
              <a:off x="2444464" y="4706863"/>
              <a:ext cx="2630693" cy="3813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443"/>
                </a:lnSpc>
              </a:pPr>
              <a:r>
                <a:rPr lang="en-US" sz="1746" b="1" dirty="0">
                  <a:solidFill>
                    <a:srgbClr val="000000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API + SSE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Hình thức của hệ thống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30118"/>
            <a:ext cx="9079671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Mobile App dành cho người dùng tra cứu và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Web Admin dành cho quản trị viên quản lý, cập nhật dữ liệu pháp luật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051968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Chức năng của hệ thống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956843"/>
            <a:ext cx="9079671" cy="33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Chat tư vấn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 vấn có hướng dẫn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Tra cứu văn bản pháp luật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hội thoại và nguồn tham chiếu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Cập nhật văn bản pháp luật mới từ PDF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Quản lý kho tri thức phục vụ RAG</a:t>
            </a:r>
          </a:p>
        </p:txBody>
      </p:sp>
      <p:sp>
        <p:nvSpPr>
          <p:cNvPr id="16" name="Freeform 16"/>
          <p:cNvSpPr/>
          <p:nvPr/>
        </p:nvSpPr>
        <p:spPr>
          <a:xfrm rot="801521">
            <a:off x="11385359" y="2916698"/>
            <a:ext cx="5006522" cy="5374801"/>
          </a:xfrm>
          <a:custGeom>
            <a:avLst/>
            <a:gdLst/>
            <a:ahLst/>
            <a:cxnLst/>
            <a:rect l="l" t="t" r="r" b="b"/>
            <a:pathLst>
              <a:path w="5006522" h="5374801">
                <a:moveTo>
                  <a:pt x="0" y="0"/>
                </a:moveTo>
                <a:lnTo>
                  <a:pt x="5006521" y="0"/>
                </a:lnTo>
                <a:lnTo>
                  <a:pt x="5006521" y="5374801"/>
                </a:lnTo>
                <a:lnTo>
                  <a:pt x="0" y="53748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4221591" y="2734893"/>
            <a:ext cx="9844818" cy="6694476"/>
          </a:xfrm>
          <a:custGeom>
            <a:avLst/>
            <a:gdLst/>
            <a:ahLst/>
            <a:cxnLst/>
            <a:rect l="l" t="t" r="r" b="b"/>
            <a:pathLst>
              <a:path w="9844818" h="6694476">
                <a:moveTo>
                  <a:pt x="0" y="0"/>
                </a:moveTo>
                <a:lnTo>
                  <a:pt x="9844818" y="0"/>
                </a:lnTo>
                <a:lnTo>
                  <a:pt x="9844818" y="6694476"/>
                </a:lnTo>
                <a:lnTo>
                  <a:pt x="0" y="6694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TextBox 11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3.8. Các chức năng của hệ thống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25243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Usecase tổng quát của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grpSp>
        <p:nvGrpSpPr>
          <p:cNvPr id="10" name="Group 10"/>
          <p:cNvGrpSpPr/>
          <p:nvPr/>
        </p:nvGrpSpPr>
        <p:grpSpPr>
          <a:xfrm>
            <a:off x="8555428" y="3969707"/>
            <a:ext cx="1177144" cy="1173793"/>
            <a:chOff x="0" y="0"/>
            <a:chExt cx="871377" cy="8688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1377" cy="868896"/>
            </a:xfrm>
            <a:custGeom>
              <a:avLst/>
              <a:gdLst/>
              <a:ahLst/>
              <a:cxnLst/>
              <a:rect l="l" t="t" r="r" b="b"/>
              <a:pathLst>
                <a:path w="871377" h="868896">
                  <a:moveTo>
                    <a:pt x="435688" y="0"/>
                  </a:moveTo>
                  <a:cubicBezTo>
                    <a:pt x="195064" y="0"/>
                    <a:pt x="0" y="194509"/>
                    <a:pt x="0" y="434448"/>
                  </a:cubicBezTo>
                  <a:cubicBezTo>
                    <a:pt x="0" y="674387"/>
                    <a:pt x="195064" y="868896"/>
                    <a:pt x="435688" y="868896"/>
                  </a:cubicBezTo>
                  <a:cubicBezTo>
                    <a:pt x="676312" y="868896"/>
                    <a:pt x="871377" y="674387"/>
                    <a:pt x="871377" y="434448"/>
                  </a:cubicBezTo>
                  <a:cubicBezTo>
                    <a:pt x="871377" y="194509"/>
                    <a:pt x="676312" y="0"/>
                    <a:pt x="435688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692" y="14784"/>
              <a:ext cx="707993" cy="772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Roboto Slab Bold"/>
                  <a:ea typeface="Roboto Slab Bold"/>
                  <a:cs typeface="Roboto Slab Bold"/>
                  <a:sym typeface="Roboto Slab Bold"/>
                </a:rPr>
                <a:t>4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641270" y="5430926"/>
            <a:ext cx="8784503" cy="63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8"/>
              </a:lnSpc>
            </a:pPr>
            <a:r>
              <a:rPr lang="en-US" sz="48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THỰC NGHIỆM VÀ KẾT LUẬN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Freeform 10"/>
          <p:cNvSpPr/>
          <p:nvPr/>
        </p:nvSpPr>
        <p:spPr>
          <a:xfrm>
            <a:off x="5485915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1" y="0"/>
                </a:lnTo>
                <a:lnTo>
                  <a:pt x="3360051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1" name="Freeform 11"/>
          <p:cNvSpPr/>
          <p:nvPr/>
        </p:nvSpPr>
        <p:spPr>
          <a:xfrm>
            <a:off x="1028700" y="1953843"/>
            <a:ext cx="3360050" cy="7304457"/>
          </a:xfrm>
          <a:custGeom>
            <a:avLst/>
            <a:gdLst/>
            <a:ahLst/>
            <a:cxnLst/>
            <a:rect l="l" t="t" r="r" b="b"/>
            <a:pathLst>
              <a:path w="3360050" h="7304457">
                <a:moveTo>
                  <a:pt x="0" y="0"/>
                </a:moveTo>
                <a:lnTo>
                  <a:pt x="3360050" y="0"/>
                </a:lnTo>
                <a:lnTo>
                  <a:pt x="3360050" y="7304457"/>
                </a:lnTo>
                <a:lnTo>
                  <a:pt x="0" y="73044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2" name="Freeform 12"/>
          <p:cNvSpPr/>
          <p:nvPr/>
        </p:nvSpPr>
        <p:spPr>
          <a:xfrm>
            <a:off x="9575165" y="3699190"/>
            <a:ext cx="8404988" cy="3813764"/>
          </a:xfrm>
          <a:custGeom>
            <a:avLst/>
            <a:gdLst/>
            <a:ahLst/>
            <a:cxnLst/>
            <a:rect l="l" t="t" r="r" b="b"/>
            <a:pathLst>
              <a:path w="8404988" h="3813764">
                <a:moveTo>
                  <a:pt x="0" y="0"/>
                </a:moveTo>
                <a:lnTo>
                  <a:pt x="8404989" y="0"/>
                </a:lnTo>
                <a:lnTo>
                  <a:pt x="8404989" y="3813763"/>
                </a:lnTo>
                <a:lnTo>
                  <a:pt x="0" y="38137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3" name="TextBox 13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4.1. Demo các chức năng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12467061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Bộ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kiểm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thử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gồm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60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câu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hỏi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pháp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luật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, chia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thành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hai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nhóm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 </a:t>
            </a:r>
            <a:r>
              <a:rPr lang="en-US" sz="3000" b="1" dirty="0" err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chính</a:t>
            </a:r>
            <a:r>
              <a:rPr lang="en-US" sz="3000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2467061" cy="225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N1 - Factual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định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điều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khoản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N2 - Open Questions: 30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dùng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phân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10081822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Phương pháp đánh giá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707544"/>
            <a:ext cx="15755813" cy="340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nghiệm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chỉ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hiệu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của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Response Latency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49068"/>
            <a:ext cx="16192500" cy="1098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Accuracy@1: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thông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tin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vọng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3154736"/>
            <a:ext cx="14388818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Citation Accuracy: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tỷ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chứa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án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Công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: Citation Accuracy =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trích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dẫn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nguồn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/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tổng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số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thực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tế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4460404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Answer Quality: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theo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thang 1-5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dựa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trên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đúng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lý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đầy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đủ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năng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huống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cách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trình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bày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766073"/>
            <a:ext cx="16230600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Response Latency: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Đo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từ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lúc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gửi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đến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khi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hoàn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l">
              <a:lnSpc>
                <a:spcPts val="4479"/>
              </a:lnSpc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Sử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dụng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P50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P95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để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đánh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giá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trung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vị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và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trễ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chậm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4.2. Thực nghiệm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thực nghiệm: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5797435" cy="2829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Accuracy@1: 90,0%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Citation Accuracy: 86,7%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Answer Quality: 4,07/5,0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P50: 65,16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Latency P95: 96,46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giây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364698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Nhận xét: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6269573"/>
            <a:ext cx="11800099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Hệ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thống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đạt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xác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nhóm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hỏi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factual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Chất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lượng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câu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trả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mức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phù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hợp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với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tư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vấn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pháp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luật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có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căn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cứ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Hạn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chế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chính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nằm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ở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thời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gian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phản</a:t>
            </a:r>
            <a:r>
              <a:rPr lang="en-US" sz="2799" dirty="0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2799" dirty="0" err="1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hồi</a:t>
            </a:r>
            <a:endParaRPr lang="en-US" sz="2799" dirty="0">
              <a:solidFill>
                <a:srgbClr val="0C1D4B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955966" y="1953843"/>
            <a:ext cx="4303334" cy="4407511"/>
          </a:xfrm>
          <a:custGeom>
            <a:avLst/>
            <a:gdLst/>
            <a:ahLst/>
            <a:cxnLst/>
            <a:rect l="l" t="t" r="r" b="b"/>
            <a:pathLst>
              <a:path w="4303334" h="4407511">
                <a:moveTo>
                  <a:pt x="0" y="0"/>
                </a:moveTo>
                <a:lnTo>
                  <a:pt x="4303334" y="0"/>
                </a:lnTo>
                <a:lnTo>
                  <a:pt x="4303334" y="4407511"/>
                </a:lnTo>
                <a:lnTo>
                  <a:pt x="0" y="4407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028700" y="1095375"/>
            <a:ext cx="11197543" cy="53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9"/>
              </a:lnSpc>
            </a:pPr>
            <a:r>
              <a:rPr lang="en-US" sz="3999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4.3. Kết luận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725243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Kết quả đạt được: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496768"/>
            <a:ext cx="14344525" cy="2210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Tìm hiểu về các khái niệm về chatbot, AI Agent, RAG, LLMs.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hệ thống trợ lý ảo pháp luật với kiến trúc AI Agent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Ứng dụng thành công kỹ thuật truy vấn RAG vào hệ thống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Xây dựng được ứng dụng Mobile và Web cho hệ thống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4802669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Hạn chế: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74194"/>
            <a:ext cx="14988879" cy="108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Độ trễ phản hồi của pipeline Agentic RAG còn cao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Bộ kiểm thử còn giới hạn, chưa bao phủ đầy đủ toàn bộ lĩnh vực pháp luật Việt Nam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756037"/>
            <a:ext cx="5955697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0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Hướng phát triển: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7527562"/>
            <a:ext cx="14988879" cy="164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Tối ưu thời gian phản hồi của luồng Agentic RAG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và cập nhật kho dữ liệu pháp luật nội bộ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C1D4B"/>
                </a:solidFill>
                <a:latin typeface="Roboto Slab"/>
                <a:ea typeface="Roboto Slab"/>
                <a:cs typeface="Roboto Slab"/>
                <a:sym typeface="Roboto Slab"/>
              </a:rPr>
              <a:t>Mở rộng thêm tính năng cho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withEffect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" dur="86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withEffect">
                            <p:stCondLst>
                              <p:cond delay="69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" dur="86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withEffect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" dur="86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withEffect">
                            <p:stCondLst>
                              <p:cond delay="103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" dur="86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presetID="10" presetClass="entr" presetSubtype="0" fill="hold" grpId="0" nodeType="withEffect">
                            <p:stCondLst>
                              <p:cond delay="12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" dur="86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-233820"/>
            <a:ext cx="1940843" cy="970417"/>
            <a:chOff x="0" y="0"/>
            <a:chExt cx="2587790" cy="12938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12143" y="9429369"/>
            <a:ext cx="1940843" cy="970417"/>
            <a:chOff x="0" y="0"/>
            <a:chExt cx="2587790" cy="12938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87752" cy="1293876"/>
            </a:xfrm>
            <a:custGeom>
              <a:avLst/>
              <a:gdLst/>
              <a:ahLst/>
              <a:cxnLst/>
              <a:rect l="l" t="t" r="r" b="b"/>
              <a:pathLst>
                <a:path w="2587752" h="1293876">
                  <a:moveTo>
                    <a:pt x="0" y="0"/>
                  </a:moveTo>
                  <a:lnTo>
                    <a:pt x="2587752" y="0"/>
                  </a:lnTo>
                  <a:lnTo>
                    <a:pt x="2587752" y="1293876"/>
                  </a:lnTo>
                  <a:lnTo>
                    <a:pt x="0" y="129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  <p:txBody>
            <a:bodyPr/>
            <a:lstStyle/>
            <a:p>
              <a:endParaRPr lang="en-V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27839" y="9986436"/>
            <a:ext cx="22035035" cy="2837612"/>
            <a:chOff x="0" y="0"/>
            <a:chExt cx="5803466" cy="747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03466" cy="747355"/>
            </a:xfrm>
            <a:custGeom>
              <a:avLst/>
              <a:gdLst/>
              <a:ahLst/>
              <a:cxnLst/>
              <a:rect l="l" t="t" r="r" b="b"/>
              <a:pathLst>
                <a:path w="5803466" h="747355">
                  <a:moveTo>
                    <a:pt x="0" y="0"/>
                  </a:moveTo>
                  <a:lnTo>
                    <a:pt x="5803466" y="0"/>
                  </a:lnTo>
                  <a:lnTo>
                    <a:pt x="5803466" y="747355"/>
                  </a:lnTo>
                  <a:lnTo>
                    <a:pt x="0" y="747355"/>
                  </a:lnTo>
                  <a:close/>
                </a:path>
              </a:pathLst>
            </a:custGeom>
            <a:solidFill>
              <a:srgbClr val="3C4F75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803466" cy="7949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1389"/>
            <a:ext cx="551704" cy="584433"/>
          </a:xfrm>
          <a:custGeom>
            <a:avLst/>
            <a:gdLst/>
            <a:ahLst/>
            <a:cxnLst/>
            <a:rect l="l" t="t" r="r" b="b"/>
            <a:pathLst>
              <a:path w="551704" h="584433">
                <a:moveTo>
                  <a:pt x="0" y="0"/>
                </a:moveTo>
                <a:lnTo>
                  <a:pt x="551704" y="0"/>
                </a:lnTo>
                <a:lnTo>
                  <a:pt x="551704" y="584432"/>
                </a:lnTo>
                <a:lnTo>
                  <a:pt x="0" y="584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10" name="TextBox 10"/>
          <p:cNvSpPr txBox="1"/>
          <p:nvPr/>
        </p:nvSpPr>
        <p:spPr>
          <a:xfrm>
            <a:off x="1687249" y="346410"/>
            <a:ext cx="3954904" cy="35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2C2C2C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HỌC VIỆN KỸ THUẬT MẬT MÃ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4264" y="3539348"/>
            <a:ext cx="11619472" cy="1459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6"/>
              </a:lnSpc>
            </a:pPr>
            <a:r>
              <a:rPr lang="en-US" sz="5600" b="1">
                <a:solidFill>
                  <a:srgbClr val="0C1D4B"/>
                </a:solidFill>
                <a:latin typeface="Roboto Slab Bold"/>
                <a:ea typeface="Roboto Slab Bold"/>
                <a:cs typeface="Roboto Slab Bold"/>
                <a:sym typeface="Roboto Slab Bold"/>
              </a:rPr>
              <a:t>CẢM ƠN THẦY CÔ VÀ CÁC BẠN ĐÃ LẮNG NGHE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686529" y="5500645"/>
            <a:ext cx="6914943" cy="814121"/>
            <a:chOff x="0" y="0"/>
            <a:chExt cx="1821220" cy="214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1219" cy="214419"/>
            </a:xfrm>
            <a:custGeom>
              <a:avLst/>
              <a:gdLst/>
              <a:ahLst/>
              <a:cxnLst/>
              <a:rect l="l" t="t" r="r" b="b"/>
              <a:pathLst>
                <a:path w="1821219" h="214419">
                  <a:moveTo>
                    <a:pt x="31349" y="0"/>
                  </a:moveTo>
                  <a:lnTo>
                    <a:pt x="1789871" y="0"/>
                  </a:lnTo>
                  <a:cubicBezTo>
                    <a:pt x="1798185" y="0"/>
                    <a:pt x="1806159" y="3303"/>
                    <a:pt x="1812038" y="9182"/>
                  </a:cubicBezTo>
                  <a:cubicBezTo>
                    <a:pt x="1817917" y="15061"/>
                    <a:pt x="1821219" y="23034"/>
                    <a:pt x="1821219" y="31349"/>
                  </a:cubicBezTo>
                  <a:lnTo>
                    <a:pt x="1821219" y="183070"/>
                  </a:lnTo>
                  <a:cubicBezTo>
                    <a:pt x="1821219" y="200384"/>
                    <a:pt x="1807184" y="214419"/>
                    <a:pt x="1789871" y="214419"/>
                  </a:cubicBezTo>
                  <a:lnTo>
                    <a:pt x="31349" y="214419"/>
                  </a:lnTo>
                  <a:cubicBezTo>
                    <a:pt x="23034" y="214419"/>
                    <a:pt x="15061" y="211116"/>
                    <a:pt x="9182" y="205237"/>
                  </a:cubicBezTo>
                  <a:cubicBezTo>
                    <a:pt x="3303" y="199358"/>
                    <a:pt x="0" y="191384"/>
                    <a:pt x="0" y="183070"/>
                  </a:cubicBezTo>
                  <a:lnTo>
                    <a:pt x="0" y="31349"/>
                  </a:lnTo>
                  <a:cubicBezTo>
                    <a:pt x="0" y="14035"/>
                    <a:pt x="14035" y="0"/>
                    <a:pt x="31349" y="0"/>
                  </a:cubicBezTo>
                  <a:close/>
                </a:path>
              </a:pathLst>
            </a:custGeom>
            <a:solidFill>
              <a:srgbClr val="0C1D4B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21220" cy="26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 spc="64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THANK YOU!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withEffect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" dur="86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with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" dur="86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3280</Words>
  <Application>Microsoft Macintosh PowerPoint</Application>
  <PresentationFormat>Custom</PresentationFormat>
  <Paragraphs>397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DM Sans Bold</vt:lpstr>
      <vt:lpstr>Roboto Italics</vt:lpstr>
      <vt:lpstr>Arial</vt:lpstr>
      <vt:lpstr>IBM Plex Mono</vt:lpstr>
      <vt:lpstr>Roboto Slab</vt:lpstr>
      <vt:lpstr>Calibri</vt:lpstr>
      <vt:lpstr>Roboto Slab Bold</vt:lpstr>
      <vt:lpstr>Aptos</vt:lpstr>
      <vt:lpstr>Roboto Bold Italics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sao của Báo cáo đồ án</dc:title>
  <cp:lastModifiedBy>Chris Green</cp:lastModifiedBy>
  <cp:revision>32</cp:revision>
  <dcterms:created xsi:type="dcterms:W3CDTF">2006-08-16T00:00:00Z</dcterms:created>
  <dcterms:modified xsi:type="dcterms:W3CDTF">2026-06-11T18:49:28Z</dcterms:modified>
  <dc:identifier>DAHL5LA9SxM</dc:identifier>
</cp:coreProperties>
</file>