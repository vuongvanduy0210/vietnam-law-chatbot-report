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sldSz cx="18288000" cy="10287000"/>
  <p:notesSz cx="6858000" cy="9144000"/>
  <p:embeddedFontLst>
    <p:embeddedFont>
      <p:font typeface="DM Sans Bold" pitchFamily="2" charset="77"/>
      <p:regular r:id="rId37"/>
      <p:bold r:id="rId38"/>
    </p:embeddedFont>
    <p:embeddedFont>
      <p:font typeface="IBM Plex Mono" panose="020B0509050203000203" pitchFamily="49" charset="77"/>
      <p:regular r:id="rId39"/>
      <p:bold r:id="rId40"/>
      <p:italic r:id="rId41"/>
    </p:embeddedFont>
    <p:embeddedFont>
      <p:font typeface="Roboto Bold Italics" panose="02000000000000000000" pitchFamily="2" charset="0"/>
      <p:regular r:id="rId42"/>
      <p:bold r:id="rId43"/>
      <p:italic r:id="rId44"/>
      <p:boldItalic r:id="rId45"/>
    </p:embeddedFont>
    <p:embeddedFont>
      <p:font typeface="Roboto Italics" panose="02000000000000000000" pitchFamily="2" charset="0"/>
      <p:regular r:id="rId46"/>
      <p:italic r:id="rId47"/>
    </p:embeddedFont>
    <p:embeddedFont>
      <p:font typeface="Roboto Slab" pitchFamily="2" charset="0"/>
      <p:regular r:id="rId48"/>
      <p:bold r:id="rId49"/>
    </p:embeddedFont>
    <p:embeddedFont>
      <p:font typeface="Roboto Slab Bold"/>
      <p:regular r:id="rId50"/>
      <p:bold r:id="rId5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C1D4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3209" autoAdjust="0"/>
    <p:restoredTop sz="94677" autoAdjust="0"/>
  </p:normalViewPr>
  <p:slideViewPr>
    <p:cSldViewPr>
      <p:cViewPr varScale="1">
        <p:scale>
          <a:sx n="140" d="100"/>
          <a:sy n="140" d="100"/>
        </p:scale>
        <p:origin x="792" y="8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3.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6.fntdata"/><Relationship Id="rId47" Type="http://schemas.openxmlformats.org/officeDocument/2006/relationships/font" Target="fonts/font11.fntdata"/><Relationship Id="rId50" Type="http://schemas.openxmlformats.org/officeDocument/2006/relationships/font" Target="fonts/font14.fntdata"/><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1.fntdata"/><Relationship Id="rId40" Type="http://schemas.openxmlformats.org/officeDocument/2006/relationships/font" Target="fonts/font4.fntdata"/><Relationship Id="rId45" Type="http://schemas.openxmlformats.org/officeDocument/2006/relationships/font" Target="fonts/font9.fntdata"/><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8.fntdata"/><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7.fntdata"/><Relationship Id="rId48" Type="http://schemas.openxmlformats.org/officeDocument/2006/relationships/font" Target="fonts/font12.fntdata"/><Relationship Id="rId8" Type="http://schemas.openxmlformats.org/officeDocument/2006/relationships/slide" Target="slides/slide7.xml"/><Relationship Id="rId51" Type="http://schemas.openxmlformats.org/officeDocument/2006/relationships/font" Target="fonts/font15.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2.fntdata"/><Relationship Id="rId46" Type="http://schemas.openxmlformats.org/officeDocument/2006/relationships/font" Target="fonts/font10.fntdata"/><Relationship Id="rId20" Type="http://schemas.openxmlformats.org/officeDocument/2006/relationships/slide" Target="slides/slide19.xml"/><Relationship Id="rId41" Type="http://schemas.openxmlformats.org/officeDocument/2006/relationships/font" Target="fonts/font5.fntdata"/><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13.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6/8/26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6/8/26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6/8/26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6/8/26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6/8/26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6/8/26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1.png"/><Relationship Id="rId5" Type="http://schemas.openxmlformats.org/officeDocument/2006/relationships/image" Target="../media/image6.svg"/><Relationship Id="rId4" Type="http://schemas.openxmlformats.org/officeDocument/2006/relationships/image" Target="../media/image5.sv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1.png"/><Relationship Id="rId4" Type="http://schemas.openxmlformats.org/officeDocument/2006/relationships/image" Target="../media/image10.svg"/></Relationships>
</file>

<file path=ppt/slides/_rels/slide10.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image" Target="../media/image9.svg"/><Relationship Id="rId7" Type="http://schemas.openxmlformats.org/officeDocument/2006/relationships/image" Target="../media/image13.sv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12.svg"/><Relationship Id="rId5" Type="http://schemas.openxmlformats.org/officeDocument/2006/relationships/image" Target="../media/image11.svg"/><Relationship Id="rId4" Type="http://schemas.openxmlformats.org/officeDocument/2006/relationships/image" Target="../media/image6.svg"/></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16.png"/><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20.sv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19.svg"/><Relationship Id="rId5" Type="http://schemas.openxmlformats.org/officeDocument/2006/relationships/image" Target="../media/image18.svg"/><Relationship Id="rId4" Type="http://schemas.openxmlformats.org/officeDocument/2006/relationships/image" Target="../media/image17.sv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9.sv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18.svg"/><Relationship Id="rId5" Type="http://schemas.openxmlformats.org/officeDocument/2006/relationships/image" Target="../media/image17.svg"/><Relationship Id="rId4" Type="http://schemas.openxmlformats.org/officeDocument/2006/relationships/image" Target="../media/image20.sv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21.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23.svg"/><Relationship Id="rId4" Type="http://schemas.openxmlformats.org/officeDocument/2006/relationships/image" Target="../media/image22.sv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23.svg"/><Relationship Id="rId4" Type="http://schemas.openxmlformats.org/officeDocument/2006/relationships/image" Target="../media/image22.sv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24.svg"/><Relationship Id="rId5" Type="http://schemas.openxmlformats.org/officeDocument/2006/relationships/image" Target="../media/image23.svg"/><Relationship Id="rId4" Type="http://schemas.openxmlformats.org/officeDocument/2006/relationships/image" Target="../media/image22.sv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23.svg"/><Relationship Id="rId4" Type="http://schemas.openxmlformats.org/officeDocument/2006/relationships/image" Target="../media/image22.sv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23.sv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17.svg"/><Relationship Id="rId5" Type="http://schemas.openxmlformats.org/officeDocument/2006/relationships/image" Target="../media/image26.svg"/><Relationship Id="rId4" Type="http://schemas.openxmlformats.org/officeDocument/2006/relationships/image" Target="../media/image25.svg"/></Relationships>
</file>

<file path=ppt/slides/_rels/slide26.xml.rels><?xml version="1.0" encoding="UTF-8" standalone="yes"?>
<Relationships xmlns="http://schemas.openxmlformats.org/package/2006/relationships"><Relationship Id="rId8" Type="http://schemas.openxmlformats.org/officeDocument/2006/relationships/image" Target="../media/image30.svg"/><Relationship Id="rId3" Type="http://schemas.openxmlformats.org/officeDocument/2006/relationships/image" Target="../media/image1.png"/><Relationship Id="rId7" Type="http://schemas.openxmlformats.org/officeDocument/2006/relationships/image" Target="../media/image20.sv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29.svg"/><Relationship Id="rId5" Type="http://schemas.openxmlformats.org/officeDocument/2006/relationships/image" Target="../media/image28.svg"/><Relationship Id="rId4" Type="http://schemas.openxmlformats.org/officeDocument/2006/relationships/image" Target="../media/image27.svg"/></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31.svg"/></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32.png"/></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36.svg"/></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3127839" y="9986436"/>
            <a:ext cx="22035035" cy="2837612"/>
            <a:chOff x="0" y="0"/>
            <a:chExt cx="5803466" cy="747355"/>
          </a:xfrm>
        </p:grpSpPr>
        <p:sp>
          <p:nvSpPr>
            <p:cNvPr id="3" name="Freeform 3"/>
            <p:cNvSpPr/>
            <p:nvPr/>
          </p:nvSpPr>
          <p:spPr>
            <a:xfrm>
              <a:off x="0" y="0"/>
              <a:ext cx="5803466" cy="747355"/>
            </a:xfrm>
            <a:custGeom>
              <a:avLst/>
              <a:gdLst/>
              <a:ahLst/>
              <a:cxnLst/>
              <a:rect l="l" t="t" r="r" b="b"/>
              <a:pathLst>
                <a:path w="5803466" h="747355">
                  <a:moveTo>
                    <a:pt x="0" y="0"/>
                  </a:moveTo>
                  <a:lnTo>
                    <a:pt x="5803466" y="0"/>
                  </a:lnTo>
                  <a:lnTo>
                    <a:pt x="5803466" y="747355"/>
                  </a:lnTo>
                  <a:lnTo>
                    <a:pt x="0" y="747355"/>
                  </a:lnTo>
                  <a:close/>
                </a:path>
              </a:pathLst>
            </a:custGeom>
            <a:solidFill>
              <a:srgbClr val="3C4F75"/>
            </a:solidFill>
          </p:spPr>
          <p:txBody>
            <a:bodyPr/>
            <a:lstStyle/>
            <a:p>
              <a:endParaRPr lang="en-VN"/>
            </a:p>
          </p:txBody>
        </p:sp>
        <p:sp>
          <p:nvSpPr>
            <p:cNvPr id="4" name="TextBox 4"/>
            <p:cNvSpPr txBox="1"/>
            <p:nvPr/>
          </p:nvSpPr>
          <p:spPr>
            <a:xfrm>
              <a:off x="0" y="-47625"/>
              <a:ext cx="5803466" cy="794980"/>
            </a:xfrm>
            <a:prstGeom prst="rect">
              <a:avLst/>
            </a:prstGeom>
          </p:spPr>
          <p:txBody>
            <a:bodyPr lIns="50800" tIns="50800" rIns="50800" bIns="50800" rtlCol="0" anchor="ctr"/>
            <a:lstStyle/>
            <a:p>
              <a:pPr algn="ctr">
                <a:lnSpc>
                  <a:spcPts val="2940"/>
                </a:lnSpc>
              </a:pPr>
              <a:endParaRPr/>
            </a:p>
          </p:txBody>
        </p:sp>
      </p:grpSp>
      <p:sp>
        <p:nvSpPr>
          <p:cNvPr id="5" name="Freeform 5"/>
          <p:cNvSpPr/>
          <p:nvPr/>
        </p:nvSpPr>
        <p:spPr>
          <a:xfrm>
            <a:off x="8761779" y="1102374"/>
            <a:ext cx="2024168" cy="2144246"/>
          </a:xfrm>
          <a:custGeom>
            <a:avLst/>
            <a:gdLst/>
            <a:ahLst/>
            <a:cxnLst/>
            <a:rect l="l" t="t" r="r" b="b"/>
            <a:pathLst>
              <a:path w="2024168" h="2144246">
                <a:moveTo>
                  <a:pt x="0" y="0"/>
                </a:moveTo>
                <a:lnTo>
                  <a:pt x="2024169" y="0"/>
                </a:lnTo>
                <a:lnTo>
                  <a:pt x="2024169" y="2144246"/>
                </a:lnTo>
                <a:lnTo>
                  <a:pt x="0" y="2144246"/>
                </a:lnTo>
                <a:lnTo>
                  <a:pt x="0" y="0"/>
                </a:lnTo>
                <a:close/>
              </a:path>
            </a:pathLst>
          </a:custGeom>
          <a:blipFill>
            <a:blip r:embed="rId2"/>
            <a:stretch>
              <a:fillRect/>
            </a:stretch>
          </a:blipFill>
        </p:spPr>
        <p:txBody>
          <a:bodyPr/>
          <a:lstStyle/>
          <a:p>
            <a:endParaRPr lang="en-VN"/>
          </a:p>
        </p:txBody>
      </p:sp>
      <p:sp>
        <p:nvSpPr>
          <p:cNvPr id="6" name="TextBox 6"/>
          <p:cNvSpPr txBox="1"/>
          <p:nvPr/>
        </p:nvSpPr>
        <p:spPr>
          <a:xfrm>
            <a:off x="7769084" y="199955"/>
            <a:ext cx="4009560" cy="356289"/>
          </a:xfrm>
          <a:prstGeom prst="rect">
            <a:avLst/>
          </a:prstGeom>
        </p:spPr>
        <p:txBody>
          <a:bodyPr lIns="0" tIns="0" rIns="0" bIns="0" rtlCol="0" anchor="t">
            <a:spAutoFit/>
          </a:bodyPr>
          <a:lstStyle/>
          <a:p>
            <a:pPr algn="l">
              <a:lnSpc>
                <a:spcPts val="2940"/>
              </a:lnSpc>
            </a:pPr>
            <a:r>
              <a:rPr lang="en-US" sz="2100" b="1">
                <a:solidFill>
                  <a:srgbClr val="0C1D4B"/>
                </a:solidFill>
                <a:latin typeface="Roboto Slab Bold"/>
                <a:ea typeface="Roboto Slab Bold"/>
                <a:cs typeface="Roboto Slab Bold"/>
                <a:sym typeface="Roboto Slab Bold"/>
              </a:rPr>
              <a:t>HỌC VIỆN KỸ THUẬT MẬT MÃ</a:t>
            </a:r>
          </a:p>
        </p:txBody>
      </p:sp>
      <p:sp>
        <p:nvSpPr>
          <p:cNvPr id="7" name="TextBox 7"/>
          <p:cNvSpPr txBox="1"/>
          <p:nvPr/>
        </p:nvSpPr>
        <p:spPr>
          <a:xfrm>
            <a:off x="3708359" y="5394517"/>
            <a:ext cx="12131009" cy="1247667"/>
          </a:xfrm>
          <a:prstGeom prst="rect">
            <a:avLst/>
          </a:prstGeom>
        </p:spPr>
        <p:txBody>
          <a:bodyPr lIns="0" tIns="0" rIns="0" bIns="0" rtlCol="0" anchor="t">
            <a:spAutoFit/>
          </a:bodyPr>
          <a:lstStyle/>
          <a:p>
            <a:pPr algn="ctr">
              <a:lnSpc>
                <a:spcPts val="4954"/>
              </a:lnSpc>
            </a:pPr>
            <a:r>
              <a:rPr lang="en-US" sz="4129" b="1" spc="111">
                <a:solidFill>
                  <a:srgbClr val="0C1D4B"/>
                </a:solidFill>
                <a:latin typeface="Roboto Slab Bold"/>
                <a:ea typeface="Roboto Slab Bold"/>
                <a:cs typeface="Roboto Slab Bold"/>
                <a:sym typeface="Roboto Slab Bold"/>
              </a:rPr>
              <a:t>NGHIÊN CỨU PHÁT TRIỂN TRỢ LÝ ẢO PHÁP LUẬT CHO CHUYỂN ĐỔI SỐ</a:t>
            </a:r>
          </a:p>
        </p:txBody>
      </p:sp>
      <p:sp>
        <p:nvSpPr>
          <p:cNvPr id="8" name="TextBox 8"/>
          <p:cNvSpPr txBox="1"/>
          <p:nvPr/>
        </p:nvSpPr>
        <p:spPr>
          <a:xfrm>
            <a:off x="3164929" y="7594683"/>
            <a:ext cx="4063812" cy="1530975"/>
          </a:xfrm>
          <a:prstGeom prst="rect">
            <a:avLst/>
          </a:prstGeom>
        </p:spPr>
        <p:txBody>
          <a:bodyPr lIns="0" tIns="0" rIns="0" bIns="0" rtlCol="0" anchor="t">
            <a:spAutoFit/>
          </a:bodyPr>
          <a:lstStyle/>
          <a:p>
            <a:pPr algn="l">
              <a:lnSpc>
                <a:spcPts val="1983"/>
              </a:lnSpc>
            </a:pPr>
            <a:r>
              <a:rPr lang="en-US" sz="2542" spc="61">
                <a:solidFill>
                  <a:srgbClr val="0C1D4B"/>
                </a:solidFill>
                <a:latin typeface="Roboto Slab"/>
                <a:ea typeface="Roboto Slab"/>
                <a:cs typeface="Roboto Slab"/>
                <a:sym typeface="Roboto Slab"/>
              </a:rPr>
              <a:t>Sinh viên thực hiện</a:t>
            </a:r>
          </a:p>
          <a:p>
            <a:pPr marL="548995" lvl="1" indent="-274498" algn="l">
              <a:lnSpc>
                <a:spcPts val="3559"/>
              </a:lnSpc>
              <a:buFont typeface="Arial"/>
              <a:buChar char="•"/>
            </a:pPr>
            <a:r>
              <a:rPr lang="en-US" sz="2542" spc="61">
                <a:solidFill>
                  <a:srgbClr val="0C1D4B"/>
                </a:solidFill>
                <a:latin typeface="Roboto Slab"/>
                <a:ea typeface="Roboto Slab"/>
                <a:cs typeface="Roboto Slab"/>
                <a:sym typeface="Roboto Slab"/>
              </a:rPr>
              <a:t>Vương Văn Duy</a:t>
            </a:r>
          </a:p>
          <a:p>
            <a:pPr algn="l">
              <a:lnSpc>
                <a:spcPts val="3559"/>
              </a:lnSpc>
            </a:pPr>
            <a:r>
              <a:rPr lang="en-US" sz="2542" spc="61">
                <a:solidFill>
                  <a:srgbClr val="0C1D4B"/>
                </a:solidFill>
                <a:latin typeface="Roboto Slab"/>
                <a:ea typeface="Roboto Slab"/>
                <a:cs typeface="Roboto Slab"/>
                <a:sym typeface="Roboto Slab"/>
              </a:rPr>
              <a:t>Giảng viên hướng dẫn</a:t>
            </a:r>
          </a:p>
          <a:p>
            <a:pPr marL="548995" lvl="1" indent="-274498" algn="l">
              <a:lnSpc>
                <a:spcPts val="3559"/>
              </a:lnSpc>
              <a:buFont typeface="Arial"/>
              <a:buChar char="•"/>
            </a:pPr>
            <a:r>
              <a:rPr lang="en-US" sz="2542" spc="61">
                <a:solidFill>
                  <a:srgbClr val="0C1D4B"/>
                </a:solidFill>
                <a:latin typeface="Roboto Slab"/>
                <a:ea typeface="Roboto Slab"/>
                <a:cs typeface="Roboto Slab"/>
                <a:sym typeface="Roboto Slab"/>
              </a:rPr>
              <a:t>ThS. Trần Đức Thịnh</a:t>
            </a:r>
          </a:p>
        </p:txBody>
      </p:sp>
      <p:sp>
        <p:nvSpPr>
          <p:cNvPr id="9" name="TextBox 9"/>
          <p:cNvSpPr txBox="1"/>
          <p:nvPr/>
        </p:nvSpPr>
        <p:spPr>
          <a:xfrm>
            <a:off x="6844389" y="3916574"/>
            <a:ext cx="5858949" cy="346355"/>
          </a:xfrm>
          <a:prstGeom prst="rect">
            <a:avLst/>
          </a:prstGeom>
        </p:spPr>
        <p:txBody>
          <a:bodyPr lIns="0" tIns="0" rIns="0" bIns="0" rtlCol="0" anchor="t">
            <a:spAutoFit/>
          </a:bodyPr>
          <a:lstStyle/>
          <a:p>
            <a:pPr algn="l">
              <a:lnSpc>
                <a:spcPts val="2417"/>
              </a:lnSpc>
            </a:pPr>
            <a:r>
              <a:rPr lang="en-US" sz="3099" b="1" spc="74">
                <a:solidFill>
                  <a:srgbClr val="0C1D4B"/>
                </a:solidFill>
                <a:latin typeface="Roboto Slab Bold"/>
                <a:ea typeface="Roboto Slab Bold"/>
                <a:cs typeface="Roboto Slab Bold"/>
                <a:sym typeface="Roboto Slab Bold"/>
              </a:rPr>
              <a:t>BÁO CÁO ĐỒ ÁN TỐT NGHIỆP</a:t>
            </a:r>
          </a:p>
        </p:txBody>
      </p:sp>
      <p:sp>
        <p:nvSpPr>
          <p:cNvPr id="10" name="TextBox 10"/>
          <p:cNvSpPr txBox="1"/>
          <p:nvPr/>
        </p:nvSpPr>
        <p:spPr>
          <a:xfrm>
            <a:off x="3164929" y="4809801"/>
            <a:ext cx="3577720" cy="333699"/>
          </a:xfrm>
          <a:prstGeom prst="rect">
            <a:avLst/>
          </a:prstGeom>
        </p:spPr>
        <p:txBody>
          <a:bodyPr lIns="0" tIns="0" rIns="0" bIns="0" rtlCol="0" anchor="t">
            <a:spAutoFit/>
          </a:bodyPr>
          <a:lstStyle/>
          <a:p>
            <a:pPr algn="l">
              <a:lnSpc>
                <a:spcPts val="2373"/>
              </a:lnSpc>
            </a:pPr>
            <a:r>
              <a:rPr lang="en-US" sz="3042" spc="73">
                <a:solidFill>
                  <a:srgbClr val="0C1D4B"/>
                </a:solidFill>
                <a:latin typeface="Roboto Slab"/>
                <a:ea typeface="Roboto Slab"/>
                <a:cs typeface="Roboto Slab"/>
                <a:sym typeface="Roboto Slab"/>
              </a:rPr>
              <a:t>ĐỀ TÀI:</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grpId="0" nodeType="withEffect">
                            <p:stCondLst>
                              <p:cond delay="180"/>
                            </p:stCondLst>
                            <p:childTnLst>
                              <p:set>
                                <p:cBhvr>
                                  <p:cTn id="5" dur="1" fill="hold">
                                    <p:stCondLst>
                                      <p:cond delay="0"/>
                                    </p:stCondLst>
                                  </p:cTn>
                                  <p:tgtEl>
                                    <p:spTgt spid="6"/>
                                  </p:tgtEl>
                                  <p:attrNameLst>
                                    <p:attrName>style.visibility</p:attrName>
                                  </p:attrNameLst>
                                </p:cBhvr>
                                <p:to>
                                  <p:strVal val="visible"/>
                                </p:to>
                              </p:set>
                              <p:animEffect transition="in" filter="wipe(left)">
                                <p:cBhvr>
                                  <p:cTn id="6" dur="860"/>
                                  <p:tgtEl>
                                    <p:spTgt spid="6"/>
                                  </p:tgtEl>
                                </p:cBhvr>
                              </p:animEffect>
                            </p:childTnLst>
                          </p:cTn>
                        </p:par>
                        <p:par>
                          <p:cTn id="7" presetID="10" presetClass="entr" presetSubtype="0" fill="hold" grpId="0" nodeType="withEffect">
                            <p:stCondLst>
                              <p:cond delay="350"/>
                            </p:stCondLst>
                            <p:childTnLst>
                              <p:set>
                                <p:cBhvr>
                                  <p:cTn id="8" dur="1" fill="hold">
                                    <p:stCondLst>
                                      <p:cond delay="0"/>
                                    </p:stCondLst>
                                  </p:cTn>
                                  <p:tgtEl>
                                    <p:spTgt spid="5"/>
                                  </p:tgtEl>
                                  <p:attrNameLst>
                                    <p:attrName>style.visibility</p:attrName>
                                  </p:attrNameLst>
                                </p:cBhvr>
                                <p:to>
                                  <p:strVal val="visible"/>
                                </p:to>
                              </p:set>
                              <p:animEffect transition="in" filter="wipe(left)">
                                <p:cBhvr>
                                  <p:cTn id="9" dur="860"/>
                                  <p:tgtEl>
                                    <p:spTgt spid="5"/>
                                  </p:tgtEl>
                                </p:cBhvr>
                              </p:animEffect>
                            </p:childTnLst>
                          </p:cTn>
                        </p:par>
                        <p:par>
                          <p:cTn id="10" presetID="10" presetClass="entr" presetSubtype="0" fill="hold" grpId="0" nodeType="withEffect">
                            <p:stCondLst>
                              <p:cond delay="520"/>
                            </p:stCondLst>
                            <p:childTnLst>
                              <p:set>
                                <p:cBhvr>
                                  <p:cTn id="11" dur="1" fill="hold">
                                    <p:stCondLst>
                                      <p:cond delay="0"/>
                                    </p:stCondLst>
                                  </p:cTn>
                                  <p:tgtEl>
                                    <p:spTgt spid="9"/>
                                  </p:tgtEl>
                                  <p:attrNameLst>
                                    <p:attrName>style.visibility</p:attrName>
                                  </p:attrNameLst>
                                </p:cBhvr>
                                <p:to>
                                  <p:strVal val="visible"/>
                                </p:to>
                              </p:set>
                              <p:animEffect transition="in" filter="wipe(left)">
                                <p:cBhvr>
                                  <p:cTn id="12" dur="860"/>
                                  <p:tgtEl>
                                    <p:spTgt spid="9"/>
                                  </p:tgtEl>
                                </p:cBhvr>
                              </p:animEffect>
                            </p:childTnLst>
                          </p:cTn>
                        </p:par>
                        <p:par>
                          <p:cTn id="13" presetID="10" presetClass="entr" presetSubtype="0" fill="hold" grpId="0" nodeType="withEffect">
                            <p:stCondLst>
                              <p:cond delay="690"/>
                            </p:stCondLst>
                            <p:childTnLst>
                              <p:set>
                                <p:cBhvr>
                                  <p:cTn id="14" dur="1" fill="hold">
                                    <p:stCondLst>
                                      <p:cond delay="0"/>
                                    </p:stCondLst>
                                  </p:cTn>
                                  <p:tgtEl>
                                    <p:spTgt spid="10"/>
                                  </p:tgtEl>
                                  <p:attrNameLst>
                                    <p:attrName>style.visibility</p:attrName>
                                  </p:attrNameLst>
                                </p:cBhvr>
                                <p:to>
                                  <p:strVal val="visible"/>
                                </p:to>
                              </p:set>
                              <p:animEffect transition="in" filter="wipe(left)">
                                <p:cBhvr>
                                  <p:cTn id="15" dur="860"/>
                                  <p:tgtEl>
                                    <p:spTgt spid="10"/>
                                  </p:tgtEl>
                                </p:cBhvr>
                              </p:animEffect>
                            </p:childTnLst>
                          </p:cTn>
                        </p:par>
                        <p:par>
                          <p:cTn id="16" presetID="10" presetClass="entr" presetSubtype="0" fill="hold" grpId="0" nodeType="withEffect">
                            <p:stCondLst>
                              <p:cond delay="860"/>
                            </p:stCondLst>
                            <p:childTnLst>
                              <p:set>
                                <p:cBhvr>
                                  <p:cTn id="17" dur="1" fill="hold">
                                    <p:stCondLst>
                                      <p:cond delay="0"/>
                                    </p:stCondLst>
                                  </p:cTn>
                                  <p:tgtEl>
                                    <p:spTgt spid="7"/>
                                  </p:tgtEl>
                                  <p:attrNameLst>
                                    <p:attrName>style.visibility</p:attrName>
                                  </p:attrNameLst>
                                </p:cBhvr>
                                <p:to>
                                  <p:strVal val="visible"/>
                                </p:to>
                              </p:set>
                              <p:animEffect transition="in" filter="wipe(left)">
                                <p:cBhvr>
                                  <p:cTn id="18" dur="860"/>
                                  <p:tgtEl>
                                    <p:spTgt spid="7"/>
                                  </p:tgtEl>
                                </p:cBhvr>
                              </p:animEffect>
                            </p:childTnLst>
                          </p:cTn>
                        </p:par>
                        <p:par>
                          <p:cTn id="19" presetID="10" presetClass="entr" presetSubtype="0" fill="hold" grpId="0" nodeType="withEffect">
                            <p:stCondLst>
                              <p:cond delay="1030"/>
                            </p:stCondLst>
                            <p:childTnLst>
                              <p:set>
                                <p:cBhvr>
                                  <p:cTn id="20" dur="1" fill="hold">
                                    <p:stCondLst>
                                      <p:cond delay="0"/>
                                    </p:stCondLst>
                                  </p:cTn>
                                  <p:tgtEl>
                                    <p:spTgt spid="8"/>
                                  </p:tgtEl>
                                  <p:attrNameLst>
                                    <p:attrName>style.visibility</p:attrName>
                                  </p:attrNameLst>
                                </p:cBhvr>
                                <p:to>
                                  <p:strVal val="visible"/>
                                </p:to>
                              </p:set>
                              <p:animEffect transition="in" filter="wipe(left)">
                                <p:cBhvr>
                                  <p:cTn id="21" dur="860"/>
                                  <p:tgtEl>
                                    <p:spTgt spid="8"/>
                                  </p:tgtEl>
                                </p:cBhvr>
                              </p:animEffect>
                            </p:childTnLst>
                          </p:cTn>
                        </p:par>
                      </p:childTnLst>
                    </p:cTn>
                  </p:par>
                </p:childTnLst>
              </p:cTn>
            </p:seq>
          </p:childTnLst>
        </p:cTn>
      </p:par>
    </p:tnLst>
    <p:bldLst>
      <p:bldP spid="5" grpId="0" animBg="1"/>
      <p:bldP spid="6" grpId="0"/>
      <p:bldP spid="7" grpId="0"/>
      <p:bldP spid="8" grpId="0"/>
      <p:bldP spid="9" grpId="0"/>
      <p:bldP spid="10"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3127839" y="9986436"/>
            <a:ext cx="22035035" cy="2837612"/>
            <a:chOff x="0" y="0"/>
            <a:chExt cx="5803466" cy="747355"/>
          </a:xfrm>
        </p:grpSpPr>
        <p:sp>
          <p:nvSpPr>
            <p:cNvPr id="3" name="Freeform 3"/>
            <p:cNvSpPr/>
            <p:nvPr/>
          </p:nvSpPr>
          <p:spPr>
            <a:xfrm>
              <a:off x="0" y="0"/>
              <a:ext cx="5803466" cy="747355"/>
            </a:xfrm>
            <a:custGeom>
              <a:avLst/>
              <a:gdLst/>
              <a:ahLst/>
              <a:cxnLst/>
              <a:rect l="l" t="t" r="r" b="b"/>
              <a:pathLst>
                <a:path w="5803466" h="747355">
                  <a:moveTo>
                    <a:pt x="0" y="0"/>
                  </a:moveTo>
                  <a:lnTo>
                    <a:pt x="5803466" y="0"/>
                  </a:lnTo>
                  <a:lnTo>
                    <a:pt x="5803466" y="747355"/>
                  </a:lnTo>
                  <a:lnTo>
                    <a:pt x="0" y="747355"/>
                  </a:lnTo>
                  <a:close/>
                </a:path>
              </a:pathLst>
            </a:custGeom>
            <a:solidFill>
              <a:srgbClr val="3C4F75"/>
            </a:solidFill>
          </p:spPr>
          <p:txBody>
            <a:bodyPr/>
            <a:lstStyle/>
            <a:p>
              <a:endParaRPr lang="en-VN"/>
            </a:p>
          </p:txBody>
        </p:sp>
        <p:sp>
          <p:nvSpPr>
            <p:cNvPr id="4" name="TextBox 4"/>
            <p:cNvSpPr txBox="1"/>
            <p:nvPr/>
          </p:nvSpPr>
          <p:spPr>
            <a:xfrm>
              <a:off x="0" y="-47625"/>
              <a:ext cx="5803466" cy="794980"/>
            </a:xfrm>
            <a:prstGeom prst="rect">
              <a:avLst/>
            </a:prstGeom>
          </p:spPr>
          <p:txBody>
            <a:bodyPr lIns="50800" tIns="50800" rIns="50800" bIns="50800" rtlCol="0" anchor="ctr"/>
            <a:lstStyle/>
            <a:p>
              <a:pPr algn="ctr">
                <a:lnSpc>
                  <a:spcPts val="2940"/>
                </a:lnSpc>
              </a:pPr>
              <a:endParaRPr/>
            </a:p>
          </p:txBody>
        </p:sp>
      </p:grpSp>
      <p:grpSp>
        <p:nvGrpSpPr>
          <p:cNvPr id="5" name="Group 5"/>
          <p:cNvGrpSpPr/>
          <p:nvPr/>
        </p:nvGrpSpPr>
        <p:grpSpPr>
          <a:xfrm>
            <a:off x="4469617" y="2876965"/>
            <a:ext cx="9348766" cy="975360"/>
            <a:chOff x="0" y="0"/>
            <a:chExt cx="2462276" cy="257048"/>
          </a:xfrm>
        </p:grpSpPr>
        <p:sp>
          <p:nvSpPr>
            <p:cNvPr id="6" name="Freeform 6"/>
            <p:cNvSpPr/>
            <p:nvPr/>
          </p:nvSpPr>
          <p:spPr>
            <a:xfrm>
              <a:off x="0" y="0"/>
              <a:ext cx="2462276" cy="257048"/>
            </a:xfrm>
            <a:custGeom>
              <a:avLst/>
              <a:gdLst/>
              <a:ahLst/>
              <a:cxnLst/>
              <a:rect l="l" t="t" r="r" b="b"/>
              <a:pathLst>
                <a:path w="2462276" h="257048">
                  <a:moveTo>
                    <a:pt x="2462276" y="19047"/>
                  </a:moveTo>
                  <a:lnTo>
                    <a:pt x="2462276" y="238001"/>
                  </a:lnTo>
                  <a:cubicBezTo>
                    <a:pt x="2462276" y="243053"/>
                    <a:pt x="2460269" y="247897"/>
                    <a:pt x="2456697" y="251469"/>
                  </a:cubicBezTo>
                  <a:cubicBezTo>
                    <a:pt x="2453125" y="255041"/>
                    <a:pt x="2448281" y="257048"/>
                    <a:pt x="2443229" y="257048"/>
                  </a:cubicBezTo>
                  <a:lnTo>
                    <a:pt x="19047" y="257048"/>
                  </a:lnTo>
                  <a:cubicBezTo>
                    <a:pt x="13995" y="257048"/>
                    <a:pt x="9151" y="255041"/>
                    <a:pt x="5579" y="251469"/>
                  </a:cubicBezTo>
                  <a:cubicBezTo>
                    <a:pt x="2007" y="247897"/>
                    <a:pt x="0" y="243053"/>
                    <a:pt x="0" y="238001"/>
                  </a:cubicBezTo>
                  <a:lnTo>
                    <a:pt x="0" y="19047"/>
                  </a:lnTo>
                  <a:cubicBezTo>
                    <a:pt x="0" y="13995"/>
                    <a:pt x="2007" y="9151"/>
                    <a:pt x="5579" y="5579"/>
                  </a:cubicBezTo>
                  <a:cubicBezTo>
                    <a:pt x="9151" y="2007"/>
                    <a:pt x="13995" y="0"/>
                    <a:pt x="19047" y="0"/>
                  </a:cubicBezTo>
                  <a:lnTo>
                    <a:pt x="2443229" y="0"/>
                  </a:lnTo>
                  <a:cubicBezTo>
                    <a:pt x="2448281" y="0"/>
                    <a:pt x="2453125" y="2007"/>
                    <a:pt x="2456697" y="5579"/>
                  </a:cubicBezTo>
                  <a:cubicBezTo>
                    <a:pt x="2460269" y="9151"/>
                    <a:pt x="2462276" y="13995"/>
                    <a:pt x="2462276" y="19047"/>
                  </a:cubicBezTo>
                  <a:close/>
                </a:path>
              </a:pathLst>
            </a:custGeom>
            <a:solidFill>
              <a:srgbClr val="0C1D4B"/>
            </a:solidFill>
          </p:spPr>
          <p:txBody>
            <a:bodyPr/>
            <a:lstStyle/>
            <a:p>
              <a:endParaRPr lang="en-VN"/>
            </a:p>
          </p:txBody>
        </p:sp>
        <p:sp>
          <p:nvSpPr>
            <p:cNvPr id="7" name="TextBox 7"/>
            <p:cNvSpPr txBox="1"/>
            <p:nvPr/>
          </p:nvSpPr>
          <p:spPr>
            <a:xfrm>
              <a:off x="0" y="-57150"/>
              <a:ext cx="2462276" cy="314198"/>
            </a:xfrm>
            <a:prstGeom prst="rect">
              <a:avLst/>
            </a:prstGeom>
          </p:spPr>
          <p:txBody>
            <a:bodyPr lIns="50800" tIns="50800" rIns="50800" bIns="50800" rtlCol="0" anchor="ctr"/>
            <a:lstStyle/>
            <a:p>
              <a:pPr algn="ctr">
                <a:lnSpc>
                  <a:spcPts val="3919"/>
                </a:lnSpc>
              </a:pPr>
              <a:r>
                <a:rPr lang="en-US" sz="2799" b="1">
                  <a:solidFill>
                    <a:srgbClr val="FFFFFF"/>
                  </a:solidFill>
                  <a:latin typeface="Roboto Slab Bold"/>
                  <a:ea typeface="Roboto Slab Bold"/>
                  <a:cs typeface="Roboto Slab Bold"/>
                  <a:sym typeface="Roboto Slab Bold"/>
                </a:rPr>
                <a:t>1. PHÁT BIỂU BÀI TOÁN</a:t>
              </a:r>
            </a:p>
          </p:txBody>
        </p:sp>
      </p:grpSp>
      <p:sp>
        <p:nvSpPr>
          <p:cNvPr id="8" name="TextBox 8"/>
          <p:cNvSpPr txBox="1"/>
          <p:nvPr/>
        </p:nvSpPr>
        <p:spPr>
          <a:xfrm>
            <a:off x="7701061" y="1861633"/>
            <a:ext cx="2885878" cy="477063"/>
          </a:xfrm>
          <a:prstGeom prst="rect">
            <a:avLst/>
          </a:prstGeom>
        </p:spPr>
        <p:txBody>
          <a:bodyPr lIns="0" tIns="0" rIns="0" bIns="0" rtlCol="0" anchor="t">
            <a:spAutoFit/>
          </a:bodyPr>
          <a:lstStyle/>
          <a:p>
            <a:pPr algn="l">
              <a:lnSpc>
                <a:spcPts val="3353"/>
              </a:lnSpc>
            </a:pPr>
            <a:r>
              <a:rPr lang="en-US" sz="4299" b="1" spc="103">
                <a:solidFill>
                  <a:srgbClr val="0C1D4B"/>
                </a:solidFill>
                <a:latin typeface="Roboto Slab Bold"/>
                <a:ea typeface="Roboto Slab Bold"/>
                <a:cs typeface="Roboto Slab Bold"/>
                <a:sym typeface="Roboto Slab Bold"/>
              </a:rPr>
              <a:t>NỘI DUNG</a:t>
            </a:r>
          </a:p>
        </p:txBody>
      </p:sp>
      <p:grpSp>
        <p:nvGrpSpPr>
          <p:cNvPr id="9" name="Group 9"/>
          <p:cNvGrpSpPr/>
          <p:nvPr/>
        </p:nvGrpSpPr>
        <p:grpSpPr>
          <a:xfrm>
            <a:off x="4469617" y="4171115"/>
            <a:ext cx="9348766" cy="975360"/>
            <a:chOff x="0" y="0"/>
            <a:chExt cx="2462276" cy="257048"/>
          </a:xfrm>
        </p:grpSpPr>
        <p:sp>
          <p:nvSpPr>
            <p:cNvPr id="10" name="Freeform 10"/>
            <p:cNvSpPr/>
            <p:nvPr/>
          </p:nvSpPr>
          <p:spPr>
            <a:xfrm>
              <a:off x="0" y="0"/>
              <a:ext cx="2462276" cy="257048"/>
            </a:xfrm>
            <a:custGeom>
              <a:avLst/>
              <a:gdLst/>
              <a:ahLst/>
              <a:cxnLst/>
              <a:rect l="l" t="t" r="r" b="b"/>
              <a:pathLst>
                <a:path w="2462276" h="257048">
                  <a:moveTo>
                    <a:pt x="2462276" y="19047"/>
                  </a:moveTo>
                  <a:lnTo>
                    <a:pt x="2462276" y="238001"/>
                  </a:lnTo>
                  <a:cubicBezTo>
                    <a:pt x="2462276" y="243053"/>
                    <a:pt x="2460269" y="247897"/>
                    <a:pt x="2456697" y="251469"/>
                  </a:cubicBezTo>
                  <a:cubicBezTo>
                    <a:pt x="2453125" y="255041"/>
                    <a:pt x="2448281" y="257048"/>
                    <a:pt x="2443229" y="257048"/>
                  </a:cubicBezTo>
                  <a:lnTo>
                    <a:pt x="19047" y="257048"/>
                  </a:lnTo>
                  <a:cubicBezTo>
                    <a:pt x="13995" y="257048"/>
                    <a:pt x="9151" y="255041"/>
                    <a:pt x="5579" y="251469"/>
                  </a:cubicBezTo>
                  <a:cubicBezTo>
                    <a:pt x="2007" y="247897"/>
                    <a:pt x="0" y="243053"/>
                    <a:pt x="0" y="238001"/>
                  </a:cubicBezTo>
                  <a:lnTo>
                    <a:pt x="0" y="19047"/>
                  </a:lnTo>
                  <a:cubicBezTo>
                    <a:pt x="0" y="13995"/>
                    <a:pt x="2007" y="9151"/>
                    <a:pt x="5579" y="5579"/>
                  </a:cubicBezTo>
                  <a:cubicBezTo>
                    <a:pt x="9151" y="2007"/>
                    <a:pt x="13995" y="0"/>
                    <a:pt x="19047" y="0"/>
                  </a:cubicBezTo>
                  <a:lnTo>
                    <a:pt x="2443229" y="0"/>
                  </a:lnTo>
                  <a:cubicBezTo>
                    <a:pt x="2448281" y="0"/>
                    <a:pt x="2453125" y="2007"/>
                    <a:pt x="2456697" y="5579"/>
                  </a:cubicBezTo>
                  <a:cubicBezTo>
                    <a:pt x="2460269" y="9151"/>
                    <a:pt x="2462276" y="13995"/>
                    <a:pt x="2462276" y="19047"/>
                  </a:cubicBezTo>
                  <a:close/>
                </a:path>
              </a:pathLst>
            </a:custGeom>
            <a:solidFill>
              <a:srgbClr val="0C1D4B"/>
            </a:solidFill>
          </p:spPr>
          <p:txBody>
            <a:bodyPr/>
            <a:lstStyle/>
            <a:p>
              <a:endParaRPr lang="en-VN"/>
            </a:p>
          </p:txBody>
        </p:sp>
        <p:sp>
          <p:nvSpPr>
            <p:cNvPr id="11" name="TextBox 11"/>
            <p:cNvSpPr txBox="1"/>
            <p:nvPr/>
          </p:nvSpPr>
          <p:spPr>
            <a:xfrm>
              <a:off x="0" y="-57150"/>
              <a:ext cx="2462276" cy="314198"/>
            </a:xfrm>
            <a:prstGeom prst="rect">
              <a:avLst/>
            </a:prstGeom>
          </p:spPr>
          <p:txBody>
            <a:bodyPr lIns="50800" tIns="50800" rIns="50800" bIns="50800" rtlCol="0" anchor="ctr"/>
            <a:lstStyle/>
            <a:p>
              <a:pPr algn="ctr">
                <a:lnSpc>
                  <a:spcPts val="3919"/>
                </a:lnSpc>
              </a:pPr>
              <a:r>
                <a:rPr lang="en-US" sz="2799" b="1">
                  <a:solidFill>
                    <a:srgbClr val="FFFFFF"/>
                  </a:solidFill>
                  <a:latin typeface="Roboto Slab Bold"/>
                  <a:ea typeface="Roboto Slab Bold"/>
                  <a:cs typeface="Roboto Slab Bold"/>
                  <a:sym typeface="Roboto Slab Bold"/>
                </a:rPr>
                <a:t>2. CƠ SỞ LÝ THUYẾT</a:t>
              </a:r>
            </a:p>
          </p:txBody>
        </p:sp>
      </p:grpSp>
      <p:grpSp>
        <p:nvGrpSpPr>
          <p:cNvPr id="12" name="Group 12"/>
          <p:cNvGrpSpPr/>
          <p:nvPr/>
        </p:nvGrpSpPr>
        <p:grpSpPr>
          <a:xfrm>
            <a:off x="4469617" y="5460800"/>
            <a:ext cx="9348766" cy="975360"/>
            <a:chOff x="0" y="0"/>
            <a:chExt cx="2462276" cy="257048"/>
          </a:xfrm>
        </p:grpSpPr>
        <p:sp>
          <p:nvSpPr>
            <p:cNvPr id="13" name="Freeform 13"/>
            <p:cNvSpPr/>
            <p:nvPr/>
          </p:nvSpPr>
          <p:spPr>
            <a:xfrm>
              <a:off x="0" y="0"/>
              <a:ext cx="2462276" cy="257048"/>
            </a:xfrm>
            <a:custGeom>
              <a:avLst/>
              <a:gdLst/>
              <a:ahLst/>
              <a:cxnLst/>
              <a:rect l="l" t="t" r="r" b="b"/>
              <a:pathLst>
                <a:path w="2462276" h="257048">
                  <a:moveTo>
                    <a:pt x="2462276" y="19047"/>
                  </a:moveTo>
                  <a:lnTo>
                    <a:pt x="2462276" y="238001"/>
                  </a:lnTo>
                  <a:cubicBezTo>
                    <a:pt x="2462276" y="243053"/>
                    <a:pt x="2460269" y="247897"/>
                    <a:pt x="2456697" y="251469"/>
                  </a:cubicBezTo>
                  <a:cubicBezTo>
                    <a:pt x="2453125" y="255041"/>
                    <a:pt x="2448281" y="257048"/>
                    <a:pt x="2443229" y="257048"/>
                  </a:cubicBezTo>
                  <a:lnTo>
                    <a:pt x="19047" y="257048"/>
                  </a:lnTo>
                  <a:cubicBezTo>
                    <a:pt x="13995" y="257048"/>
                    <a:pt x="9151" y="255041"/>
                    <a:pt x="5579" y="251469"/>
                  </a:cubicBezTo>
                  <a:cubicBezTo>
                    <a:pt x="2007" y="247897"/>
                    <a:pt x="0" y="243053"/>
                    <a:pt x="0" y="238001"/>
                  </a:cubicBezTo>
                  <a:lnTo>
                    <a:pt x="0" y="19047"/>
                  </a:lnTo>
                  <a:cubicBezTo>
                    <a:pt x="0" y="13995"/>
                    <a:pt x="2007" y="9151"/>
                    <a:pt x="5579" y="5579"/>
                  </a:cubicBezTo>
                  <a:cubicBezTo>
                    <a:pt x="9151" y="2007"/>
                    <a:pt x="13995" y="0"/>
                    <a:pt x="19047" y="0"/>
                  </a:cubicBezTo>
                  <a:lnTo>
                    <a:pt x="2443229" y="0"/>
                  </a:lnTo>
                  <a:cubicBezTo>
                    <a:pt x="2448281" y="0"/>
                    <a:pt x="2453125" y="2007"/>
                    <a:pt x="2456697" y="5579"/>
                  </a:cubicBezTo>
                  <a:cubicBezTo>
                    <a:pt x="2460269" y="9151"/>
                    <a:pt x="2462276" y="13995"/>
                    <a:pt x="2462276" y="19047"/>
                  </a:cubicBezTo>
                  <a:close/>
                </a:path>
              </a:pathLst>
            </a:custGeom>
            <a:solidFill>
              <a:srgbClr val="0C1D4B"/>
            </a:solidFill>
          </p:spPr>
          <p:txBody>
            <a:bodyPr/>
            <a:lstStyle/>
            <a:p>
              <a:endParaRPr lang="en-VN"/>
            </a:p>
          </p:txBody>
        </p:sp>
        <p:sp>
          <p:nvSpPr>
            <p:cNvPr id="14" name="TextBox 14"/>
            <p:cNvSpPr txBox="1"/>
            <p:nvPr/>
          </p:nvSpPr>
          <p:spPr>
            <a:xfrm>
              <a:off x="0" y="-57150"/>
              <a:ext cx="2462276" cy="314198"/>
            </a:xfrm>
            <a:prstGeom prst="rect">
              <a:avLst/>
            </a:prstGeom>
          </p:spPr>
          <p:txBody>
            <a:bodyPr lIns="50800" tIns="50800" rIns="50800" bIns="50800" rtlCol="0" anchor="ctr"/>
            <a:lstStyle/>
            <a:p>
              <a:pPr algn="ctr">
                <a:lnSpc>
                  <a:spcPts val="3919"/>
                </a:lnSpc>
              </a:pPr>
              <a:r>
                <a:rPr lang="en-US" sz="2799" b="1">
                  <a:solidFill>
                    <a:srgbClr val="FFFFFF"/>
                  </a:solidFill>
                  <a:latin typeface="Roboto Slab Bold"/>
                  <a:ea typeface="Roboto Slab Bold"/>
                  <a:cs typeface="Roboto Slab Bold"/>
                  <a:sym typeface="Roboto Slab Bold"/>
                </a:rPr>
                <a:t>3. XÂY DỰNG HỆ THỐNG</a:t>
              </a:r>
            </a:p>
          </p:txBody>
        </p:sp>
      </p:grpSp>
      <p:grpSp>
        <p:nvGrpSpPr>
          <p:cNvPr id="15" name="Group 15"/>
          <p:cNvGrpSpPr/>
          <p:nvPr/>
        </p:nvGrpSpPr>
        <p:grpSpPr>
          <a:xfrm>
            <a:off x="4469617" y="6750485"/>
            <a:ext cx="9348766" cy="975360"/>
            <a:chOff x="0" y="0"/>
            <a:chExt cx="2462276" cy="257048"/>
          </a:xfrm>
        </p:grpSpPr>
        <p:sp>
          <p:nvSpPr>
            <p:cNvPr id="16" name="Freeform 16"/>
            <p:cNvSpPr/>
            <p:nvPr/>
          </p:nvSpPr>
          <p:spPr>
            <a:xfrm>
              <a:off x="0" y="0"/>
              <a:ext cx="2462276" cy="257048"/>
            </a:xfrm>
            <a:custGeom>
              <a:avLst/>
              <a:gdLst/>
              <a:ahLst/>
              <a:cxnLst/>
              <a:rect l="l" t="t" r="r" b="b"/>
              <a:pathLst>
                <a:path w="2462276" h="257048">
                  <a:moveTo>
                    <a:pt x="2462276" y="19047"/>
                  </a:moveTo>
                  <a:lnTo>
                    <a:pt x="2462276" y="238001"/>
                  </a:lnTo>
                  <a:cubicBezTo>
                    <a:pt x="2462276" y="243053"/>
                    <a:pt x="2460269" y="247897"/>
                    <a:pt x="2456697" y="251469"/>
                  </a:cubicBezTo>
                  <a:cubicBezTo>
                    <a:pt x="2453125" y="255041"/>
                    <a:pt x="2448281" y="257048"/>
                    <a:pt x="2443229" y="257048"/>
                  </a:cubicBezTo>
                  <a:lnTo>
                    <a:pt x="19047" y="257048"/>
                  </a:lnTo>
                  <a:cubicBezTo>
                    <a:pt x="13995" y="257048"/>
                    <a:pt x="9151" y="255041"/>
                    <a:pt x="5579" y="251469"/>
                  </a:cubicBezTo>
                  <a:cubicBezTo>
                    <a:pt x="2007" y="247897"/>
                    <a:pt x="0" y="243053"/>
                    <a:pt x="0" y="238001"/>
                  </a:cubicBezTo>
                  <a:lnTo>
                    <a:pt x="0" y="19047"/>
                  </a:lnTo>
                  <a:cubicBezTo>
                    <a:pt x="0" y="13995"/>
                    <a:pt x="2007" y="9151"/>
                    <a:pt x="5579" y="5579"/>
                  </a:cubicBezTo>
                  <a:cubicBezTo>
                    <a:pt x="9151" y="2007"/>
                    <a:pt x="13995" y="0"/>
                    <a:pt x="19047" y="0"/>
                  </a:cubicBezTo>
                  <a:lnTo>
                    <a:pt x="2443229" y="0"/>
                  </a:lnTo>
                  <a:cubicBezTo>
                    <a:pt x="2448281" y="0"/>
                    <a:pt x="2453125" y="2007"/>
                    <a:pt x="2456697" y="5579"/>
                  </a:cubicBezTo>
                  <a:cubicBezTo>
                    <a:pt x="2460269" y="9151"/>
                    <a:pt x="2462276" y="13995"/>
                    <a:pt x="2462276" y="19047"/>
                  </a:cubicBezTo>
                  <a:close/>
                </a:path>
              </a:pathLst>
            </a:custGeom>
            <a:solidFill>
              <a:srgbClr val="0C1D4B"/>
            </a:solidFill>
          </p:spPr>
          <p:txBody>
            <a:bodyPr/>
            <a:lstStyle/>
            <a:p>
              <a:endParaRPr lang="en-VN"/>
            </a:p>
          </p:txBody>
        </p:sp>
        <p:sp>
          <p:nvSpPr>
            <p:cNvPr id="17" name="TextBox 17"/>
            <p:cNvSpPr txBox="1"/>
            <p:nvPr/>
          </p:nvSpPr>
          <p:spPr>
            <a:xfrm>
              <a:off x="0" y="-57150"/>
              <a:ext cx="2462276" cy="314198"/>
            </a:xfrm>
            <a:prstGeom prst="rect">
              <a:avLst/>
            </a:prstGeom>
          </p:spPr>
          <p:txBody>
            <a:bodyPr lIns="50800" tIns="50800" rIns="50800" bIns="50800" rtlCol="0" anchor="ctr"/>
            <a:lstStyle/>
            <a:p>
              <a:pPr algn="ctr">
                <a:lnSpc>
                  <a:spcPts val="3919"/>
                </a:lnSpc>
              </a:pPr>
              <a:r>
                <a:rPr lang="en-US" sz="2799" b="1">
                  <a:solidFill>
                    <a:srgbClr val="FFFFFF"/>
                  </a:solidFill>
                  <a:latin typeface="Roboto Slab Bold"/>
                  <a:ea typeface="Roboto Slab Bold"/>
                  <a:cs typeface="Roboto Slab Bold"/>
                  <a:sym typeface="Roboto Slab Bold"/>
                </a:rPr>
                <a:t>4. THỰC NGHIỆM VÀ KẾT LUẬN</a:t>
              </a:r>
            </a:p>
          </p:txBody>
        </p:sp>
      </p:grpSp>
      <p:grpSp>
        <p:nvGrpSpPr>
          <p:cNvPr id="18" name="Group 18"/>
          <p:cNvGrpSpPr/>
          <p:nvPr/>
        </p:nvGrpSpPr>
        <p:grpSpPr>
          <a:xfrm rot="-10800000">
            <a:off x="17259300" y="-233820"/>
            <a:ext cx="1940843" cy="970417"/>
            <a:chOff x="0" y="0"/>
            <a:chExt cx="2587790" cy="1293889"/>
          </a:xfrm>
        </p:grpSpPr>
        <p:sp>
          <p:nvSpPr>
            <p:cNvPr id="19" name="Freeform 19"/>
            <p:cNvSpPr/>
            <p:nvPr/>
          </p:nvSpPr>
          <p:spPr>
            <a:xfrm>
              <a:off x="0" y="0"/>
              <a:ext cx="2587752" cy="1293876"/>
            </a:xfrm>
            <a:custGeom>
              <a:avLst/>
              <a:gdLst/>
              <a:ahLst/>
              <a:cxnLst/>
              <a:rect l="l" t="t" r="r" b="b"/>
              <a:pathLst>
                <a:path w="2587752" h="1293876">
                  <a:moveTo>
                    <a:pt x="0" y="0"/>
                  </a:moveTo>
                  <a:lnTo>
                    <a:pt x="2587752" y="0"/>
                  </a:lnTo>
                  <a:lnTo>
                    <a:pt x="2587752" y="1293876"/>
                  </a:lnTo>
                  <a:lnTo>
                    <a:pt x="0" y="1293876"/>
                  </a:lnTo>
                  <a:lnTo>
                    <a:pt x="0" y="0"/>
                  </a:lnTo>
                  <a:close/>
                </a:path>
              </a:pathLst>
            </a:custGeom>
            <a:blipFill>
              <a:blip r:embed="rId2"/>
              <a:stretch>
                <a:fillRect r="-1"/>
              </a:stretch>
            </a:blipFill>
          </p:spPr>
          <p:txBody>
            <a:bodyPr/>
            <a:lstStyle/>
            <a:p>
              <a:endParaRPr lang="en-VN"/>
            </a:p>
          </p:txBody>
        </p:sp>
      </p:grpSp>
      <p:grpSp>
        <p:nvGrpSpPr>
          <p:cNvPr id="20" name="Group 20"/>
          <p:cNvGrpSpPr/>
          <p:nvPr/>
        </p:nvGrpSpPr>
        <p:grpSpPr>
          <a:xfrm>
            <a:off x="-912143" y="9429369"/>
            <a:ext cx="1940843" cy="970417"/>
            <a:chOff x="0" y="0"/>
            <a:chExt cx="2587790" cy="1293889"/>
          </a:xfrm>
        </p:grpSpPr>
        <p:sp>
          <p:nvSpPr>
            <p:cNvPr id="21" name="Freeform 21"/>
            <p:cNvSpPr/>
            <p:nvPr/>
          </p:nvSpPr>
          <p:spPr>
            <a:xfrm>
              <a:off x="0" y="0"/>
              <a:ext cx="2587752" cy="1293876"/>
            </a:xfrm>
            <a:custGeom>
              <a:avLst/>
              <a:gdLst/>
              <a:ahLst/>
              <a:cxnLst/>
              <a:rect l="l" t="t" r="r" b="b"/>
              <a:pathLst>
                <a:path w="2587752" h="1293876">
                  <a:moveTo>
                    <a:pt x="0" y="0"/>
                  </a:moveTo>
                  <a:lnTo>
                    <a:pt x="2587752" y="0"/>
                  </a:lnTo>
                  <a:lnTo>
                    <a:pt x="2587752" y="1293876"/>
                  </a:lnTo>
                  <a:lnTo>
                    <a:pt x="0" y="1293876"/>
                  </a:lnTo>
                  <a:lnTo>
                    <a:pt x="0" y="0"/>
                  </a:lnTo>
                  <a:close/>
                </a:path>
              </a:pathLst>
            </a:custGeom>
            <a:blipFill>
              <a:blip r:embed="rId2"/>
              <a:stretch>
                <a:fillRect r="-1"/>
              </a:stretch>
            </a:blipFill>
          </p:spPr>
          <p:txBody>
            <a:bodyPr/>
            <a:lstStyle/>
            <a:p>
              <a:endParaRPr lang="en-VN"/>
            </a:p>
          </p:txBody>
        </p:sp>
      </p:grpSp>
      <p:sp>
        <p:nvSpPr>
          <p:cNvPr id="22" name="TextBox 22"/>
          <p:cNvSpPr txBox="1"/>
          <p:nvPr/>
        </p:nvSpPr>
        <p:spPr>
          <a:xfrm>
            <a:off x="1687249" y="346410"/>
            <a:ext cx="3954904" cy="356289"/>
          </a:xfrm>
          <a:prstGeom prst="rect">
            <a:avLst/>
          </a:prstGeom>
        </p:spPr>
        <p:txBody>
          <a:bodyPr lIns="0" tIns="0" rIns="0" bIns="0" rtlCol="0" anchor="t">
            <a:spAutoFit/>
          </a:bodyPr>
          <a:lstStyle/>
          <a:p>
            <a:pPr algn="l">
              <a:lnSpc>
                <a:spcPts val="2940"/>
              </a:lnSpc>
            </a:pPr>
            <a:r>
              <a:rPr lang="en-US" sz="2100" b="1">
                <a:solidFill>
                  <a:srgbClr val="2C2C2C"/>
                </a:solidFill>
                <a:latin typeface="Roboto Slab Bold"/>
                <a:ea typeface="Roboto Slab Bold"/>
                <a:cs typeface="Roboto Slab Bold"/>
                <a:sym typeface="Roboto Slab Bold"/>
              </a:rPr>
              <a:t>HỌC VIỆN KỸ THUẬT MẬT MÃ</a:t>
            </a:r>
          </a:p>
        </p:txBody>
      </p:sp>
      <p:sp>
        <p:nvSpPr>
          <p:cNvPr id="23" name="Freeform 23"/>
          <p:cNvSpPr/>
          <p:nvPr/>
        </p:nvSpPr>
        <p:spPr>
          <a:xfrm>
            <a:off x="1028700" y="251389"/>
            <a:ext cx="551704" cy="584433"/>
          </a:xfrm>
          <a:custGeom>
            <a:avLst/>
            <a:gdLst/>
            <a:ahLst/>
            <a:cxnLst/>
            <a:rect l="l" t="t" r="r" b="b"/>
            <a:pathLst>
              <a:path w="551704" h="584433">
                <a:moveTo>
                  <a:pt x="0" y="0"/>
                </a:moveTo>
                <a:lnTo>
                  <a:pt x="551704" y="0"/>
                </a:lnTo>
                <a:lnTo>
                  <a:pt x="551704" y="584432"/>
                </a:lnTo>
                <a:lnTo>
                  <a:pt x="0" y="584432"/>
                </a:lnTo>
                <a:lnTo>
                  <a:pt x="0" y="0"/>
                </a:lnTo>
                <a:close/>
              </a:path>
            </a:pathLst>
          </a:custGeom>
          <a:blipFill>
            <a:blip r:embed="rId3"/>
            <a:stretch>
              <a:fillRect/>
            </a:stretch>
          </a:blipFill>
        </p:spPr>
        <p:txBody>
          <a:bodyPr/>
          <a:lstStyle/>
          <a:p>
            <a:endParaRPr lang="en-VN"/>
          </a:p>
        </p:txBody>
      </p:sp>
    </p:spTree>
  </p:cSld>
  <p:clrMapOvr>
    <a:masterClrMapping/>
  </p:clrMapOvr>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grpId="0" nodeType="withEffect">
                            <p:stCondLst>
                              <p:cond delay="180"/>
                            </p:stCondLst>
                            <p:childTnLst>
                              <p:set>
                                <p:cBhvr>
                                  <p:cTn id="5" dur="1" fill="hold">
                                    <p:stCondLst>
                                      <p:cond delay="0"/>
                                    </p:stCondLst>
                                  </p:cTn>
                                  <p:tgtEl>
                                    <p:spTgt spid="23"/>
                                  </p:tgtEl>
                                  <p:attrNameLst>
                                    <p:attrName>style.visibility</p:attrName>
                                  </p:attrNameLst>
                                </p:cBhvr>
                                <p:to>
                                  <p:strVal val="visible"/>
                                </p:to>
                              </p:set>
                              <p:animEffect transition="in" filter="wipe(left)">
                                <p:cBhvr>
                                  <p:cTn id="6" dur="860"/>
                                  <p:tgtEl>
                                    <p:spTgt spid="23"/>
                                  </p:tgtEl>
                                </p:cBhvr>
                              </p:animEffect>
                            </p:childTnLst>
                          </p:cTn>
                        </p:par>
                        <p:par>
                          <p:cTn id="7" presetID="10" presetClass="entr" presetSubtype="0" fill="hold" grpId="0" nodeType="withEffect">
                            <p:stCondLst>
                              <p:cond delay="350"/>
                            </p:stCondLst>
                            <p:childTnLst>
                              <p:set>
                                <p:cBhvr>
                                  <p:cTn id="8" dur="1" fill="hold">
                                    <p:stCondLst>
                                      <p:cond delay="0"/>
                                    </p:stCondLst>
                                  </p:cTn>
                                  <p:tgtEl>
                                    <p:spTgt spid="22"/>
                                  </p:tgtEl>
                                  <p:attrNameLst>
                                    <p:attrName>style.visibility</p:attrName>
                                  </p:attrNameLst>
                                </p:cBhvr>
                                <p:to>
                                  <p:strVal val="visible"/>
                                </p:to>
                              </p:set>
                              <p:animEffect transition="in" filter="wipe(left)">
                                <p:cBhvr>
                                  <p:cTn id="9" dur="860"/>
                                  <p:tgtEl>
                                    <p:spTgt spid="22"/>
                                  </p:tgtEl>
                                </p:cBhvr>
                              </p:animEffect>
                            </p:childTnLst>
                          </p:cTn>
                        </p:par>
                        <p:par>
                          <p:cTn id="10" presetID="10" presetClass="entr" presetSubtype="0" fill="hold" grpId="0" nodeType="withEffect">
                            <p:stCondLst>
                              <p:cond delay="520"/>
                            </p:stCondLst>
                            <p:childTnLst>
                              <p:set>
                                <p:cBhvr>
                                  <p:cTn id="11" dur="1" fill="hold">
                                    <p:stCondLst>
                                      <p:cond delay="0"/>
                                    </p:stCondLst>
                                  </p:cTn>
                                  <p:tgtEl>
                                    <p:spTgt spid="8"/>
                                  </p:tgtEl>
                                  <p:attrNameLst>
                                    <p:attrName>style.visibility</p:attrName>
                                  </p:attrNameLst>
                                </p:cBhvr>
                                <p:to>
                                  <p:strVal val="visible"/>
                                </p:to>
                              </p:set>
                              <p:animEffect transition="in" filter="wipe(left)">
                                <p:cBhvr>
                                  <p:cTn id="12" dur="860"/>
                                  <p:tgtEl>
                                    <p:spTgt spid="8"/>
                                  </p:tgtEl>
                                </p:cBhvr>
                              </p:animEffect>
                            </p:childTnLst>
                          </p:cTn>
                        </p:par>
                        <p:par>
                          <p:cTn id="13" presetID="10" presetClass="entr" presetSubtype="0" fill="hold" grpId="0" nodeType="withEffect">
                            <p:stCondLst>
                              <p:cond delay="690"/>
                            </p:stCondLst>
                            <p:childTnLst>
                              <p:set>
                                <p:cBhvr>
                                  <p:cTn id="14" dur="1" fill="hold">
                                    <p:stCondLst>
                                      <p:cond delay="0"/>
                                    </p:stCondLst>
                                  </p:cTn>
                                  <p:tgtEl>
                                    <p:spTgt spid="5"/>
                                  </p:tgtEl>
                                  <p:attrNameLst>
                                    <p:attrName>style.visibility</p:attrName>
                                  </p:attrNameLst>
                                </p:cBhvr>
                                <p:to>
                                  <p:strVal val="visible"/>
                                </p:to>
                              </p:set>
                              <p:animEffect transition="in" filter="wipe(left)">
                                <p:cBhvr>
                                  <p:cTn id="15" dur="860"/>
                                  <p:tgtEl>
                                    <p:spTgt spid="5"/>
                                  </p:tgtEl>
                                </p:cBhvr>
                              </p:animEffect>
                            </p:childTnLst>
                          </p:cTn>
                        </p:par>
                        <p:par>
                          <p:cTn id="16" presetID="10" presetClass="entr" presetSubtype="0" fill="hold" grpId="0" nodeType="withEffect">
                            <p:stCondLst>
                              <p:cond delay="860"/>
                            </p:stCondLst>
                            <p:childTnLst>
                              <p:set>
                                <p:cBhvr>
                                  <p:cTn id="17" dur="1" fill="hold">
                                    <p:stCondLst>
                                      <p:cond delay="0"/>
                                    </p:stCondLst>
                                  </p:cTn>
                                  <p:tgtEl>
                                    <p:spTgt spid="9"/>
                                  </p:tgtEl>
                                  <p:attrNameLst>
                                    <p:attrName>style.visibility</p:attrName>
                                  </p:attrNameLst>
                                </p:cBhvr>
                                <p:to>
                                  <p:strVal val="visible"/>
                                </p:to>
                              </p:set>
                              <p:animEffect transition="in" filter="wipe(left)">
                                <p:cBhvr>
                                  <p:cTn id="18" dur="860"/>
                                  <p:tgtEl>
                                    <p:spTgt spid="9"/>
                                  </p:tgtEl>
                                </p:cBhvr>
                              </p:animEffect>
                            </p:childTnLst>
                          </p:cTn>
                        </p:par>
                        <p:par>
                          <p:cTn id="19" presetID="10" presetClass="entr" presetSubtype="0" fill="hold" grpId="0" nodeType="withEffect">
                            <p:stCondLst>
                              <p:cond delay="1030"/>
                            </p:stCondLst>
                            <p:childTnLst>
                              <p:set>
                                <p:cBhvr>
                                  <p:cTn id="20" dur="1" fill="hold">
                                    <p:stCondLst>
                                      <p:cond delay="0"/>
                                    </p:stCondLst>
                                  </p:cTn>
                                  <p:tgtEl>
                                    <p:spTgt spid="12"/>
                                  </p:tgtEl>
                                  <p:attrNameLst>
                                    <p:attrName>style.visibility</p:attrName>
                                  </p:attrNameLst>
                                </p:cBhvr>
                                <p:to>
                                  <p:strVal val="visible"/>
                                </p:to>
                              </p:set>
                              <p:animEffect transition="in" filter="wipe(left)">
                                <p:cBhvr>
                                  <p:cTn id="21" dur="860"/>
                                  <p:tgtEl>
                                    <p:spTgt spid="12"/>
                                  </p:tgtEl>
                                </p:cBhvr>
                              </p:animEffect>
                            </p:childTnLst>
                          </p:cTn>
                        </p:par>
                        <p:par>
                          <p:cTn id="22" presetID="10" presetClass="entr" presetSubtype="0" fill="hold" grpId="0" nodeType="withEffect">
                            <p:stCondLst>
                              <p:cond delay="1200"/>
                            </p:stCondLst>
                            <p:childTnLst>
                              <p:set>
                                <p:cBhvr>
                                  <p:cTn id="23" dur="1" fill="hold">
                                    <p:stCondLst>
                                      <p:cond delay="0"/>
                                    </p:stCondLst>
                                  </p:cTn>
                                  <p:tgtEl>
                                    <p:spTgt spid="15"/>
                                  </p:tgtEl>
                                  <p:attrNameLst>
                                    <p:attrName>style.visibility</p:attrName>
                                  </p:attrNameLst>
                                </p:cBhvr>
                                <p:to>
                                  <p:strVal val="visible"/>
                                </p:to>
                              </p:set>
                              <p:animEffect transition="in" filter="wipe(left)">
                                <p:cBhvr>
                                  <p:cTn id="24" dur="860"/>
                                  <p:tgtEl>
                                    <p:spTgt spid="15"/>
                                  </p:tgtEl>
                                </p:cBhvr>
                              </p:animEffect>
                            </p:childTnLst>
                          </p:cTn>
                        </p:par>
                      </p:childTnLst>
                    </p:cTn>
                  </p:par>
                </p:childTnLst>
              </p:cTn>
            </p:seq>
          </p:childTnLst>
        </p:cTn>
      </p:par>
    </p:tnLst>
    <p:bldLst>
      <p:bldP spid="5" grpId="0"/>
      <p:bldP spid="8" grpId="0"/>
      <p:bldP spid="9" grpId="0"/>
      <p:bldP spid="12" grpId="0"/>
      <p:bldP spid="15" grpId="0"/>
      <p:bldP spid="22" grpId="0"/>
      <p:bldP spid="23"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3127839" y="9986436"/>
            <a:ext cx="22035035" cy="2837612"/>
            <a:chOff x="0" y="0"/>
            <a:chExt cx="5803466" cy="747355"/>
          </a:xfrm>
        </p:grpSpPr>
        <p:sp>
          <p:nvSpPr>
            <p:cNvPr id="3" name="Freeform 3"/>
            <p:cNvSpPr/>
            <p:nvPr/>
          </p:nvSpPr>
          <p:spPr>
            <a:xfrm>
              <a:off x="0" y="0"/>
              <a:ext cx="5803466" cy="747355"/>
            </a:xfrm>
            <a:custGeom>
              <a:avLst/>
              <a:gdLst/>
              <a:ahLst/>
              <a:cxnLst/>
              <a:rect l="l" t="t" r="r" b="b"/>
              <a:pathLst>
                <a:path w="5803466" h="747355">
                  <a:moveTo>
                    <a:pt x="0" y="0"/>
                  </a:moveTo>
                  <a:lnTo>
                    <a:pt x="5803466" y="0"/>
                  </a:lnTo>
                  <a:lnTo>
                    <a:pt x="5803466" y="747355"/>
                  </a:lnTo>
                  <a:lnTo>
                    <a:pt x="0" y="747355"/>
                  </a:lnTo>
                  <a:close/>
                </a:path>
              </a:pathLst>
            </a:custGeom>
            <a:solidFill>
              <a:srgbClr val="3C4F75"/>
            </a:solidFill>
          </p:spPr>
          <p:txBody>
            <a:bodyPr/>
            <a:lstStyle/>
            <a:p>
              <a:endParaRPr lang="en-VN"/>
            </a:p>
          </p:txBody>
        </p:sp>
        <p:sp>
          <p:nvSpPr>
            <p:cNvPr id="4" name="TextBox 4"/>
            <p:cNvSpPr txBox="1"/>
            <p:nvPr/>
          </p:nvSpPr>
          <p:spPr>
            <a:xfrm>
              <a:off x="0" y="-47625"/>
              <a:ext cx="5803466" cy="794980"/>
            </a:xfrm>
            <a:prstGeom prst="rect">
              <a:avLst/>
            </a:prstGeom>
          </p:spPr>
          <p:txBody>
            <a:bodyPr lIns="50800" tIns="50800" rIns="50800" bIns="50800" rtlCol="0" anchor="ctr"/>
            <a:lstStyle/>
            <a:p>
              <a:pPr algn="ctr">
                <a:lnSpc>
                  <a:spcPts val="2940"/>
                </a:lnSpc>
              </a:pPr>
              <a:endParaRPr/>
            </a:p>
          </p:txBody>
        </p:sp>
      </p:grpSp>
      <p:grpSp>
        <p:nvGrpSpPr>
          <p:cNvPr id="5" name="Group 5"/>
          <p:cNvGrpSpPr/>
          <p:nvPr/>
        </p:nvGrpSpPr>
        <p:grpSpPr>
          <a:xfrm rot="-10800000">
            <a:off x="17259300" y="-233820"/>
            <a:ext cx="1940843" cy="970417"/>
            <a:chOff x="0" y="0"/>
            <a:chExt cx="2587790" cy="1293889"/>
          </a:xfrm>
        </p:grpSpPr>
        <p:sp>
          <p:nvSpPr>
            <p:cNvPr id="6" name="Freeform 6"/>
            <p:cNvSpPr/>
            <p:nvPr/>
          </p:nvSpPr>
          <p:spPr>
            <a:xfrm>
              <a:off x="0" y="0"/>
              <a:ext cx="2587752" cy="1293876"/>
            </a:xfrm>
            <a:custGeom>
              <a:avLst/>
              <a:gdLst/>
              <a:ahLst/>
              <a:cxnLst/>
              <a:rect l="l" t="t" r="r" b="b"/>
              <a:pathLst>
                <a:path w="2587752" h="1293876">
                  <a:moveTo>
                    <a:pt x="0" y="0"/>
                  </a:moveTo>
                  <a:lnTo>
                    <a:pt x="2587752" y="0"/>
                  </a:lnTo>
                  <a:lnTo>
                    <a:pt x="2587752" y="1293876"/>
                  </a:lnTo>
                  <a:lnTo>
                    <a:pt x="0" y="1293876"/>
                  </a:lnTo>
                  <a:lnTo>
                    <a:pt x="0" y="0"/>
                  </a:lnTo>
                  <a:close/>
                </a:path>
              </a:pathLst>
            </a:custGeom>
            <a:blipFill>
              <a:blip r:embed="rId2"/>
              <a:stretch>
                <a:fillRect r="-1"/>
              </a:stretch>
            </a:blipFill>
          </p:spPr>
          <p:txBody>
            <a:bodyPr/>
            <a:lstStyle/>
            <a:p>
              <a:endParaRPr lang="en-VN"/>
            </a:p>
          </p:txBody>
        </p:sp>
      </p:grpSp>
      <p:grpSp>
        <p:nvGrpSpPr>
          <p:cNvPr id="7" name="Group 7"/>
          <p:cNvGrpSpPr/>
          <p:nvPr/>
        </p:nvGrpSpPr>
        <p:grpSpPr>
          <a:xfrm>
            <a:off x="-912143" y="9429369"/>
            <a:ext cx="1940843" cy="970417"/>
            <a:chOff x="0" y="0"/>
            <a:chExt cx="2587790" cy="1293889"/>
          </a:xfrm>
        </p:grpSpPr>
        <p:sp>
          <p:nvSpPr>
            <p:cNvPr id="8" name="Freeform 8"/>
            <p:cNvSpPr/>
            <p:nvPr/>
          </p:nvSpPr>
          <p:spPr>
            <a:xfrm>
              <a:off x="0" y="0"/>
              <a:ext cx="2587752" cy="1293876"/>
            </a:xfrm>
            <a:custGeom>
              <a:avLst/>
              <a:gdLst/>
              <a:ahLst/>
              <a:cxnLst/>
              <a:rect l="l" t="t" r="r" b="b"/>
              <a:pathLst>
                <a:path w="2587752" h="1293876">
                  <a:moveTo>
                    <a:pt x="0" y="0"/>
                  </a:moveTo>
                  <a:lnTo>
                    <a:pt x="2587752" y="0"/>
                  </a:lnTo>
                  <a:lnTo>
                    <a:pt x="2587752" y="1293876"/>
                  </a:lnTo>
                  <a:lnTo>
                    <a:pt x="0" y="1293876"/>
                  </a:lnTo>
                  <a:lnTo>
                    <a:pt x="0" y="0"/>
                  </a:lnTo>
                  <a:close/>
                </a:path>
              </a:pathLst>
            </a:custGeom>
            <a:blipFill>
              <a:blip r:embed="rId2"/>
              <a:stretch>
                <a:fillRect r="-1"/>
              </a:stretch>
            </a:blipFill>
          </p:spPr>
          <p:txBody>
            <a:bodyPr/>
            <a:lstStyle/>
            <a:p>
              <a:endParaRPr lang="en-VN"/>
            </a:p>
          </p:txBody>
        </p:sp>
      </p:grpSp>
      <p:sp>
        <p:nvSpPr>
          <p:cNvPr id="9" name="TextBox 9"/>
          <p:cNvSpPr txBox="1"/>
          <p:nvPr/>
        </p:nvSpPr>
        <p:spPr>
          <a:xfrm>
            <a:off x="1687249" y="346410"/>
            <a:ext cx="3954904" cy="356289"/>
          </a:xfrm>
          <a:prstGeom prst="rect">
            <a:avLst/>
          </a:prstGeom>
        </p:spPr>
        <p:txBody>
          <a:bodyPr lIns="0" tIns="0" rIns="0" bIns="0" rtlCol="0" anchor="t">
            <a:spAutoFit/>
          </a:bodyPr>
          <a:lstStyle/>
          <a:p>
            <a:pPr algn="l">
              <a:lnSpc>
                <a:spcPts val="2940"/>
              </a:lnSpc>
            </a:pPr>
            <a:r>
              <a:rPr lang="en-US" sz="2100" b="1">
                <a:solidFill>
                  <a:srgbClr val="2C2C2C"/>
                </a:solidFill>
                <a:latin typeface="Roboto Slab Bold"/>
                <a:ea typeface="Roboto Slab Bold"/>
                <a:cs typeface="Roboto Slab Bold"/>
                <a:sym typeface="Roboto Slab Bold"/>
              </a:rPr>
              <a:t>HỌC VIỆN KỸ THUẬT MẬT MÃ</a:t>
            </a:r>
          </a:p>
        </p:txBody>
      </p:sp>
      <p:sp>
        <p:nvSpPr>
          <p:cNvPr id="10" name="Freeform 10"/>
          <p:cNvSpPr/>
          <p:nvPr/>
        </p:nvSpPr>
        <p:spPr>
          <a:xfrm>
            <a:off x="1028700" y="251389"/>
            <a:ext cx="551704" cy="584433"/>
          </a:xfrm>
          <a:custGeom>
            <a:avLst/>
            <a:gdLst/>
            <a:ahLst/>
            <a:cxnLst/>
            <a:rect l="l" t="t" r="r" b="b"/>
            <a:pathLst>
              <a:path w="551704" h="584433">
                <a:moveTo>
                  <a:pt x="0" y="0"/>
                </a:moveTo>
                <a:lnTo>
                  <a:pt x="551704" y="0"/>
                </a:lnTo>
                <a:lnTo>
                  <a:pt x="551704" y="584432"/>
                </a:lnTo>
                <a:lnTo>
                  <a:pt x="0" y="584432"/>
                </a:lnTo>
                <a:lnTo>
                  <a:pt x="0" y="0"/>
                </a:lnTo>
                <a:close/>
              </a:path>
            </a:pathLst>
          </a:custGeom>
          <a:blipFill>
            <a:blip r:embed="rId3"/>
            <a:stretch>
              <a:fillRect/>
            </a:stretch>
          </a:blipFill>
        </p:spPr>
        <p:txBody>
          <a:bodyPr/>
          <a:lstStyle/>
          <a:p>
            <a:endParaRPr lang="en-VN"/>
          </a:p>
        </p:txBody>
      </p:sp>
      <p:grpSp>
        <p:nvGrpSpPr>
          <p:cNvPr id="11" name="Group 11"/>
          <p:cNvGrpSpPr/>
          <p:nvPr/>
        </p:nvGrpSpPr>
        <p:grpSpPr>
          <a:xfrm>
            <a:off x="8555428" y="3969707"/>
            <a:ext cx="1177144" cy="1173793"/>
            <a:chOff x="0" y="0"/>
            <a:chExt cx="871377" cy="868896"/>
          </a:xfrm>
        </p:grpSpPr>
        <p:sp>
          <p:nvSpPr>
            <p:cNvPr id="12" name="Freeform 12"/>
            <p:cNvSpPr/>
            <p:nvPr/>
          </p:nvSpPr>
          <p:spPr>
            <a:xfrm>
              <a:off x="0" y="0"/>
              <a:ext cx="871377" cy="868896"/>
            </a:xfrm>
            <a:custGeom>
              <a:avLst/>
              <a:gdLst/>
              <a:ahLst/>
              <a:cxnLst/>
              <a:rect l="l" t="t" r="r" b="b"/>
              <a:pathLst>
                <a:path w="871377" h="868896">
                  <a:moveTo>
                    <a:pt x="435688" y="0"/>
                  </a:moveTo>
                  <a:cubicBezTo>
                    <a:pt x="195064" y="0"/>
                    <a:pt x="0" y="194509"/>
                    <a:pt x="0" y="434448"/>
                  </a:cubicBezTo>
                  <a:cubicBezTo>
                    <a:pt x="0" y="674387"/>
                    <a:pt x="195064" y="868896"/>
                    <a:pt x="435688" y="868896"/>
                  </a:cubicBezTo>
                  <a:cubicBezTo>
                    <a:pt x="676312" y="868896"/>
                    <a:pt x="871377" y="674387"/>
                    <a:pt x="871377" y="434448"/>
                  </a:cubicBezTo>
                  <a:cubicBezTo>
                    <a:pt x="871377" y="194509"/>
                    <a:pt x="676312" y="0"/>
                    <a:pt x="435688" y="0"/>
                  </a:cubicBezTo>
                  <a:close/>
                </a:path>
              </a:pathLst>
            </a:custGeom>
            <a:solidFill>
              <a:srgbClr val="0C1D4B"/>
            </a:solidFill>
          </p:spPr>
          <p:txBody>
            <a:bodyPr/>
            <a:lstStyle/>
            <a:p>
              <a:endParaRPr lang="en-VN"/>
            </a:p>
          </p:txBody>
        </p:sp>
        <p:sp>
          <p:nvSpPr>
            <p:cNvPr id="13" name="TextBox 13"/>
            <p:cNvSpPr txBox="1"/>
            <p:nvPr/>
          </p:nvSpPr>
          <p:spPr>
            <a:xfrm>
              <a:off x="81692" y="14784"/>
              <a:ext cx="707993" cy="772653"/>
            </a:xfrm>
            <a:prstGeom prst="rect">
              <a:avLst/>
            </a:prstGeom>
          </p:spPr>
          <p:txBody>
            <a:bodyPr lIns="50800" tIns="50800" rIns="50800" bIns="50800" rtlCol="0" anchor="ctr"/>
            <a:lstStyle/>
            <a:p>
              <a:pPr algn="ctr">
                <a:lnSpc>
                  <a:spcPts val="5880"/>
                </a:lnSpc>
              </a:pPr>
              <a:r>
                <a:rPr lang="en-US" sz="4200" b="1">
                  <a:solidFill>
                    <a:srgbClr val="FFFFFF"/>
                  </a:solidFill>
                  <a:latin typeface="Roboto Slab Bold"/>
                  <a:ea typeface="Roboto Slab Bold"/>
                  <a:cs typeface="Roboto Slab Bold"/>
                  <a:sym typeface="Roboto Slab Bold"/>
                </a:rPr>
                <a:t>1</a:t>
              </a:r>
            </a:p>
          </p:txBody>
        </p:sp>
      </p:grpSp>
      <p:sp>
        <p:nvSpPr>
          <p:cNvPr id="14" name="TextBox 14"/>
          <p:cNvSpPr txBox="1"/>
          <p:nvPr/>
        </p:nvSpPr>
        <p:spPr>
          <a:xfrm>
            <a:off x="5839542" y="5360956"/>
            <a:ext cx="6608916" cy="630228"/>
          </a:xfrm>
          <a:prstGeom prst="rect">
            <a:avLst/>
          </a:prstGeom>
        </p:spPr>
        <p:txBody>
          <a:bodyPr lIns="0" tIns="0" rIns="0" bIns="0" rtlCol="0" anchor="t">
            <a:spAutoFit/>
          </a:bodyPr>
          <a:lstStyle/>
          <a:p>
            <a:pPr algn="ctr">
              <a:lnSpc>
                <a:spcPts val="4848"/>
              </a:lnSpc>
            </a:pPr>
            <a:r>
              <a:rPr lang="en-US" sz="4800" b="1">
                <a:solidFill>
                  <a:srgbClr val="0C1D4B"/>
                </a:solidFill>
                <a:latin typeface="Roboto Slab Bold"/>
                <a:ea typeface="Roboto Slab Bold"/>
                <a:cs typeface="Roboto Slab Bold"/>
                <a:sym typeface="Roboto Slab Bold"/>
              </a:rPr>
              <a:t>PHÁT BIỂU BÀI TOÁN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grpId="0" nodeType="withEffect">
                            <p:stCondLst>
                              <p:cond delay="180"/>
                            </p:stCondLst>
                            <p:childTnLst>
                              <p:set>
                                <p:cBhvr>
                                  <p:cTn id="5" dur="1" fill="hold">
                                    <p:stCondLst>
                                      <p:cond delay="0"/>
                                    </p:stCondLst>
                                  </p:cTn>
                                  <p:tgtEl>
                                    <p:spTgt spid="11"/>
                                  </p:tgtEl>
                                  <p:attrNameLst>
                                    <p:attrName>style.visibility</p:attrName>
                                  </p:attrNameLst>
                                </p:cBhvr>
                                <p:to>
                                  <p:strVal val="visible"/>
                                </p:to>
                              </p:set>
                              <p:animEffect transition="in" filter="wipe(left)">
                                <p:cBhvr>
                                  <p:cTn id="6" dur="860"/>
                                  <p:tgtEl>
                                    <p:spTgt spid="11"/>
                                  </p:tgtEl>
                                </p:cBhvr>
                              </p:animEffect>
                            </p:childTnLst>
                          </p:cTn>
                        </p:par>
                        <p:par>
                          <p:cTn id="7" presetID="10" presetClass="entr" presetSubtype="0" fill="hold" grpId="0" nodeType="withEffect">
                            <p:stCondLst>
                              <p:cond delay="350"/>
                            </p:stCondLst>
                            <p:childTnLst>
                              <p:set>
                                <p:cBhvr>
                                  <p:cTn id="8" dur="1" fill="hold">
                                    <p:stCondLst>
                                      <p:cond delay="0"/>
                                    </p:stCondLst>
                                  </p:cTn>
                                  <p:tgtEl>
                                    <p:spTgt spid="14"/>
                                  </p:tgtEl>
                                  <p:attrNameLst>
                                    <p:attrName>style.visibility</p:attrName>
                                  </p:attrNameLst>
                                </p:cBhvr>
                                <p:to>
                                  <p:strVal val="visible"/>
                                </p:to>
                              </p:set>
                              <p:animEffect transition="in" filter="wipe(left)">
                                <p:cBhvr>
                                  <p:cTn id="9" dur="860"/>
                                  <p:tgtEl>
                                    <p:spTgt spid="14"/>
                                  </p:tgtEl>
                                </p:cBhvr>
                              </p:animEffect>
                            </p:childTnLst>
                          </p:cTn>
                        </p:par>
                      </p:childTnLst>
                    </p:cTn>
                  </p:par>
                </p:childTnLst>
              </p:cTn>
            </p:seq>
          </p:childTnLst>
        </p:cTn>
      </p:par>
    </p:tnLst>
    <p:bldLst>
      <p:bldP spid="11" grpId="0"/>
      <p:bldP spid="1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2601470" y="9477699"/>
            <a:ext cx="4657830" cy="436883"/>
          </a:xfrm>
          <a:prstGeom prst="rect">
            <a:avLst/>
          </a:prstGeom>
        </p:spPr>
        <p:txBody>
          <a:bodyPr lIns="0" tIns="0" rIns="0" bIns="0" rtlCol="0" anchor="t">
            <a:spAutoFit/>
          </a:bodyPr>
          <a:lstStyle/>
          <a:p>
            <a:pPr algn="r">
              <a:lnSpc>
                <a:spcPts val="3219"/>
              </a:lnSpc>
            </a:pPr>
            <a:r>
              <a:rPr lang="en-US" sz="2299" b="1" spc="55">
                <a:solidFill>
                  <a:srgbClr val="FFFFFF"/>
                </a:solidFill>
                <a:latin typeface="DM Sans Bold"/>
                <a:ea typeface="DM Sans Bold"/>
                <a:cs typeface="DM Sans Bold"/>
                <a:sym typeface="DM Sans Bold"/>
              </a:rPr>
              <a:t>MAJOR: INTERIOR DESIGN</a:t>
            </a:r>
          </a:p>
        </p:txBody>
      </p:sp>
      <p:sp>
        <p:nvSpPr>
          <p:cNvPr id="3" name="TextBox 3"/>
          <p:cNvSpPr txBox="1"/>
          <p:nvPr/>
        </p:nvSpPr>
        <p:spPr>
          <a:xfrm>
            <a:off x="1031276" y="1095375"/>
            <a:ext cx="4921611" cy="534618"/>
          </a:xfrm>
          <a:prstGeom prst="rect">
            <a:avLst/>
          </a:prstGeom>
        </p:spPr>
        <p:txBody>
          <a:bodyPr lIns="0" tIns="0" rIns="0" bIns="0" rtlCol="0" anchor="t">
            <a:spAutoFit/>
          </a:bodyPr>
          <a:lstStyle/>
          <a:p>
            <a:pPr algn="just">
              <a:lnSpc>
                <a:spcPts val="4039"/>
              </a:lnSpc>
            </a:pPr>
            <a:r>
              <a:rPr lang="en-US" sz="3999" b="1">
                <a:solidFill>
                  <a:srgbClr val="0C1D4B"/>
                </a:solidFill>
                <a:latin typeface="Roboto Slab Bold"/>
                <a:ea typeface="Roboto Slab Bold"/>
                <a:cs typeface="Roboto Slab Bold"/>
                <a:sym typeface="Roboto Slab Bold"/>
              </a:rPr>
              <a:t>1.1. Lý do chọn đề tài</a:t>
            </a:r>
          </a:p>
        </p:txBody>
      </p:sp>
      <p:sp>
        <p:nvSpPr>
          <p:cNvPr id="4" name="TextBox 4"/>
          <p:cNvSpPr txBox="1"/>
          <p:nvPr/>
        </p:nvSpPr>
        <p:spPr>
          <a:xfrm>
            <a:off x="1040801" y="1839543"/>
            <a:ext cx="9848374" cy="4558463"/>
          </a:xfrm>
          <a:prstGeom prst="rect">
            <a:avLst/>
          </a:prstGeom>
        </p:spPr>
        <p:txBody>
          <a:bodyPr lIns="0" tIns="0" rIns="0" bIns="0" rtlCol="0" anchor="t">
            <a:spAutoFit/>
          </a:bodyPr>
          <a:lstStyle/>
          <a:p>
            <a:pPr algn="just">
              <a:lnSpc>
                <a:spcPts val="4800"/>
              </a:lnSpc>
            </a:pPr>
            <a:r>
              <a:rPr lang="en-US" sz="3000" b="1">
                <a:solidFill>
                  <a:srgbClr val="0C1D4B"/>
                </a:solidFill>
                <a:latin typeface="Roboto Slab Bold"/>
                <a:ea typeface="Roboto Slab Bold"/>
                <a:cs typeface="Roboto Slab Bold"/>
                <a:sym typeface="Roboto Slab Bold"/>
              </a:rPr>
              <a:t>Bắt nguồn từ những khó khăn trong quá trình tra cứu, tiếp cận thông tin về pháp luật của người dân:</a:t>
            </a:r>
          </a:p>
          <a:p>
            <a:pPr marL="640079" lvl="2" indent="-213360" algn="just">
              <a:lnSpc>
                <a:spcPts val="4479"/>
              </a:lnSpc>
              <a:buFont typeface="Arial"/>
              <a:buChar char="⚬"/>
            </a:pPr>
            <a:r>
              <a:rPr lang="en-US" sz="2799">
                <a:solidFill>
                  <a:srgbClr val="0C1D4B"/>
                </a:solidFill>
                <a:latin typeface="Roboto Slab"/>
                <a:ea typeface="Roboto Slab"/>
                <a:cs typeface="Roboto Slab"/>
                <a:sym typeface="Roboto Slab"/>
              </a:rPr>
              <a:t>Hệ thống văn bản pháp luật có khối lượng lớn, cấu trúc dài và nhiều điều khoản</a:t>
            </a:r>
          </a:p>
          <a:p>
            <a:pPr marL="640079" lvl="2" indent="-213360" algn="just">
              <a:lnSpc>
                <a:spcPts val="4479"/>
              </a:lnSpc>
              <a:buFont typeface="Arial"/>
              <a:buChar char="⚬"/>
            </a:pPr>
            <a:r>
              <a:rPr lang="en-US" sz="2799">
                <a:solidFill>
                  <a:srgbClr val="0C1D4B"/>
                </a:solidFill>
                <a:latin typeface="Roboto Slab"/>
                <a:ea typeface="Roboto Slab"/>
                <a:cs typeface="Roboto Slab"/>
                <a:sym typeface="Roboto Slab"/>
              </a:rPr>
              <a:t>Một quy định có thể thay đổi, bị thay thế hoặc được cập nhật bởi văn bản mới</a:t>
            </a:r>
          </a:p>
          <a:p>
            <a:pPr marL="640079" lvl="2" indent="-213360" algn="just">
              <a:lnSpc>
                <a:spcPts val="4479"/>
              </a:lnSpc>
              <a:buFont typeface="Arial"/>
              <a:buChar char="⚬"/>
            </a:pPr>
            <a:r>
              <a:rPr lang="en-US" sz="2799">
                <a:solidFill>
                  <a:srgbClr val="0C1D4B"/>
                </a:solidFill>
                <a:latin typeface="Roboto Slab"/>
                <a:ea typeface="Roboto Slab"/>
                <a:cs typeface="Roboto Slab"/>
                <a:sym typeface="Roboto Slab"/>
              </a:rPr>
              <a:t>Người dùng phổ thông khó xác định văn bản nào đang còn hiệu lực và khó chọn từ khóa tra cứu đúng</a:t>
            </a:r>
          </a:p>
        </p:txBody>
      </p:sp>
      <p:grpSp>
        <p:nvGrpSpPr>
          <p:cNvPr id="5" name="Group 5"/>
          <p:cNvGrpSpPr/>
          <p:nvPr/>
        </p:nvGrpSpPr>
        <p:grpSpPr>
          <a:xfrm rot="-10800000">
            <a:off x="17259300" y="-233820"/>
            <a:ext cx="1940843" cy="970417"/>
            <a:chOff x="0" y="0"/>
            <a:chExt cx="2587790" cy="1293889"/>
          </a:xfrm>
        </p:grpSpPr>
        <p:sp>
          <p:nvSpPr>
            <p:cNvPr id="6" name="Freeform 6"/>
            <p:cNvSpPr/>
            <p:nvPr/>
          </p:nvSpPr>
          <p:spPr>
            <a:xfrm>
              <a:off x="0" y="0"/>
              <a:ext cx="2587752" cy="1293876"/>
            </a:xfrm>
            <a:custGeom>
              <a:avLst/>
              <a:gdLst/>
              <a:ahLst/>
              <a:cxnLst/>
              <a:rect l="l" t="t" r="r" b="b"/>
              <a:pathLst>
                <a:path w="2587752" h="1293876">
                  <a:moveTo>
                    <a:pt x="0" y="0"/>
                  </a:moveTo>
                  <a:lnTo>
                    <a:pt x="2587752" y="0"/>
                  </a:lnTo>
                  <a:lnTo>
                    <a:pt x="2587752" y="1293876"/>
                  </a:lnTo>
                  <a:lnTo>
                    <a:pt x="0" y="1293876"/>
                  </a:lnTo>
                  <a:lnTo>
                    <a:pt x="0" y="0"/>
                  </a:lnTo>
                  <a:close/>
                </a:path>
              </a:pathLst>
            </a:custGeom>
            <a:blipFill>
              <a:blip r:embed="rId2"/>
              <a:stretch>
                <a:fillRect r="-1"/>
              </a:stretch>
            </a:blipFill>
          </p:spPr>
          <p:txBody>
            <a:bodyPr/>
            <a:lstStyle/>
            <a:p>
              <a:endParaRPr lang="en-VN"/>
            </a:p>
          </p:txBody>
        </p:sp>
      </p:grpSp>
      <p:grpSp>
        <p:nvGrpSpPr>
          <p:cNvPr id="7" name="Group 7"/>
          <p:cNvGrpSpPr/>
          <p:nvPr/>
        </p:nvGrpSpPr>
        <p:grpSpPr>
          <a:xfrm>
            <a:off x="-912143" y="9429369"/>
            <a:ext cx="1940843" cy="970417"/>
            <a:chOff x="0" y="0"/>
            <a:chExt cx="2587790" cy="1293889"/>
          </a:xfrm>
        </p:grpSpPr>
        <p:sp>
          <p:nvSpPr>
            <p:cNvPr id="8" name="Freeform 8"/>
            <p:cNvSpPr/>
            <p:nvPr/>
          </p:nvSpPr>
          <p:spPr>
            <a:xfrm>
              <a:off x="0" y="0"/>
              <a:ext cx="2587752" cy="1293876"/>
            </a:xfrm>
            <a:custGeom>
              <a:avLst/>
              <a:gdLst/>
              <a:ahLst/>
              <a:cxnLst/>
              <a:rect l="l" t="t" r="r" b="b"/>
              <a:pathLst>
                <a:path w="2587752" h="1293876">
                  <a:moveTo>
                    <a:pt x="0" y="0"/>
                  </a:moveTo>
                  <a:lnTo>
                    <a:pt x="2587752" y="0"/>
                  </a:lnTo>
                  <a:lnTo>
                    <a:pt x="2587752" y="1293876"/>
                  </a:lnTo>
                  <a:lnTo>
                    <a:pt x="0" y="1293876"/>
                  </a:lnTo>
                  <a:lnTo>
                    <a:pt x="0" y="0"/>
                  </a:lnTo>
                  <a:close/>
                </a:path>
              </a:pathLst>
            </a:custGeom>
            <a:blipFill>
              <a:blip r:embed="rId2"/>
              <a:stretch>
                <a:fillRect r="-1"/>
              </a:stretch>
            </a:blipFill>
          </p:spPr>
          <p:txBody>
            <a:bodyPr/>
            <a:lstStyle/>
            <a:p>
              <a:endParaRPr lang="en-VN"/>
            </a:p>
          </p:txBody>
        </p:sp>
      </p:grpSp>
      <p:sp>
        <p:nvSpPr>
          <p:cNvPr id="9" name="Freeform 9"/>
          <p:cNvSpPr/>
          <p:nvPr/>
        </p:nvSpPr>
        <p:spPr>
          <a:xfrm>
            <a:off x="11627444" y="2615298"/>
            <a:ext cx="6036754" cy="4840376"/>
          </a:xfrm>
          <a:custGeom>
            <a:avLst/>
            <a:gdLst/>
            <a:ahLst/>
            <a:cxnLst/>
            <a:rect l="l" t="t" r="r" b="b"/>
            <a:pathLst>
              <a:path w="6036754" h="4840376">
                <a:moveTo>
                  <a:pt x="0" y="0"/>
                </a:moveTo>
                <a:lnTo>
                  <a:pt x="6036754" y="0"/>
                </a:lnTo>
                <a:lnTo>
                  <a:pt x="6036754" y="4840377"/>
                </a:lnTo>
                <a:lnTo>
                  <a:pt x="0" y="4840377"/>
                </a:lnTo>
                <a:lnTo>
                  <a:pt x="0" y="0"/>
                </a:lnTo>
                <a:close/>
              </a:path>
            </a:pathLst>
          </a:custGeom>
          <a:blipFill>
            <a:blip>
              <a:extLst>
                <a:ext uri="{96DAC541-7B7A-43D3-8B79-37D633B846F1}">
                  <asvg:svgBlip xmlns:asvg="http://schemas.microsoft.com/office/drawing/2016/SVG/main" r:embed="rId3"/>
                </a:ext>
              </a:extLst>
            </a:blip>
            <a:stretch>
              <a:fillRect t="-161" b="-162"/>
            </a:stretch>
          </a:blipFill>
        </p:spPr>
        <p:txBody>
          <a:bodyPr/>
          <a:lstStyle/>
          <a:p>
            <a:endParaRPr lang="en-VN"/>
          </a:p>
        </p:txBody>
      </p:sp>
      <p:grpSp>
        <p:nvGrpSpPr>
          <p:cNvPr id="10" name="Group 10"/>
          <p:cNvGrpSpPr/>
          <p:nvPr/>
        </p:nvGrpSpPr>
        <p:grpSpPr>
          <a:xfrm>
            <a:off x="-3127839" y="9986436"/>
            <a:ext cx="22035035" cy="2837612"/>
            <a:chOff x="0" y="0"/>
            <a:chExt cx="5803466" cy="747355"/>
          </a:xfrm>
        </p:grpSpPr>
        <p:sp>
          <p:nvSpPr>
            <p:cNvPr id="11" name="Freeform 11"/>
            <p:cNvSpPr/>
            <p:nvPr/>
          </p:nvSpPr>
          <p:spPr>
            <a:xfrm>
              <a:off x="0" y="0"/>
              <a:ext cx="5803466" cy="747355"/>
            </a:xfrm>
            <a:custGeom>
              <a:avLst/>
              <a:gdLst/>
              <a:ahLst/>
              <a:cxnLst/>
              <a:rect l="l" t="t" r="r" b="b"/>
              <a:pathLst>
                <a:path w="5803466" h="747355">
                  <a:moveTo>
                    <a:pt x="0" y="0"/>
                  </a:moveTo>
                  <a:lnTo>
                    <a:pt x="5803466" y="0"/>
                  </a:lnTo>
                  <a:lnTo>
                    <a:pt x="5803466" y="747355"/>
                  </a:lnTo>
                  <a:lnTo>
                    <a:pt x="0" y="747355"/>
                  </a:lnTo>
                  <a:close/>
                </a:path>
              </a:pathLst>
            </a:custGeom>
            <a:solidFill>
              <a:srgbClr val="3C4F75"/>
            </a:solidFill>
          </p:spPr>
          <p:txBody>
            <a:bodyPr/>
            <a:lstStyle/>
            <a:p>
              <a:endParaRPr lang="en-VN"/>
            </a:p>
          </p:txBody>
        </p:sp>
        <p:sp>
          <p:nvSpPr>
            <p:cNvPr id="12" name="TextBox 12"/>
            <p:cNvSpPr txBox="1"/>
            <p:nvPr/>
          </p:nvSpPr>
          <p:spPr>
            <a:xfrm>
              <a:off x="0" y="-47625"/>
              <a:ext cx="5803466" cy="794980"/>
            </a:xfrm>
            <a:prstGeom prst="rect">
              <a:avLst/>
            </a:prstGeom>
          </p:spPr>
          <p:txBody>
            <a:bodyPr lIns="50800" tIns="50800" rIns="50800" bIns="50800" rtlCol="0" anchor="ctr"/>
            <a:lstStyle/>
            <a:p>
              <a:pPr algn="ctr">
                <a:lnSpc>
                  <a:spcPts val="2940"/>
                </a:lnSpc>
              </a:pPr>
              <a:endParaRPr/>
            </a:p>
          </p:txBody>
        </p:sp>
      </p:grpSp>
      <p:sp>
        <p:nvSpPr>
          <p:cNvPr id="13" name="TextBox 13"/>
          <p:cNvSpPr txBox="1"/>
          <p:nvPr/>
        </p:nvSpPr>
        <p:spPr>
          <a:xfrm>
            <a:off x="1687249" y="346410"/>
            <a:ext cx="3954904" cy="356289"/>
          </a:xfrm>
          <a:prstGeom prst="rect">
            <a:avLst/>
          </a:prstGeom>
        </p:spPr>
        <p:txBody>
          <a:bodyPr lIns="0" tIns="0" rIns="0" bIns="0" rtlCol="0" anchor="t">
            <a:spAutoFit/>
          </a:bodyPr>
          <a:lstStyle/>
          <a:p>
            <a:pPr algn="l">
              <a:lnSpc>
                <a:spcPts val="2940"/>
              </a:lnSpc>
            </a:pPr>
            <a:r>
              <a:rPr lang="en-US" sz="2100" b="1">
                <a:solidFill>
                  <a:srgbClr val="2C2C2C"/>
                </a:solidFill>
                <a:latin typeface="Roboto Slab Bold"/>
                <a:ea typeface="Roboto Slab Bold"/>
                <a:cs typeface="Roboto Slab Bold"/>
                <a:sym typeface="Roboto Slab Bold"/>
              </a:rPr>
              <a:t>HỌC VIỆN KỸ THUẬT MẬT MÃ</a:t>
            </a:r>
          </a:p>
        </p:txBody>
      </p:sp>
      <p:sp>
        <p:nvSpPr>
          <p:cNvPr id="14" name="Freeform 14"/>
          <p:cNvSpPr/>
          <p:nvPr/>
        </p:nvSpPr>
        <p:spPr>
          <a:xfrm>
            <a:off x="1028700" y="251389"/>
            <a:ext cx="551704" cy="584433"/>
          </a:xfrm>
          <a:custGeom>
            <a:avLst/>
            <a:gdLst/>
            <a:ahLst/>
            <a:cxnLst/>
            <a:rect l="l" t="t" r="r" b="b"/>
            <a:pathLst>
              <a:path w="551704" h="584433">
                <a:moveTo>
                  <a:pt x="0" y="0"/>
                </a:moveTo>
                <a:lnTo>
                  <a:pt x="551704" y="0"/>
                </a:lnTo>
                <a:lnTo>
                  <a:pt x="551704" y="584432"/>
                </a:lnTo>
                <a:lnTo>
                  <a:pt x="0" y="584432"/>
                </a:lnTo>
                <a:lnTo>
                  <a:pt x="0" y="0"/>
                </a:lnTo>
                <a:close/>
              </a:path>
            </a:pathLst>
          </a:custGeom>
          <a:blipFill>
            <a:blip r:embed="rId4"/>
            <a:stretch>
              <a:fillRect/>
            </a:stretch>
          </a:blipFill>
        </p:spPr>
        <p:txBody>
          <a:bodyPr/>
          <a:lstStyle/>
          <a:p>
            <a:endParaRPr lang="en-VN"/>
          </a:p>
        </p:txBody>
      </p:sp>
    </p:spTree>
  </p:cSld>
  <p:clrMapOvr>
    <a:masterClrMapping/>
  </p:clrMapOvr>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grpId="0" nodeType="withEffect">
                            <p:stCondLst>
                              <p:cond delay="180"/>
                            </p:stCondLst>
                            <p:childTnLst>
                              <p:set>
                                <p:cBhvr>
                                  <p:cTn id="5" dur="1" fill="hold">
                                    <p:stCondLst>
                                      <p:cond delay="0"/>
                                    </p:stCondLst>
                                  </p:cTn>
                                  <p:tgtEl>
                                    <p:spTgt spid="3"/>
                                  </p:tgtEl>
                                  <p:attrNameLst>
                                    <p:attrName>style.visibility</p:attrName>
                                  </p:attrNameLst>
                                </p:cBhvr>
                                <p:to>
                                  <p:strVal val="visible"/>
                                </p:to>
                              </p:set>
                              <p:animEffect transition="in" filter="wipe(left)">
                                <p:cBhvr>
                                  <p:cTn id="6" dur="860"/>
                                  <p:tgtEl>
                                    <p:spTgt spid="3"/>
                                  </p:tgtEl>
                                </p:cBhvr>
                              </p:animEffect>
                            </p:childTnLst>
                          </p:cTn>
                        </p:par>
                        <p:par>
                          <p:cTn id="7" presetID="10" presetClass="entr" presetSubtype="0" fill="hold" grpId="0" nodeType="withEffect">
                            <p:stCondLst>
                              <p:cond delay="350"/>
                            </p:stCondLst>
                            <p:childTnLst>
                              <p:set>
                                <p:cBhvr>
                                  <p:cTn id="8" dur="1" fill="hold">
                                    <p:stCondLst>
                                      <p:cond delay="0"/>
                                    </p:stCondLst>
                                  </p:cTn>
                                  <p:tgtEl>
                                    <p:spTgt spid="4"/>
                                  </p:tgtEl>
                                  <p:attrNameLst>
                                    <p:attrName>style.visibility</p:attrName>
                                  </p:attrNameLst>
                                </p:cBhvr>
                                <p:to>
                                  <p:strVal val="visible"/>
                                </p:to>
                              </p:set>
                              <p:animEffect transition="in" filter="wipe(left)">
                                <p:cBhvr>
                                  <p:cTn id="9" dur="860"/>
                                  <p:tgtEl>
                                    <p:spTgt spid="4"/>
                                  </p:tgtEl>
                                </p:cBhvr>
                              </p:animEffect>
                            </p:childTnLst>
                          </p:cTn>
                        </p:par>
                        <p:par>
                          <p:cTn id="10" presetID="10" presetClass="entr" presetSubtype="0" fill="hold" grpId="0" nodeType="withEffect">
                            <p:stCondLst>
                              <p:cond delay="520"/>
                            </p:stCondLst>
                            <p:childTnLst>
                              <p:set>
                                <p:cBhvr>
                                  <p:cTn id="11" dur="1" fill="hold">
                                    <p:stCondLst>
                                      <p:cond delay="0"/>
                                    </p:stCondLst>
                                  </p:cTn>
                                  <p:tgtEl>
                                    <p:spTgt spid="9"/>
                                  </p:tgtEl>
                                  <p:attrNameLst>
                                    <p:attrName>style.visibility</p:attrName>
                                  </p:attrNameLst>
                                </p:cBhvr>
                                <p:to>
                                  <p:strVal val="visible"/>
                                </p:to>
                              </p:set>
                              <p:animEffect transition="in" filter="wipe(left)">
                                <p:cBhvr>
                                  <p:cTn id="12" dur="860"/>
                                  <p:tgtEl>
                                    <p:spTgt spid="9"/>
                                  </p:tgtEl>
                                </p:cBhvr>
                              </p:animEffect>
                            </p:childTnLst>
                          </p:cTn>
                        </p:par>
                      </p:childTnLst>
                    </p:cTn>
                  </p:par>
                </p:childTnLst>
              </p:cTn>
            </p:seq>
          </p:childTnLst>
        </p:cTn>
      </p:par>
    </p:tnLst>
    <p:bldLst>
      <p:bldP spid="3" grpId="0"/>
      <p:bldP spid="4" grpId="0"/>
      <p:bldP spid="9"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28700" y="1095375"/>
            <a:ext cx="4476073" cy="534618"/>
          </a:xfrm>
          <a:prstGeom prst="rect">
            <a:avLst/>
          </a:prstGeom>
        </p:spPr>
        <p:txBody>
          <a:bodyPr lIns="0" tIns="0" rIns="0" bIns="0" rtlCol="0" anchor="t">
            <a:spAutoFit/>
          </a:bodyPr>
          <a:lstStyle/>
          <a:p>
            <a:pPr algn="just">
              <a:lnSpc>
                <a:spcPts val="4039"/>
              </a:lnSpc>
            </a:pPr>
            <a:r>
              <a:rPr lang="en-US" sz="3999" b="1">
                <a:solidFill>
                  <a:srgbClr val="0C1D4B"/>
                </a:solidFill>
                <a:latin typeface="Roboto Slab Bold"/>
                <a:ea typeface="Roboto Slab Bold"/>
                <a:cs typeface="Roboto Slab Bold"/>
                <a:sym typeface="Roboto Slab Bold"/>
              </a:rPr>
              <a:t>1.2. Mục tiêu đề tài</a:t>
            </a:r>
          </a:p>
        </p:txBody>
      </p:sp>
      <p:grpSp>
        <p:nvGrpSpPr>
          <p:cNvPr id="3" name="Group 3"/>
          <p:cNvGrpSpPr/>
          <p:nvPr/>
        </p:nvGrpSpPr>
        <p:grpSpPr>
          <a:xfrm rot="-10800000">
            <a:off x="17259300" y="-233820"/>
            <a:ext cx="1940843" cy="970417"/>
            <a:chOff x="0" y="0"/>
            <a:chExt cx="2587790" cy="1293889"/>
          </a:xfrm>
        </p:grpSpPr>
        <p:sp>
          <p:nvSpPr>
            <p:cNvPr id="4" name="Freeform 4"/>
            <p:cNvSpPr/>
            <p:nvPr/>
          </p:nvSpPr>
          <p:spPr>
            <a:xfrm>
              <a:off x="0" y="0"/>
              <a:ext cx="2587752" cy="1293876"/>
            </a:xfrm>
            <a:custGeom>
              <a:avLst/>
              <a:gdLst/>
              <a:ahLst/>
              <a:cxnLst/>
              <a:rect l="l" t="t" r="r" b="b"/>
              <a:pathLst>
                <a:path w="2587752" h="1293876">
                  <a:moveTo>
                    <a:pt x="0" y="0"/>
                  </a:moveTo>
                  <a:lnTo>
                    <a:pt x="2587752" y="0"/>
                  </a:lnTo>
                  <a:lnTo>
                    <a:pt x="2587752" y="1293876"/>
                  </a:lnTo>
                  <a:lnTo>
                    <a:pt x="0" y="1293876"/>
                  </a:lnTo>
                  <a:lnTo>
                    <a:pt x="0" y="0"/>
                  </a:lnTo>
                  <a:close/>
                </a:path>
              </a:pathLst>
            </a:custGeom>
            <a:blipFill>
              <a:blip r:embed="rId2"/>
              <a:stretch>
                <a:fillRect r="-1"/>
              </a:stretch>
            </a:blipFill>
          </p:spPr>
          <p:txBody>
            <a:bodyPr/>
            <a:lstStyle/>
            <a:p>
              <a:endParaRPr lang="en-VN"/>
            </a:p>
          </p:txBody>
        </p:sp>
      </p:grpSp>
      <p:grpSp>
        <p:nvGrpSpPr>
          <p:cNvPr id="5" name="Group 5"/>
          <p:cNvGrpSpPr/>
          <p:nvPr/>
        </p:nvGrpSpPr>
        <p:grpSpPr>
          <a:xfrm>
            <a:off x="-912143" y="9429369"/>
            <a:ext cx="1940843" cy="970417"/>
            <a:chOff x="0" y="0"/>
            <a:chExt cx="2587790" cy="1293889"/>
          </a:xfrm>
        </p:grpSpPr>
        <p:sp>
          <p:nvSpPr>
            <p:cNvPr id="6" name="Freeform 6"/>
            <p:cNvSpPr/>
            <p:nvPr/>
          </p:nvSpPr>
          <p:spPr>
            <a:xfrm>
              <a:off x="0" y="0"/>
              <a:ext cx="2587752" cy="1293876"/>
            </a:xfrm>
            <a:custGeom>
              <a:avLst/>
              <a:gdLst/>
              <a:ahLst/>
              <a:cxnLst/>
              <a:rect l="l" t="t" r="r" b="b"/>
              <a:pathLst>
                <a:path w="2587752" h="1293876">
                  <a:moveTo>
                    <a:pt x="0" y="0"/>
                  </a:moveTo>
                  <a:lnTo>
                    <a:pt x="2587752" y="0"/>
                  </a:lnTo>
                  <a:lnTo>
                    <a:pt x="2587752" y="1293876"/>
                  </a:lnTo>
                  <a:lnTo>
                    <a:pt x="0" y="1293876"/>
                  </a:lnTo>
                  <a:lnTo>
                    <a:pt x="0" y="0"/>
                  </a:lnTo>
                  <a:close/>
                </a:path>
              </a:pathLst>
            </a:custGeom>
            <a:blipFill>
              <a:blip r:embed="rId2"/>
              <a:stretch>
                <a:fillRect r="-1"/>
              </a:stretch>
            </a:blipFill>
          </p:spPr>
          <p:txBody>
            <a:bodyPr/>
            <a:lstStyle/>
            <a:p>
              <a:endParaRPr lang="en-VN"/>
            </a:p>
          </p:txBody>
        </p:sp>
      </p:grpSp>
      <p:grpSp>
        <p:nvGrpSpPr>
          <p:cNvPr id="7" name="Group 7"/>
          <p:cNvGrpSpPr/>
          <p:nvPr/>
        </p:nvGrpSpPr>
        <p:grpSpPr>
          <a:xfrm>
            <a:off x="-3127839" y="9986436"/>
            <a:ext cx="22035035" cy="2837612"/>
            <a:chOff x="0" y="0"/>
            <a:chExt cx="5803466" cy="747355"/>
          </a:xfrm>
        </p:grpSpPr>
        <p:sp>
          <p:nvSpPr>
            <p:cNvPr id="8" name="Freeform 8"/>
            <p:cNvSpPr/>
            <p:nvPr/>
          </p:nvSpPr>
          <p:spPr>
            <a:xfrm>
              <a:off x="0" y="0"/>
              <a:ext cx="5803466" cy="747355"/>
            </a:xfrm>
            <a:custGeom>
              <a:avLst/>
              <a:gdLst/>
              <a:ahLst/>
              <a:cxnLst/>
              <a:rect l="l" t="t" r="r" b="b"/>
              <a:pathLst>
                <a:path w="5803466" h="747355">
                  <a:moveTo>
                    <a:pt x="0" y="0"/>
                  </a:moveTo>
                  <a:lnTo>
                    <a:pt x="5803466" y="0"/>
                  </a:lnTo>
                  <a:lnTo>
                    <a:pt x="5803466" y="747355"/>
                  </a:lnTo>
                  <a:lnTo>
                    <a:pt x="0" y="747355"/>
                  </a:lnTo>
                  <a:close/>
                </a:path>
              </a:pathLst>
            </a:custGeom>
            <a:solidFill>
              <a:srgbClr val="3C4F75"/>
            </a:solidFill>
          </p:spPr>
          <p:txBody>
            <a:bodyPr/>
            <a:lstStyle/>
            <a:p>
              <a:endParaRPr lang="en-VN"/>
            </a:p>
          </p:txBody>
        </p:sp>
        <p:sp>
          <p:nvSpPr>
            <p:cNvPr id="9" name="TextBox 9"/>
            <p:cNvSpPr txBox="1"/>
            <p:nvPr/>
          </p:nvSpPr>
          <p:spPr>
            <a:xfrm>
              <a:off x="0" y="-47625"/>
              <a:ext cx="5803466" cy="794980"/>
            </a:xfrm>
            <a:prstGeom prst="rect">
              <a:avLst/>
            </a:prstGeom>
          </p:spPr>
          <p:txBody>
            <a:bodyPr lIns="50800" tIns="50800" rIns="50800" bIns="50800" rtlCol="0" anchor="ctr"/>
            <a:lstStyle/>
            <a:p>
              <a:pPr algn="ctr">
                <a:lnSpc>
                  <a:spcPts val="2940"/>
                </a:lnSpc>
              </a:pPr>
              <a:endParaRPr/>
            </a:p>
          </p:txBody>
        </p:sp>
      </p:grpSp>
      <p:sp>
        <p:nvSpPr>
          <p:cNvPr id="10" name="TextBox 10"/>
          <p:cNvSpPr txBox="1"/>
          <p:nvPr/>
        </p:nvSpPr>
        <p:spPr>
          <a:xfrm>
            <a:off x="1028700" y="1725243"/>
            <a:ext cx="16230600" cy="685800"/>
          </a:xfrm>
          <a:prstGeom prst="rect">
            <a:avLst/>
          </a:prstGeom>
        </p:spPr>
        <p:txBody>
          <a:bodyPr lIns="0" tIns="0" rIns="0" bIns="0" rtlCol="0" anchor="t">
            <a:spAutoFit/>
          </a:bodyPr>
          <a:lstStyle/>
          <a:p>
            <a:pPr algn="just">
              <a:lnSpc>
                <a:spcPts val="6000"/>
              </a:lnSpc>
            </a:pPr>
            <a:r>
              <a:rPr lang="en-US" sz="3000" b="1">
                <a:solidFill>
                  <a:srgbClr val="0C1D4B"/>
                </a:solidFill>
                <a:latin typeface="Roboto Slab Bold"/>
                <a:ea typeface="Roboto Slab Bold"/>
                <a:cs typeface="Roboto Slab Bold"/>
                <a:sym typeface="Roboto Slab Bold"/>
              </a:rPr>
              <a:t>Mục tiêu xây dựng hệ thống Chatbot pháp luật đáp ứng những yêu cầu sau:</a:t>
            </a:r>
          </a:p>
        </p:txBody>
      </p:sp>
      <p:grpSp>
        <p:nvGrpSpPr>
          <p:cNvPr id="11" name="Group 11"/>
          <p:cNvGrpSpPr/>
          <p:nvPr/>
        </p:nvGrpSpPr>
        <p:grpSpPr>
          <a:xfrm>
            <a:off x="6389385" y="3668453"/>
            <a:ext cx="5253012" cy="3901766"/>
            <a:chOff x="0" y="0"/>
            <a:chExt cx="7004016" cy="5202355"/>
          </a:xfrm>
        </p:grpSpPr>
        <p:sp>
          <p:nvSpPr>
            <p:cNvPr id="12" name="Freeform 12"/>
            <p:cNvSpPr/>
            <p:nvPr/>
          </p:nvSpPr>
          <p:spPr>
            <a:xfrm>
              <a:off x="2105326" y="0"/>
              <a:ext cx="2793365" cy="2793365"/>
            </a:xfrm>
            <a:custGeom>
              <a:avLst/>
              <a:gdLst/>
              <a:ahLst/>
              <a:cxnLst/>
              <a:rect l="l" t="t" r="r" b="b"/>
              <a:pathLst>
                <a:path w="2793365" h="2793365">
                  <a:moveTo>
                    <a:pt x="0" y="0"/>
                  </a:moveTo>
                  <a:lnTo>
                    <a:pt x="2793365" y="0"/>
                  </a:lnTo>
                  <a:lnTo>
                    <a:pt x="2793365" y="2793365"/>
                  </a:lnTo>
                  <a:lnTo>
                    <a:pt x="0" y="2793365"/>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VN"/>
            </a:p>
          </p:txBody>
        </p:sp>
        <p:sp>
          <p:nvSpPr>
            <p:cNvPr id="13" name="TextBox 13"/>
            <p:cNvSpPr txBox="1"/>
            <p:nvPr/>
          </p:nvSpPr>
          <p:spPr>
            <a:xfrm>
              <a:off x="0" y="2907883"/>
              <a:ext cx="7004016" cy="2294471"/>
            </a:xfrm>
            <a:prstGeom prst="rect">
              <a:avLst/>
            </a:prstGeom>
          </p:spPr>
          <p:txBody>
            <a:bodyPr lIns="0" tIns="0" rIns="0" bIns="0" rtlCol="0" anchor="t">
              <a:spAutoFit/>
            </a:bodyPr>
            <a:lstStyle/>
            <a:p>
              <a:pPr algn="ctr">
                <a:lnSpc>
                  <a:spcPts val="4800"/>
                </a:lnSpc>
              </a:pPr>
              <a:r>
                <a:rPr lang="en-US" sz="2400" b="1">
                  <a:solidFill>
                    <a:srgbClr val="0C1D4B"/>
                  </a:solidFill>
                  <a:latin typeface="Roboto Slab Bold"/>
                  <a:ea typeface="Roboto Slab Bold"/>
                  <a:cs typeface="Roboto Slab Bold"/>
                  <a:sym typeface="Roboto Slab Bold"/>
                </a:rPr>
                <a:t>Cung cấp câu trả lời có căn cứ, có nguồn tham chiếu và phù hợp với ngữ cảnh câu hỏi</a:t>
              </a:r>
            </a:p>
          </p:txBody>
        </p:sp>
      </p:grpSp>
      <p:grpSp>
        <p:nvGrpSpPr>
          <p:cNvPr id="14" name="Group 14"/>
          <p:cNvGrpSpPr/>
          <p:nvPr/>
        </p:nvGrpSpPr>
        <p:grpSpPr>
          <a:xfrm>
            <a:off x="483980" y="3733676"/>
            <a:ext cx="5253012" cy="3226890"/>
            <a:chOff x="0" y="0"/>
            <a:chExt cx="7004016" cy="4302519"/>
          </a:xfrm>
        </p:grpSpPr>
        <p:sp>
          <p:nvSpPr>
            <p:cNvPr id="15" name="Freeform 15"/>
            <p:cNvSpPr/>
            <p:nvPr/>
          </p:nvSpPr>
          <p:spPr>
            <a:xfrm>
              <a:off x="2139489" y="0"/>
              <a:ext cx="2725039" cy="2619438"/>
            </a:xfrm>
            <a:custGeom>
              <a:avLst/>
              <a:gdLst/>
              <a:ahLst/>
              <a:cxnLst/>
              <a:rect l="l" t="t" r="r" b="b"/>
              <a:pathLst>
                <a:path w="2725039" h="2619438">
                  <a:moveTo>
                    <a:pt x="0" y="0"/>
                  </a:moveTo>
                  <a:lnTo>
                    <a:pt x="2725039" y="0"/>
                  </a:lnTo>
                  <a:lnTo>
                    <a:pt x="2725039" y="2619438"/>
                  </a:lnTo>
                  <a:lnTo>
                    <a:pt x="0" y="2619438"/>
                  </a:lnTo>
                  <a:lnTo>
                    <a:pt x="0" y="0"/>
                  </a:lnTo>
                  <a:close/>
                </a:path>
              </a:pathLst>
            </a:custGeom>
            <a:blipFill>
              <a:blip>
                <a:extLst>
                  <a:ext uri="{96DAC541-7B7A-43D3-8B79-37D633B846F1}">
                    <asvg:svgBlip xmlns:asvg="http://schemas.microsoft.com/office/drawing/2016/SVG/main" r:embed="rId4"/>
                  </a:ext>
                </a:extLst>
              </a:blip>
              <a:stretch>
                <a:fillRect t="-79" b="-80"/>
              </a:stretch>
            </a:blipFill>
          </p:spPr>
          <p:txBody>
            <a:bodyPr/>
            <a:lstStyle/>
            <a:p>
              <a:endParaRPr lang="en-VN"/>
            </a:p>
          </p:txBody>
        </p:sp>
        <p:sp>
          <p:nvSpPr>
            <p:cNvPr id="16" name="TextBox 16"/>
            <p:cNvSpPr txBox="1"/>
            <p:nvPr/>
          </p:nvSpPr>
          <p:spPr>
            <a:xfrm>
              <a:off x="0" y="2820920"/>
              <a:ext cx="7004016" cy="1481599"/>
            </a:xfrm>
            <a:prstGeom prst="rect">
              <a:avLst/>
            </a:prstGeom>
          </p:spPr>
          <p:txBody>
            <a:bodyPr lIns="0" tIns="0" rIns="0" bIns="0" rtlCol="0" anchor="t">
              <a:spAutoFit/>
            </a:bodyPr>
            <a:lstStyle/>
            <a:p>
              <a:pPr algn="ctr">
                <a:lnSpc>
                  <a:spcPts val="4800"/>
                </a:lnSpc>
              </a:pPr>
              <a:r>
                <a:rPr lang="en-US" sz="2400" b="1">
                  <a:solidFill>
                    <a:srgbClr val="0C1D4B"/>
                  </a:solidFill>
                  <a:latin typeface="Roboto Slab Bold"/>
                  <a:ea typeface="Roboto Slab Bold"/>
                  <a:cs typeface="Roboto Slab Bold"/>
                  <a:sym typeface="Roboto Slab Bold"/>
                </a:rPr>
                <a:t>Hỗ trợ người dùng tra cứu và tư vấn pháp luật bằng ngôn ngữ tự nhiên</a:t>
              </a:r>
            </a:p>
          </p:txBody>
        </p:sp>
      </p:grpSp>
      <p:grpSp>
        <p:nvGrpSpPr>
          <p:cNvPr id="17" name="Group 17"/>
          <p:cNvGrpSpPr/>
          <p:nvPr/>
        </p:nvGrpSpPr>
        <p:grpSpPr>
          <a:xfrm>
            <a:off x="12551008" y="3668453"/>
            <a:ext cx="5253012" cy="3901766"/>
            <a:chOff x="0" y="0"/>
            <a:chExt cx="7004016" cy="5202355"/>
          </a:xfrm>
        </p:grpSpPr>
        <p:sp>
          <p:nvSpPr>
            <p:cNvPr id="18" name="Freeform 18"/>
            <p:cNvSpPr/>
            <p:nvPr/>
          </p:nvSpPr>
          <p:spPr>
            <a:xfrm>
              <a:off x="2382198" y="0"/>
              <a:ext cx="2239620" cy="2619438"/>
            </a:xfrm>
            <a:custGeom>
              <a:avLst/>
              <a:gdLst/>
              <a:ahLst/>
              <a:cxnLst/>
              <a:rect l="l" t="t" r="r" b="b"/>
              <a:pathLst>
                <a:path w="2239620" h="2619438">
                  <a:moveTo>
                    <a:pt x="0" y="0"/>
                  </a:moveTo>
                  <a:lnTo>
                    <a:pt x="2239620" y="0"/>
                  </a:lnTo>
                  <a:lnTo>
                    <a:pt x="2239620" y="2619438"/>
                  </a:lnTo>
                  <a:lnTo>
                    <a:pt x="0" y="2619438"/>
                  </a:lnTo>
                  <a:lnTo>
                    <a:pt x="0" y="0"/>
                  </a:lnTo>
                  <a:close/>
                </a:path>
              </a:pathLst>
            </a:custGeom>
            <a:blipFill>
              <a:blip>
                <a:extLst>
                  <a:ext uri="{96DAC541-7B7A-43D3-8B79-37D633B846F1}">
                    <asvg:svgBlip xmlns:asvg="http://schemas.microsoft.com/office/drawing/2016/SVG/main" r:embed="rId5"/>
                  </a:ext>
                </a:extLst>
              </a:blip>
              <a:stretch>
                <a:fillRect l="-3" r="-4"/>
              </a:stretch>
            </a:blipFill>
          </p:spPr>
          <p:txBody>
            <a:bodyPr/>
            <a:lstStyle/>
            <a:p>
              <a:endParaRPr lang="en-VN"/>
            </a:p>
          </p:txBody>
        </p:sp>
        <p:sp>
          <p:nvSpPr>
            <p:cNvPr id="19" name="TextBox 19"/>
            <p:cNvSpPr txBox="1"/>
            <p:nvPr/>
          </p:nvSpPr>
          <p:spPr>
            <a:xfrm>
              <a:off x="0" y="2907883"/>
              <a:ext cx="7004016" cy="2294471"/>
            </a:xfrm>
            <a:prstGeom prst="rect">
              <a:avLst/>
            </a:prstGeom>
          </p:spPr>
          <p:txBody>
            <a:bodyPr lIns="0" tIns="0" rIns="0" bIns="0" rtlCol="0" anchor="t">
              <a:spAutoFit/>
            </a:bodyPr>
            <a:lstStyle/>
            <a:p>
              <a:pPr algn="ctr">
                <a:lnSpc>
                  <a:spcPts val="4800"/>
                </a:lnSpc>
              </a:pPr>
              <a:r>
                <a:rPr lang="en-US" sz="2400" b="1">
                  <a:solidFill>
                    <a:srgbClr val="0C1D4B"/>
                  </a:solidFill>
                  <a:latin typeface="Roboto Slab Bold"/>
                  <a:ea typeface="Roboto Slab Bold"/>
                  <a:cs typeface="Roboto Slab Bold"/>
                  <a:sym typeface="Roboto Slab Bold"/>
                </a:rPr>
                <a:t>Tổ chức kho tri thức pháp luật để hệ thống có thể tìm kiếm, truy hồi và cập nhật dữ liệu</a:t>
              </a:r>
            </a:p>
          </p:txBody>
        </p:sp>
      </p:grpSp>
      <p:sp>
        <p:nvSpPr>
          <p:cNvPr id="20" name="TextBox 20"/>
          <p:cNvSpPr txBox="1"/>
          <p:nvPr/>
        </p:nvSpPr>
        <p:spPr>
          <a:xfrm>
            <a:off x="1687249" y="346410"/>
            <a:ext cx="3954904" cy="356289"/>
          </a:xfrm>
          <a:prstGeom prst="rect">
            <a:avLst/>
          </a:prstGeom>
        </p:spPr>
        <p:txBody>
          <a:bodyPr lIns="0" tIns="0" rIns="0" bIns="0" rtlCol="0" anchor="t">
            <a:spAutoFit/>
          </a:bodyPr>
          <a:lstStyle/>
          <a:p>
            <a:pPr algn="l">
              <a:lnSpc>
                <a:spcPts val="2940"/>
              </a:lnSpc>
            </a:pPr>
            <a:r>
              <a:rPr lang="en-US" sz="2100" b="1">
                <a:solidFill>
                  <a:srgbClr val="2C2C2C"/>
                </a:solidFill>
                <a:latin typeface="Roboto Slab Bold"/>
                <a:ea typeface="Roboto Slab Bold"/>
                <a:cs typeface="Roboto Slab Bold"/>
                <a:sym typeface="Roboto Slab Bold"/>
              </a:rPr>
              <a:t>HỌC VIỆN KỸ THUẬT MẬT MÃ</a:t>
            </a:r>
          </a:p>
        </p:txBody>
      </p:sp>
      <p:sp>
        <p:nvSpPr>
          <p:cNvPr id="21" name="Freeform 21"/>
          <p:cNvSpPr/>
          <p:nvPr/>
        </p:nvSpPr>
        <p:spPr>
          <a:xfrm>
            <a:off x="1028700" y="251389"/>
            <a:ext cx="551704" cy="584433"/>
          </a:xfrm>
          <a:custGeom>
            <a:avLst/>
            <a:gdLst/>
            <a:ahLst/>
            <a:cxnLst/>
            <a:rect l="l" t="t" r="r" b="b"/>
            <a:pathLst>
              <a:path w="551704" h="584433">
                <a:moveTo>
                  <a:pt x="0" y="0"/>
                </a:moveTo>
                <a:lnTo>
                  <a:pt x="551704" y="0"/>
                </a:lnTo>
                <a:lnTo>
                  <a:pt x="551704" y="584432"/>
                </a:lnTo>
                <a:lnTo>
                  <a:pt x="0" y="584432"/>
                </a:lnTo>
                <a:lnTo>
                  <a:pt x="0" y="0"/>
                </a:lnTo>
                <a:close/>
              </a:path>
            </a:pathLst>
          </a:custGeom>
          <a:blipFill>
            <a:blip r:embed="rId6"/>
            <a:stretch>
              <a:fillRect/>
            </a:stretch>
          </a:blipFill>
        </p:spPr>
        <p:txBody>
          <a:bodyPr/>
          <a:lstStyle/>
          <a:p>
            <a:endParaRPr lang="en-VN"/>
          </a:p>
        </p:txBody>
      </p:sp>
    </p:spTree>
  </p:cSld>
  <p:clrMapOvr>
    <a:masterClrMapping/>
  </p:clrMapOvr>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grpId="0" nodeType="withEffect">
                            <p:stCondLst>
                              <p:cond delay="180"/>
                            </p:stCondLst>
                            <p:childTnLst>
                              <p:set>
                                <p:cBhvr>
                                  <p:cTn id="5" dur="1" fill="hold">
                                    <p:stCondLst>
                                      <p:cond delay="0"/>
                                    </p:stCondLst>
                                  </p:cTn>
                                  <p:tgtEl>
                                    <p:spTgt spid="2"/>
                                  </p:tgtEl>
                                  <p:attrNameLst>
                                    <p:attrName>style.visibility</p:attrName>
                                  </p:attrNameLst>
                                </p:cBhvr>
                                <p:to>
                                  <p:strVal val="visible"/>
                                </p:to>
                              </p:set>
                              <p:animEffect transition="in" filter="wipe(left)">
                                <p:cBhvr>
                                  <p:cTn id="6" dur="860"/>
                                  <p:tgtEl>
                                    <p:spTgt spid="2"/>
                                  </p:tgtEl>
                                </p:cBhvr>
                              </p:animEffect>
                            </p:childTnLst>
                          </p:cTn>
                        </p:par>
                        <p:par>
                          <p:cTn id="7" presetID="10" presetClass="entr" presetSubtype="0" fill="hold" grpId="0" nodeType="withEffect">
                            <p:stCondLst>
                              <p:cond delay="350"/>
                            </p:stCondLst>
                            <p:childTnLst>
                              <p:set>
                                <p:cBhvr>
                                  <p:cTn id="8" dur="1" fill="hold">
                                    <p:stCondLst>
                                      <p:cond delay="0"/>
                                    </p:stCondLst>
                                  </p:cTn>
                                  <p:tgtEl>
                                    <p:spTgt spid="10"/>
                                  </p:tgtEl>
                                  <p:attrNameLst>
                                    <p:attrName>style.visibility</p:attrName>
                                  </p:attrNameLst>
                                </p:cBhvr>
                                <p:to>
                                  <p:strVal val="visible"/>
                                </p:to>
                              </p:set>
                              <p:animEffect transition="in" filter="wipe(left)">
                                <p:cBhvr>
                                  <p:cTn id="9" dur="860"/>
                                  <p:tgtEl>
                                    <p:spTgt spid="10"/>
                                  </p:tgtEl>
                                </p:cBhvr>
                              </p:animEffect>
                            </p:childTnLst>
                          </p:cTn>
                        </p:par>
                        <p:par>
                          <p:cTn id="10" presetID="10" presetClass="entr" presetSubtype="0" fill="hold" grpId="0" nodeType="withEffect">
                            <p:stCondLst>
                              <p:cond delay="520"/>
                            </p:stCondLst>
                            <p:childTnLst>
                              <p:set>
                                <p:cBhvr>
                                  <p:cTn id="11" dur="1" fill="hold">
                                    <p:stCondLst>
                                      <p:cond delay="0"/>
                                    </p:stCondLst>
                                  </p:cTn>
                                  <p:tgtEl>
                                    <p:spTgt spid="14"/>
                                  </p:tgtEl>
                                  <p:attrNameLst>
                                    <p:attrName>style.visibility</p:attrName>
                                  </p:attrNameLst>
                                </p:cBhvr>
                                <p:to>
                                  <p:strVal val="visible"/>
                                </p:to>
                              </p:set>
                              <p:animEffect transition="in" filter="wipe(left)">
                                <p:cBhvr>
                                  <p:cTn id="12" dur="860"/>
                                  <p:tgtEl>
                                    <p:spTgt spid="14"/>
                                  </p:tgtEl>
                                </p:cBhvr>
                              </p:animEffect>
                            </p:childTnLst>
                          </p:cTn>
                        </p:par>
                        <p:par>
                          <p:cTn id="13" presetID="10" presetClass="entr" presetSubtype="0" fill="hold" grpId="0" nodeType="withEffect">
                            <p:stCondLst>
                              <p:cond delay="690"/>
                            </p:stCondLst>
                            <p:childTnLst>
                              <p:set>
                                <p:cBhvr>
                                  <p:cTn id="14" dur="1" fill="hold">
                                    <p:stCondLst>
                                      <p:cond delay="0"/>
                                    </p:stCondLst>
                                  </p:cTn>
                                  <p:tgtEl>
                                    <p:spTgt spid="11"/>
                                  </p:tgtEl>
                                  <p:attrNameLst>
                                    <p:attrName>style.visibility</p:attrName>
                                  </p:attrNameLst>
                                </p:cBhvr>
                                <p:to>
                                  <p:strVal val="visible"/>
                                </p:to>
                              </p:set>
                              <p:animEffect transition="in" filter="wipe(left)">
                                <p:cBhvr>
                                  <p:cTn id="15" dur="860"/>
                                  <p:tgtEl>
                                    <p:spTgt spid="11"/>
                                  </p:tgtEl>
                                </p:cBhvr>
                              </p:animEffect>
                            </p:childTnLst>
                          </p:cTn>
                        </p:par>
                        <p:par>
                          <p:cTn id="16" presetID="10" presetClass="entr" presetSubtype="0" fill="hold" grpId="0" nodeType="withEffect">
                            <p:stCondLst>
                              <p:cond delay="860"/>
                            </p:stCondLst>
                            <p:childTnLst>
                              <p:set>
                                <p:cBhvr>
                                  <p:cTn id="17" dur="1" fill="hold">
                                    <p:stCondLst>
                                      <p:cond delay="0"/>
                                    </p:stCondLst>
                                  </p:cTn>
                                  <p:tgtEl>
                                    <p:spTgt spid="17"/>
                                  </p:tgtEl>
                                  <p:attrNameLst>
                                    <p:attrName>style.visibility</p:attrName>
                                  </p:attrNameLst>
                                </p:cBhvr>
                                <p:to>
                                  <p:strVal val="visible"/>
                                </p:to>
                              </p:set>
                              <p:animEffect transition="in" filter="wipe(left)">
                                <p:cBhvr>
                                  <p:cTn id="18" dur="860"/>
                                  <p:tgtEl>
                                    <p:spTgt spid="17"/>
                                  </p:tgtEl>
                                </p:cBhvr>
                              </p:animEffect>
                            </p:childTnLst>
                          </p:cTn>
                        </p:par>
                      </p:childTnLst>
                    </p:cTn>
                  </p:par>
                </p:childTnLst>
              </p:cTn>
            </p:seq>
          </p:childTnLst>
        </p:cTn>
      </p:par>
    </p:tnLst>
    <p:bldLst>
      <p:bldP spid="2" grpId="0"/>
      <p:bldP spid="10" grpId="0"/>
      <p:bldP spid="11" grpId="0"/>
      <p:bldP spid="14" grpId="0"/>
      <p:bldP spid="17"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3127839" y="9986436"/>
            <a:ext cx="22035035" cy="2837612"/>
            <a:chOff x="0" y="0"/>
            <a:chExt cx="5803466" cy="747355"/>
          </a:xfrm>
        </p:grpSpPr>
        <p:sp>
          <p:nvSpPr>
            <p:cNvPr id="3" name="Freeform 3"/>
            <p:cNvSpPr/>
            <p:nvPr/>
          </p:nvSpPr>
          <p:spPr>
            <a:xfrm>
              <a:off x="0" y="0"/>
              <a:ext cx="5803466" cy="747355"/>
            </a:xfrm>
            <a:custGeom>
              <a:avLst/>
              <a:gdLst/>
              <a:ahLst/>
              <a:cxnLst/>
              <a:rect l="l" t="t" r="r" b="b"/>
              <a:pathLst>
                <a:path w="5803466" h="747355">
                  <a:moveTo>
                    <a:pt x="0" y="0"/>
                  </a:moveTo>
                  <a:lnTo>
                    <a:pt x="5803466" y="0"/>
                  </a:lnTo>
                  <a:lnTo>
                    <a:pt x="5803466" y="747355"/>
                  </a:lnTo>
                  <a:lnTo>
                    <a:pt x="0" y="747355"/>
                  </a:lnTo>
                  <a:close/>
                </a:path>
              </a:pathLst>
            </a:custGeom>
            <a:solidFill>
              <a:srgbClr val="3C4F75"/>
            </a:solidFill>
          </p:spPr>
          <p:txBody>
            <a:bodyPr/>
            <a:lstStyle/>
            <a:p>
              <a:endParaRPr lang="en-VN"/>
            </a:p>
          </p:txBody>
        </p:sp>
        <p:sp>
          <p:nvSpPr>
            <p:cNvPr id="4" name="TextBox 4"/>
            <p:cNvSpPr txBox="1"/>
            <p:nvPr/>
          </p:nvSpPr>
          <p:spPr>
            <a:xfrm>
              <a:off x="0" y="-47625"/>
              <a:ext cx="5803466" cy="794980"/>
            </a:xfrm>
            <a:prstGeom prst="rect">
              <a:avLst/>
            </a:prstGeom>
          </p:spPr>
          <p:txBody>
            <a:bodyPr lIns="50800" tIns="50800" rIns="50800" bIns="50800" rtlCol="0" anchor="ctr"/>
            <a:lstStyle/>
            <a:p>
              <a:pPr algn="ctr">
                <a:lnSpc>
                  <a:spcPts val="2940"/>
                </a:lnSpc>
              </a:pPr>
              <a:endParaRPr/>
            </a:p>
          </p:txBody>
        </p:sp>
      </p:grpSp>
      <p:grpSp>
        <p:nvGrpSpPr>
          <p:cNvPr id="5" name="Group 5"/>
          <p:cNvGrpSpPr/>
          <p:nvPr/>
        </p:nvGrpSpPr>
        <p:grpSpPr>
          <a:xfrm rot="-10800000">
            <a:off x="17259300" y="-233820"/>
            <a:ext cx="1940843" cy="970417"/>
            <a:chOff x="0" y="0"/>
            <a:chExt cx="2587790" cy="1293889"/>
          </a:xfrm>
        </p:grpSpPr>
        <p:sp>
          <p:nvSpPr>
            <p:cNvPr id="6" name="Freeform 6"/>
            <p:cNvSpPr/>
            <p:nvPr/>
          </p:nvSpPr>
          <p:spPr>
            <a:xfrm>
              <a:off x="0" y="0"/>
              <a:ext cx="2587752" cy="1293876"/>
            </a:xfrm>
            <a:custGeom>
              <a:avLst/>
              <a:gdLst/>
              <a:ahLst/>
              <a:cxnLst/>
              <a:rect l="l" t="t" r="r" b="b"/>
              <a:pathLst>
                <a:path w="2587752" h="1293876">
                  <a:moveTo>
                    <a:pt x="0" y="0"/>
                  </a:moveTo>
                  <a:lnTo>
                    <a:pt x="2587752" y="0"/>
                  </a:lnTo>
                  <a:lnTo>
                    <a:pt x="2587752" y="1293876"/>
                  </a:lnTo>
                  <a:lnTo>
                    <a:pt x="0" y="1293876"/>
                  </a:lnTo>
                  <a:lnTo>
                    <a:pt x="0" y="0"/>
                  </a:lnTo>
                  <a:close/>
                </a:path>
              </a:pathLst>
            </a:custGeom>
            <a:blipFill>
              <a:blip r:embed="rId2"/>
              <a:stretch>
                <a:fillRect r="-1"/>
              </a:stretch>
            </a:blipFill>
          </p:spPr>
          <p:txBody>
            <a:bodyPr/>
            <a:lstStyle/>
            <a:p>
              <a:endParaRPr lang="en-VN"/>
            </a:p>
          </p:txBody>
        </p:sp>
      </p:grpSp>
      <p:grpSp>
        <p:nvGrpSpPr>
          <p:cNvPr id="7" name="Group 7"/>
          <p:cNvGrpSpPr/>
          <p:nvPr/>
        </p:nvGrpSpPr>
        <p:grpSpPr>
          <a:xfrm>
            <a:off x="-912143" y="9429369"/>
            <a:ext cx="1940843" cy="970417"/>
            <a:chOff x="0" y="0"/>
            <a:chExt cx="2587790" cy="1293889"/>
          </a:xfrm>
        </p:grpSpPr>
        <p:sp>
          <p:nvSpPr>
            <p:cNvPr id="8" name="Freeform 8"/>
            <p:cNvSpPr/>
            <p:nvPr/>
          </p:nvSpPr>
          <p:spPr>
            <a:xfrm>
              <a:off x="0" y="0"/>
              <a:ext cx="2587752" cy="1293876"/>
            </a:xfrm>
            <a:custGeom>
              <a:avLst/>
              <a:gdLst/>
              <a:ahLst/>
              <a:cxnLst/>
              <a:rect l="l" t="t" r="r" b="b"/>
              <a:pathLst>
                <a:path w="2587752" h="1293876">
                  <a:moveTo>
                    <a:pt x="0" y="0"/>
                  </a:moveTo>
                  <a:lnTo>
                    <a:pt x="2587752" y="0"/>
                  </a:lnTo>
                  <a:lnTo>
                    <a:pt x="2587752" y="1293876"/>
                  </a:lnTo>
                  <a:lnTo>
                    <a:pt x="0" y="1293876"/>
                  </a:lnTo>
                  <a:lnTo>
                    <a:pt x="0" y="0"/>
                  </a:lnTo>
                  <a:close/>
                </a:path>
              </a:pathLst>
            </a:custGeom>
            <a:blipFill>
              <a:blip r:embed="rId2"/>
              <a:stretch>
                <a:fillRect r="-1"/>
              </a:stretch>
            </a:blipFill>
          </p:spPr>
          <p:txBody>
            <a:bodyPr/>
            <a:lstStyle/>
            <a:p>
              <a:endParaRPr lang="en-VN"/>
            </a:p>
          </p:txBody>
        </p:sp>
      </p:grpSp>
      <p:sp>
        <p:nvSpPr>
          <p:cNvPr id="9" name="TextBox 9"/>
          <p:cNvSpPr txBox="1"/>
          <p:nvPr/>
        </p:nvSpPr>
        <p:spPr>
          <a:xfrm>
            <a:off x="1687249" y="346410"/>
            <a:ext cx="3954904" cy="356289"/>
          </a:xfrm>
          <a:prstGeom prst="rect">
            <a:avLst/>
          </a:prstGeom>
        </p:spPr>
        <p:txBody>
          <a:bodyPr lIns="0" tIns="0" rIns="0" bIns="0" rtlCol="0" anchor="t">
            <a:spAutoFit/>
          </a:bodyPr>
          <a:lstStyle/>
          <a:p>
            <a:pPr algn="l">
              <a:lnSpc>
                <a:spcPts val="2940"/>
              </a:lnSpc>
            </a:pPr>
            <a:r>
              <a:rPr lang="en-US" sz="2100" b="1">
                <a:solidFill>
                  <a:srgbClr val="2C2C2C"/>
                </a:solidFill>
                <a:latin typeface="Roboto Slab Bold"/>
                <a:ea typeface="Roboto Slab Bold"/>
                <a:cs typeface="Roboto Slab Bold"/>
                <a:sym typeface="Roboto Slab Bold"/>
              </a:rPr>
              <a:t>HỌC VIỆN KỸ THUẬT MẬT MÃ</a:t>
            </a:r>
          </a:p>
        </p:txBody>
      </p:sp>
      <p:sp>
        <p:nvSpPr>
          <p:cNvPr id="10" name="Freeform 10"/>
          <p:cNvSpPr/>
          <p:nvPr/>
        </p:nvSpPr>
        <p:spPr>
          <a:xfrm>
            <a:off x="1028700" y="251389"/>
            <a:ext cx="551704" cy="584433"/>
          </a:xfrm>
          <a:custGeom>
            <a:avLst/>
            <a:gdLst/>
            <a:ahLst/>
            <a:cxnLst/>
            <a:rect l="l" t="t" r="r" b="b"/>
            <a:pathLst>
              <a:path w="551704" h="584433">
                <a:moveTo>
                  <a:pt x="0" y="0"/>
                </a:moveTo>
                <a:lnTo>
                  <a:pt x="551704" y="0"/>
                </a:lnTo>
                <a:lnTo>
                  <a:pt x="551704" y="584432"/>
                </a:lnTo>
                <a:lnTo>
                  <a:pt x="0" y="584432"/>
                </a:lnTo>
                <a:lnTo>
                  <a:pt x="0" y="0"/>
                </a:lnTo>
                <a:close/>
              </a:path>
            </a:pathLst>
          </a:custGeom>
          <a:blipFill>
            <a:blip r:embed="rId3"/>
            <a:stretch>
              <a:fillRect/>
            </a:stretch>
          </a:blipFill>
        </p:spPr>
        <p:txBody>
          <a:bodyPr/>
          <a:lstStyle/>
          <a:p>
            <a:endParaRPr lang="en-VN"/>
          </a:p>
        </p:txBody>
      </p:sp>
      <p:grpSp>
        <p:nvGrpSpPr>
          <p:cNvPr id="11" name="Group 11"/>
          <p:cNvGrpSpPr/>
          <p:nvPr/>
        </p:nvGrpSpPr>
        <p:grpSpPr>
          <a:xfrm>
            <a:off x="8555428" y="3969707"/>
            <a:ext cx="1177144" cy="1173793"/>
            <a:chOff x="0" y="0"/>
            <a:chExt cx="871377" cy="868896"/>
          </a:xfrm>
        </p:grpSpPr>
        <p:sp>
          <p:nvSpPr>
            <p:cNvPr id="12" name="Freeform 12"/>
            <p:cNvSpPr/>
            <p:nvPr/>
          </p:nvSpPr>
          <p:spPr>
            <a:xfrm>
              <a:off x="0" y="0"/>
              <a:ext cx="871377" cy="868896"/>
            </a:xfrm>
            <a:custGeom>
              <a:avLst/>
              <a:gdLst/>
              <a:ahLst/>
              <a:cxnLst/>
              <a:rect l="l" t="t" r="r" b="b"/>
              <a:pathLst>
                <a:path w="871377" h="868896">
                  <a:moveTo>
                    <a:pt x="435688" y="0"/>
                  </a:moveTo>
                  <a:cubicBezTo>
                    <a:pt x="195064" y="0"/>
                    <a:pt x="0" y="194509"/>
                    <a:pt x="0" y="434448"/>
                  </a:cubicBezTo>
                  <a:cubicBezTo>
                    <a:pt x="0" y="674387"/>
                    <a:pt x="195064" y="868896"/>
                    <a:pt x="435688" y="868896"/>
                  </a:cubicBezTo>
                  <a:cubicBezTo>
                    <a:pt x="676312" y="868896"/>
                    <a:pt x="871377" y="674387"/>
                    <a:pt x="871377" y="434448"/>
                  </a:cubicBezTo>
                  <a:cubicBezTo>
                    <a:pt x="871377" y="194509"/>
                    <a:pt x="676312" y="0"/>
                    <a:pt x="435688" y="0"/>
                  </a:cubicBezTo>
                  <a:close/>
                </a:path>
              </a:pathLst>
            </a:custGeom>
            <a:solidFill>
              <a:srgbClr val="0C1D4B"/>
            </a:solidFill>
          </p:spPr>
          <p:txBody>
            <a:bodyPr/>
            <a:lstStyle/>
            <a:p>
              <a:endParaRPr lang="en-VN"/>
            </a:p>
          </p:txBody>
        </p:sp>
        <p:sp>
          <p:nvSpPr>
            <p:cNvPr id="13" name="TextBox 13"/>
            <p:cNvSpPr txBox="1"/>
            <p:nvPr/>
          </p:nvSpPr>
          <p:spPr>
            <a:xfrm>
              <a:off x="81692" y="14784"/>
              <a:ext cx="707993" cy="772653"/>
            </a:xfrm>
            <a:prstGeom prst="rect">
              <a:avLst/>
            </a:prstGeom>
          </p:spPr>
          <p:txBody>
            <a:bodyPr lIns="50800" tIns="50800" rIns="50800" bIns="50800" rtlCol="0" anchor="ctr"/>
            <a:lstStyle/>
            <a:p>
              <a:pPr algn="ctr">
                <a:lnSpc>
                  <a:spcPts val="5880"/>
                </a:lnSpc>
              </a:pPr>
              <a:r>
                <a:rPr lang="en-US" sz="4200" b="1">
                  <a:solidFill>
                    <a:srgbClr val="FFFFFF"/>
                  </a:solidFill>
                  <a:latin typeface="Roboto Slab Bold"/>
                  <a:ea typeface="Roboto Slab Bold"/>
                  <a:cs typeface="Roboto Slab Bold"/>
                  <a:sym typeface="Roboto Slab Bold"/>
                </a:rPr>
                <a:t>2</a:t>
              </a:r>
            </a:p>
          </p:txBody>
        </p:sp>
      </p:grpSp>
      <p:sp>
        <p:nvSpPr>
          <p:cNvPr id="14" name="TextBox 14"/>
          <p:cNvSpPr txBox="1"/>
          <p:nvPr/>
        </p:nvSpPr>
        <p:spPr>
          <a:xfrm>
            <a:off x="5839542" y="5360956"/>
            <a:ext cx="6608916" cy="630228"/>
          </a:xfrm>
          <a:prstGeom prst="rect">
            <a:avLst/>
          </a:prstGeom>
        </p:spPr>
        <p:txBody>
          <a:bodyPr lIns="0" tIns="0" rIns="0" bIns="0" rtlCol="0" anchor="t">
            <a:spAutoFit/>
          </a:bodyPr>
          <a:lstStyle/>
          <a:p>
            <a:pPr algn="ctr">
              <a:lnSpc>
                <a:spcPts val="4848"/>
              </a:lnSpc>
            </a:pPr>
            <a:r>
              <a:rPr lang="en-US" sz="4800" b="1">
                <a:solidFill>
                  <a:srgbClr val="0C1D4B"/>
                </a:solidFill>
                <a:latin typeface="Roboto Slab Bold"/>
                <a:ea typeface="Roboto Slab Bold"/>
                <a:cs typeface="Roboto Slab Bold"/>
                <a:sym typeface="Roboto Slab Bold"/>
              </a:rPr>
              <a:t>CƠ SỞ LÝ THUYẾT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grpId="0" nodeType="withEffect">
                            <p:stCondLst>
                              <p:cond delay="180"/>
                            </p:stCondLst>
                            <p:childTnLst>
                              <p:set>
                                <p:cBhvr>
                                  <p:cTn id="5" dur="1" fill="hold">
                                    <p:stCondLst>
                                      <p:cond delay="0"/>
                                    </p:stCondLst>
                                  </p:cTn>
                                  <p:tgtEl>
                                    <p:spTgt spid="11"/>
                                  </p:tgtEl>
                                  <p:attrNameLst>
                                    <p:attrName>style.visibility</p:attrName>
                                  </p:attrNameLst>
                                </p:cBhvr>
                                <p:to>
                                  <p:strVal val="visible"/>
                                </p:to>
                              </p:set>
                              <p:animEffect transition="in" filter="wipe(left)">
                                <p:cBhvr>
                                  <p:cTn id="6" dur="860"/>
                                  <p:tgtEl>
                                    <p:spTgt spid="11"/>
                                  </p:tgtEl>
                                </p:cBhvr>
                              </p:animEffect>
                            </p:childTnLst>
                          </p:cTn>
                        </p:par>
                        <p:par>
                          <p:cTn id="7" presetID="10" presetClass="entr" presetSubtype="0" fill="hold" grpId="0" nodeType="withEffect">
                            <p:stCondLst>
                              <p:cond delay="350"/>
                            </p:stCondLst>
                            <p:childTnLst>
                              <p:set>
                                <p:cBhvr>
                                  <p:cTn id="8" dur="1" fill="hold">
                                    <p:stCondLst>
                                      <p:cond delay="0"/>
                                    </p:stCondLst>
                                  </p:cTn>
                                  <p:tgtEl>
                                    <p:spTgt spid="14"/>
                                  </p:tgtEl>
                                  <p:attrNameLst>
                                    <p:attrName>style.visibility</p:attrName>
                                  </p:attrNameLst>
                                </p:cBhvr>
                                <p:to>
                                  <p:strVal val="visible"/>
                                </p:to>
                              </p:set>
                              <p:animEffect transition="in" filter="wipe(left)">
                                <p:cBhvr>
                                  <p:cTn id="9" dur="860"/>
                                  <p:tgtEl>
                                    <p:spTgt spid="14"/>
                                  </p:tgtEl>
                                </p:cBhvr>
                              </p:animEffect>
                            </p:childTnLst>
                          </p:cTn>
                        </p:par>
                      </p:childTnLst>
                    </p:cTn>
                  </p:par>
                </p:childTnLst>
              </p:cTn>
            </p:seq>
          </p:childTnLst>
        </p:cTn>
      </p:par>
    </p:tnLst>
    <p:bldLst>
      <p:bldP spid="11" grpId="0"/>
      <p:bldP spid="1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2601470" y="9477699"/>
            <a:ext cx="4657830" cy="436883"/>
          </a:xfrm>
          <a:prstGeom prst="rect">
            <a:avLst/>
          </a:prstGeom>
        </p:spPr>
        <p:txBody>
          <a:bodyPr lIns="0" tIns="0" rIns="0" bIns="0" rtlCol="0" anchor="t">
            <a:spAutoFit/>
          </a:bodyPr>
          <a:lstStyle/>
          <a:p>
            <a:pPr algn="r">
              <a:lnSpc>
                <a:spcPts val="3219"/>
              </a:lnSpc>
            </a:pPr>
            <a:r>
              <a:rPr lang="en-US" sz="2299" b="1" spc="55">
                <a:solidFill>
                  <a:srgbClr val="FFFFFF"/>
                </a:solidFill>
                <a:latin typeface="DM Sans Bold"/>
                <a:ea typeface="DM Sans Bold"/>
                <a:cs typeface="DM Sans Bold"/>
                <a:sym typeface="DM Sans Bold"/>
              </a:rPr>
              <a:t>MAJOR: INTERIOR DESIGN</a:t>
            </a:r>
          </a:p>
        </p:txBody>
      </p:sp>
      <p:sp>
        <p:nvSpPr>
          <p:cNvPr id="3" name="TextBox 3"/>
          <p:cNvSpPr txBox="1"/>
          <p:nvPr/>
        </p:nvSpPr>
        <p:spPr>
          <a:xfrm>
            <a:off x="1028700" y="1095375"/>
            <a:ext cx="2775915" cy="534618"/>
          </a:xfrm>
          <a:prstGeom prst="rect">
            <a:avLst/>
          </a:prstGeom>
        </p:spPr>
        <p:txBody>
          <a:bodyPr lIns="0" tIns="0" rIns="0" bIns="0" rtlCol="0" anchor="t">
            <a:spAutoFit/>
          </a:bodyPr>
          <a:lstStyle/>
          <a:p>
            <a:pPr algn="just">
              <a:lnSpc>
                <a:spcPts val="4039"/>
              </a:lnSpc>
            </a:pPr>
            <a:r>
              <a:rPr lang="en-US" sz="3999" b="1">
                <a:solidFill>
                  <a:srgbClr val="0C1D4B"/>
                </a:solidFill>
                <a:latin typeface="Roboto Slab Bold"/>
                <a:ea typeface="Roboto Slab Bold"/>
                <a:cs typeface="Roboto Slab Bold"/>
                <a:sym typeface="Roboto Slab Bold"/>
              </a:rPr>
              <a:t>2.1. Chatbot</a:t>
            </a:r>
          </a:p>
        </p:txBody>
      </p:sp>
      <p:sp>
        <p:nvSpPr>
          <p:cNvPr id="4" name="TextBox 4"/>
          <p:cNvSpPr txBox="1"/>
          <p:nvPr/>
        </p:nvSpPr>
        <p:spPr>
          <a:xfrm>
            <a:off x="1028700" y="1849068"/>
            <a:ext cx="9848374" cy="3896739"/>
          </a:xfrm>
          <a:prstGeom prst="rect">
            <a:avLst/>
          </a:prstGeom>
        </p:spPr>
        <p:txBody>
          <a:bodyPr lIns="0" tIns="0" rIns="0" bIns="0" rtlCol="0" anchor="t">
            <a:spAutoFit/>
          </a:bodyPr>
          <a:lstStyle/>
          <a:p>
            <a:pPr marL="604518" lvl="1" indent="-302259" algn="l">
              <a:lnSpc>
                <a:spcPts val="4479"/>
              </a:lnSpc>
              <a:buFont typeface="Arial"/>
              <a:buChar char="•"/>
            </a:pPr>
            <a:r>
              <a:rPr lang="en-US" sz="2799">
                <a:solidFill>
                  <a:srgbClr val="0C1D4B"/>
                </a:solidFill>
                <a:latin typeface="Roboto Slab"/>
                <a:ea typeface="Roboto Slab"/>
                <a:cs typeface="Roboto Slab"/>
                <a:sym typeface="Roboto Slab"/>
              </a:rPr>
              <a:t>Chatbot là hệ thống phần mềm mô phỏng hội thoại với người dùng thông qua văn bản hoặc giọng nói</a:t>
            </a:r>
          </a:p>
          <a:p>
            <a:pPr marL="604518" lvl="1" indent="-302259" algn="l">
              <a:lnSpc>
                <a:spcPts val="4479"/>
              </a:lnSpc>
              <a:buFont typeface="Arial"/>
              <a:buChar char="•"/>
            </a:pPr>
            <a:r>
              <a:rPr lang="en-US" sz="2799">
                <a:solidFill>
                  <a:srgbClr val="0C1D4B"/>
                </a:solidFill>
                <a:latin typeface="Roboto Slab"/>
                <a:ea typeface="Roboto Slab"/>
                <a:cs typeface="Roboto Slab"/>
                <a:sym typeface="Roboto Slab"/>
              </a:rPr>
              <a:t>Chatbot có thể tiếp nhận câu hỏi, phân tích đầu vào và tự động sinh phản hồi.</a:t>
            </a:r>
          </a:p>
          <a:p>
            <a:pPr marL="604518" lvl="1" indent="-302259" algn="l">
              <a:lnSpc>
                <a:spcPts val="4479"/>
              </a:lnSpc>
              <a:buFont typeface="Arial"/>
              <a:buChar char="•"/>
            </a:pPr>
            <a:r>
              <a:rPr lang="en-US" sz="2799">
                <a:solidFill>
                  <a:srgbClr val="0C1D4B"/>
                </a:solidFill>
                <a:latin typeface="Roboto Slab"/>
                <a:ea typeface="Roboto Slab"/>
                <a:cs typeface="Roboto Slab"/>
                <a:sym typeface="Roboto Slab"/>
              </a:rPr>
              <a:t>Trong các hệ thống hiện đại, chatbot thường được kết hợp với mô hình ngôn ngữ lớn hoặc nguồn dữ liệu riêng để tăng khả năng hiểu ngữ cảnh.</a:t>
            </a:r>
          </a:p>
        </p:txBody>
      </p:sp>
      <p:grpSp>
        <p:nvGrpSpPr>
          <p:cNvPr id="5" name="Group 5"/>
          <p:cNvGrpSpPr/>
          <p:nvPr/>
        </p:nvGrpSpPr>
        <p:grpSpPr>
          <a:xfrm rot="-10800000">
            <a:off x="17259300" y="-233820"/>
            <a:ext cx="1940843" cy="970417"/>
            <a:chOff x="0" y="0"/>
            <a:chExt cx="2587790" cy="1293889"/>
          </a:xfrm>
        </p:grpSpPr>
        <p:sp>
          <p:nvSpPr>
            <p:cNvPr id="6" name="Freeform 6"/>
            <p:cNvSpPr/>
            <p:nvPr/>
          </p:nvSpPr>
          <p:spPr>
            <a:xfrm>
              <a:off x="0" y="0"/>
              <a:ext cx="2587752" cy="1293876"/>
            </a:xfrm>
            <a:custGeom>
              <a:avLst/>
              <a:gdLst/>
              <a:ahLst/>
              <a:cxnLst/>
              <a:rect l="l" t="t" r="r" b="b"/>
              <a:pathLst>
                <a:path w="2587752" h="1293876">
                  <a:moveTo>
                    <a:pt x="0" y="0"/>
                  </a:moveTo>
                  <a:lnTo>
                    <a:pt x="2587752" y="0"/>
                  </a:lnTo>
                  <a:lnTo>
                    <a:pt x="2587752" y="1293876"/>
                  </a:lnTo>
                  <a:lnTo>
                    <a:pt x="0" y="1293876"/>
                  </a:lnTo>
                  <a:lnTo>
                    <a:pt x="0" y="0"/>
                  </a:lnTo>
                  <a:close/>
                </a:path>
              </a:pathLst>
            </a:custGeom>
            <a:blipFill>
              <a:blip r:embed="rId2"/>
              <a:stretch>
                <a:fillRect r="-1"/>
              </a:stretch>
            </a:blipFill>
          </p:spPr>
          <p:txBody>
            <a:bodyPr/>
            <a:lstStyle/>
            <a:p>
              <a:endParaRPr lang="en-VN"/>
            </a:p>
          </p:txBody>
        </p:sp>
      </p:grpSp>
      <p:grpSp>
        <p:nvGrpSpPr>
          <p:cNvPr id="7" name="Group 7"/>
          <p:cNvGrpSpPr/>
          <p:nvPr/>
        </p:nvGrpSpPr>
        <p:grpSpPr>
          <a:xfrm>
            <a:off x="-912143" y="9429369"/>
            <a:ext cx="1940843" cy="970417"/>
            <a:chOff x="0" y="0"/>
            <a:chExt cx="2587790" cy="1293889"/>
          </a:xfrm>
        </p:grpSpPr>
        <p:sp>
          <p:nvSpPr>
            <p:cNvPr id="8" name="Freeform 8"/>
            <p:cNvSpPr/>
            <p:nvPr/>
          </p:nvSpPr>
          <p:spPr>
            <a:xfrm>
              <a:off x="0" y="0"/>
              <a:ext cx="2587752" cy="1293876"/>
            </a:xfrm>
            <a:custGeom>
              <a:avLst/>
              <a:gdLst/>
              <a:ahLst/>
              <a:cxnLst/>
              <a:rect l="l" t="t" r="r" b="b"/>
              <a:pathLst>
                <a:path w="2587752" h="1293876">
                  <a:moveTo>
                    <a:pt x="0" y="0"/>
                  </a:moveTo>
                  <a:lnTo>
                    <a:pt x="2587752" y="0"/>
                  </a:lnTo>
                  <a:lnTo>
                    <a:pt x="2587752" y="1293876"/>
                  </a:lnTo>
                  <a:lnTo>
                    <a:pt x="0" y="1293876"/>
                  </a:lnTo>
                  <a:lnTo>
                    <a:pt x="0" y="0"/>
                  </a:lnTo>
                  <a:close/>
                </a:path>
              </a:pathLst>
            </a:custGeom>
            <a:blipFill>
              <a:blip r:embed="rId2"/>
              <a:stretch>
                <a:fillRect r="-1"/>
              </a:stretch>
            </a:blipFill>
          </p:spPr>
          <p:txBody>
            <a:bodyPr/>
            <a:lstStyle/>
            <a:p>
              <a:endParaRPr lang="en-VN"/>
            </a:p>
          </p:txBody>
        </p:sp>
      </p:grpSp>
      <p:grpSp>
        <p:nvGrpSpPr>
          <p:cNvPr id="9" name="Group 9"/>
          <p:cNvGrpSpPr/>
          <p:nvPr/>
        </p:nvGrpSpPr>
        <p:grpSpPr>
          <a:xfrm>
            <a:off x="-3127839" y="9986436"/>
            <a:ext cx="22035035" cy="2837612"/>
            <a:chOff x="0" y="0"/>
            <a:chExt cx="5803466" cy="747355"/>
          </a:xfrm>
        </p:grpSpPr>
        <p:sp>
          <p:nvSpPr>
            <p:cNvPr id="10" name="Freeform 10"/>
            <p:cNvSpPr/>
            <p:nvPr/>
          </p:nvSpPr>
          <p:spPr>
            <a:xfrm>
              <a:off x="0" y="0"/>
              <a:ext cx="5803466" cy="747355"/>
            </a:xfrm>
            <a:custGeom>
              <a:avLst/>
              <a:gdLst/>
              <a:ahLst/>
              <a:cxnLst/>
              <a:rect l="l" t="t" r="r" b="b"/>
              <a:pathLst>
                <a:path w="5803466" h="747355">
                  <a:moveTo>
                    <a:pt x="0" y="0"/>
                  </a:moveTo>
                  <a:lnTo>
                    <a:pt x="5803466" y="0"/>
                  </a:lnTo>
                  <a:lnTo>
                    <a:pt x="5803466" y="747355"/>
                  </a:lnTo>
                  <a:lnTo>
                    <a:pt x="0" y="747355"/>
                  </a:lnTo>
                  <a:close/>
                </a:path>
              </a:pathLst>
            </a:custGeom>
            <a:solidFill>
              <a:srgbClr val="3C4F75"/>
            </a:solidFill>
          </p:spPr>
          <p:txBody>
            <a:bodyPr/>
            <a:lstStyle/>
            <a:p>
              <a:endParaRPr lang="en-VN"/>
            </a:p>
          </p:txBody>
        </p:sp>
        <p:sp>
          <p:nvSpPr>
            <p:cNvPr id="11" name="TextBox 11"/>
            <p:cNvSpPr txBox="1"/>
            <p:nvPr/>
          </p:nvSpPr>
          <p:spPr>
            <a:xfrm>
              <a:off x="0" y="-47625"/>
              <a:ext cx="5803466" cy="794980"/>
            </a:xfrm>
            <a:prstGeom prst="rect">
              <a:avLst/>
            </a:prstGeom>
          </p:spPr>
          <p:txBody>
            <a:bodyPr lIns="50800" tIns="50800" rIns="50800" bIns="50800" rtlCol="0" anchor="ctr"/>
            <a:lstStyle/>
            <a:p>
              <a:pPr algn="ctr">
                <a:lnSpc>
                  <a:spcPts val="2940"/>
                </a:lnSpc>
              </a:pPr>
              <a:endParaRPr/>
            </a:p>
          </p:txBody>
        </p:sp>
      </p:grpSp>
      <p:sp>
        <p:nvSpPr>
          <p:cNvPr id="12" name="Freeform 12"/>
          <p:cNvSpPr/>
          <p:nvPr/>
        </p:nvSpPr>
        <p:spPr>
          <a:xfrm>
            <a:off x="12011385" y="2359114"/>
            <a:ext cx="5575744" cy="5568772"/>
          </a:xfrm>
          <a:custGeom>
            <a:avLst/>
            <a:gdLst/>
            <a:ahLst/>
            <a:cxnLst/>
            <a:rect l="l" t="t" r="r" b="b"/>
            <a:pathLst>
              <a:path w="5575744" h="5568772">
                <a:moveTo>
                  <a:pt x="0" y="0"/>
                </a:moveTo>
                <a:lnTo>
                  <a:pt x="5575744" y="0"/>
                </a:lnTo>
                <a:lnTo>
                  <a:pt x="5575744" y="5568772"/>
                </a:lnTo>
                <a:lnTo>
                  <a:pt x="0" y="5568772"/>
                </a:lnTo>
                <a:lnTo>
                  <a:pt x="0" y="0"/>
                </a:lnTo>
                <a:close/>
              </a:path>
            </a:pathLst>
          </a:custGeom>
          <a:blipFill>
            <a:blip>
              <a:extLst>
                <a:ext uri="{96DAC541-7B7A-43D3-8B79-37D633B846F1}">
                  <asvg:svgBlip xmlns:asvg="http://schemas.microsoft.com/office/drawing/2016/SVG/main" r:embed="rId3"/>
                </a:ext>
              </a:extLst>
            </a:blip>
            <a:stretch>
              <a:fillRect l="-22" r="-22"/>
            </a:stretch>
          </a:blipFill>
        </p:spPr>
        <p:txBody>
          <a:bodyPr/>
          <a:lstStyle/>
          <a:p>
            <a:endParaRPr lang="en-VN"/>
          </a:p>
        </p:txBody>
      </p:sp>
      <p:sp>
        <p:nvSpPr>
          <p:cNvPr id="13" name="TextBox 13"/>
          <p:cNvSpPr txBox="1"/>
          <p:nvPr/>
        </p:nvSpPr>
        <p:spPr>
          <a:xfrm>
            <a:off x="1687249" y="346410"/>
            <a:ext cx="3954904" cy="356289"/>
          </a:xfrm>
          <a:prstGeom prst="rect">
            <a:avLst/>
          </a:prstGeom>
        </p:spPr>
        <p:txBody>
          <a:bodyPr lIns="0" tIns="0" rIns="0" bIns="0" rtlCol="0" anchor="t">
            <a:spAutoFit/>
          </a:bodyPr>
          <a:lstStyle/>
          <a:p>
            <a:pPr algn="l">
              <a:lnSpc>
                <a:spcPts val="2940"/>
              </a:lnSpc>
            </a:pPr>
            <a:r>
              <a:rPr lang="en-US" sz="2100" b="1">
                <a:solidFill>
                  <a:srgbClr val="2C2C2C"/>
                </a:solidFill>
                <a:latin typeface="Roboto Slab Bold"/>
                <a:ea typeface="Roboto Slab Bold"/>
                <a:cs typeface="Roboto Slab Bold"/>
                <a:sym typeface="Roboto Slab Bold"/>
              </a:rPr>
              <a:t>HỌC VIỆN KỸ THUẬT MẬT MÃ</a:t>
            </a:r>
          </a:p>
        </p:txBody>
      </p:sp>
      <p:sp>
        <p:nvSpPr>
          <p:cNvPr id="14" name="Freeform 14"/>
          <p:cNvSpPr/>
          <p:nvPr/>
        </p:nvSpPr>
        <p:spPr>
          <a:xfrm>
            <a:off x="1028700" y="251389"/>
            <a:ext cx="551704" cy="584433"/>
          </a:xfrm>
          <a:custGeom>
            <a:avLst/>
            <a:gdLst/>
            <a:ahLst/>
            <a:cxnLst/>
            <a:rect l="l" t="t" r="r" b="b"/>
            <a:pathLst>
              <a:path w="551704" h="584433">
                <a:moveTo>
                  <a:pt x="0" y="0"/>
                </a:moveTo>
                <a:lnTo>
                  <a:pt x="551704" y="0"/>
                </a:lnTo>
                <a:lnTo>
                  <a:pt x="551704" y="584432"/>
                </a:lnTo>
                <a:lnTo>
                  <a:pt x="0" y="584432"/>
                </a:lnTo>
                <a:lnTo>
                  <a:pt x="0" y="0"/>
                </a:lnTo>
                <a:close/>
              </a:path>
            </a:pathLst>
          </a:custGeom>
          <a:blipFill>
            <a:blip r:embed="rId4"/>
            <a:stretch>
              <a:fillRect/>
            </a:stretch>
          </a:blipFill>
        </p:spPr>
        <p:txBody>
          <a:bodyPr/>
          <a:lstStyle/>
          <a:p>
            <a:endParaRPr lang="en-VN"/>
          </a:p>
        </p:txBody>
      </p:sp>
    </p:spTree>
  </p:cSld>
  <p:clrMapOvr>
    <a:masterClrMapping/>
  </p:clrMapOvr>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grpId="0" nodeType="withEffect">
                            <p:stCondLst>
                              <p:cond delay="180"/>
                            </p:stCondLst>
                            <p:childTnLst>
                              <p:set>
                                <p:cBhvr>
                                  <p:cTn id="5" dur="1" fill="hold">
                                    <p:stCondLst>
                                      <p:cond delay="0"/>
                                    </p:stCondLst>
                                  </p:cTn>
                                  <p:tgtEl>
                                    <p:spTgt spid="3"/>
                                  </p:tgtEl>
                                  <p:attrNameLst>
                                    <p:attrName>style.visibility</p:attrName>
                                  </p:attrNameLst>
                                </p:cBhvr>
                                <p:to>
                                  <p:strVal val="visible"/>
                                </p:to>
                              </p:set>
                              <p:animEffect transition="in" filter="wipe(left)">
                                <p:cBhvr>
                                  <p:cTn id="6" dur="860"/>
                                  <p:tgtEl>
                                    <p:spTgt spid="3"/>
                                  </p:tgtEl>
                                </p:cBhvr>
                              </p:animEffect>
                            </p:childTnLst>
                          </p:cTn>
                        </p:par>
                        <p:par>
                          <p:cTn id="7" presetID="10" presetClass="entr" presetSubtype="0" fill="hold" grpId="0" nodeType="withEffect">
                            <p:stCondLst>
                              <p:cond delay="350"/>
                            </p:stCondLst>
                            <p:childTnLst>
                              <p:set>
                                <p:cBhvr>
                                  <p:cTn id="8" dur="1" fill="hold">
                                    <p:stCondLst>
                                      <p:cond delay="0"/>
                                    </p:stCondLst>
                                  </p:cTn>
                                  <p:tgtEl>
                                    <p:spTgt spid="4"/>
                                  </p:tgtEl>
                                  <p:attrNameLst>
                                    <p:attrName>style.visibility</p:attrName>
                                  </p:attrNameLst>
                                </p:cBhvr>
                                <p:to>
                                  <p:strVal val="visible"/>
                                </p:to>
                              </p:set>
                              <p:animEffect transition="in" filter="wipe(left)">
                                <p:cBhvr>
                                  <p:cTn id="9" dur="860"/>
                                  <p:tgtEl>
                                    <p:spTgt spid="4"/>
                                  </p:tgtEl>
                                </p:cBhvr>
                              </p:animEffect>
                            </p:childTnLst>
                          </p:cTn>
                        </p:par>
                        <p:par>
                          <p:cTn id="10" presetID="10" presetClass="entr" presetSubtype="0" fill="hold" grpId="0" nodeType="withEffect">
                            <p:stCondLst>
                              <p:cond delay="520"/>
                            </p:stCondLst>
                            <p:childTnLst>
                              <p:set>
                                <p:cBhvr>
                                  <p:cTn id="11" dur="1" fill="hold">
                                    <p:stCondLst>
                                      <p:cond delay="0"/>
                                    </p:stCondLst>
                                  </p:cTn>
                                  <p:tgtEl>
                                    <p:spTgt spid="12"/>
                                  </p:tgtEl>
                                  <p:attrNameLst>
                                    <p:attrName>style.visibility</p:attrName>
                                  </p:attrNameLst>
                                </p:cBhvr>
                                <p:to>
                                  <p:strVal val="visible"/>
                                </p:to>
                              </p:set>
                              <p:animEffect transition="in" filter="wipe(left)">
                                <p:cBhvr>
                                  <p:cTn id="12" dur="860"/>
                                  <p:tgtEl>
                                    <p:spTgt spid="12"/>
                                  </p:tgtEl>
                                </p:cBhvr>
                              </p:animEffect>
                            </p:childTnLst>
                          </p:cTn>
                        </p:par>
                      </p:childTnLst>
                    </p:cTn>
                  </p:par>
                </p:childTnLst>
              </p:cTn>
            </p:seq>
          </p:childTnLst>
        </p:cTn>
      </p:par>
    </p:tnLst>
    <p:bldLst>
      <p:bldP spid="3" grpId="0"/>
      <p:bldP spid="4" grpId="0"/>
      <p:bldP spid="12"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10800000">
            <a:off x="17259300" y="-233820"/>
            <a:ext cx="1940843" cy="970417"/>
            <a:chOff x="0" y="0"/>
            <a:chExt cx="2587790" cy="1293889"/>
          </a:xfrm>
        </p:grpSpPr>
        <p:sp>
          <p:nvSpPr>
            <p:cNvPr id="3" name="Freeform 3"/>
            <p:cNvSpPr/>
            <p:nvPr/>
          </p:nvSpPr>
          <p:spPr>
            <a:xfrm>
              <a:off x="0" y="0"/>
              <a:ext cx="2587752" cy="1293876"/>
            </a:xfrm>
            <a:custGeom>
              <a:avLst/>
              <a:gdLst/>
              <a:ahLst/>
              <a:cxnLst/>
              <a:rect l="l" t="t" r="r" b="b"/>
              <a:pathLst>
                <a:path w="2587752" h="1293876">
                  <a:moveTo>
                    <a:pt x="0" y="0"/>
                  </a:moveTo>
                  <a:lnTo>
                    <a:pt x="2587752" y="0"/>
                  </a:lnTo>
                  <a:lnTo>
                    <a:pt x="2587752" y="1293876"/>
                  </a:lnTo>
                  <a:lnTo>
                    <a:pt x="0" y="1293876"/>
                  </a:lnTo>
                  <a:lnTo>
                    <a:pt x="0" y="0"/>
                  </a:lnTo>
                  <a:close/>
                </a:path>
              </a:pathLst>
            </a:custGeom>
            <a:blipFill>
              <a:blip r:embed="rId2"/>
              <a:stretch>
                <a:fillRect r="-1"/>
              </a:stretch>
            </a:blipFill>
          </p:spPr>
          <p:txBody>
            <a:bodyPr/>
            <a:lstStyle/>
            <a:p>
              <a:endParaRPr lang="en-VN"/>
            </a:p>
          </p:txBody>
        </p:sp>
      </p:grpSp>
      <p:grpSp>
        <p:nvGrpSpPr>
          <p:cNvPr id="4" name="Group 4"/>
          <p:cNvGrpSpPr/>
          <p:nvPr/>
        </p:nvGrpSpPr>
        <p:grpSpPr>
          <a:xfrm>
            <a:off x="-912143" y="9429369"/>
            <a:ext cx="1940843" cy="970417"/>
            <a:chOff x="0" y="0"/>
            <a:chExt cx="2587790" cy="1293889"/>
          </a:xfrm>
        </p:grpSpPr>
        <p:sp>
          <p:nvSpPr>
            <p:cNvPr id="5" name="Freeform 5"/>
            <p:cNvSpPr/>
            <p:nvPr/>
          </p:nvSpPr>
          <p:spPr>
            <a:xfrm>
              <a:off x="0" y="0"/>
              <a:ext cx="2587752" cy="1293876"/>
            </a:xfrm>
            <a:custGeom>
              <a:avLst/>
              <a:gdLst/>
              <a:ahLst/>
              <a:cxnLst/>
              <a:rect l="l" t="t" r="r" b="b"/>
              <a:pathLst>
                <a:path w="2587752" h="1293876">
                  <a:moveTo>
                    <a:pt x="0" y="0"/>
                  </a:moveTo>
                  <a:lnTo>
                    <a:pt x="2587752" y="0"/>
                  </a:lnTo>
                  <a:lnTo>
                    <a:pt x="2587752" y="1293876"/>
                  </a:lnTo>
                  <a:lnTo>
                    <a:pt x="0" y="1293876"/>
                  </a:lnTo>
                  <a:lnTo>
                    <a:pt x="0" y="0"/>
                  </a:lnTo>
                  <a:close/>
                </a:path>
              </a:pathLst>
            </a:custGeom>
            <a:blipFill>
              <a:blip r:embed="rId2"/>
              <a:stretch>
                <a:fillRect r="-1"/>
              </a:stretch>
            </a:blipFill>
          </p:spPr>
          <p:txBody>
            <a:bodyPr/>
            <a:lstStyle/>
            <a:p>
              <a:endParaRPr lang="en-VN"/>
            </a:p>
          </p:txBody>
        </p:sp>
      </p:grpSp>
      <p:grpSp>
        <p:nvGrpSpPr>
          <p:cNvPr id="6" name="Group 6"/>
          <p:cNvGrpSpPr/>
          <p:nvPr/>
        </p:nvGrpSpPr>
        <p:grpSpPr>
          <a:xfrm>
            <a:off x="-3127839" y="9986436"/>
            <a:ext cx="22035035" cy="2837612"/>
            <a:chOff x="0" y="0"/>
            <a:chExt cx="5803466" cy="747355"/>
          </a:xfrm>
        </p:grpSpPr>
        <p:sp>
          <p:nvSpPr>
            <p:cNvPr id="7" name="Freeform 7"/>
            <p:cNvSpPr/>
            <p:nvPr/>
          </p:nvSpPr>
          <p:spPr>
            <a:xfrm>
              <a:off x="0" y="0"/>
              <a:ext cx="5803466" cy="747355"/>
            </a:xfrm>
            <a:custGeom>
              <a:avLst/>
              <a:gdLst/>
              <a:ahLst/>
              <a:cxnLst/>
              <a:rect l="l" t="t" r="r" b="b"/>
              <a:pathLst>
                <a:path w="5803466" h="747355">
                  <a:moveTo>
                    <a:pt x="0" y="0"/>
                  </a:moveTo>
                  <a:lnTo>
                    <a:pt x="5803466" y="0"/>
                  </a:lnTo>
                  <a:lnTo>
                    <a:pt x="5803466" y="747355"/>
                  </a:lnTo>
                  <a:lnTo>
                    <a:pt x="0" y="747355"/>
                  </a:lnTo>
                  <a:close/>
                </a:path>
              </a:pathLst>
            </a:custGeom>
            <a:solidFill>
              <a:srgbClr val="3C4F75"/>
            </a:solidFill>
          </p:spPr>
          <p:txBody>
            <a:bodyPr/>
            <a:lstStyle/>
            <a:p>
              <a:endParaRPr lang="en-VN"/>
            </a:p>
          </p:txBody>
        </p:sp>
        <p:sp>
          <p:nvSpPr>
            <p:cNvPr id="8" name="TextBox 8"/>
            <p:cNvSpPr txBox="1"/>
            <p:nvPr/>
          </p:nvSpPr>
          <p:spPr>
            <a:xfrm>
              <a:off x="0" y="-47625"/>
              <a:ext cx="5803466" cy="794980"/>
            </a:xfrm>
            <a:prstGeom prst="rect">
              <a:avLst/>
            </a:prstGeom>
          </p:spPr>
          <p:txBody>
            <a:bodyPr lIns="50800" tIns="50800" rIns="50800" bIns="50800" rtlCol="0" anchor="ctr"/>
            <a:lstStyle/>
            <a:p>
              <a:pPr algn="ctr">
                <a:lnSpc>
                  <a:spcPts val="2940"/>
                </a:lnSpc>
              </a:pPr>
              <a:endParaRPr/>
            </a:p>
          </p:txBody>
        </p:sp>
      </p:grpSp>
      <p:sp>
        <p:nvSpPr>
          <p:cNvPr id="9" name="TextBox 9"/>
          <p:cNvSpPr txBox="1"/>
          <p:nvPr/>
        </p:nvSpPr>
        <p:spPr>
          <a:xfrm>
            <a:off x="1041550" y="2630118"/>
            <a:ext cx="9201207" cy="2210652"/>
          </a:xfrm>
          <a:prstGeom prst="rect">
            <a:avLst/>
          </a:prstGeom>
        </p:spPr>
        <p:txBody>
          <a:bodyPr lIns="0" tIns="0" rIns="0" bIns="0" rtlCol="0" anchor="t">
            <a:spAutoFit/>
          </a:bodyPr>
          <a:lstStyle/>
          <a:p>
            <a:pPr algn="l">
              <a:lnSpc>
                <a:spcPts val="4479"/>
              </a:lnSpc>
            </a:pPr>
            <a:r>
              <a:rPr lang="en-US" sz="2799">
                <a:solidFill>
                  <a:srgbClr val="0C1D4B"/>
                </a:solidFill>
                <a:latin typeface="Roboto Slab"/>
                <a:ea typeface="Roboto Slab"/>
                <a:cs typeface="Roboto Slab"/>
                <a:sym typeface="Roboto Slab"/>
              </a:rPr>
              <a:t>Chatbot nhận đầu vào, kiểm tra các kịch bản, tập luật được chuẩn bị sẵn và trả lời tương ứng</a:t>
            </a:r>
          </a:p>
          <a:p>
            <a:pPr algn="l">
              <a:lnSpc>
                <a:spcPts val="4479"/>
              </a:lnSpc>
            </a:pPr>
            <a:r>
              <a:rPr lang="en-US" sz="2799">
                <a:solidFill>
                  <a:srgbClr val="0C1D4B"/>
                </a:solidFill>
                <a:latin typeface="Roboto Slab"/>
                <a:ea typeface="Roboto Slab"/>
                <a:cs typeface="Roboto Slab"/>
                <a:sym typeface="Roboto Slab"/>
              </a:rPr>
              <a:t>→ Thiếu linh hoạt, phục thuộc vào kịch bản được chuẩn bị sẵn.</a:t>
            </a:r>
          </a:p>
        </p:txBody>
      </p:sp>
      <p:sp>
        <p:nvSpPr>
          <p:cNvPr id="10" name="TextBox 10"/>
          <p:cNvSpPr txBox="1"/>
          <p:nvPr/>
        </p:nvSpPr>
        <p:spPr>
          <a:xfrm>
            <a:off x="1028700" y="1095375"/>
            <a:ext cx="10321094" cy="534618"/>
          </a:xfrm>
          <a:prstGeom prst="rect">
            <a:avLst/>
          </a:prstGeom>
        </p:spPr>
        <p:txBody>
          <a:bodyPr lIns="0" tIns="0" rIns="0" bIns="0" rtlCol="0" anchor="t">
            <a:spAutoFit/>
          </a:bodyPr>
          <a:lstStyle/>
          <a:p>
            <a:pPr algn="just">
              <a:lnSpc>
                <a:spcPts val="4039"/>
              </a:lnSpc>
            </a:pPr>
            <a:r>
              <a:rPr lang="en-US" sz="3999" b="1">
                <a:solidFill>
                  <a:srgbClr val="0C1D4B"/>
                </a:solidFill>
                <a:latin typeface="Roboto Slab Bold"/>
                <a:ea typeface="Roboto Slab Bold"/>
                <a:cs typeface="Roboto Slab Bold"/>
                <a:sym typeface="Roboto Slab Bold"/>
              </a:rPr>
              <a:t>2.2. Một số phương pháp xây dựng Chatbot</a:t>
            </a:r>
          </a:p>
        </p:txBody>
      </p:sp>
      <p:sp>
        <p:nvSpPr>
          <p:cNvPr id="11" name="TextBox 11"/>
          <p:cNvSpPr txBox="1"/>
          <p:nvPr/>
        </p:nvSpPr>
        <p:spPr>
          <a:xfrm>
            <a:off x="1041550" y="1725243"/>
            <a:ext cx="10081822" cy="685800"/>
          </a:xfrm>
          <a:prstGeom prst="rect">
            <a:avLst/>
          </a:prstGeom>
        </p:spPr>
        <p:txBody>
          <a:bodyPr lIns="0" tIns="0" rIns="0" bIns="0" rtlCol="0" anchor="t">
            <a:spAutoFit/>
          </a:bodyPr>
          <a:lstStyle/>
          <a:p>
            <a:pPr algn="just">
              <a:lnSpc>
                <a:spcPts val="6000"/>
              </a:lnSpc>
            </a:pPr>
            <a:r>
              <a:rPr lang="en-US" sz="3000" b="1">
                <a:solidFill>
                  <a:srgbClr val="0C1D4B"/>
                </a:solidFill>
                <a:latin typeface="Roboto Slab Bold"/>
                <a:ea typeface="Roboto Slab Bold"/>
                <a:cs typeface="Roboto Slab Bold"/>
                <a:sym typeface="Roboto Slab Bold"/>
              </a:rPr>
              <a:t>Chatbot dựa trên tập luật</a:t>
            </a:r>
          </a:p>
        </p:txBody>
      </p:sp>
      <p:grpSp>
        <p:nvGrpSpPr>
          <p:cNvPr id="12" name="Group 12"/>
          <p:cNvGrpSpPr/>
          <p:nvPr/>
        </p:nvGrpSpPr>
        <p:grpSpPr>
          <a:xfrm>
            <a:off x="11635993" y="1888127"/>
            <a:ext cx="5496614" cy="7121113"/>
            <a:chOff x="0" y="0"/>
            <a:chExt cx="7328819" cy="9494816"/>
          </a:xfrm>
        </p:grpSpPr>
        <p:sp>
          <p:nvSpPr>
            <p:cNvPr id="13" name="Freeform 13"/>
            <p:cNvSpPr/>
            <p:nvPr/>
          </p:nvSpPr>
          <p:spPr>
            <a:xfrm>
              <a:off x="4424571" y="3713219"/>
              <a:ext cx="2762174" cy="2409990"/>
            </a:xfrm>
            <a:custGeom>
              <a:avLst/>
              <a:gdLst/>
              <a:ahLst/>
              <a:cxnLst/>
              <a:rect l="l" t="t" r="r" b="b"/>
              <a:pathLst>
                <a:path w="2762174" h="2409990">
                  <a:moveTo>
                    <a:pt x="0" y="0"/>
                  </a:moveTo>
                  <a:lnTo>
                    <a:pt x="2762174" y="0"/>
                  </a:lnTo>
                  <a:lnTo>
                    <a:pt x="2762174" y="2409990"/>
                  </a:lnTo>
                  <a:lnTo>
                    <a:pt x="0" y="2409990"/>
                  </a:lnTo>
                  <a:lnTo>
                    <a:pt x="0" y="0"/>
                  </a:lnTo>
                  <a:close/>
                </a:path>
              </a:pathLst>
            </a:custGeom>
            <a:blipFill>
              <a:blip>
                <a:extLst>
                  <a:ext uri="{96DAC541-7B7A-43D3-8B79-37D633B846F1}">
                    <asvg:svgBlip xmlns:asvg="http://schemas.microsoft.com/office/drawing/2016/SVG/main" r:embed="rId3"/>
                  </a:ext>
                </a:extLst>
              </a:blip>
              <a:stretch>
                <a:fillRect l="-53" r="-53"/>
              </a:stretch>
            </a:blipFill>
          </p:spPr>
          <p:txBody>
            <a:bodyPr/>
            <a:lstStyle/>
            <a:p>
              <a:endParaRPr lang="en-VN"/>
            </a:p>
          </p:txBody>
        </p:sp>
        <p:grpSp>
          <p:nvGrpSpPr>
            <p:cNvPr id="20" name="Group 20"/>
            <p:cNvGrpSpPr/>
            <p:nvPr/>
          </p:nvGrpSpPr>
          <p:grpSpPr>
            <a:xfrm>
              <a:off x="0" y="3954332"/>
              <a:ext cx="2996639" cy="1977782"/>
              <a:chOff x="0" y="0"/>
              <a:chExt cx="635000" cy="419100"/>
            </a:xfrm>
          </p:grpSpPr>
          <p:sp>
            <p:nvSpPr>
              <p:cNvPr id="21" name="Freeform 21"/>
              <p:cNvSpPr/>
              <p:nvPr/>
            </p:nvSpPr>
            <p:spPr>
              <a:xfrm>
                <a:off x="0" y="0"/>
                <a:ext cx="635000" cy="419100"/>
              </a:xfrm>
              <a:custGeom>
                <a:avLst/>
                <a:gdLst/>
                <a:ahLst/>
                <a:cxnLst/>
                <a:rect l="l" t="t" r="r" b="b"/>
                <a:pathLst>
                  <a:path w="635000" h="419100">
                    <a:moveTo>
                      <a:pt x="67280" y="0"/>
                    </a:moveTo>
                    <a:lnTo>
                      <a:pt x="567720" y="0"/>
                    </a:lnTo>
                    <a:cubicBezTo>
                      <a:pt x="585564" y="0"/>
                      <a:pt x="602677" y="7088"/>
                      <a:pt x="615294" y="19706"/>
                    </a:cubicBezTo>
                    <a:cubicBezTo>
                      <a:pt x="627912" y="32323"/>
                      <a:pt x="635000" y="49436"/>
                      <a:pt x="635000" y="67280"/>
                    </a:cubicBezTo>
                    <a:lnTo>
                      <a:pt x="635000" y="351820"/>
                    </a:lnTo>
                    <a:cubicBezTo>
                      <a:pt x="635000" y="369664"/>
                      <a:pt x="627912" y="386777"/>
                      <a:pt x="615294" y="399394"/>
                    </a:cubicBezTo>
                    <a:cubicBezTo>
                      <a:pt x="602677" y="412012"/>
                      <a:pt x="585564" y="419100"/>
                      <a:pt x="567720" y="419100"/>
                    </a:cubicBezTo>
                    <a:lnTo>
                      <a:pt x="67280" y="419100"/>
                    </a:lnTo>
                    <a:cubicBezTo>
                      <a:pt x="49436" y="419100"/>
                      <a:pt x="32323" y="412012"/>
                      <a:pt x="19706" y="399394"/>
                    </a:cubicBezTo>
                    <a:cubicBezTo>
                      <a:pt x="7088" y="386777"/>
                      <a:pt x="0" y="369664"/>
                      <a:pt x="0" y="351820"/>
                    </a:cubicBezTo>
                    <a:lnTo>
                      <a:pt x="0" y="67280"/>
                    </a:lnTo>
                    <a:cubicBezTo>
                      <a:pt x="0" y="49436"/>
                      <a:pt x="7088" y="32323"/>
                      <a:pt x="19706" y="19706"/>
                    </a:cubicBezTo>
                    <a:cubicBezTo>
                      <a:pt x="32323" y="7088"/>
                      <a:pt x="49436" y="0"/>
                      <a:pt x="67280" y="0"/>
                    </a:cubicBezTo>
                    <a:close/>
                  </a:path>
                </a:pathLst>
              </a:custGeom>
              <a:solidFill>
                <a:srgbClr val="0C1D4B"/>
              </a:solidFill>
            </p:spPr>
            <p:txBody>
              <a:bodyPr/>
              <a:lstStyle/>
              <a:p>
                <a:endParaRPr lang="en-VN"/>
              </a:p>
            </p:txBody>
          </p:sp>
          <p:sp>
            <p:nvSpPr>
              <p:cNvPr id="22" name="TextBox 22"/>
              <p:cNvSpPr txBox="1"/>
              <p:nvPr/>
            </p:nvSpPr>
            <p:spPr>
              <a:xfrm>
                <a:off x="0" y="-38100"/>
                <a:ext cx="635000" cy="457200"/>
              </a:xfrm>
              <a:prstGeom prst="rect">
                <a:avLst/>
              </a:prstGeom>
            </p:spPr>
            <p:txBody>
              <a:bodyPr lIns="50800" tIns="50800" rIns="50800" bIns="50800" rtlCol="0" anchor="ctr"/>
              <a:lstStyle/>
              <a:p>
                <a:pPr algn="ctr">
                  <a:lnSpc>
                    <a:spcPts val="2940"/>
                  </a:lnSpc>
                </a:pPr>
                <a:r>
                  <a:rPr lang="en-US" sz="2100" b="1">
                    <a:solidFill>
                      <a:srgbClr val="FFFFFF"/>
                    </a:solidFill>
                    <a:latin typeface="Roboto Slab Bold"/>
                    <a:ea typeface="Roboto Slab Bold"/>
                    <a:cs typeface="Roboto Slab Bold"/>
                    <a:sym typeface="Roboto Slab Bold"/>
                  </a:rPr>
                  <a:t>KỊCH BẢN 1</a:t>
                </a:r>
              </a:p>
              <a:p>
                <a:pPr algn="ctr">
                  <a:lnSpc>
                    <a:spcPts val="2940"/>
                  </a:lnSpc>
                </a:pPr>
                <a:r>
                  <a:rPr lang="en-US" sz="2100" b="1">
                    <a:solidFill>
                      <a:srgbClr val="FFFFFF"/>
                    </a:solidFill>
                    <a:latin typeface="Roboto Slab Bold"/>
                    <a:ea typeface="Roboto Slab Bold"/>
                    <a:cs typeface="Roboto Slab Bold"/>
                    <a:sym typeface="Roboto Slab Bold"/>
                  </a:rPr>
                  <a:t>KỊCH BẢN 2</a:t>
                </a:r>
              </a:p>
              <a:p>
                <a:pPr algn="ctr">
                  <a:lnSpc>
                    <a:spcPts val="2940"/>
                  </a:lnSpc>
                </a:pPr>
                <a:r>
                  <a:rPr lang="en-US" sz="2100" b="1">
                    <a:solidFill>
                      <a:srgbClr val="FFFFFF"/>
                    </a:solidFill>
                    <a:latin typeface="Roboto Slab Bold"/>
                    <a:ea typeface="Roboto Slab Bold"/>
                    <a:cs typeface="Roboto Slab Bold"/>
                    <a:sym typeface="Roboto Slab Bold"/>
                  </a:rPr>
                  <a:t>...</a:t>
                </a:r>
              </a:p>
            </p:txBody>
          </p:sp>
        </p:grpSp>
        <p:sp>
          <p:nvSpPr>
            <p:cNvPr id="23" name="AutoShape 23"/>
            <p:cNvSpPr/>
            <p:nvPr/>
          </p:nvSpPr>
          <p:spPr>
            <a:xfrm>
              <a:off x="2996639" y="4943222"/>
              <a:ext cx="1452964" cy="0"/>
            </a:xfrm>
            <a:prstGeom prst="line">
              <a:avLst/>
            </a:prstGeom>
            <a:ln w="50800" cap="flat">
              <a:solidFill>
                <a:srgbClr val="000000"/>
              </a:solidFill>
              <a:prstDash val="solid"/>
              <a:headEnd type="none" w="sm" len="sm"/>
              <a:tailEnd type="triangle" w="lg" len="med"/>
            </a:ln>
          </p:spPr>
          <p:txBody>
            <a:bodyPr/>
            <a:lstStyle/>
            <a:p>
              <a:endParaRPr lang="en-VN" dirty="0"/>
            </a:p>
          </p:txBody>
        </p:sp>
        <p:grpSp>
          <p:nvGrpSpPr>
            <p:cNvPr id="24" name="Group 24"/>
            <p:cNvGrpSpPr/>
            <p:nvPr/>
          </p:nvGrpSpPr>
          <p:grpSpPr>
            <a:xfrm>
              <a:off x="4332180" y="0"/>
              <a:ext cx="2996639" cy="1977782"/>
              <a:chOff x="0" y="0"/>
              <a:chExt cx="635000" cy="419100"/>
            </a:xfrm>
          </p:grpSpPr>
          <p:sp>
            <p:nvSpPr>
              <p:cNvPr id="25" name="Freeform 25"/>
              <p:cNvSpPr/>
              <p:nvPr/>
            </p:nvSpPr>
            <p:spPr>
              <a:xfrm>
                <a:off x="0" y="0"/>
                <a:ext cx="635000" cy="419100"/>
              </a:xfrm>
              <a:custGeom>
                <a:avLst/>
                <a:gdLst/>
                <a:ahLst/>
                <a:cxnLst/>
                <a:rect l="l" t="t" r="r" b="b"/>
                <a:pathLst>
                  <a:path w="635000" h="419100">
                    <a:moveTo>
                      <a:pt x="67280" y="0"/>
                    </a:moveTo>
                    <a:lnTo>
                      <a:pt x="567720" y="0"/>
                    </a:lnTo>
                    <a:cubicBezTo>
                      <a:pt x="585564" y="0"/>
                      <a:pt x="602677" y="7088"/>
                      <a:pt x="615294" y="19706"/>
                    </a:cubicBezTo>
                    <a:cubicBezTo>
                      <a:pt x="627912" y="32323"/>
                      <a:pt x="635000" y="49436"/>
                      <a:pt x="635000" y="67280"/>
                    </a:cubicBezTo>
                    <a:lnTo>
                      <a:pt x="635000" y="351820"/>
                    </a:lnTo>
                    <a:cubicBezTo>
                      <a:pt x="635000" y="369664"/>
                      <a:pt x="627912" y="386777"/>
                      <a:pt x="615294" y="399394"/>
                    </a:cubicBezTo>
                    <a:cubicBezTo>
                      <a:pt x="602677" y="412012"/>
                      <a:pt x="585564" y="419100"/>
                      <a:pt x="567720" y="419100"/>
                    </a:cubicBezTo>
                    <a:lnTo>
                      <a:pt x="67280" y="419100"/>
                    </a:lnTo>
                    <a:cubicBezTo>
                      <a:pt x="49436" y="419100"/>
                      <a:pt x="32323" y="412012"/>
                      <a:pt x="19706" y="399394"/>
                    </a:cubicBezTo>
                    <a:cubicBezTo>
                      <a:pt x="7088" y="386777"/>
                      <a:pt x="0" y="369664"/>
                      <a:pt x="0" y="351820"/>
                    </a:cubicBezTo>
                    <a:lnTo>
                      <a:pt x="0" y="67280"/>
                    </a:lnTo>
                    <a:cubicBezTo>
                      <a:pt x="0" y="49436"/>
                      <a:pt x="7088" y="32323"/>
                      <a:pt x="19706" y="19706"/>
                    </a:cubicBezTo>
                    <a:cubicBezTo>
                      <a:pt x="32323" y="7088"/>
                      <a:pt x="49436" y="0"/>
                      <a:pt x="67280" y="0"/>
                    </a:cubicBezTo>
                    <a:close/>
                  </a:path>
                </a:pathLst>
              </a:custGeom>
              <a:solidFill>
                <a:srgbClr val="FC9BA0"/>
              </a:solidFill>
            </p:spPr>
            <p:txBody>
              <a:bodyPr/>
              <a:lstStyle/>
              <a:p>
                <a:endParaRPr lang="en-VN"/>
              </a:p>
            </p:txBody>
          </p:sp>
          <p:sp>
            <p:nvSpPr>
              <p:cNvPr id="26" name="TextBox 26"/>
              <p:cNvSpPr txBox="1"/>
              <p:nvPr/>
            </p:nvSpPr>
            <p:spPr>
              <a:xfrm>
                <a:off x="0" y="-38100"/>
                <a:ext cx="635000" cy="457200"/>
              </a:xfrm>
              <a:prstGeom prst="rect">
                <a:avLst/>
              </a:prstGeom>
            </p:spPr>
            <p:txBody>
              <a:bodyPr lIns="50800" tIns="50800" rIns="50800" bIns="50800" rtlCol="0" anchor="ctr"/>
              <a:lstStyle/>
              <a:p>
                <a:pPr algn="ctr">
                  <a:lnSpc>
                    <a:spcPts val="2940"/>
                  </a:lnSpc>
                </a:pPr>
                <a:r>
                  <a:rPr lang="en-US" sz="2100" b="1">
                    <a:solidFill>
                      <a:srgbClr val="FFFFFF"/>
                    </a:solidFill>
                    <a:latin typeface="Roboto Slab Bold"/>
                    <a:ea typeface="Roboto Slab Bold"/>
                    <a:cs typeface="Roboto Slab Bold"/>
                    <a:sym typeface="Roboto Slab Bold"/>
                  </a:rPr>
                  <a:t>CÂU HỎI</a:t>
                </a:r>
              </a:p>
            </p:txBody>
          </p:sp>
        </p:grpSp>
        <p:grpSp>
          <p:nvGrpSpPr>
            <p:cNvPr id="27" name="Group 27"/>
            <p:cNvGrpSpPr/>
            <p:nvPr/>
          </p:nvGrpSpPr>
          <p:grpSpPr>
            <a:xfrm>
              <a:off x="4282307" y="7517034"/>
              <a:ext cx="2996639" cy="1977782"/>
              <a:chOff x="0" y="0"/>
              <a:chExt cx="635000" cy="419100"/>
            </a:xfrm>
          </p:grpSpPr>
          <p:sp>
            <p:nvSpPr>
              <p:cNvPr id="28" name="Freeform 28"/>
              <p:cNvSpPr/>
              <p:nvPr/>
            </p:nvSpPr>
            <p:spPr>
              <a:xfrm>
                <a:off x="0" y="0"/>
                <a:ext cx="635000" cy="419100"/>
              </a:xfrm>
              <a:custGeom>
                <a:avLst/>
                <a:gdLst/>
                <a:ahLst/>
                <a:cxnLst/>
                <a:rect l="l" t="t" r="r" b="b"/>
                <a:pathLst>
                  <a:path w="635000" h="419100">
                    <a:moveTo>
                      <a:pt x="67280" y="0"/>
                    </a:moveTo>
                    <a:lnTo>
                      <a:pt x="567720" y="0"/>
                    </a:lnTo>
                    <a:cubicBezTo>
                      <a:pt x="585564" y="0"/>
                      <a:pt x="602677" y="7088"/>
                      <a:pt x="615294" y="19706"/>
                    </a:cubicBezTo>
                    <a:cubicBezTo>
                      <a:pt x="627912" y="32323"/>
                      <a:pt x="635000" y="49436"/>
                      <a:pt x="635000" y="67280"/>
                    </a:cubicBezTo>
                    <a:lnTo>
                      <a:pt x="635000" y="351820"/>
                    </a:lnTo>
                    <a:cubicBezTo>
                      <a:pt x="635000" y="369664"/>
                      <a:pt x="627912" y="386777"/>
                      <a:pt x="615294" y="399394"/>
                    </a:cubicBezTo>
                    <a:cubicBezTo>
                      <a:pt x="602677" y="412012"/>
                      <a:pt x="585564" y="419100"/>
                      <a:pt x="567720" y="419100"/>
                    </a:cubicBezTo>
                    <a:lnTo>
                      <a:pt x="67280" y="419100"/>
                    </a:lnTo>
                    <a:cubicBezTo>
                      <a:pt x="49436" y="419100"/>
                      <a:pt x="32323" y="412012"/>
                      <a:pt x="19706" y="399394"/>
                    </a:cubicBezTo>
                    <a:cubicBezTo>
                      <a:pt x="7088" y="386777"/>
                      <a:pt x="0" y="369664"/>
                      <a:pt x="0" y="351820"/>
                    </a:cubicBezTo>
                    <a:lnTo>
                      <a:pt x="0" y="67280"/>
                    </a:lnTo>
                    <a:cubicBezTo>
                      <a:pt x="0" y="49436"/>
                      <a:pt x="7088" y="32323"/>
                      <a:pt x="19706" y="19706"/>
                    </a:cubicBezTo>
                    <a:cubicBezTo>
                      <a:pt x="32323" y="7088"/>
                      <a:pt x="49436" y="0"/>
                      <a:pt x="67280" y="0"/>
                    </a:cubicBezTo>
                    <a:close/>
                  </a:path>
                </a:pathLst>
              </a:custGeom>
              <a:solidFill>
                <a:srgbClr val="38B6FF"/>
              </a:solidFill>
              <a:ln cap="rnd">
                <a:noFill/>
                <a:prstDash val="solid"/>
                <a:round/>
              </a:ln>
            </p:spPr>
            <p:txBody>
              <a:bodyPr/>
              <a:lstStyle/>
              <a:p>
                <a:endParaRPr lang="en-VN"/>
              </a:p>
            </p:txBody>
          </p:sp>
          <p:sp>
            <p:nvSpPr>
              <p:cNvPr id="29" name="TextBox 29"/>
              <p:cNvSpPr txBox="1"/>
              <p:nvPr/>
            </p:nvSpPr>
            <p:spPr>
              <a:xfrm>
                <a:off x="0" y="-38100"/>
                <a:ext cx="635000" cy="457200"/>
              </a:xfrm>
              <a:prstGeom prst="rect">
                <a:avLst/>
              </a:prstGeom>
            </p:spPr>
            <p:txBody>
              <a:bodyPr lIns="50800" tIns="50800" rIns="50800" bIns="50800" rtlCol="0" anchor="ctr"/>
              <a:lstStyle/>
              <a:p>
                <a:pPr algn="ctr">
                  <a:lnSpc>
                    <a:spcPts val="2940"/>
                  </a:lnSpc>
                </a:pPr>
                <a:r>
                  <a:rPr lang="en-US" sz="2100" b="1">
                    <a:solidFill>
                      <a:srgbClr val="FFFFFF"/>
                    </a:solidFill>
                    <a:latin typeface="Roboto Slab Bold"/>
                    <a:ea typeface="Roboto Slab Bold"/>
                    <a:cs typeface="Roboto Slab Bold"/>
                    <a:sym typeface="Roboto Slab Bold"/>
                  </a:rPr>
                  <a:t>TRẢ LỜI</a:t>
                </a:r>
              </a:p>
            </p:txBody>
          </p:sp>
        </p:grpSp>
        <p:sp>
          <p:nvSpPr>
            <p:cNvPr id="30" name="AutoShape 30"/>
            <p:cNvSpPr/>
            <p:nvPr/>
          </p:nvSpPr>
          <p:spPr>
            <a:xfrm>
              <a:off x="5830499" y="1977782"/>
              <a:ext cx="0" cy="1760456"/>
            </a:xfrm>
            <a:prstGeom prst="line">
              <a:avLst/>
            </a:prstGeom>
            <a:ln w="50800" cap="flat">
              <a:solidFill>
                <a:srgbClr val="000000"/>
              </a:solidFill>
              <a:prstDash val="solid"/>
              <a:headEnd type="none" w="sm" len="sm"/>
              <a:tailEnd type="triangle" w="lg" len="med"/>
            </a:ln>
          </p:spPr>
          <p:txBody>
            <a:bodyPr/>
            <a:lstStyle/>
            <a:p>
              <a:endParaRPr lang="en-VN" dirty="0"/>
            </a:p>
          </p:txBody>
        </p:sp>
        <p:sp>
          <p:nvSpPr>
            <p:cNvPr id="31" name="AutoShape 31"/>
            <p:cNvSpPr/>
            <p:nvPr/>
          </p:nvSpPr>
          <p:spPr>
            <a:xfrm flipH="1">
              <a:off x="5830499" y="6132250"/>
              <a:ext cx="25032" cy="1393825"/>
            </a:xfrm>
            <a:prstGeom prst="line">
              <a:avLst/>
            </a:prstGeom>
            <a:ln w="50800" cap="flat">
              <a:solidFill>
                <a:srgbClr val="000000"/>
              </a:solidFill>
              <a:prstDash val="solid"/>
              <a:headEnd type="none" w="sm" len="sm"/>
              <a:tailEnd type="triangle" w="lg" len="med"/>
            </a:ln>
          </p:spPr>
          <p:txBody>
            <a:bodyPr/>
            <a:lstStyle/>
            <a:p>
              <a:endParaRPr lang="en-VN" dirty="0"/>
            </a:p>
          </p:txBody>
        </p:sp>
      </p:grpSp>
      <p:sp>
        <p:nvSpPr>
          <p:cNvPr id="32" name="TextBox 32"/>
          <p:cNvSpPr txBox="1"/>
          <p:nvPr/>
        </p:nvSpPr>
        <p:spPr>
          <a:xfrm>
            <a:off x="1687249" y="346410"/>
            <a:ext cx="3954904" cy="356289"/>
          </a:xfrm>
          <a:prstGeom prst="rect">
            <a:avLst/>
          </a:prstGeom>
        </p:spPr>
        <p:txBody>
          <a:bodyPr lIns="0" tIns="0" rIns="0" bIns="0" rtlCol="0" anchor="t">
            <a:spAutoFit/>
          </a:bodyPr>
          <a:lstStyle/>
          <a:p>
            <a:pPr algn="l">
              <a:lnSpc>
                <a:spcPts val="2940"/>
              </a:lnSpc>
            </a:pPr>
            <a:r>
              <a:rPr lang="en-US" sz="2100" b="1">
                <a:solidFill>
                  <a:srgbClr val="2C2C2C"/>
                </a:solidFill>
                <a:latin typeface="Roboto Slab Bold"/>
                <a:ea typeface="Roboto Slab Bold"/>
                <a:cs typeface="Roboto Slab Bold"/>
                <a:sym typeface="Roboto Slab Bold"/>
              </a:rPr>
              <a:t>HỌC VIỆN KỸ THUẬT MẬT MÃ</a:t>
            </a:r>
          </a:p>
        </p:txBody>
      </p:sp>
      <p:sp>
        <p:nvSpPr>
          <p:cNvPr id="33" name="Freeform 33"/>
          <p:cNvSpPr/>
          <p:nvPr/>
        </p:nvSpPr>
        <p:spPr>
          <a:xfrm>
            <a:off x="1028700" y="251389"/>
            <a:ext cx="551704" cy="584433"/>
          </a:xfrm>
          <a:custGeom>
            <a:avLst/>
            <a:gdLst/>
            <a:ahLst/>
            <a:cxnLst/>
            <a:rect l="l" t="t" r="r" b="b"/>
            <a:pathLst>
              <a:path w="551704" h="584433">
                <a:moveTo>
                  <a:pt x="0" y="0"/>
                </a:moveTo>
                <a:lnTo>
                  <a:pt x="551704" y="0"/>
                </a:lnTo>
                <a:lnTo>
                  <a:pt x="551704" y="584432"/>
                </a:lnTo>
                <a:lnTo>
                  <a:pt x="0" y="584432"/>
                </a:lnTo>
                <a:lnTo>
                  <a:pt x="0" y="0"/>
                </a:lnTo>
                <a:close/>
              </a:path>
            </a:pathLst>
          </a:custGeom>
          <a:blipFill>
            <a:blip r:embed="rId4"/>
            <a:stretch>
              <a:fillRect/>
            </a:stretch>
          </a:blipFill>
        </p:spPr>
        <p:txBody>
          <a:bodyPr/>
          <a:lstStyle/>
          <a:p>
            <a:endParaRPr lang="en-VN"/>
          </a:p>
        </p:txBody>
      </p:sp>
    </p:spTree>
  </p:cSld>
  <p:clrMapOvr>
    <a:masterClrMapping/>
  </p:clrMapOvr>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grpId="0" nodeType="withEffect">
                            <p:stCondLst>
                              <p:cond delay="180"/>
                            </p:stCondLst>
                            <p:childTnLst>
                              <p:set>
                                <p:cBhvr>
                                  <p:cTn id="5" dur="1" fill="hold">
                                    <p:stCondLst>
                                      <p:cond delay="0"/>
                                    </p:stCondLst>
                                  </p:cTn>
                                  <p:tgtEl>
                                    <p:spTgt spid="10"/>
                                  </p:tgtEl>
                                  <p:attrNameLst>
                                    <p:attrName>style.visibility</p:attrName>
                                  </p:attrNameLst>
                                </p:cBhvr>
                                <p:to>
                                  <p:strVal val="visible"/>
                                </p:to>
                              </p:set>
                              <p:animEffect transition="in" filter="wipe(left)">
                                <p:cBhvr>
                                  <p:cTn id="6" dur="860"/>
                                  <p:tgtEl>
                                    <p:spTgt spid="10"/>
                                  </p:tgtEl>
                                </p:cBhvr>
                              </p:animEffect>
                            </p:childTnLst>
                          </p:cTn>
                        </p:par>
                        <p:par>
                          <p:cTn id="7" presetID="10" presetClass="entr" presetSubtype="0" fill="hold" grpId="0" nodeType="withEffect">
                            <p:stCondLst>
                              <p:cond delay="350"/>
                            </p:stCondLst>
                            <p:childTnLst>
                              <p:set>
                                <p:cBhvr>
                                  <p:cTn id="8" dur="1" fill="hold">
                                    <p:stCondLst>
                                      <p:cond delay="0"/>
                                    </p:stCondLst>
                                  </p:cTn>
                                  <p:tgtEl>
                                    <p:spTgt spid="11"/>
                                  </p:tgtEl>
                                  <p:attrNameLst>
                                    <p:attrName>style.visibility</p:attrName>
                                  </p:attrNameLst>
                                </p:cBhvr>
                                <p:to>
                                  <p:strVal val="visible"/>
                                </p:to>
                              </p:set>
                              <p:animEffect transition="in" filter="wipe(left)">
                                <p:cBhvr>
                                  <p:cTn id="9" dur="860"/>
                                  <p:tgtEl>
                                    <p:spTgt spid="11"/>
                                  </p:tgtEl>
                                </p:cBhvr>
                              </p:animEffect>
                            </p:childTnLst>
                          </p:cTn>
                        </p:par>
                        <p:par>
                          <p:cTn id="10" presetID="10" presetClass="entr" presetSubtype="0" fill="hold" grpId="0" nodeType="withEffect">
                            <p:stCondLst>
                              <p:cond delay="520"/>
                            </p:stCondLst>
                            <p:childTnLst>
                              <p:set>
                                <p:cBhvr>
                                  <p:cTn id="11" dur="1" fill="hold">
                                    <p:stCondLst>
                                      <p:cond delay="0"/>
                                    </p:stCondLst>
                                  </p:cTn>
                                  <p:tgtEl>
                                    <p:spTgt spid="12"/>
                                  </p:tgtEl>
                                  <p:attrNameLst>
                                    <p:attrName>style.visibility</p:attrName>
                                  </p:attrNameLst>
                                </p:cBhvr>
                                <p:to>
                                  <p:strVal val="visible"/>
                                </p:to>
                              </p:set>
                              <p:animEffect transition="in" filter="wipe(left)">
                                <p:cBhvr>
                                  <p:cTn id="12" dur="860"/>
                                  <p:tgtEl>
                                    <p:spTgt spid="12"/>
                                  </p:tgtEl>
                                </p:cBhvr>
                              </p:animEffect>
                            </p:childTnLst>
                          </p:cTn>
                        </p:par>
                        <p:par>
                          <p:cTn id="13" presetID="10" presetClass="entr" presetSubtype="0" fill="hold" grpId="0" nodeType="withEffect">
                            <p:stCondLst>
                              <p:cond delay="690"/>
                            </p:stCondLst>
                            <p:childTnLst>
                              <p:set>
                                <p:cBhvr>
                                  <p:cTn id="14" dur="1" fill="hold">
                                    <p:stCondLst>
                                      <p:cond delay="0"/>
                                    </p:stCondLst>
                                  </p:cTn>
                                  <p:tgtEl>
                                    <p:spTgt spid="9"/>
                                  </p:tgtEl>
                                  <p:attrNameLst>
                                    <p:attrName>style.visibility</p:attrName>
                                  </p:attrNameLst>
                                </p:cBhvr>
                                <p:to>
                                  <p:strVal val="visible"/>
                                </p:to>
                              </p:set>
                              <p:animEffect transition="in" filter="wipe(left)">
                                <p:cBhvr>
                                  <p:cTn id="15" dur="860"/>
                                  <p:tgtEl>
                                    <p:spTgt spid="9"/>
                                  </p:tgtEl>
                                </p:cBhvr>
                              </p:animEffect>
                            </p:childTnLst>
                          </p:cTn>
                        </p:par>
                      </p:childTnLst>
                    </p:cTn>
                  </p:par>
                </p:childTnLst>
              </p:cTn>
            </p:seq>
          </p:childTnLst>
        </p:cTn>
      </p:par>
    </p:tnLst>
    <p:bldLst>
      <p:bldP spid="9" grpId="0"/>
      <p:bldP spid="10" grpId="0"/>
      <p:bldP spid="11" grpId="0"/>
      <p:bldP spid="1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10800000">
            <a:off x="17259300" y="-233820"/>
            <a:ext cx="1940843" cy="970417"/>
            <a:chOff x="0" y="0"/>
            <a:chExt cx="2587790" cy="1293889"/>
          </a:xfrm>
        </p:grpSpPr>
        <p:sp>
          <p:nvSpPr>
            <p:cNvPr id="3" name="Freeform 3"/>
            <p:cNvSpPr/>
            <p:nvPr/>
          </p:nvSpPr>
          <p:spPr>
            <a:xfrm>
              <a:off x="0" y="0"/>
              <a:ext cx="2587752" cy="1293876"/>
            </a:xfrm>
            <a:custGeom>
              <a:avLst/>
              <a:gdLst/>
              <a:ahLst/>
              <a:cxnLst/>
              <a:rect l="l" t="t" r="r" b="b"/>
              <a:pathLst>
                <a:path w="2587752" h="1293876">
                  <a:moveTo>
                    <a:pt x="0" y="0"/>
                  </a:moveTo>
                  <a:lnTo>
                    <a:pt x="2587752" y="0"/>
                  </a:lnTo>
                  <a:lnTo>
                    <a:pt x="2587752" y="1293876"/>
                  </a:lnTo>
                  <a:lnTo>
                    <a:pt x="0" y="1293876"/>
                  </a:lnTo>
                  <a:lnTo>
                    <a:pt x="0" y="0"/>
                  </a:lnTo>
                  <a:close/>
                </a:path>
              </a:pathLst>
            </a:custGeom>
            <a:blipFill>
              <a:blip r:embed="rId2"/>
              <a:stretch>
                <a:fillRect r="-1"/>
              </a:stretch>
            </a:blipFill>
          </p:spPr>
          <p:txBody>
            <a:bodyPr/>
            <a:lstStyle/>
            <a:p>
              <a:endParaRPr lang="en-VN"/>
            </a:p>
          </p:txBody>
        </p:sp>
      </p:grpSp>
      <p:grpSp>
        <p:nvGrpSpPr>
          <p:cNvPr id="4" name="Group 4"/>
          <p:cNvGrpSpPr/>
          <p:nvPr/>
        </p:nvGrpSpPr>
        <p:grpSpPr>
          <a:xfrm>
            <a:off x="-912143" y="9429369"/>
            <a:ext cx="1940843" cy="970417"/>
            <a:chOff x="0" y="0"/>
            <a:chExt cx="2587790" cy="1293889"/>
          </a:xfrm>
        </p:grpSpPr>
        <p:sp>
          <p:nvSpPr>
            <p:cNvPr id="5" name="Freeform 5"/>
            <p:cNvSpPr/>
            <p:nvPr/>
          </p:nvSpPr>
          <p:spPr>
            <a:xfrm>
              <a:off x="0" y="0"/>
              <a:ext cx="2587752" cy="1293876"/>
            </a:xfrm>
            <a:custGeom>
              <a:avLst/>
              <a:gdLst/>
              <a:ahLst/>
              <a:cxnLst/>
              <a:rect l="l" t="t" r="r" b="b"/>
              <a:pathLst>
                <a:path w="2587752" h="1293876">
                  <a:moveTo>
                    <a:pt x="0" y="0"/>
                  </a:moveTo>
                  <a:lnTo>
                    <a:pt x="2587752" y="0"/>
                  </a:lnTo>
                  <a:lnTo>
                    <a:pt x="2587752" y="1293876"/>
                  </a:lnTo>
                  <a:lnTo>
                    <a:pt x="0" y="1293876"/>
                  </a:lnTo>
                  <a:lnTo>
                    <a:pt x="0" y="0"/>
                  </a:lnTo>
                  <a:close/>
                </a:path>
              </a:pathLst>
            </a:custGeom>
            <a:blipFill>
              <a:blip r:embed="rId2"/>
              <a:stretch>
                <a:fillRect r="-1"/>
              </a:stretch>
            </a:blipFill>
          </p:spPr>
          <p:txBody>
            <a:bodyPr/>
            <a:lstStyle/>
            <a:p>
              <a:endParaRPr lang="en-VN"/>
            </a:p>
          </p:txBody>
        </p:sp>
      </p:grpSp>
      <p:grpSp>
        <p:nvGrpSpPr>
          <p:cNvPr id="6" name="Group 6"/>
          <p:cNvGrpSpPr/>
          <p:nvPr/>
        </p:nvGrpSpPr>
        <p:grpSpPr>
          <a:xfrm>
            <a:off x="-3127839" y="9986436"/>
            <a:ext cx="22035035" cy="2837612"/>
            <a:chOff x="0" y="0"/>
            <a:chExt cx="5803466" cy="747355"/>
          </a:xfrm>
        </p:grpSpPr>
        <p:sp>
          <p:nvSpPr>
            <p:cNvPr id="7" name="Freeform 7"/>
            <p:cNvSpPr/>
            <p:nvPr/>
          </p:nvSpPr>
          <p:spPr>
            <a:xfrm>
              <a:off x="0" y="0"/>
              <a:ext cx="5803466" cy="747355"/>
            </a:xfrm>
            <a:custGeom>
              <a:avLst/>
              <a:gdLst/>
              <a:ahLst/>
              <a:cxnLst/>
              <a:rect l="l" t="t" r="r" b="b"/>
              <a:pathLst>
                <a:path w="5803466" h="747355">
                  <a:moveTo>
                    <a:pt x="0" y="0"/>
                  </a:moveTo>
                  <a:lnTo>
                    <a:pt x="5803466" y="0"/>
                  </a:lnTo>
                  <a:lnTo>
                    <a:pt x="5803466" y="747355"/>
                  </a:lnTo>
                  <a:lnTo>
                    <a:pt x="0" y="747355"/>
                  </a:lnTo>
                  <a:close/>
                </a:path>
              </a:pathLst>
            </a:custGeom>
            <a:solidFill>
              <a:srgbClr val="3C4F75"/>
            </a:solidFill>
          </p:spPr>
          <p:txBody>
            <a:bodyPr/>
            <a:lstStyle/>
            <a:p>
              <a:endParaRPr lang="en-VN"/>
            </a:p>
          </p:txBody>
        </p:sp>
        <p:sp>
          <p:nvSpPr>
            <p:cNvPr id="8" name="TextBox 8"/>
            <p:cNvSpPr txBox="1"/>
            <p:nvPr/>
          </p:nvSpPr>
          <p:spPr>
            <a:xfrm>
              <a:off x="0" y="-47625"/>
              <a:ext cx="5803466" cy="794980"/>
            </a:xfrm>
            <a:prstGeom prst="rect">
              <a:avLst/>
            </a:prstGeom>
          </p:spPr>
          <p:txBody>
            <a:bodyPr lIns="50800" tIns="50800" rIns="50800" bIns="50800" rtlCol="0" anchor="ctr"/>
            <a:lstStyle/>
            <a:p>
              <a:pPr algn="ctr">
                <a:lnSpc>
                  <a:spcPts val="2940"/>
                </a:lnSpc>
              </a:pPr>
              <a:endParaRPr/>
            </a:p>
          </p:txBody>
        </p:sp>
      </p:grpSp>
      <p:sp>
        <p:nvSpPr>
          <p:cNvPr id="9" name="TextBox 9"/>
          <p:cNvSpPr txBox="1"/>
          <p:nvPr/>
        </p:nvSpPr>
        <p:spPr>
          <a:xfrm>
            <a:off x="1028700" y="1095375"/>
            <a:ext cx="10321094" cy="534618"/>
          </a:xfrm>
          <a:prstGeom prst="rect">
            <a:avLst/>
          </a:prstGeom>
        </p:spPr>
        <p:txBody>
          <a:bodyPr lIns="0" tIns="0" rIns="0" bIns="0" rtlCol="0" anchor="t">
            <a:spAutoFit/>
          </a:bodyPr>
          <a:lstStyle/>
          <a:p>
            <a:pPr algn="just">
              <a:lnSpc>
                <a:spcPts val="4039"/>
              </a:lnSpc>
            </a:pPr>
            <a:r>
              <a:rPr lang="en-US" sz="3999" b="1">
                <a:solidFill>
                  <a:srgbClr val="0C1D4B"/>
                </a:solidFill>
                <a:latin typeface="Roboto Slab Bold"/>
                <a:ea typeface="Roboto Slab Bold"/>
                <a:cs typeface="Roboto Slab Bold"/>
                <a:sym typeface="Roboto Slab Bold"/>
              </a:rPr>
              <a:t>2.2. Một số phương pháp xây dựng Chatbot</a:t>
            </a:r>
          </a:p>
        </p:txBody>
      </p:sp>
      <p:sp>
        <p:nvSpPr>
          <p:cNvPr id="10" name="TextBox 10"/>
          <p:cNvSpPr txBox="1"/>
          <p:nvPr/>
        </p:nvSpPr>
        <p:spPr>
          <a:xfrm>
            <a:off x="1028700" y="1725243"/>
            <a:ext cx="10081822" cy="685800"/>
          </a:xfrm>
          <a:prstGeom prst="rect">
            <a:avLst/>
          </a:prstGeom>
        </p:spPr>
        <p:txBody>
          <a:bodyPr lIns="0" tIns="0" rIns="0" bIns="0" rtlCol="0" anchor="t">
            <a:spAutoFit/>
          </a:bodyPr>
          <a:lstStyle/>
          <a:p>
            <a:pPr algn="just">
              <a:lnSpc>
                <a:spcPts val="6000"/>
              </a:lnSpc>
            </a:pPr>
            <a:r>
              <a:rPr lang="en-US" sz="3000" b="1">
                <a:solidFill>
                  <a:srgbClr val="0C1D4B"/>
                </a:solidFill>
                <a:latin typeface="Roboto Slab Bold"/>
                <a:ea typeface="Roboto Slab Bold"/>
                <a:cs typeface="Roboto Slab Bold"/>
                <a:sym typeface="Roboto Slab Bold"/>
              </a:rPr>
              <a:t>Chatbot dựa trên LLMs</a:t>
            </a:r>
          </a:p>
        </p:txBody>
      </p:sp>
      <p:sp>
        <p:nvSpPr>
          <p:cNvPr id="11" name="TextBox 11"/>
          <p:cNvSpPr txBox="1"/>
          <p:nvPr/>
        </p:nvSpPr>
        <p:spPr>
          <a:xfrm>
            <a:off x="1028700" y="2630118"/>
            <a:ext cx="9079671" cy="2772681"/>
          </a:xfrm>
          <a:prstGeom prst="rect">
            <a:avLst/>
          </a:prstGeom>
        </p:spPr>
        <p:txBody>
          <a:bodyPr lIns="0" tIns="0" rIns="0" bIns="0" rtlCol="0" anchor="t">
            <a:spAutoFit/>
          </a:bodyPr>
          <a:lstStyle/>
          <a:p>
            <a:pPr marL="604519" lvl="1" indent="-302260" algn="l">
              <a:lnSpc>
                <a:spcPts val="4479"/>
              </a:lnSpc>
              <a:buFont typeface="Arial"/>
              <a:buChar char="•"/>
            </a:pPr>
            <a:r>
              <a:rPr lang="en-US" sz="2799">
                <a:solidFill>
                  <a:srgbClr val="0C1D4B"/>
                </a:solidFill>
                <a:latin typeface="Roboto Slab"/>
                <a:ea typeface="Roboto Slab"/>
                <a:cs typeface="Roboto Slab"/>
                <a:sym typeface="Roboto Slab"/>
              </a:rPr>
              <a:t>LLMs là các mô hình ngôn ngữ lớn có khả năng xử lý, hiểu và tạo sinh ngôn ngữ tự nhiên</a:t>
            </a:r>
          </a:p>
          <a:p>
            <a:pPr marL="604519" lvl="1" indent="-302260" algn="l">
              <a:lnSpc>
                <a:spcPts val="4479"/>
              </a:lnSpc>
              <a:buFont typeface="Arial"/>
              <a:buChar char="•"/>
            </a:pPr>
            <a:r>
              <a:rPr lang="en-US" sz="2799">
                <a:solidFill>
                  <a:srgbClr val="0C1D4B"/>
                </a:solidFill>
                <a:latin typeface="Roboto Slab"/>
                <a:ea typeface="Roboto Slab"/>
                <a:cs typeface="Roboto Slab"/>
                <a:sym typeface="Roboto Slab"/>
              </a:rPr>
              <a:t>Chatbot nhận đầu vào, sử dụng LLMs để tạo sinh đầu ra</a:t>
            </a:r>
          </a:p>
          <a:p>
            <a:pPr marL="604519" lvl="1" indent="-302260" algn="l">
              <a:lnSpc>
                <a:spcPts val="4479"/>
              </a:lnSpc>
              <a:buFont typeface="Arial"/>
              <a:buChar char="•"/>
            </a:pPr>
            <a:r>
              <a:rPr lang="en-US" sz="2799">
                <a:solidFill>
                  <a:srgbClr val="0C1D4B"/>
                </a:solidFill>
                <a:latin typeface="Roboto Slab"/>
                <a:ea typeface="Roboto Slab"/>
                <a:cs typeface="Roboto Slab"/>
                <a:sym typeface="Roboto Slab"/>
              </a:rPr>
              <a:t>Trả lời linh hoạt, thấu hiểu ngữ cảnh</a:t>
            </a:r>
          </a:p>
        </p:txBody>
      </p:sp>
      <p:sp>
        <p:nvSpPr>
          <p:cNvPr id="12" name="TextBox 12"/>
          <p:cNvSpPr txBox="1"/>
          <p:nvPr/>
        </p:nvSpPr>
        <p:spPr>
          <a:xfrm>
            <a:off x="10504770" y="9157959"/>
            <a:ext cx="6942696" cy="346683"/>
          </a:xfrm>
          <a:prstGeom prst="rect">
            <a:avLst/>
          </a:prstGeom>
        </p:spPr>
        <p:txBody>
          <a:bodyPr lIns="0" tIns="0" rIns="0" bIns="0" rtlCol="0" anchor="t">
            <a:spAutoFit/>
          </a:bodyPr>
          <a:lstStyle/>
          <a:p>
            <a:pPr algn="ctr">
              <a:lnSpc>
                <a:spcPts val="2880"/>
              </a:lnSpc>
            </a:pPr>
            <a:r>
              <a:rPr lang="en-US" sz="1800" i="1">
                <a:solidFill>
                  <a:srgbClr val="0C1D4B"/>
                </a:solidFill>
                <a:latin typeface="Roboto Italics"/>
                <a:ea typeface="Roboto Italics"/>
                <a:cs typeface="Roboto Italics"/>
                <a:sym typeface="Roboto Italics"/>
              </a:rPr>
              <a:t>** “Bịa” là từ thể hiện việc tự nghĩ ra nội dung không có thật</a:t>
            </a:r>
          </a:p>
        </p:txBody>
      </p:sp>
      <p:grpSp>
        <p:nvGrpSpPr>
          <p:cNvPr id="13" name="Group 13"/>
          <p:cNvGrpSpPr/>
          <p:nvPr/>
        </p:nvGrpSpPr>
        <p:grpSpPr>
          <a:xfrm>
            <a:off x="10189148" y="2474109"/>
            <a:ext cx="7516677" cy="1956573"/>
            <a:chOff x="0" y="0"/>
            <a:chExt cx="10022237" cy="2608765"/>
          </a:xfrm>
        </p:grpSpPr>
        <p:sp>
          <p:nvSpPr>
            <p:cNvPr id="14" name="Freeform 14"/>
            <p:cNvSpPr/>
            <p:nvPr/>
          </p:nvSpPr>
          <p:spPr>
            <a:xfrm>
              <a:off x="4312764" y="0"/>
              <a:ext cx="1398740" cy="1404010"/>
            </a:xfrm>
            <a:custGeom>
              <a:avLst/>
              <a:gdLst/>
              <a:ahLst/>
              <a:cxnLst/>
              <a:rect l="l" t="t" r="r" b="b"/>
              <a:pathLst>
                <a:path w="1398740" h="1404010">
                  <a:moveTo>
                    <a:pt x="0" y="0"/>
                  </a:moveTo>
                  <a:lnTo>
                    <a:pt x="1398740" y="0"/>
                  </a:lnTo>
                  <a:lnTo>
                    <a:pt x="1398740" y="1404010"/>
                  </a:lnTo>
                  <a:lnTo>
                    <a:pt x="0" y="1404010"/>
                  </a:lnTo>
                  <a:lnTo>
                    <a:pt x="0" y="0"/>
                  </a:lnTo>
                  <a:close/>
                </a:path>
              </a:pathLst>
            </a:custGeom>
            <a:blipFill>
              <a:blip>
                <a:extLst>
                  <a:ext uri="{96DAC541-7B7A-43D3-8B79-37D633B846F1}">
                    <asvg:svgBlip xmlns:asvg="http://schemas.microsoft.com/office/drawing/2016/SVG/main" r:embed="rId3"/>
                  </a:ext>
                </a:extLst>
              </a:blip>
              <a:stretch>
                <a:fillRect l="-187" r="-188"/>
              </a:stretch>
            </a:blipFill>
          </p:spPr>
          <p:txBody>
            <a:bodyPr/>
            <a:lstStyle/>
            <a:p>
              <a:endParaRPr lang="en-VN"/>
            </a:p>
          </p:txBody>
        </p:sp>
        <p:grpSp>
          <p:nvGrpSpPr>
            <p:cNvPr id="15" name="Group 15"/>
            <p:cNvGrpSpPr/>
            <p:nvPr/>
          </p:nvGrpSpPr>
          <p:grpSpPr>
            <a:xfrm>
              <a:off x="0" y="1682737"/>
              <a:ext cx="2758266" cy="876752"/>
              <a:chOff x="0" y="0"/>
              <a:chExt cx="544843" cy="173186"/>
            </a:xfrm>
          </p:grpSpPr>
          <p:sp>
            <p:nvSpPr>
              <p:cNvPr id="16" name="Freeform 16"/>
              <p:cNvSpPr/>
              <p:nvPr/>
            </p:nvSpPr>
            <p:spPr>
              <a:xfrm>
                <a:off x="0" y="0"/>
                <a:ext cx="544843" cy="173186"/>
              </a:xfrm>
              <a:custGeom>
                <a:avLst/>
                <a:gdLst/>
                <a:ahLst/>
                <a:cxnLst/>
                <a:rect l="l" t="t" r="r" b="b"/>
                <a:pathLst>
                  <a:path w="544843" h="173186">
                    <a:moveTo>
                      <a:pt x="86593" y="0"/>
                    </a:moveTo>
                    <a:lnTo>
                      <a:pt x="458250" y="0"/>
                    </a:lnTo>
                    <a:cubicBezTo>
                      <a:pt x="481216" y="0"/>
                      <a:pt x="503241" y="9123"/>
                      <a:pt x="519480" y="25362"/>
                    </a:cubicBezTo>
                    <a:cubicBezTo>
                      <a:pt x="535719" y="41602"/>
                      <a:pt x="544843" y="63627"/>
                      <a:pt x="544843" y="86593"/>
                    </a:cubicBezTo>
                    <a:lnTo>
                      <a:pt x="544843" y="86593"/>
                    </a:lnTo>
                    <a:cubicBezTo>
                      <a:pt x="544843" y="134417"/>
                      <a:pt x="506074" y="173186"/>
                      <a:pt x="458250" y="173186"/>
                    </a:cubicBezTo>
                    <a:lnTo>
                      <a:pt x="86593" y="173186"/>
                    </a:lnTo>
                    <a:cubicBezTo>
                      <a:pt x="63627" y="173186"/>
                      <a:pt x="41602" y="164062"/>
                      <a:pt x="25362" y="147823"/>
                    </a:cubicBezTo>
                    <a:cubicBezTo>
                      <a:pt x="9123" y="131584"/>
                      <a:pt x="0" y="109559"/>
                      <a:pt x="0" y="86593"/>
                    </a:cubicBezTo>
                    <a:lnTo>
                      <a:pt x="0" y="86593"/>
                    </a:lnTo>
                    <a:cubicBezTo>
                      <a:pt x="0" y="63627"/>
                      <a:pt x="9123" y="41602"/>
                      <a:pt x="25362" y="25362"/>
                    </a:cubicBezTo>
                    <a:cubicBezTo>
                      <a:pt x="41602" y="9123"/>
                      <a:pt x="63627" y="0"/>
                      <a:pt x="86593" y="0"/>
                    </a:cubicBezTo>
                    <a:close/>
                  </a:path>
                </a:pathLst>
              </a:custGeom>
              <a:ln w="28575" cap="rnd">
                <a:solidFill>
                  <a:srgbClr val="000000"/>
                </a:solidFill>
                <a:prstDash val="solid"/>
                <a:round/>
              </a:ln>
            </p:spPr>
            <p:txBody>
              <a:bodyPr/>
              <a:lstStyle/>
              <a:p>
                <a:endParaRPr lang="en-VN"/>
              </a:p>
            </p:txBody>
          </p:sp>
          <p:sp>
            <p:nvSpPr>
              <p:cNvPr id="17" name="TextBox 17"/>
              <p:cNvSpPr txBox="1"/>
              <p:nvPr/>
            </p:nvSpPr>
            <p:spPr>
              <a:xfrm>
                <a:off x="0" y="-38100"/>
                <a:ext cx="544843" cy="211286"/>
              </a:xfrm>
              <a:prstGeom prst="rect">
                <a:avLst/>
              </a:prstGeom>
            </p:spPr>
            <p:txBody>
              <a:bodyPr lIns="50800" tIns="50800" rIns="50800" bIns="50800" rtlCol="0" anchor="ctr"/>
              <a:lstStyle/>
              <a:p>
                <a:pPr algn="ctr">
                  <a:lnSpc>
                    <a:spcPts val="2940"/>
                  </a:lnSpc>
                </a:pPr>
                <a:r>
                  <a:rPr lang="en-US" sz="2100" b="1">
                    <a:solidFill>
                      <a:srgbClr val="000000"/>
                    </a:solidFill>
                    <a:latin typeface="Roboto Slab Bold"/>
                    <a:ea typeface="Roboto Slab Bold"/>
                    <a:cs typeface="Roboto Slab Bold"/>
                    <a:sym typeface="Roboto Slab Bold"/>
                  </a:rPr>
                  <a:t>Câu hỏi</a:t>
                </a:r>
              </a:p>
            </p:txBody>
          </p:sp>
        </p:grpSp>
        <p:sp>
          <p:nvSpPr>
            <p:cNvPr id="18" name="TextBox 18"/>
            <p:cNvSpPr txBox="1"/>
            <p:nvPr/>
          </p:nvSpPr>
          <p:spPr>
            <a:xfrm>
              <a:off x="3725497" y="1557261"/>
              <a:ext cx="2573274" cy="1051503"/>
            </a:xfrm>
            <a:prstGeom prst="rect">
              <a:avLst/>
            </a:prstGeom>
          </p:spPr>
          <p:txBody>
            <a:bodyPr lIns="0" tIns="0" rIns="0" bIns="0" rtlCol="0" anchor="t">
              <a:spAutoFit/>
            </a:bodyPr>
            <a:lstStyle/>
            <a:p>
              <a:pPr algn="ctr">
                <a:lnSpc>
                  <a:spcPts val="3361"/>
                </a:lnSpc>
              </a:pPr>
              <a:r>
                <a:rPr lang="en-US" sz="2100" b="1">
                  <a:solidFill>
                    <a:srgbClr val="0C1D4B"/>
                  </a:solidFill>
                  <a:latin typeface="Roboto Slab Bold"/>
                  <a:ea typeface="Roboto Slab Bold"/>
                  <a:cs typeface="Roboto Slab Bold"/>
                  <a:sym typeface="Roboto Slab Bold"/>
                </a:rPr>
                <a:t>LLMs sinh câu trả lời</a:t>
              </a:r>
            </a:p>
          </p:txBody>
        </p:sp>
        <p:sp>
          <p:nvSpPr>
            <p:cNvPr id="19" name="AutoShape 19"/>
            <p:cNvSpPr/>
            <p:nvPr/>
          </p:nvSpPr>
          <p:spPr>
            <a:xfrm>
              <a:off x="2758266" y="2121113"/>
              <a:ext cx="967231" cy="0"/>
            </a:xfrm>
            <a:prstGeom prst="line">
              <a:avLst/>
            </a:prstGeom>
            <a:ln w="50800" cap="flat">
              <a:solidFill>
                <a:srgbClr val="000000"/>
              </a:solidFill>
              <a:prstDash val="solid"/>
              <a:headEnd type="none" w="sm" len="sm"/>
              <a:tailEnd type="triangle" w="lg" len="med"/>
            </a:ln>
          </p:spPr>
          <p:txBody>
            <a:bodyPr/>
            <a:lstStyle/>
            <a:p>
              <a:endParaRPr lang="en-VN"/>
            </a:p>
          </p:txBody>
        </p:sp>
        <p:grpSp>
          <p:nvGrpSpPr>
            <p:cNvPr id="20" name="Group 20"/>
            <p:cNvGrpSpPr/>
            <p:nvPr/>
          </p:nvGrpSpPr>
          <p:grpSpPr>
            <a:xfrm>
              <a:off x="7263971" y="1682737"/>
              <a:ext cx="2758266" cy="876752"/>
              <a:chOff x="0" y="0"/>
              <a:chExt cx="544843" cy="173186"/>
            </a:xfrm>
          </p:grpSpPr>
          <p:sp>
            <p:nvSpPr>
              <p:cNvPr id="21" name="Freeform 21"/>
              <p:cNvSpPr/>
              <p:nvPr/>
            </p:nvSpPr>
            <p:spPr>
              <a:xfrm>
                <a:off x="0" y="0"/>
                <a:ext cx="544843" cy="173186"/>
              </a:xfrm>
              <a:custGeom>
                <a:avLst/>
                <a:gdLst/>
                <a:ahLst/>
                <a:cxnLst/>
                <a:rect l="l" t="t" r="r" b="b"/>
                <a:pathLst>
                  <a:path w="544843" h="173186">
                    <a:moveTo>
                      <a:pt x="86593" y="0"/>
                    </a:moveTo>
                    <a:lnTo>
                      <a:pt x="458250" y="0"/>
                    </a:lnTo>
                    <a:cubicBezTo>
                      <a:pt x="481216" y="0"/>
                      <a:pt x="503241" y="9123"/>
                      <a:pt x="519480" y="25362"/>
                    </a:cubicBezTo>
                    <a:cubicBezTo>
                      <a:pt x="535719" y="41602"/>
                      <a:pt x="544843" y="63627"/>
                      <a:pt x="544843" y="86593"/>
                    </a:cubicBezTo>
                    <a:lnTo>
                      <a:pt x="544843" y="86593"/>
                    </a:lnTo>
                    <a:cubicBezTo>
                      <a:pt x="544843" y="134417"/>
                      <a:pt x="506074" y="173186"/>
                      <a:pt x="458250" y="173186"/>
                    </a:cubicBezTo>
                    <a:lnTo>
                      <a:pt x="86593" y="173186"/>
                    </a:lnTo>
                    <a:cubicBezTo>
                      <a:pt x="63627" y="173186"/>
                      <a:pt x="41602" y="164062"/>
                      <a:pt x="25362" y="147823"/>
                    </a:cubicBezTo>
                    <a:cubicBezTo>
                      <a:pt x="9123" y="131584"/>
                      <a:pt x="0" y="109559"/>
                      <a:pt x="0" y="86593"/>
                    </a:cubicBezTo>
                    <a:lnTo>
                      <a:pt x="0" y="86593"/>
                    </a:lnTo>
                    <a:cubicBezTo>
                      <a:pt x="0" y="63627"/>
                      <a:pt x="9123" y="41602"/>
                      <a:pt x="25362" y="25362"/>
                    </a:cubicBezTo>
                    <a:cubicBezTo>
                      <a:pt x="41602" y="9123"/>
                      <a:pt x="63627" y="0"/>
                      <a:pt x="86593" y="0"/>
                    </a:cubicBezTo>
                    <a:close/>
                  </a:path>
                </a:pathLst>
              </a:custGeom>
              <a:ln w="28575" cap="rnd">
                <a:solidFill>
                  <a:srgbClr val="000000"/>
                </a:solidFill>
                <a:prstDash val="solid"/>
                <a:round/>
              </a:ln>
            </p:spPr>
            <p:txBody>
              <a:bodyPr/>
              <a:lstStyle/>
              <a:p>
                <a:endParaRPr lang="en-VN"/>
              </a:p>
            </p:txBody>
          </p:sp>
          <p:sp>
            <p:nvSpPr>
              <p:cNvPr id="22" name="TextBox 22"/>
              <p:cNvSpPr txBox="1"/>
              <p:nvPr/>
            </p:nvSpPr>
            <p:spPr>
              <a:xfrm>
                <a:off x="0" y="-38100"/>
                <a:ext cx="544843" cy="211286"/>
              </a:xfrm>
              <a:prstGeom prst="rect">
                <a:avLst/>
              </a:prstGeom>
            </p:spPr>
            <p:txBody>
              <a:bodyPr lIns="50800" tIns="50800" rIns="50800" bIns="50800" rtlCol="0" anchor="ctr"/>
              <a:lstStyle/>
              <a:p>
                <a:pPr algn="ctr">
                  <a:lnSpc>
                    <a:spcPts val="2940"/>
                  </a:lnSpc>
                </a:pPr>
                <a:r>
                  <a:rPr lang="en-US" sz="2100" b="1">
                    <a:solidFill>
                      <a:srgbClr val="000000"/>
                    </a:solidFill>
                    <a:latin typeface="Roboto Slab Bold"/>
                    <a:ea typeface="Roboto Slab Bold"/>
                    <a:cs typeface="Roboto Slab Bold"/>
                    <a:sym typeface="Roboto Slab Bold"/>
                  </a:rPr>
                  <a:t>Trả lời</a:t>
                </a:r>
              </a:p>
            </p:txBody>
          </p:sp>
        </p:grpSp>
        <p:sp>
          <p:nvSpPr>
            <p:cNvPr id="23" name="AutoShape 23"/>
            <p:cNvSpPr/>
            <p:nvPr/>
          </p:nvSpPr>
          <p:spPr>
            <a:xfrm>
              <a:off x="6298771" y="2121113"/>
              <a:ext cx="965200" cy="0"/>
            </a:xfrm>
            <a:prstGeom prst="line">
              <a:avLst/>
            </a:prstGeom>
            <a:ln w="50800" cap="flat">
              <a:solidFill>
                <a:srgbClr val="000000"/>
              </a:solidFill>
              <a:prstDash val="solid"/>
              <a:headEnd type="none" w="sm" len="sm"/>
              <a:tailEnd type="triangle" w="lg" len="med"/>
            </a:ln>
          </p:spPr>
          <p:txBody>
            <a:bodyPr/>
            <a:lstStyle/>
            <a:p>
              <a:endParaRPr lang="en-VN"/>
            </a:p>
          </p:txBody>
        </p:sp>
      </p:grpSp>
      <p:grpSp>
        <p:nvGrpSpPr>
          <p:cNvPr id="24" name="Group 24"/>
          <p:cNvGrpSpPr/>
          <p:nvPr/>
        </p:nvGrpSpPr>
        <p:grpSpPr>
          <a:xfrm>
            <a:off x="10345765" y="5143500"/>
            <a:ext cx="7360061" cy="3707261"/>
            <a:chOff x="0" y="0"/>
            <a:chExt cx="9813414" cy="4943015"/>
          </a:xfrm>
        </p:grpSpPr>
        <p:sp>
          <p:nvSpPr>
            <p:cNvPr id="25" name="TextBox 25"/>
            <p:cNvSpPr txBox="1"/>
            <p:nvPr/>
          </p:nvSpPr>
          <p:spPr>
            <a:xfrm>
              <a:off x="3863372" y="4439316"/>
              <a:ext cx="996239" cy="503699"/>
            </a:xfrm>
            <a:prstGeom prst="rect">
              <a:avLst/>
            </a:prstGeom>
          </p:spPr>
          <p:txBody>
            <a:bodyPr lIns="0" tIns="0" rIns="0" bIns="0" rtlCol="0" anchor="t">
              <a:spAutoFit/>
            </a:bodyPr>
            <a:lstStyle/>
            <a:p>
              <a:pPr algn="just">
                <a:lnSpc>
                  <a:spcPts val="3398"/>
                </a:lnSpc>
              </a:pPr>
              <a:r>
                <a:rPr lang="en-US" sz="2122" b="1">
                  <a:solidFill>
                    <a:srgbClr val="0C1D4B"/>
                  </a:solidFill>
                  <a:latin typeface="Roboto Slab Bold"/>
                  <a:ea typeface="Roboto Slab Bold"/>
                  <a:cs typeface="Roboto Slab Bold"/>
                  <a:sym typeface="Roboto Slab Bold"/>
                </a:rPr>
                <a:t>LLMs</a:t>
              </a:r>
            </a:p>
          </p:txBody>
        </p:sp>
        <p:sp>
          <p:nvSpPr>
            <p:cNvPr id="26" name="Freeform 26"/>
            <p:cNvSpPr/>
            <p:nvPr/>
          </p:nvSpPr>
          <p:spPr>
            <a:xfrm>
              <a:off x="3662115" y="3128435"/>
              <a:ext cx="1398740" cy="1404010"/>
            </a:xfrm>
            <a:custGeom>
              <a:avLst/>
              <a:gdLst/>
              <a:ahLst/>
              <a:cxnLst/>
              <a:rect l="l" t="t" r="r" b="b"/>
              <a:pathLst>
                <a:path w="1398740" h="1404010">
                  <a:moveTo>
                    <a:pt x="0" y="0"/>
                  </a:moveTo>
                  <a:lnTo>
                    <a:pt x="1398740" y="0"/>
                  </a:lnTo>
                  <a:lnTo>
                    <a:pt x="1398740" y="1404010"/>
                  </a:lnTo>
                  <a:lnTo>
                    <a:pt x="0" y="1404010"/>
                  </a:lnTo>
                  <a:lnTo>
                    <a:pt x="0" y="0"/>
                  </a:lnTo>
                  <a:close/>
                </a:path>
              </a:pathLst>
            </a:custGeom>
            <a:blipFill>
              <a:blip>
                <a:extLst>
                  <a:ext uri="{96DAC541-7B7A-43D3-8B79-37D633B846F1}">
                    <asvg:svgBlip xmlns:asvg="http://schemas.microsoft.com/office/drawing/2016/SVG/main" r:embed="rId3"/>
                  </a:ext>
                </a:extLst>
              </a:blip>
              <a:stretch>
                <a:fillRect l="-187" r="-188"/>
              </a:stretch>
            </a:blipFill>
          </p:spPr>
          <p:txBody>
            <a:bodyPr/>
            <a:lstStyle/>
            <a:p>
              <a:endParaRPr lang="en-VN"/>
            </a:p>
          </p:txBody>
        </p:sp>
        <p:sp>
          <p:nvSpPr>
            <p:cNvPr id="27" name="Freeform 27"/>
            <p:cNvSpPr/>
            <p:nvPr/>
          </p:nvSpPr>
          <p:spPr>
            <a:xfrm>
              <a:off x="4668413" y="0"/>
              <a:ext cx="5145001" cy="3125588"/>
            </a:xfrm>
            <a:custGeom>
              <a:avLst/>
              <a:gdLst/>
              <a:ahLst/>
              <a:cxnLst/>
              <a:rect l="l" t="t" r="r" b="b"/>
              <a:pathLst>
                <a:path w="5145001" h="3125588">
                  <a:moveTo>
                    <a:pt x="0" y="0"/>
                  </a:moveTo>
                  <a:lnTo>
                    <a:pt x="5145001" y="0"/>
                  </a:lnTo>
                  <a:lnTo>
                    <a:pt x="5145001" y="3125588"/>
                  </a:lnTo>
                  <a:lnTo>
                    <a:pt x="0" y="3125588"/>
                  </a:lnTo>
                  <a:lnTo>
                    <a:pt x="0" y="0"/>
                  </a:lnTo>
                  <a:close/>
                </a:path>
              </a:pathLst>
            </a:custGeom>
            <a:blipFill>
              <a:blip>
                <a:extLst>
                  <a:ext uri="{96DAC541-7B7A-43D3-8B79-37D633B846F1}">
                    <asvg:svgBlip xmlns:asvg="http://schemas.microsoft.com/office/drawing/2016/SVG/main" r:embed="rId4"/>
                  </a:ext>
                </a:extLst>
              </a:blip>
              <a:stretch>
                <a:fillRect t="-139" b="-139"/>
              </a:stretch>
            </a:blipFill>
          </p:spPr>
          <p:txBody>
            <a:bodyPr/>
            <a:lstStyle/>
            <a:p>
              <a:endParaRPr lang="en-VN"/>
            </a:p>
          </p:txBody>
        </p:sp>
        <p:sp>
          <p:nvSpPr>
            <p:cNvPr id="28" name="TextBox 28"/>
            <p:cNvSpPr txBox="1"/>
            <p:nvPr/>
          </p:nvSpPr>
          <p:spPr>
            <a:xfrm>
              <a:off x="5655050" y="661498"/>
              <a:ext cx="2848216" cy="1243785"/>
            </a:xfrm>
            <a:prstGeom prst="rect">
              <a:avLst/>
            </a:prstGeom>
          </p:spPr>
          <p:txBody>
            <a:bodyPr lIns="0" tIns="0" rIns="0" bIns="0" rtlCol="0" anchor="t">
              <a:spAutoFit/>
            </a:bodyPr>
            <a:lstStyle/>
            <a:p>
              <a:pPr algn="ctr">
                <a:lnSpc>
                  <a:spcPts val="2520"/>
                </a:lnSpc>
              </a:pPr>
              <a:r>
                <a:rPr lang="en-US" sz="1800" b="1" spc="42">
                  <a:solidFill>
                    <a:srgbClr val="0D1D4B"/>
                  </a:solidFill>
                  <a:latin typeface="Roboto Slab Bold"/>
                  <a:ea typeface="Roboto Slab Bold"/>
                  <a:cs typeface="Roboto Slab Bold"/>
                  <a:sym typeface="Roboto Slab Bold"/>
                </a:rPr>
                <a:t>Chưa được huấn luyện dữ liệu này =&gt; “bịa” ra dữ liệu</a:t>
              </a:r>
            </a:p>
          </p:txBody>
        </p:sp>
        <p:grpSp>
          <p:nvGrpSpPr>
            <p:cNvPr id="29" name="Group 29"/>
            <p:cNvGrpSpPr/>
            <p:nvPr/>
          </p:nvGrpSpPr>
          <p:grpSpPr>
            <a:xfrm>
              <a:off x="0" y="3219741"/>
              <a:ext cx="2717839" cy="1221398"/>
              <a:chOff x="0" y="0"/>
              <a:chExt cx="536857" cy="241264"/>
            </a:xfrm>
          </p:grpSpPr>
          <p:sp>
            <p:nvSpPr>
              <p:cNvPr id="30" name="Freeform 30"/>
              <p:cNvSpPr/>
              <p:nvPr/>
            </p:nvSpPr>
            <p:spPr>
              <a:xfrm>
                <a:off x="0" y="0"/>
                <a:ext cx="536857" cy="241264"/>
              </a:xfrm>
              <a:custGeom>
                <a:avLst/>
                <a:gdLst/>
                <a:ahLst/>
                <a:cxnLst/>
                <a:rect l="l" t="t" r="r" b="b"/>
                <a:pathLst>
                  <a:path w="536857" h="241264">
                    <a:moveTo>
                      <a:pt x="106346" y="0"/>
                    </a:moveTo>
                    <a:lnTo>
                      <a:pt x="430511" y="0"/>
                    </a:lnTo>
                    <a:cubicBezTo>
                      <a:pt x="458716" y="0"/>
                      <a:pt x="485765" y="11204"/>
                      <a:pt x="505709" y="31148"/>
                    </a:cubicBezTo>
                    <a:cubicBezTo>
                      <a:pt x="525653" y="51092"/>
                      <a:pt x="536857" y="78141"/>
                      <a:pt x="536857" y="106346"/>
                    </a:cubicBezTo>
                    <a:lnTo>
                      <a:pt x="536857" y="134918"/>
                    </a:lnTo>
                    <a:cubicBezTo>
                      <a:pt x="536857" y="163122"/>
                      <a:pt x="525653" y="190172"/>
                      <a:pt x="505709" y="210116"/>
                    </a:cubicBezTo>
                    <a:cubicBezTo>
                      <a:pt x="485765" y="230060"/>
                      <a:pt x="458716" y="241264"/>
                      <a:pt x="430511" y="241264"/>
                    </a:cubicBezTo>
                    <a:lnTo>
                      <a:pt x="106346" y="241264"/>
                    </a:lnTo>
                    <a:cubicBezTo>
                      <a:pt x="78141" y="241264"/>
                      <a:pt x="51092" y="230060"/>
                      <a:pt x="31148" y="210116"/>
                    </a:cubicBezTo>
                    <a:cubicBezTo>
                      <a:pt x="11204" y="190172"/>
                      <a:pt x="0" y="163122"/>
                      <a:pt x="0" y="134918"/>
                    </a:cubicBezTo>
                    <a:lnTo>
                      <a:pt x="0" y="106346"/>
                    </a:lnTo>
                    <a:cubicBezTo>
                      <a:pt x="0" y="78141"/>
                      <a:pt x="11204" y="51092"/>
                      <a:pt x="31148" y="31148"/>
                    </a:cubicBezTo>
                    <a:cubicBezTo>
                      <a:pt x="51092" y="11204"/>
                      <a:pt x="78141" y="0"/>
                      <a:pt x="106346" y="0"/>
                    </a:cubicBezTo>
                    <a:close/>
                  </a:path>
                </a:pathLst>
              </a:custGeom>
              <a:ln w="28575" cap="rnd">
                <a:solidFill>
                  <a:srgbClr val="000000"/>
                </a:solidFill>
                <a:prstDash val="solid"/>
                <a:round/>
              </a:ln>
            </p:spPr>
            <p:txBody>
              <a:bodyPr/>
              <a:lstStyle/>
              <a:p>
                <a:endParaRPr lang="en-VN"/>
              </a:p>
            </p:txBody>
          </p:sp>
          <p:sp>
            <p:nvSpPr>
              <p:cNvPr id="31" name="TextBox 31"/>
              <p:cNvSpPr txBox="1"/>
              <p:nvPr/>
            </p:nvSpPr>
            <p:spPr>
              <a:xfrm>
                <a:off x="0" y="-38100"/>
                <a:ext cx="536857" cy="279364"/>
              </a:xfrm>
              <a:prstGeom prst="rect">
                <a:avLst/>
              </a:prstGeom>
            </p:spPr>
            <p:txBody>
              <a:bodyPr lIns="50800" tIns="50800" rIns="50800" bIns="50800" rtlCol="0" anchor="ctr"/>
              <a:lstStyle/>
              <a:p>
                <a:pPr algn="ctr">
                  <a:lnSpc>
                    <a:spcPts val="2940"/>
                  </a:lnSpc>
                </a:pPr>
                <a:r>
                  <a:rPr lang="en-US" sz="2100" b="1">
                    <a:solidFill>
                      <a:srgbClr val="000000"/>
                    </a:solidFill>
                    <a:latin typeface="Roboto Slab Bold"/>
                    <a:ea typeface="Roboto Slab Bold"/>
                    <a:cs typeface="Roboto Slab Bold"/>
                    <a:sym typeface="Roboto Slab Bold"/>
                  </a:rPr>
                  <a:t>Luật mới </a:t>
                </a:r>
              </a:p>
              <a:p>
                <a:pPr algn="ctr">
                  <a:lnSpc>
                    <a:spcPts val="2940"/>
                  </a:lnSpc>
                </a:pPr>
                <a:r>
                  <a:rPr lang="en-US" sz="2100" b="1">
                    <a:solidFill>
                      <a:srgbClr val="000000"/>
                    </a:solidFill>
                    <a:latin typeface="Roboto Slab Bold"/>
                    <a:ea typeface="Roboto Slab Bold"/>
                    <a:cs typeface="Roboto Slab Bold"/>
                    <a:sym typeface="Roboto Slab Bold"/>
                  </a:rPr>
                  <a:t>2027?</a:t>
                </a:r>
              </a:p>
            </p:txBody>
          </p:sp>
        </p:grpSp>
        <p:sp>
          <p:nvSpPr>
            <p:cNvPr id="32" name="AutoShape 32"/>
            <p:cNvSpPr/>
            <p:nvPr/>
          </p:nvSpPr>
          <p:spPr>
            <a:xfrm>
              <a:off x="2717839" y="3830440"/>
              <a:ext cx="944275" cy="0"/>
            </a:xfrm>
            <a:prstGeom prst="line">
              <a:avLst/>
            </a:prstGeom>
            <a:ln w="50800" cap="flat">
              <a:solidFill>
                <a:srgbClr val="000000"/>
              </a:solidFill>
              <a:prstDash val="solid"/>
              <a:headEnd type="none" w="sm" len="sm"/>
              <a:tailEnd type="triangle" w="lg" len="med"/>
            </a:ln>
          </p:spPr>
          <p:txBody>
            <a:bodyPr/>
            <a:lstStyle/>
            <a:p>
              <a:endParaRPr lang="en-VN"/>
            </a:p>
          </p:txBody>
        </p:sp>
        <p:grpSp>
          <p:nvGrpSpPr>
            <p:cNvPr id="33" name="Group 33"/>
            <p:cNvGrpSpPr/>
            <p:nvPr/>
          </p:nvGrpSpPr>
          <p:grpSpPr>
            <a:xfrm>
              <a:off x="6304264" y="3219741"/>
              <a:ext cx="2913783" cy="1221398"/>
              <a:chOff x="0" y="0"/>
              <a:chExt cx="575562" cy="241264"/>
            </a:xfrm>
          </p:grpSpPr>
          <p:sp>
            <p:nvSpPr>
              <p:cNvPr id="34" name="Freeform 34"/>
              <p:cNvSpPr/>
              <p:nvPr/>
            </p:nvSpPr>
            <p:spPr>
              <a:xfrm>
                <a:off x="0" y="0"/>
                <a:ext cx="575562" cy="241264"/>
              </a:xfrm>
              <a:custGeom>
                <a:avLst/>
                <a:gdLst/>
                <a:ahLst/>
                <a:cxnLst/>
                <a:rect l="l" t="t" r="r" b="b"/>
                <a:pathLst>
                  <a:path w="575562" h="241264">
                    <a:moveTo>
                      <a:pt x="99195" y="0"/>
                    </a:moveTo>
                    <a:lnTo>
                      <a:pt x="476367" y="0"/>
                    </a:lnTo>
                    <a:cubicBezTo>
                      <a:pt x="502676" y="0"/>
                      <a:pt x="527906" y="10451"/>
                      <a:pt x="546509" y="29053"/>
                    </a:cubicBezTo>
                    <a:cubicBezTo>
                      <a:pt x="565111" y="47656"/>
                      <a:pt x="575562" y="72887"/>
                      <a:pt x="575562" y="99195"/>
                    </a:cubicBezTo>
                    <a:lnTo>
                      <a:pt x="575562" y="142069"/>
                    </a:lnTo>
                    <a:cubicBezTo>
                      <a:pt x="575562" y="168377"/>
                      <a:pt x="565111" y="193608"/>
                      <a:pt x="546509" y="212210"/>
                    </a:cubicBezTo>
                    <a:cubicBezTo>
                      <a:pt x="527906" y="230813"/>
                      <a:pt x="502676" y="241264"/>
                      <a:pt x="476367" y="241264"/>
                    </a:cubicBezTo>
                    <a:lnTo>
                      <a:pt x="99195" y="241264"/>
                    </a:lnTo>
                    <a:cubicBezTo>
                      <a:pt x="72887" y="241264"/>
                      <a:pt x="47656" y="230813"/>
                      <a:pt x="29053" y="212210"/>
                    </a:cubicBezTo>
                    <a:cubicBezTo>
                      <a:pt x="10451" y="193608"/>
                      <a:pt x="0" y="168377"/>
                      <a:pt x="0" y="142069"/>
                    </a:cubicBezTo>
                    <a:lnTo>
                      <a:pt x="0" y="99195"/>
                    </a:lnTo>
                    <a:cubicBezTo>
                      <a:pt x="0" y="72887"/>
                      <a:pt x="10451" y="47656"/>
                      <a:pt x="29053" y="29053"/>
                    </a:cubicBezTo>
                    <a:cubicBezTo>
                      <a:pt x="47656" y="10451"/>
                      <a:pt x="72887" y="0"/>
                      <a:pt x="99195" y="0"/>
                    </a:cubicBezTo>
                    <a:close/>
                  </a:path>
                </a:pathLst>
              </a:custGeom>
              <a:ln w="28575" cap="rnd">
                <a:solidFill>
                  <a:srgbClr val="000000"/>
                </a:solidFill>
                <a:prstDash val="solid"/>
                <a:round/>
              </a:ln>
            </p:spPr>
            <p:txBody>
              <a:bodyPr/>
              <a:lstStyle/>
              <a:p>
                <a:endParaRPr lang="en-VN"/>
              </a:p>
            </p:txBody>
          </p:sp>
          <p:sp>
            <p:nvSpPr>
              <p:cNvPr id="35" name="TextBox 35"/>
              <p:cNvSpPr txBox="1"/>
              <p:nvPr/>
            </p:nvSpPr>
            <p:spPr>
              <a:xfrm>
                <a:off x="0" y="-38100"/>
                <a:ext cx="575562" cy="279364"/>
              </a:xfrm>
              <a:prstGeom prst="rect">
                <a:avLst/>
              </a:prstGeom>
            </p:spPr>
            <p:txBody>
              <a:bodyPr lIns="50800" tIns="50800" rIns="50800" bIns="50800" rtlCol="0" anchor="ctr"/>
              <a:lstStyle/>
              <a:p>
                <a:pPr algn="ctr">
                  <a:lnSpc>
                    <a:spcPts val="2940"/>
                  </a:lnSpc>
                </a:pPr>
                <a:r>
                  <a:rPr lang="en-US" sz="2100" b="1">
                    <a:solidFill>
                      <a:srgbClr val="000000"/>
                    </a:solidFill>
                    <a:latin typeface="Roboto Slab Bold"/>
                    <a:ea typeface="Roboto Slab Bold"/>
                    <a:cs typeface="Roboto Slab Bold"/>
                    <a:sym typeface="Roboto Slab Bold"/>
                  </a:rPr>
                  <a:t>Luật năm 2027 là...</a:t>
                </a:r>
              </a:p>
            </p:txBody>
          </p:sp>
        </p:grpSp>
        <p:sp>
          <p:nvSpPr>
            <p:cNvPr id="36" name="AutoShape 36"/>
            <p:cNvSpPr/>
            <p:nvPr/>
          </p:nvSpPr>
          <p:spPr>
            <a:xfrm flipV="1">
              <a:off x="5060855" y="3830440"/>
              <a:ext cx="1243409" cy="0"/>
            </a:xfrm>
            <a:prstGeom prst="line">
              <a:avLst/>
            </a:prstGeom>
            <a:ln w="50800" cap="flat">
              <a:solidFill>
                <a:srgbClr val="000000"/>
              </a:solidFill>
              <a:prstDash val="solid"/>
              <a:headEnd type="none" w="sm" len="sm"/>
              <a:tailEnd type="triangle" w="lg" len="med"/>
            </a:ln>
          </p:spPr>
          <p:txBody>
            <a:bodyPr/>
            <a:lstStyle/>
            <a:p>
              <a:endParaRPr lang="en-VN"/>
            </a:p>
          </p:txBody>
        </p:sp>
      </p:grpSp>
      <p:sp>
        <p:nvSpPr>
          <p:cNvPr id="37" name="TextBox 37"/>
          <p:cNvSpPr txBox="1"/>
          <p:nvPr/>
        </p:nvSpPr>
        <p:spPr>
          <a:xfrm>
            <a:off x="1028700" y="5741539"/>
            <a:ext cx="10081822" cy="685800"/>
          </a:xfrm>
          <a:prstGeom prst="rect">
            <a:avLst/>
          </a:prstGeom>
        </p:spPr>
        <p:txBody>
          <a:bodyPr lIns="0" tIns="0" rIns="0" bIns="0" rtlCol="0" anchor="t">
            <a:spAutoFit/>
          </a:bodyPr>
          <a:lstStyle/>
          <a:p>
            <a:pPr algn="just">
              <a:lnSpc>
                <a:spcPts val="6000"/>
              </a:lnSpc>
            </a:pPr>
            <a:r>
              <a:rPr lang="en-US" sz="3000" b="1">
                <a:solidFill>
                  <a:srgbClr val="0C1D4B"/>
                </a:solidFill>
                <a:latin typeface="Roboto Slab Bold"/>
                <a:ea typeface="Roboto Slab Bold"/>
                <a:cs typeface="Roboto Slab Bold"/>
                <a:sym typeface="Roboto Slab Bold"/>
              </a:rPr>
              <a:t>Hạn chế</a:t>
            </a:r>
          </a:p>
        </p:txBody>
      </p:sp>
      <p:sp>
        <p:nvSpPr>
          <p:cNvPr id="38" name="TextBox 38"/>
          <p:cNvSpPr txBox="1"/>
          <p:nvPr/>
        </p:nvSpPr>
        <p:spPr>
          <a:xfrm>
            <a:off x="1028700" y="6646414"/>
            <a:ext cx="9079671" cy="2772681"/>
          </a:xfrm>
          <a:prstGeom prst="rect">
            <a:avLst/>
          </a:prstGeom>
        </p:spPr>
        <p:txBody>
          <a:bodyPr lIns="0" tIns="0" rIns="0" bIns="0" rtlCol="0" anchor="t">
            <a:spAutoFit/>
          </a:bodyPr>
          <a:lstStyle/>
          <a:p>
            <a:pPr marL="604519" lvl="1" indent="-302260" algn="l">
              <a:lnSpc>
                <a:spcPts val="4479"/>
              </a:lnSpc>
              <a:buFont typeface="Arial"/>
              <a:buChar char="•"/>
            </a:pPr>
            <a:r>
              <a:rPr lang="en-US" sz="2799">
                <a:solidFill>
                  <a:srgbClr val="0C1D4B"/>
                </a:solidFill>
                <a:latin typeface="Roboto Slab"/>
                <a:ea typeface="Roboto Slab"/>
                <a:cs typeface="Roboto Slab"/>
                <a:sym typeface="Roboto Slab"/>
              </a:rPr>
              <a:t>Không tận dụng được những nguồn dữ liệu nội bộ, dữ liệu mới chưa được huấn luyện (văn bản pháp luật,...)</a:t>
            </a:r>
          </a:p>
          <a:p>
            <a:pPr marL="604519" lvl="1" indent="-302260" algn="l">
              <a:lnSpc>
                <a:spcPts val="4479"/>
              </a:lnSpc>
              <a:buFont typeface="Arial"/>
              <a:buChar char="•"/>
            </a:pPr>
            <a:r>
              <a:rPr lang="en-US" sz="2799">
                <a:solidFill>
                  <a:srgbClr val="0C1D4B"/>
                </a:solidFill>
                <a:latin typeface="Roboto Slab"/>
                <a:ea typeface="Roboto Slab"/>
                <a:cs typeface="Roboto Slab"/>
                <a:sym typeface="Roboto Slab"/>
              </a:rPr>
              <a:t>Hiện tượng ảo giác của LLMs tạo ra nội dung sai sự thật</a:t>
            </a:r>
          </a:p>
        </p:txBody>
      </p:sp>
      <p:sp>
        <p:nvSpPr>
          <p:cNvPr id="39" name="TextBox 39"/>
          <p:cNvSpPr txBox="1"/>
          <p:nvPr/>
        </p:nvSpPr>
        <p:spPr>
          <a:xfrm>
            <a:off x="1687249" y="346410"/>
            <a:ext cx="3954904" cy="356289"/>
          </a:xfrm>
          <a:prstGeom prst="rect">
            <a:avLst/>
          </a:prstGeom>
        </p:spPr>
        <p:txBody>
          <a:bodyPr lIns="0" tIns="0" rIns="0" bIns="0" rtlCol="0" anchor="t">
            <a:spAutoFit/>
          </a:bodyPr>
          <a:lstStyle/>
          <a:p>
            <a:pPr algn="l">
              <a:lnSpc>
                <a:spcPts val="2940"/>
              </a:lnSpc>
            </a:pPr>
            <a:r>
              <a:rPr lang="en-US" sz="2100" b="1">
                <a:solidFill>
                  <a:srgbClr val="2C2C2C"/>
                </a:solidFill>
                <a:latin typeface="Roboto Slab Bold"/>
                <a:ea typeface="Roboto Slab Bold"/>
                <a:cs typeface="Roboto Slab Bold"/>
                <a:sym typeface="Roboto Slab Bold"/>
              </a:rPr>
              <a:t>HỌC VIỆN KỸ THUẬT MẬT MÃ</a:t>
            </a:r>
          </a:p>
        </p:txBody>
      </p:sp>
      <p:sp>
        <p:nvSpPr>
          <p:cNvPr id="40" name="Freeform 40"/>
          <p:cNvSpPr/>
          <p:nvPr/>
        </p:nvSpPr>
        <p:spPr>
          <a:xfrm>
            <a:off x="1028700" y="251389"/>
            <a:ext cx="551704" cy="584433"/>
          </a:xfrm>
          <a:custGeom>
            <a:avLst/>
            <a:gdLst/>
            <a:ahLst/>
            <a:cxnLst/>
            <a:rect l="l" t="t" r="r" b="b"/>
            <a:pathLst>
              <a:path w="551704" h="584433">
                <a:moveTo>
                  <a:pt x="0" y="0"/>
                </a:moveTo>
                <a:lnTo>
                  <a:pt x="551704" y="0"/>
                </a:lnTo>
                <a:lnTo>
                  <a:pt x="551704" y="584432"/>
                </a:lnTo>
                <a:lnTo>
                  <a:pt x="0" y="584432"/>
                </a:lnTo>
                <a:lnTo>
                  <a:pt x="0" y="0"/>
                </a:lnTo>
                <a:close/>
              </a:path>
            </a:pathLst>
          </a:custGeom>
          <a:blipFill>
            <a:blip r:embed="rId5"/>
            <a:stretch>
              <a:fillRect/>
            </a:stretch>
          </a:blipFill>
        </p:spPr>
        <p:txBody>
          <a:bodyPr/>
          <a:lstStyle/>
          <a:p>
            <a:endParaRPr lang="en-VN"/>
          </a:p>
        </p:txBody>
      </p:sp>
    </p:spTree>
  </p:cSld>
  <p:clrMapOvr>
    <a:masterClrMapping/>
  </p:clrMapOvr>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grpId="0" nodeType="withEffect">
                            <p:stCondLst>
                              <p:cond delay="180"/>
                            </p:stCondLst>
                            <p:childTnLst>
                              <p:set>
                                <p:cBhvr>
                                  <p:cTn id="5" dur="1" fill="hold">
                                    <p:stCondLst>
                                      <p:cond delay="0"/>
                                    </p:stCondLst>
                                  </p:cTn>
                                  <p:tgtEl>
                                    <p:spTgt spid="10"/>
                                  </p:tgtEl>
                                  <p:attrNameLst>
                                    <p:attrName>style.visibility</p:attrName>
                                  </p:attrNameLst>
                                </p:cBhvr>
                                <p:to>
                                  <p:strVal val="visible"/>
                                </p:to>
                              </p:set>
                              <p:animEffect transition="in" filter="wipe(left)">
                                <p:cBhvr>
                                  <p:cTn id="6" dur="860"/>
                                  <p:tgtEl>
                                    <p:spTgt spid="10"/>
                                  </p:tgtEl>
                                </p:cBhvr>
                              </p:animEffect>
                            </p:childTnLst>
                          </p:cTn>
                        </p:par>
                        <p:par>
                          <p:cTn id="7" presetID="10" presetClass="entr" presetSubtype="0" fill="hold" grpId="0" nodeType="withEffect">
                            <p:stCondLst>
                              <p:cond delay="350"/>
                            </p:stCondLst>
                            <p:childTnLst>
                              <p:set>
                                <p:cBhvr>
                                  <p:cTn id="8" dur="1" fill="hold">
                                    <p:stCondLst>
                                      <p:cond delay="0"/>
                                    </p:stCondLst>
                                  </p:cTn>
                                  <p:tgtEl>
                                    <p:spTgt spid="13"/>
                                  </p:tgtEl>
                                  <p:attrNameLst>
                                    <p:attrName>style.visibility</p:attrName>
                                  </p:attrNameLst>
                                </p:cBhvr>
                                <p:to>
                                  <p:strVal val="visible"/>
                                </p:to>
                              </p:set>
                              <p:animEffect transition="in" filter="wipe(left)">
                                <p:cBhvr>
                                  <p:cTn id="9" dur="860"/>
                                  <p:tgtEl>
                                    <p:spTgt spid="13"/>
                                  </p:tgtEl>
                                </p:cBhvr>
                              </p:animEffect>
                            </p:childTnLst>
                          </p:cTn>
                        </p:par>
                        <p:par>
                          <p:cTn id="10" presetID="10" presetClass="entr" presetSubtype="0" fill="hold" grpId="0" nodeType="withEffect">
                            <p:stCondLst>
                              <p:cond delay="520"/>
                            </p:stCondLst>
                            <p:childTnLst>
                              <p:set>
                                <p:cBhvr>
                                  <p:cTn id="11" dur="1" fill="hold">
                                    <p:stCondLst>
                                      <p:cond delay="0"/>
                                    </p:stCondLst>
                                  </p:cTn>
                                  <p:tgtEl>
                                    <p:spTgt spid="11"/>
                                  </p:tgtEl>
                                  <p:attrNameLst>
                                    <p:attrName>style.visibility</p:attrName>
                                  </p:attrNameLst>
                                </p:cBhvr>
                                <p:to>
                                  <p:strVal val="visible"/>
                                </p:to>
                              </p:set>
                              <p:animEffect transition="in" filter="wipe(left)">
                                <p:cBhvr>
                                  <p:cTn id="12" dur="860"/>
                                  <p:tgtEl>
                                    <p:spTgt spid="11"/>
                                  </p:tgtEl>
                                </p:cBhvr>
                              </p:animEffect>
                            </p:childTnLst>
                          </p:cTn>
                        </p:par>
                        <p:par>
                          <p:cTn id="13" presetID="10" presetClass="entr" presetSubtype="0" fill="hold" grpId="0" nodeType="withEffect">
                            <p:stCondLst>
                              <p:cond delay="690"/>
                            </p:stCondLst>
                            <p:childTnLst>
                              <p:set>
                                <p:cBhvr>
                                  <p:cTn id="14" dur="1" fill="hold">
                                    <p:stCondLst>
                                      <p:cond delay="0"/>
                                    </p:stCondLst>
                                  </p:cTn>
                                  <p:tgtEl>
                                    <p:spTgt spid="24"/>
                                  </p:tgtEl>
                                  <p:attrNameLst>
                                    <p:attrName>style.visibility</p:attrName>
                                  </p:attrNameLst>
                                </p:cBhvr>
                                <p:to>
                                  <p:strVal val="visible"/>
                                </p:to>
                              </p:set>
                              <p:animEffect transition="in" filter="wipe(left)">
                                <p:cBhvr>
                                  <p:cTn id="15" dur="860"/>
                                  <p:tgtEl>
                                    <p:spTgt spid="24"/>
                                  </p:tgtEl>
                                </p:cBhvr>
                              </p:animEffect>
                            </p:childTnLst>
                          </p:cTn>
                        </p:par>
                        <p:par>
                          <p:cTn id="16" presetID="10" presetClass="entr" presetSubtype="0" fill="hold" grpId="0" nodeType="withEffect">
                            <p:stCondLst>
                              <p:cond delay="860"/>
                            </p:stCondLst>
                            <p:childTnLst>
                              <p:set>
                                <p:cBhvr>
                                  <p:cTn id="17" dur="1" fill="hold">
                                    <p:stCondLst>
                                      <p:cond delay="0"/>
                                    </p:stCondLst>
                                  </p:cTn>
                                  <p:tgtEl>
                                    <p:spTgt spid="37"/>
                                  </p:tgtEl>
                                  <p:attrNameLst>
                                    <p:attrName>style.visibility</p:attrName>
                                  </p:attrNameLst>
                                </p:cBhvr>
                                <p:to>
                                  <p:strVal val="visible"/>
                                </p:to>
                              </p:set>
                              <p:animEffect transition="in" filter="wipe(left)">
                                <p:cBhvr>
                                  <p:cTn id="18" dur="860"/>
                                  <p:tgtEl>
                                    <p:spTgt spid="37"/>
                                  </p:tgtEl>
                                </p:cBhvr>
                              </p:animEffect>
                            </p:childTnLst>
                          </p:cTn>
                        </p:par>
                        <p:par>
                          <p:cTn id="19" presetID="10" presetClass="entr" presetSubtype="0" fill="hold" grpId="0" nodeType="withEffect">
                            <p:stCondLst>
                              <p:cond delay="1030"/>
                            </p:stCondLst>
                            <p:childTnLst>
                              <p:set>
                                <p:cBhvr>
                                  <p:cTn id="20" dur="1" fill="hold">
                                    <p:stCondLst>
                                      <p:cond delay="0"/>
                                    </p:stCondLst>
                                  </p:cTn>
                                  <p:tgtEl>
                                    <p:spTgt spid="38"/>
                                  </p:tgtEl>
                                  <p:attrNameLst>
                                    <p:attrName>style.visibility</p:attrName>
                                  </p:attrNameLst>
                                </p:cBhvr>
                                <p:to>
                                  <p:strVal val="visible"/>
                                </p:to>
                              </p:set>
                              <p:animEffect transition="in" filter="wipe(left)">
                                <p:cBhvr>
                                  <p:cTn id="21" dur="860"/>
                                  <p:tgtEl>
                                    <p:spTgt spid="38"/>
                                  </p:tgtEl>
                                </p:cBhvr>
                              </p:animEffect>
                            </p:childTnLst>
                          </p:cTn>
                        </p:par>
                        <p:par>
                          <p:cTn id="22" presetID="10" presetClass="entr" presetSubtype="0" fill="hold" grpId="0" nodeType="withEffect">
                            <p:stCondLst>
                              <p:cond delay="1200"/>
                            </p:stCondLst>
                            <p:childTnLst>
                              <p:set>
                                <p:cBhvr>
                                  <p:cTn id="23" dur="1" fill="hold">
                                    <p:stCondLst>
                                      <p:cond delay="0"/>
                                    </p:stCondLst>
                                  </p:cTn>
                                  <p:tgtEl>
                                    <p:spTgt spid="12"/>
                                  </p:tgtEl>
                                  <p:attrNameLst>
                                    <p:attrName>style.visibility</p:attrName>
                                  </p:attrNameLst>
                                </p:cBhvr>
                                <p:to>
                                  <p:strVal val="visible"/>
                                </p:to>
                              </p:set>
                              <p:animEffect transition="in" filter="wipe(left)">
                                <p:cBhvr>
                                  <p:cTn id="24" dur="860"/>
                                  <p:tgtEl>
                                    <p:spTgt spid="12"/>
                                  </p:tgtEl>
                                </p:cBhvr>
                              </p:animEffect>
                            </p:childTnLst>
                          </p:cTn>
                        </p:par>
                      </p:childTnLst>
                    </p:cTn>
                  </p:par>
                </p:childTnLst>
              </p:cTn>
            </p:seq>
          </p:childTnLst>
        </p:cTn>
      </p:par>
    </p:tnLst>
    <p:bldLst>
      <p:bldP spid="10" grpId="0"/>
      <p:bldP spid="11" grpId="0"/>
      <p:bldP spid="12" grpId="0"/>
      <p:bldP spid="13" grpId="0"/>
      <p:bldP spid="24" grpId="0"/>
      <p:bldP spid="37" grpId="0"/>
      <p:bldP spid="3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10800000">
            <a:off x="17259300" y="-233820"/>
            <a:ext cx="1940843" cy="970417"/>
            <a:chOff x="0" y="0"/>
            <a:chExt cx="2587790" cy="1293889"/>
          </a:xfrm>
        </p:grpSpPr>
        <p:sp>
          <p:nvSpPr>
            <p:cNvPr id="3" name="Freeform 3"/>
            <p:cNvSpPr/>
            <p:nvPr/>
          </p:nvSpPr>
          <p:spPr>
            <a:xfrm>
              <a:off x="0" y="0"/>
              <a:ext cx="2587752" cy="1293876"/>
            </a:xfrm>
            <a:custGeom>
              <a:avLst/>
              <a:gdLst/>
              <a:ahLst/>
              <a:cxnLst/>
              <a:rect l="l" t="t" r="r" b="b"/>
              <a:pathLst>
                <a:path w="2587752" h="1293876">
                  <a:moveTo>
                    <a:pt x="0" y="0"/>
                  </a:moveTo>
                  <a:lnTo>
                    <a:pt x="2587752" y="0"/>
                  </a:lnTo>
                  <a:lnTo>
                    <a:pt x="2587752" y="1293876"/>
                  </a:lnTo>
                  <a:lnTo>
                    <a:pt x="0" y="1293876"/>
                  </a:lnTo>
                  <a:lnTo>
                    <a:pt x="0" y="0"/>
                  </a:lnTo>
                  <a:close/>
                </a:path>
              </a:pathLst>
            </a:custGeom>
            <a:blipFill>
              <a:blip r:embed="rId2"/>
              <a:stretch>
                <a:fillRect r="-1"/>
              </a:stretch>
            </a:blipFill>
          </p:spPr>
          <p:txBody>
            <a:bodyPr/>
            <a:lstStyle/>
            <a:p>
              <a:endParaRPr lang="en-VN"/>
            </a:p>
          </p:txBody>
        </p:sp>
      </p:grpSp>
      <p:grpSp>
        <p:nvGrpSpPr>
          <p:cNvPr id="4" name="Group 4"/>
          <p:cNvGrpSpPr/>
          <p:nvPr/>
        </p:nvGrpSpPr>
        <p:grpSpPr>
          <a:xfrm>
            <a:off x="-912143" y="9429369"/>
            <a:ext cx="1940843" cy="970417"/>
            <a:chOff x="0" y="0"/>
            <a:chExt cx="2587790" cy="1293889"/>
          </a:xfrm>
        </p:grpSpPr>
        <p:sp>
          <p:nvSpPr>
            <p:cNvPr id="5" name="Freeform 5"/>
            <p:cNvSpPr/>
            <p:nvPr/>
          </p:nvSpPr>
          <p:spPr>
            <a:xfrm>
              <a:off x="0" y="0"/>
              <a:ext cx="2587752" cy="1293876"/>
            </a:xfrm>
            <a:custGeom>
              <a:avLst/>
              <a:gdLst/>
              <a:ahLst/>
              <a:cxnLst/>
              <a:rect l="l" t="t" r="r" b="b"/>
              <a:pathLst>
                <a:path w="2587752" h="1293876">
                  <a:moveTo>
                    <a:pt x="0" y="0"/>
                  </a:moveTo>
                  <a:lnTo>
                    <a:pt x="2587752" y="0"/>
                  </a:lnTo>
                  <a:lnTo>
                    <a:pt x="2587752" y="1293876"/>
                  </a:lnTo>
                  <a:lnTo>
                    <a:pt x="0" y="1293876"/>
                  </a:lnTo>
                  <a:lnTo>
                    <a:pt x="0" y="0"/>
                  </a:lnTo>
                  <a:close/>
                </a:path>
              </a:pathLst>
            </a:custGeom>
            <a:blipFill>
              <a:blip r:embed="rId2"/>
              <a:stretch>
                <a:fillRect r="-1"/>
              </a:stretch>
            </a:blipFill>
          </p:spPr>
          <p:txBody>
            <a:bodyPr/>
            <a:lstStyle/>
            <a:p>
              <a:endParaRPr lang="en-VN"/>
            </a:p>
          </p:txBody>
        </p:sp>
      </p:grpSp>
      <p:grpSp>
        <p:nvGrpSpPr>
          <p:cNvPr id="6" name="Group 6"/>
          <p:cNvGrpSpPr/>
          <p:nvPr/>
        </p:nvGrpSpPr>
        <p:grpSpPr>
          <a:xfrm>
            <a:off x="-3127839" y="9986436"/>
            <a:ext cx="22035035" cy="2837612"/>
            <a:chOff x="0" y="0"/>
            <a:chExt cx="5803466" cy="747355"/>
          </a:xfrm>
        </p:grpSpPr>
        <p:sp>
          <p:nvSpPr>
            <p:cNvPr id="7" name="Freeform 7"/>
            <p:cNvSpPr/>
            <p:nvPr/>
          </p:nvSpPr>
          <p:spPr>
            <a:xfrm>
              <a:off x="0" y="0"/>
              <a:ext cx="5803466" cy="747355"/>
            </a:xfrm>
            <a:custGeom>
              <a:avLst/>
              <a:gdLst/>
              <a:ahLst/>
              <a:cxnLst/>
              <a:rect l="l" t="t" r="r" b="b"/>
              <a:pathLst>
                <a:path w="5803466" h="747355">
                  <a:moveTo>
                    <a:pt x="0" y="0"/>
                  </a:moveTo>
                  <a:lnTo>
                    <a:pt x="5803466" y="0"/>
                  </a:lnTo>
                  <a:lnTo>
                    <a:pt x="5803466" y="747355"/>
                  </a:lnTo>
                  <a:lnTo>
                    <a:pt x="0" y="747355"/>
                  </a:lnTo>
                  <a:close/>
                </a:path>
              </a:pathLst>
            </a:custGeom>
            <a:solidFill>
              <a:srgbClr val="3C4F75"/>
            </a:solidFill>
          </p:spPr>
          <p:txBody>
            <a:bodyPr/>
            <a:lstStyle/>
            <a:p>
              <a:endParaRPr lang="en-VN"/>
            </a:p>
          </p:txBody>
        </p:sp>
        <p:sp>
          <p:nvSpPr>
            <p:cNvPr id="8" name="TextBox 8"/>
            <p:cNvSpPr txBox="1"/>
            <p:nvPr/>
          </p:nvSpPr>
          <p:spPr>
            <a:xfrm>
              <a:off x="0" y="-47625"/>
              <a:ext cx="5803466" cy="794980"/>
            </a:xfrm>
            <a:prstGeom prst="rect">
              <a:avLst/>
            </a:prstGeom>
          </p:spPr>
          <p:txBody>
            <a:bodyPr lIns="50800" tIns="50800" rIns="50800" bIns="50800" rtlCol="0" anchor="ctr"/>
            <a:lstStyle/>
            <a:p>
              <a:pPr algn="ctr">
                <a:lnSpc>
                  <a:spcPts val="2940"/>
                </a:lnSpc>
              </a:pPr>
              <a:endParaRPr/>
            </a:p>
          </p:txBody>
        </p:sp>
      </p:grpSp>
      <p:sp>
        <p:nvSpPr>
          <p:cNvPr id="9" name="TextBox 9"/>
          <p:cNvSpPr txBox="1"/>
          <p:nvPr/>
        </p:nvSpPr>
        <p:spPr>
          <a:xfrm>
            <a:off x="1028700" y="1095375"/>
            <a:ext cx="10321094" cy="534618"/>
          </a:xfrm>
          <a:prstGeom prst="rect">
            <a:avLst/>
          </a:prstGeom>
        </p:spPr>
        <p:txBody>
          <a:bodyPr lIns="0" tIns="0" rIns="0" bIns="0" rtlCol="0" anchor="t">
            <a:spAutoFit/>
          </a:bodyPr>
          <a:lstStyle/>
          <a:p>
            <a:pPr algn="just">
              <a:lnSpc>
                <a:spcPts val="4039"/>
              </a:lnSpc>
            </a:pPr>
            <a:r>
              <a:rPr lang="en-US" sz="3999" b="1">
                <a:solidFill>
                  <a:srgbClr val="0C1D4B"/>
                </a:solidFill>
                <a:latin typeface="Roboto Slab Bold"/>
                <a:ea typeface="Roboto Slab Bold"/>
                <a:cs typeface="Roboto Slab Bold"/>
                <a:sym typeface="Roboto Slab Bold"/>
              </a:rPr>
              <a:t>2.2. Một số phương pháp xây dựng Chatbot</a:t>
            </a:r>
          </a:p>
        </p:txBody>
      </p:sp>
      <p:sp>
        <p:nvSpPr>
          <p:cNvPr id="10" name="TextBox 10"/>
          <p:cNvSpPr txBox="1"/>
          <p:nvPr/>
        </p:nvSpPr>
        <p:spPr>
          <a:xfrm>
            <a:off x="1028700" y="1725243"/>
            <a:ext cx="10081822" cy="685800"/>
          </a:xfrm>
          <a:prstGeom prst="rect">
            <a:avLst/>
          </a:prstGeom>
        </p:spPr>
        <p:txBody>
          <a:bodyPr lIns="0" tIns="0" rIns="0" bIns="0" rtlCol="0" anchor="t">
            <a:spAutoFit/>
          </a:bodyPr>
          <a:lstStyle/>
          <a:p>
            <a:pPr algn="just">
              <a:lnSpc>
                <a:spcPts val="6000"/>
              </a:lnSpc>
            </a:pPr>
            <a:r>
              <a:rPr lang="en-US" sz="3000" b="1">
                <a:solidFill>
                  <a:srgbClr val="0C1D4B"/>
                </a:solidFill>
                <a:latin typeface="Roboto Slab Bold"/>
                <a:ea typeface="Roboto Slab Bold"/>
                <a:cs typeface="Roboto Slab Bold"/>
                <a:sym typeface="Roboto Slab Bold"/>
              </a:rPr>
              <a:t>Hệ thống Chatbot dựa trên mô hình kiến trúc AI Agent</a:t>
            </a:r>
          </a:p>
        </p:txBody>
      </p:sp>
      <p:sp>
        <p:nvSpPr>
          <p:cNvPr id="11" name="TextBox 11"/>
          <p:cNvSpPr txBox="1"/>
          <p:nvPr/>
        </p:nvSpPr>
        <p:spPr>
          <a:xfrm>
            <a:off x="1028700" y="2630118"/>
            <a:ext cx="9079671" cy="3896739"/>
          </a:xfrm>
          <a:prstGeom prst="rect">
            <a:avLst/>
          </a:prstGeom>
        </p:spPr>
        <p:txBody>
          <a:bodyPr lIns="0" tIns="0" rIns="0" bIns="0" rtlCol="0" anchor="t">
            <a:spAutoFit/>
          </a:bodyPr>
          <a:lstStyle/>
          <a:p>
            <a:pPr marL="604519" lvl="1" indent="-302260" algn="l">
              <a:lnSpc>
                <a:spcPts val="4479"/>
              </a:lnSpc>
              <a:buFont typeface="Arial"/>
              <a:buChar char="•"/>
            </a:pPr>
            <a:r>
              <a:rPr lang="en-US" sz="2799">
                <a:solidFill>
                  <a:srgbClr val="0C1D4B"/>
                </a:solidFill>
                <a:latin typeface="Roboto Slab"/>
                <a:ea typeface="Roboto Slab"/>
                <a:cs typeface="Roboto Slab"/>
                <a:sym typeface="Roboto Slab"/>
              </a:rPr>
              <a:t>Xây dựng chatbot dựa trên mô hình kiến trúc AI Agent (tác tử thông minh)</a:t>
            </a:r>
          </a:p>
          <a:p>
            <a:pPr marL="604519" lvl="1" indent="-302260" algn="l">
              <a:lnSpc>
                <a:spcPts val="4479"/>
              </a:lnSpc>
              <a:buFont typeface="Arial"/>
              <a:buChar char="•"/>
            </a:pPr>
            <a:r>
              <a:rPr lang="en-US" sz="2799">
                <a:solidFill>
                  <a:srgbClr val="0C1D4B"/>
                </a:solidFill>
                <a:latin typeface="Roboto Slab"/>
                <a:ea typeface="Roboto Slab"/>
                <a:cs typeface="Roboto Slab"/>
                <a:sym typeface="Roboto Slab"/>
              </a:rPr>
              <a:t>Hệ thống chatbot có khả năng sử dụng các công cụ truy vấn, công cụ tính toán, lập kế hoạch,...</a:t>
            </a:r>
          </a:p>
          <a:p>
            <a:pPr marL="604519" lvl="1" indent="-302260" algn="l">
              <a:lnSpc>
                <a:spcPts val="4479"/>
              </a:lnSpc>
              <a:buFont typeface="Arial"/>
              <a:buChar char="•"/>
            </a:pPr>
            <a:r>
              <a:rPr lang="en-US" sz="2799">
                <a:solidFill>
                  <a:srgbClr val="0C1D4B"/>
                </a:solidFill>
                <a:latin typeface="Roboto Slab"/>
                <a:ea typeface="Roboto Slab"/>
                <a:cs typeface="Roboto Slab"/>
                <a:sym typeface="Roboto Slab"/>
              </a:rPr>
              <a:t>Khai thác được dữ liệu có sẵn</a:t>
            </a:r>
          </a:p>
          <a:p>
            <a:pPr marL="604519" lvl="1" indent="-302260" algn="l">
              <a:lnSpc>
                <a:spcPts val="4479"/>
              </a:lnSpc>
              <a:buFont typeface="Arial"/>
              <a:buChar char="•"/>
            </a:pPr>
            <a:r>
              <a:rPr lang="en-US" sz="2799">
                <a:solidFill>
                  <a:srgbClr val="0C1D4B"/>
                </a:solidFill>
                <a:latin typeface="Roboto Slab"/>
                <a:ea typeface="Roboto Slab"/>
                <a:cs typeface="Roboto Slab"/>
                <a:sym typeface="Roboto Slab"/>
              </a:rPr>
              <a:t>Đa năng, linh hoạt do được tích hợp nhiều công cụ</a:t>
            </a:r>
          </a:p>
        </p:txBody>
      </p:sp>
      <p:grpSp>
        <p:nvGrpSpPr>
          <p:cNvPr id="12" name="Group 12"/>
          <p:cNvGrpSpPr/>
          <p:nvPr/>
        </p:nvGrpSpPr>
        <p:grpSpPr>
          <a:xfrm>
            <a:off x="12562095" y="1644257"/>
            <a:ext cx="4883508" cy="7298471"/>
            <a:chOff x="0" y="0"/>
            <a:chExt cx="6511344" cy="9731295"/>
          </a:xfrm>
        </p:grpSpPr>
        <p:grpSp>
          <p:nvGrpSpPr>
            <p:cNvPr id="13" name="Group 13"/>
            <p:cNvGrpSpPr/>
            <p:nvPr/>
          </p:nvGrpSpPr>
          <p:grpSpPr>
            <a:xfrm>
              <a:off x="1870594" y="0"/>
              <a:ext cx="2758266" cy="876752"/>
              <a:chOff x="0" y="0"/>
              <a:chExt cx="544843" cy="173186"/>
            </a:xfrm>
          </p:grpSpPr>
          <p:sp>
            <p:nvSpPr>
              <p:cNvPr id="14" name="Freeform 14"/>
              <p:cNvSpPr/>
              <p:nvPr/>
            </p:nvSpPr>
            <p:spPr>
              <a:xfrm>
                <a:off x="0" y="0"/>
                <a:ext cx="544843" cy="173186"/>
              </a:xfrm>
              <a:custGeom>
                <a:avLst/>
                <a:gdLst/>
                <a:ahLst/>
                <a:cxnLst/>
                <a:rect l="l" t="t" r="r" b="b"/>
                <a:pathLst>
                  <a:path w="544843" h="173186">
                    <a:moveTo>
                      <a:pt x="86593" y="0"/>
                    </a:moveTo>
                    <a:lnTo>
                      <a:pt x="458250" y="0"/>
                    </a:lnTo>
                    <a:cubicBezTo>
                      <a:pt x="481216" y="0"/>
                      <a:pt x="503241" y="9123"/>
                      <a:pt x="519480" y="25362"/>
                    </a:cubicBezTo>
                    <a:cubicBezTo>
                      <a:pt x="535719" y="41602"/>
                      <a:pt x="544843" y="63627"/>
                      <a:pt x="544843" y="86593"/>
                    </a:cubicBezTo>
                    <a:lnTo>
                      <a:pt x="544843" y="86593"/>
                    </a:lnTo>
                    <a:cubicBezTo>
                      <a:pt x="544843" y="134417"/>
                      <a:pt x="506074" y="173186"/>
                      <a:pt x="458250" y="173186"/>
                    </a:cubicBezTo>
                    <a:lnTo>
                      <a:pt x="86593" y="173186"/>
                    </a:lnTo>
                    <a:cubicBezTo>
                      <a:pt x="63627" y="173186"/>
                      <a:pt x="41602" y="164062"/>
                      <a:pt x="25362" y="147823"/>
                    </a:cubicBezTo>
                    <a:cubicBezTo>
                      <a:pt x="9123" y="131584"/>
                      <a:pt x="0" y="109559"/>
                      <a:pt x="0" y="86593"/>
                    </a:cubicBezTo>
                    <a:lnTo>
                      <a:pt x="0" y="86593"/>
                    </a:lnTo>
                    <a:cubicBezTo>
                      <a:pt x="0" y="63627"/>
                      <a:pt x="9123" y="41602"/>
                      <a:pt x="25362" y="25362"/>
                    </a:cubicBezTo>
                    <a:cubicBezTo>
                      <a:pt x="41602" y="9123"/>
                      <a:pt x="63627" y="0"/>
                      <a:pt x="86593" y="0"/>
                    </a:cubicBezTo>
                    <a:close/>
                  </a:path>
                </a:pathLst>
              </a:custGeom>
              <a:ln w="28575" cap="rnd">
                <a:solidFill>
                  <a:srgbClr val="000000"/>
                </a:solidFill>
                <a:prstDash val="solid"/>
                <a:round/>
              </a:ln>
            </p:spPr>
            <p:txBody>
              <a:bodyPr/>
              <a:lstStyle/>
              <a:p>
                <a:endParaRPr lang="en-VN"/>
              </a:p>
            </p:txBody>
          </p:sp>
          <p:sp>
            <p:nvSpPr>
              <p:cNvPr id="15" name="TextBox 15"/>
              <p:cNvSpPr txBox="1"/>
              <p:nvPr/>
            </p:nvSpPr>
            <p:spPr>
              <a:xfrm>
                <a:off x="0" y="-38100"/>
                <a:ext cx="544843" cy="211286"/>
              </a:xfrm>
              <a:prstGeom prst="rect">
                <a:avLst/>
              </a:prstGeom>
            </p:spPr>
            <p:txBody>
              <a:bodyPr lIns="50800" tIns="50800" rIns="50800" bIns="50800" rtlCol="0" anchor="ctr"/>
              <a:lstStyle/>
              <a:p>
                <a:pPr algn="ctr">
                  <a:lnSpc>
                    <a:spcPts val="2940"/>
                  </a:lnSpc>
                </a:pPr>
                <a:r>
                  <a:rPr lang="en-US" sz="2100" b="1">
                    <a:solidFill>
                      <a:srgbClr val="000000"/>
                    </a:solidFill>
                    <a:latin typeface="Roboto Slab Bold"/>
                    <a:ea typeface="Roboto Slab Bold"/>
                    <a:cs typeface="Roboto Slab Bold"/>
                    <a:sym typeface="Roboto Slab Bold"/>
                  </a:rPr>
                  <a:t>Câu hỏi</a:t>
                </a:r>
              </a:p>
            </p:txBody>
          </p:sp>
        </p:grpSp>
        <p:sp>
          <p:nvSpPr>
            <p:cNvPr id="16" name="AutoShape 16"/>
            <p:cNvSpPr/>
            <p:nvPr/>
          </p:nvSpPr>
          <p:spPr>
            <a:xfrm>
              <a:off x="3249727" y="876752"/>
              <a:ext cx="5945" cy="1066800"/>
            </a:xfrm>
            <a:prstGeom prst="line">
              <a:avLst/>
            </a:prstGeom>
            <a:ln w="50800" cap="flat">
              <a:solidFill>
                <a:srgbClr val="000000"/>
              </a:solidFill>
              <a:prstDash val="solid"/>
              <a:headEnd type="none" w="sm" len="sm"/>
              <a:tailEnd type="triangle" w="lg" len="med"/>
            </a:ln>
          </p:spPr>
          <p:txBody>
            <a:bodyPr/>
            <a:lstStyle/>
            <a:p>
              <a:endParaRPr lang="en-VN"/>
            </a:p>
          </p:txBody>
        </p:sp>
        <p:grpSp>
          <p:nvGrpSpPr>
            <p:cNvPr id="17" name="Group 17"/>
            <p:cNvGrpSpPr/>
            <p:nvPr/>
          </p:nvGrpSpPr>
          <p:grpSpPr>
            <a:xfrm>
              <a:off x="1870594" y="8854543"/>
              <a:ext cx="2758266" cy="876752"/>
              <a:chOff x="0" y="0"/>
              <a:chExt cx="544843" cy="173186"/>
            </a:xfrm>
          </p:grpSpPr>
          <p:sp>
            <p:nvSpPr>
              <p:cNvPr id="18" name="Freeform 18"/>
              <p:cNvSpPr/>
              <p:nvPr/>
            </p:nvSpPr>
            <p:spPr>
              <a:xfrm>
                <a:off x="0" y="0"/>
                <a:ext cx="544843" cy="173186"/>
              </a:xfrm>
              <a:custGeom>
                <a:avLst/>
                <a:gdLst/>
                <a:ahLst/>
                <a:cxnLst/>
                <a:rect l="l" t="t" r="r" b="b"/>
                <a:pathLst>
                  <a:path w="544843" h="173186">
                    <a:moveTo>
                      <a:pt x="86593" y="0"/>
                    </a:moveTo>
                    <a:lnTo>
                      <a:pt x="458250" y="0"/>
                    </a:lnTo>
                    <a:cubicBezTo>
                      <a:pt x="481216" y="0"/>
                      <a:pt x="503241" y="9123"/>
                      <a:pt x="519480" y="25362"/>
                    </a:cubicBezTo>
                    <a:cubicBezTo>
                      <a:pt x="535719" y="41602"/>
                      <a:pt x="544843" y="63627"/>
                      <a:pt x="544843" y="86593"/>
                    </a:cubicBezTo>
                    <a:lnTo>
                      <a:pt x="544843" y="86593"/>
                    </a:lnTo>
                    <a:cubicBezTo>
                      <a:pt x="544843" y="134417"/>
                      <a:pt x="506074" y="173186"/>
                      <a:pt x="458250" y="173186"/>
                    </a:cubicBezTo>
                    <a:lnTo>
                      <a:pt x="86593" y="173186"/>
                    </a:lnTo>
                    <a:cubicBezTo>
                      <a:pt x="63627" y="173186"/>
                      <a:pt x="41602" y="164062"/>
                      <a:pt x="25362" y="147823"/>
                    </a:cubicBezTo>
                    <a:cubicBezTo>
                      <a:pt x="9123" y="131584"/>
                      <a:pt x="0" y="109559"/>
                      <a:pt x="0" y="86593"/>
                    </a:cubicBezTo>
                    <a:lnTo>
                      <a:pt x="0" y="86593"/>
                    </a:lnTo>
                    <a:cubicBezTo>
                      <a:pt x="0" y="63627"/>
                      <a:pt x="9123" y="41602"/>
                      <a:pt x="25362" y="25362"/>
                    </a:cubicBezTo>
                    <a:cubicBezTo>
                      <a:pt x="41602" y="9123"/>
                      <a:pt x="63627" y="0"/>
                      <a:pt x="86593" y="0"/>
                    </a:cubicBezTo>
                    <a:close/>
                  </a:path>
                </a:pathLst>
              </a:custGeom>
              <a:ln w="28575" cap="rnd">
                <a:solidFill>
                  <a:srgbClr val="000000"/>
                </a:solidFill>
                <a:prstDash val="solid"/>
                <a:round/>
              </a:ln>
            </p:spPr>
            <p:txBody>
              <a:bodyPr/>
              <a:lstStyle/>
              <a:p>
                <a:endParaRPr lang="en-VN"/>
              </a:p>
            </p:txBody>
          </p:sp>
          <p:sp>
            <p:nvSpPr>
              <p:cNvPr id="19" name="TextBox 19"/>
              <p:cNvSpPr txBox="1"/>
              <p:nvPr/>
            </p:nvSpPr>
            <p:spPr>
              <a:xfrm>
                <a:off x="0" y="-38100"/>
                <a:ext cx="544843" cy="211286"/>
              </a:xfrm>
              <a:prstGeom prst="rect">
                <a:avLst/>
              </a:prstGeom>
            </p:spPr>
            <p:txBody>
              <a:bodyPr lIns="50800" tIns="50800" rIns="50800" bIns="50800" rtlCol="0" anchor="ctr"/>
              <a:lstStyle/>
              <a:p>
                <a:pPr algn="ctr">
                  <a:lnSpc>
                    <a:spcPts val="2940"/>
                  </a:lnSpc>
                </a:pPr>
                <a:r>
                  <a:rPr lang="en-US" sz="2100" b="1">
                    <a:solidFill>
                      <a:srgbClr val="000000"/>
                    </a:solidFill>
                    <a:latin typeface="Roboto Slab Bold"/>
                    <a:ea typeface="Roboto Slab Bold"/>
                    <a:cs typeface="Roboto Slab Bold"/>
                    <a:sym typeface="Roboto Slab Bold"/>
                  </a:rPr>
                  <a:t>Trả lời</a:t>
                </a:r>
              </a:p>
            </p:txBody>
          </p:sp>
        </p:grpSp>
        <p:sp>
          <p:nvSpPr>
            <p:cNvPr id="20" name="AutoShape 20"/>
            <p:cNvSpPr/>
            <p:nvPr/>
          </p:nvSpPr>
          <p:spPr>
            <a:xfrm flipH="1">
              <a:off x="3249727" y="7839480"/>
              <a:ext cx="5945" cy="1015062"/>
            </a:xfrm>
            <a:prstGeom prst="line">
              <a:avLst/>
            </a:prstGeom>
            <a:ln w="50800" cap="flat">
              <a:solidFill>
                <a:srgbClr val="000000"/>
              </a:solidFill>
              <a:prstDash val="solid"/>
              <a:headEnd type="none" w="sm" len="sm"/>
              <a:tailEnd type="triangle" w="lg" len="med"/>
            </a:ln>
          </p:spPr>
          <p:txBody>
            <a:bodyPr/>
            <a:lstStyle/>
            <a:p>
              <a:endParaRPr lang="en-VN"/>
            </a:p>
          </p:txBody>
        </p:sp>
        <p:grpSp>
          <p:nvGrpSpPr>
            <p:cNvPr id="21" name="Group 21"/>
            <p:cNvGrpSpPr/>
            <p:nvPr/>
          </p:nvGrpSpPr>
          <p:grpSpPr>
            <a:xfrm>
              <a:off x="0" y="1943552"/>
              <a:ext cx="6511344" cy="5895928"/>
              <a:chOff x="0" y="0"/>
              <a:chExt cx="1286191" cy="1164628"/>
            </a:xfrm>
          </p:grpSpPr>
          <p:sp>
            <p:nvSpPr>
              <p:cNvPr id="22" name="Freeform 22"/>
              <p:cNvSpPr/>
              <p:nvPr/>
            </p:nvSpPr>
            <p:spPr>
              <a:xfrm>
                <a:off x="0" y="0"/>
                <a:ext cx="1286191" cy="1164628"/>
              </a:xfrm>
              <a:custGeom>
                <a:avLst/>
                <a:gdLst/>
                <a:ahLst/>
                <a:cxnLst/>
                <a:rect l="l" t="t" r="r" b="b"/>
                <a:pathLst>
                  <a:path w="1286191" h="1164628">
                    <a:moveTo>
                      <a:pt x="80851" y="0"/>
                    </a:moveTo>
                    <a:lnTo>
                      <a:pt x="1205340" y="0"/>
                    </a:lnTo>
                    <a:cubicBezTo>
                      <a:pt x="1226783" y="0"/>
                      <a:pt x="1247348" y="8518"/>
                      <a:pt x="1262511" y="23681"/>
                    </a:cubicBezTo>
                    <a:cubicBezTo>
                      <a:pt x="1277673" y="38843"/>
                      <a:pt x="1286191" y="59408"/>
                      <a:pt x="1286191" y="80851"/>
                    </a:cubicBezTo>
                    <a:lnTo>
                      <a:pt x="1286191" y="1083777"/>
                    </a:lnTo>
                    <a:cubicBezTo>
                      <a:pt x="1286191" y="1105220"/>
                      <a:pt x="1277673" y="1125784"/>
                      <a:pt x="1262511" y="1140947"/>
                    </a:cubicBezTo>
                    <a:cubicBezTo>
                      <a:pt x="1247348" y="1156110"/>
                      <a:pt x="1226783" y="1164628"/>
                      <a:pt x="1205340" y="1164628"/>
                    </a:cubicBezTo>
                    <a:lnTo>
                      <a:pt x="80851" y="1164628"/>
                    </a:lnTo>
                    <a:cubicBezTo>
                      <a:pt x="59408" y="1164628"/>
                      <a:pt x="38843" y="1156110"/>
                      <a:pt x="23681" y="1140947"/>
                    </a:cubicBezTo>
                    <a:cubicBezTo>
                      <a:pt x="8518" y="1125784"/>
                      <a:pt x="0" y="1105220"/>
                      <a:pt x="0" y="1083777"/>
                    </a:cubicBezTo>
                    <a:lnTo>
                      <a:pt x="0" y="80851"/>
                    </a:lnTo>
                    <a:cubicBezTo>
                      <a:pt x="0" y="59408"/>
                      <a:pt x="8518" y="38843"/>
                      <a:pt x="23681" y="23681"/>
                    </a:cubicBezTo>
                    <a:cubicBezTo>
                      <a:pt x="38843" y="8518"/>
                      <a:pt x="59408" y="0"/>
                      <a:pt x="80851" y="0"/>
                    </a:cubicBezTo>
                    <a:close/>
                  </a:path>
                </a:pathLst>
              </a:custGeom>
              <a:ln w="28575" cap="rnd">
                <a:solidFill>
                  <a:srgbClr val="000000"/>
                </a:solidFill>
                <a:prstDash val="solid"/>
                <a:round/>
              </a:ln>
            </p:spPr>
            <p:txBody>
              <a:bodyPr/>
              <a:lstStyle/>
              <a:p>
                <a:endParaRPr lang="en-VN"/>
              </a:p>
            </p:txBody>
          </p:sp>
          <p:sp>
            <p:nvSpPr>
              <p:cNvPr id="23" name="TextBox 23"/>
              <p:cNvSpPr txBox="1"/>
              <p:nvPr/>
            </p:nvSpPr>
            <p:spPr>
              <a:xfrm>
                <a:off x="0" y="-38100"/>
                <a:ext cx="1286191" cy="1202728"/>
              </a:xfrm>
              <a:prstGeom prst="rect">
                <a:avLst/>
              </a:prstGeom>
            </p:spPr>
            <p:txBody>
              <a:bodyPr lIns="50800" tIns="50800" rIns="50800" bIns="50800" rtlCol="0" anchor="ctr"/>
              <a:lstStyle/>
              <a:p>
                <a:pPr algn="ctr">
                  <a:lnSpc>
                    <a:spcPts val="2940"/>
                  </a:lnSpc>
                </a:pPr>
                <a:endParaRPr/>
              </a:p>
            </p:txBody>
          </p:sp>
        </p:grpSp>
        <p:sp>
          <p:nvSpPr>
            <p:cNvPr id="24" name="Freeform 24"/>
            <p:cNvSpPr/>
            <p:nvPr/>
          </p:nvSpPr>
          <p:spPr>
            <a:xfrm>
              <a:off x="1362538" y="2577586"/>
              <a:ext cx="1200302" cy="1204824"/>
            </a:xfrm>
            <a:custGeom>
              <a:avLst/>
              <a:gdLst/>
              <a:ahLst/>
              <a:cxnLst/>
              <a:rect l="l" t="t" r="r" b="b"/>
              <a:pathLst>
                <a:path w="1200302" h="1204824">
                  <a:moveTo>
                    <a:pt x="0" y="0"/>
                  </a:moveTo>
                  <a:lnTo>
                    <a:pt x="1200303" y="0"/>
                  </a:lnTo>
                  <a:lnTo>
                    <a:pt x="1200303" y="1204823"/>
                  </a:lnTo>
                  <a:lnTo>
                    <a:pt x="0" y="1204823"/>
                  </a:lnTo>
                  <a:lnTo>
                    <a:pt x="0" y="0"/>
                  </a:lnTo>
                  <a:close/>
                </a:path>
              </a:pathLst>
            </a:custGeom>
            <a:blipFill>
              <a:blip>
                <a:extLst>
                  <a:ext uri="{96DAC541-7B7A-43D3-8B79-37D633B846F1}">
                    <asvg:svgBlip xmlns:asvg="http://schemas.microsoft.com/office/drawing/2016/SVG/main" r:embed="rId3"/>
                  </a:ext>
                </a:extLst>
              </a:blip>
              <a:stretch>
                <a:fillRect l="-188" r="-188"/>
              </a:stretch>
            </a:blipFill>
          </p:spPr>
          <p:txBody>
            <a:bodyPr/>
            <a:lstStyle/>
            <a:p>
              <a:endParaRPr lang="en-VN"/>
            </a:p>
          </p:txBody>
        </p:sp>
        <p:sp>
          <p:nvSpPr>
            <p:cNvPr id="25" name="TextBox 25"/>
            <p:cNvSpPr txBox="1"/>
            <p:nvPr/>
          </p:nvSpPr>
          <p:spPr>
            <a:xfrm>
              <a:off x="1535233" y="3680860"/>
              <a:ext cx="854913" cy="435218"/>
            </a:xfrm>
            <a:prstGeom prst="rect">
              <a:avLst/>
            </a:prstGeom>
          </p:spPr>
          <p:txBody>
            <a:bodyPr lIns="0" tIns="0" rIns="0" bIns="0" rtlCol="0" anchor="t">
              <a:spAutoFit/>
            </a:bodyPr>
            <a:lstStyle/>
            <a:p>
              <a:pPr algn="just">
                <a:lnSpc>
                  <a:spcPts val="2916"/>
                </a:lnSpc>
              </a:pPr>
              <a:r>
                <a:rPr lang="en-US" sz="1822" b="1">
                  <a:solidFill>
                    <a:srgbClr val="0C1D4B"/>
                  </a:solidFill>
                  <a:latin typeface="Roboto Slab Bold"/>
                  <a:ea typeface="Roboto Slab Bold"/>
                  <a:cs typeface="Roboto Slab Bold"/>
                  <a:sym typeface="Roboto Slab Bold"/>
                </a:rPr>
                <a:t>LLMs</a:t>
              </a:r>
            </a:p>
          </p:txBody>
        </p:sp>
        <p:sp>
          <p:nvSpPr>
            <p:cNvPr id="26" name="TextBox 26"/>
            <p:cNvSpPr txBox="1"/>
            <p:nvPr/>
          </p:nvSpPr>
          <p:spPr>
            <a:xfrm>
              <a:off x="3636346" y="3546863"/>
              <a:ext cx="1444473" cy="917782"/>
            </a:xfrm>
            <a:prstGeom prst="rect">
              <a:avLst/>
            </a:prstGeom>
          </p:spPr>
          <p:txBody>
            <a:bodyPr lIns="0" tIns="0" rIns="0" bIns="0" rtlCol="0" anchor="t">
              <a:spAutoFit/>
            </a:bodyPr>
            <a:lstStyle/>
            <a:p>
              <a:pPr algn="ctr">
                <a:lnSpc>
                  <a:spcPts val="2916"/>
                </a:lnSpc>
              </a:pPr>
              <a:r>
                <a:rPr lang="en-US" sz="1822" b="1">
                  <a:solidFill>
                    <a:srgbClr val="0C1D4B"/>
                  </a:solidFill>
                  <a:latin typeface="Roboto Slab Bold"/>
                  <a:ea typeface="Roboto Slab Bold"/>
                  <a:cs typeface="Roboto Slab Bold"/>
                  <a:sym typeface="Roboto Slab Bold"/>
                </a:rPr>
                <a:t>Truy vấn CSDL</a:t>
              </a:r>
            </a:p>
          </p:txBody>
        </p:sp>
        <p:sp>
          <p:nvSpPr>
            <p:cNvPr id="27" name="Freeform 27"/>
            <p:cNvSpPr/>
            <p:nvPr/>
          </p:nvSpPr>
          <p:spPr>
            <a:xfrm>
              <a:off x="3838289" y="2240185"/>
              <a:ext cx="1040587" cy="1217054"/>
            </a:xfrm>
            <a:custGeom>
              <a:avLst/>
              <a:gdLst/>
              <a:ahLst/>
              <a:cxnLst/>
              <a:rect l="l" t="t" r="r" b="b"/>
              <a:pathLst>
                <a:path w="1040587" h="1217054">
                  <a:moveTo>
                    <a:pt x="0" y="0"/>
                  </a:moveTo>
                  <a:lnTo>
                    <a:pt x="1040587" y="0"/>
                  </a:lnTo>
                  <a:lnTo>
                    <a:pt x="1040587" y="1217054"/>
                  </a:lnTo>
                  <a:lnTo>
                    <a:pt x="0" y="1217054"/>
                  </a:lnTo>
                  <a:lnTo>
                    <a:pt x="0" y="0"/>
                  </a:lnTo>
                  <a:close/>
                </a:path>
              </a:pathLst>
            </a:custGeom>
            <a:blipFill>
              <a:blip>
                <a:extLst>
                  <a:ext uri="{96DAC541-7B7A-43D3-8B79-37D633B846F1}">
                    <asvg:svgBlip xmlns:asvg="http://schemas.microsoft.com/office/drawing/2016/SVG/main" r:embed="rId4"/>
                  </a:ext>
                </a:extLst>
              </a:blip>
              <a:stretch>
                <a:fillRect t="-49" b="-49"/>
              </a:stretch>
            </a:blipFill>
          </p:spPr>
          <p:txBody>
            <a:bodyPr/>
            <a:lstStyle/>
            <a:p>
              <a:endParaRPr lang="en-VN"/>
            </a:p>
          </p:txBody>
        </p:sp>
        <p:sp>
          <p:nvSpPr>
            <p:cNvPr id="28" name="TextBox 28"/>
            <p:cNvSpPr txBox="1"/>
            <p:nvPr/>
          </p:nvSpPr>
          <p:spPr>
            <a:xfrm>
              <a:off x="2434114" y="6338284"/>
              <a:ext cx="1631226" cy="435218"/>
            </a:xfrm>
            <a:prstGeom prst="rect">
              <a:avLst/>
            </a:prstGeom>
          </p:spPr>
          <p:txBody>
            <a:bodyPr lIns="0" tIns="0" rIns="0" bIns="0" rtlCol="0" anchor="t">
              <a:spAutoFit/>
            </a:bodyPr>
            <a:lstStyle/>
            <a:p>
              <a:pPr algn="ctr">
                <a:lnSpc>
                  <a:spcPts val="2916"/>
                </a:lnSpc>
              </a:pPr>
              <a:r>
                <a:rPr lang="en-US" sz="1822" b="1">
                  <a:solidFill>
                    <a:srgbClr val="0C1D4B"/>
                  </a:solidFill>
                  <a:latin typeface="Roboto Slab Bold"/>
                  <a:ea typeface="Roboto Slab Bold"/>
                  <a:cs typeface="Roboto Slab Bold"/>
                  <a:sym typeface="Roboto Slab Bold"/>
                </a:rPr>
                <a:t>Tính toán</a:t>
              </a:r>
            </a:p>
          </p:txBody>
        </p:sp>
        <p:sp>
          <p:nvSpPr>
            <p:cNvPr id="29" name="Freeform 29"/>
            <p:cNvSpPr/>
            <p:nvPr/>
          </p:nvSpPr>
          <p:spPr>
            <a:xfrm>
              <a:off x="2606846" y="4881531"/>
              <a:ext cx="1432484" cy="1416368"/>
            </a:xfrm>
            <a:custGeom>
              <a:avLst/>
              <a:gdLst/>
              <a:ahLst/>
              <a:cxnLst/>
              <a:rect l="l" t="t" r="r" b="b"/>
              <a:pathLst>
                <a:path w="1432484" h="1416368">
                  <a:moveTo>
                    <a:pt x="0" y="0"/>
                  </a:moveTo>
                  <a:lnTo>
                    <a:pt x="1432484" y="0"/>
                  </a:lnTo>
                  <a:lnTo>
                    <a:pt x="1432484" y="1416367"/>
                  </a:lnTo>
                  <a:lnTo>
                    <a:pt x="0" y="1416367"/>
                  </a:lnTo>
                  <a:lnTo>
                    <a:pt x="0" y="0"/>
                  </a:lnTo>
                  <a:close/>
                </a:path>
              </a:pathLst>
            </a:custGeom>
            <a:blipFill>
              <a:blip>
                <a:extLst>
                  <a:ext uri="{96DAC541-7B7A-43D3-8B79-37D633B846F1}">
                    <asvg:svgBlip xmlns:asvg="http://schemas.microsoft.com/office/drawing/2016/SVG/main" r:embed="rId5"/>
                  </a:ext>
                </a:extLst>
              </a:blip>
              <a:stretch>
                <a:fillRect t="-568" b="-569"/>
              </a:stretch>
            </a:blipFill>
          </p:spPr>
          <p:txBody>
            <a:bodyPr/>
            <a:lstStyle/>
            <a:p>
              <a:endParaRPr lang="en-VN"/>
            </a:p>
          </p:txBody>
        </p:sp>
        <p:sp>
          <p:nvSpPr>
            <p:cNvPr id="30" name="TextBox 30"/>
            <p:cNvSpPr txBox="1"/>
            <p:nvPr/>
          </p:nvSpPr>
          <p:spPr>
            <a:xfrm>
              <a:off x="4403223" y="6094470"/>
              <a:ext cx="1444473" cy="917782"/>
            </a:xfrm>
            <a:prstGeom prst="rect">
              <a:avLst/>
            </a:prstGeom>
          </p:spPr>
          <p:txBody>
            <a:bodyPr lIns="0" tIns="0" rIns="0" bIns="0" rtlCol="0" anchor="t">
              <a:spAutoFit/>
            </a:bodyPr>
            <a:lstStyle/>
            <a:p>
              <a:pPr algn="ctr">
                <a:lnSpc>
                  <a:spcPts val="2916"/>
                </a:lnSpc>
              </a:pPr>
              <a:r>
                <a:rPr lang="en-US" sz="1822" b="1">
                  <a:solidFill>
                    <a:srgbClr val="0C1D4B"/>
                  </a:solidFill>
                  <a:latin typeface="Roboto Slab Bold"/>
                  <a:ea typeface="Roboto Slab Bold"/>
                  <a:cs typeface="Roboto Slab Bold"/>
                  <a:sym typeface="Roboto Slab Bold"/>
                </a:rPr>
                <a:t>Lập kế hoạch</a:t>
              </a:r>
            </a:p>
          </p:txBody>
        </p:sp>
        <p:sp>
          <p:nvSpPr>
            <p:cNvPr id="31" name="Freeform 31"/>
            <p:cNvSpPr/>
            <p:nvPr/>
          </p:nvSpPr>
          <p:spPr>
            <a:xfrm>
              <a:off x="4557554" y="4670203"/>
              <a:ext cx="1135786" cy="1385113"/>
            </a:xfrm>
            <a:custGeom>
              <a:avLst/>
              <a:gdLst/>
              <a:ahLst/>
              <a:cxnLst/>
              <a:rect l="l" t="t" r="r" b="b"/>
              <a:pathLst>
                <a:path w="1135786" h="1385113">
                  <a:moveTo>
                    <a:pt x="0" y="0"/>
                  </a:moveTo>
                  <a:lnTo>
                    <a:pt x="1135786" y="0"/>
                  </a:lnTo>
                  <a:lnTo>
                    <a:pt x="1135786" y="1385113"/>
                  </a:lnTo>
                  <a:lnTo>
                    <a:pt x="0" y="1385113"/>
                  </a:lnTo>
                  <a:lnTo>
                    <a:pt x="0" y="0"/>
                  </a:lnTo>
                  <a:close/>
                </a:path>
              </a:pathLst>
            </a:custGeom>
            <a:blipFill>
              <a:blip>
                <a:extLst>
                  <a:ext uri="{96DAC541-7B7A-43D3-8B79-37D633B846F1}">
                    <asvg:svgBlip xmlns:asvg="http://schemas.microsoft.com/office/drawing/2016/SVG/main" r:embed="rId6"/>
                  </a:ext>
                </a:extLst>
              </a:blip>
              <a:stretch>
                <a:fillRect t="-110" b="-110"/>
              </a:stretch>
            </a:blipFill>
          </p:spPr>
          <p:txBody>
            <a:bodyPr/>
            <a:lstStyle/>
            <a:p>
              <a:endParaRPr lang="en-VN"/>
            </a:p>
          </p:txBody>
        </p:sp>
        <p:sp>
          <p:nvSpPr>
            <p:cNvPr id="32" name="TextBox 32"/>
            <p:cNvSpPr txBox="1"/>
            <p:nvPr/>
          </p:nvSpPr>
          <p:spPr>
            <a:xfrm>
              <a:off x="430244" y="6121927"/>
              <a:ext cx="1477416" cy="917782"/>
            </a:xfrm>
            <a:prstGeom prst="rect">
              <a:avLst/>
            </a:prstGeom>
          </p:spPr>
          <p:txBody>
            <a:bodyPr lIns="0" tIns="0" rIns="0" bIns="0" rtlCol="0" anchor="t">
              <a:spAutoFit/>
            </a:bodyPr>
            <a:lstStyle/>
            <a:p>
              <a:pPr algn="ctr">
                <a:lnSpc>
                  <a:spcPts val="2916"/>
                </a:lnSpc>
              </a:pPr>
              <a:r>
                <a:rPr lang="en-US" sz="1822" b="1">
                  <a:solidFill>
                    <a:srgbClr val="0C1D4B"/>
                  </a:solidFill>
                  <a:latin typeface="Roboto Slab Bold"/>
                  <a:ea typeface="Roboto Slab Bold"/>
                  <a:cs typeface="Roboto Slab Bold"/>
                  <a:sym typeface="Roboto Slab Bold"/>
                </a:rPr>
                <a:t>Đánh giá kết quả</a:t>
              </a:r>
            </a:p>
          </p:txBody>
        </p:sp>
        <p:sp>
          <p:nvSpPr>
            <p:cNvPr id="33" name="Freeform 33"/>
            <p:cNvSpPr/>
            <p:nvPr/>
          </p:nvSpPr>
          <p:spPr>
            <a:xfrm>
              <a:off x="521074" y="4670203"/>
              <a:ext cx="1295781" cy="1425893"/>
            </a:xfrm>
            <a:custGeom>
              <a:avLst/>
              <a:gdLst/>
              <a:ahLst/>
              <a:cxnLst/>
              <a:rect l="l" t="t" r="r" b="b"/>
              <a:pathLst>
                <a:path w="1295781" h="1425893">
                  <a:moveTo>
                    <a:pt x="0" y="0"/>
                  </a:moveTo>
                  <a:lnTo>
                    <a:pt x="1295781" y="0"/>
                  </a:lnTo>
                  <a:lnTo>
                    <a:pt x="1295781" y="1425892"/>
                  </a:lnTo>
                  <a:lnTo>
                    <a:pt x="0" y="1425892"/>
                  </a:lnTo>
                  <a:lnTo>
                    <a:pt x="0" y="0"/>
                  </a:lnTo>
                  <a:close/>
                </a:path>
              </a:pathLst>
            </a:custGeom>
            <a:blipFill>
              <a:blip>
                <a:extLst>
                  <a:ext uri="{96DAC541-7B7A-43D3-8B79-37D633B846F1}">
                    <asvg:svgBlip xmlns:asvg="http://schemas.microsoft.com/office/drawing/2016/SVG/main" r:embed="rId7"/>
                  </a:ext>
                </a:extLst>
              </a:blip>
              <a:stretch>
                <a:fillRect l="-151" r="-150"/>
              </a:stretch>
            </a:blipFill>
          </p:spPr>
          <p:txBody>
            <a:bodyPr/>
            <a:lstStyle/>
            <a:p>
              <a:endParaRPr lang="en-VN"/>
            </a:p>
          </p:txBody>
        </p:sp>
      </p:grpSp>
      <p:sp>
        <p:nvSpPr>
          <p:cNvPr id="34" name="TextBox 34"/>
          <p:cNvSpPr txBox="1"/>
          <p:nvPr/>
        </p:nvSpPr>
        <p:spPr>
          <a:xfrm>
            <a:off x="1687249" y="346410"/>
            <a:ext cx="3954904" cy="356289"/>
          </a:xfrm>
          <a:prstGeom prst="rect">
            <a:avLst/>
          </a:prstGeom>
        </p:spPr>
        <p:txBody>
          <a:bodyPr lIns="0" tIns="0" rIns="0" bIns="0" rtlCol="0" anchor="t">
            <a:spAutoFit/>
          </a:bodyPr>
          <a:lstStyle/>
          <a:p>
            <a:pPr algn="l">
              <a:lnSpc>
                <a:spcPts val="2940"/>
              </a:lnSpc>
            </a:pPr>
            <a:r>
              <a:rPr lang="en-US" sz="2100" b="1">
                <a:solidFill>
                  <a:srgbClr val="2C2C2C"/>
                </a:solidFill>
                <a:latin typeface="Roboto Slab Bold"/>
                <a:ea typeface="Roboto Slab Bold"/>
                <a:cs typeface="Roboto Slab Bold"/>
                <a:sym typeface="Roboto Slab Bold"/>
              </a:rPr>
              <a:t>HỌC VIỆN KỸ THUẬT MẬT MÃ</a:t>
            </a:r>
          </a:p>
        </p:txBody>
      </p:sp>
      <p:sp>
        <p:nvSpPr>
          <p:cNvPr id="35" name="Freeform 35"/>
          <p:cNvSpPr/>
          <p:nvPr/>
        </p:nvSpPr>
        <p:spPr>
          <a:xfrm>
            <a:off x="1028700" y="251389"/>
            <a:ext cx="551704" cy="584433"/>
          </a:xfrm>
          <a:custGeom>
            <a:avLst/>
            <a:gdLst/>
            <a:ahLst/>
            <a:cxnLst/>
            <a:rect l="l" t="t" r="r" b="b"/>
            <a:pathLst>
              <a:path w="551704" h="584433">
                <a:moveTo>
                  <a:pt x="0" y="0"/>
                </a:moveTo>
                <a:lnTo>
                  <a:pt x="551704" y="0"/>
                </a:lnTo>
                <a:lnTo>
                  <a:pt x="551704" y="584432"/>
                </a:lnTo>
                <a:lnTo>
                  <a:pt x="0" y="584432"/>
                </a:lnTo>
                <a:lnTo>
                  <a:pt x="0" y="0"/>
                </a:lnTo>
                <a:close/>
              </a:path>
            </a:pathLst>
          </a:custGeom>
          <a:blipFill>
            <a:blip r:embed="rId8"/>
            <a:stretch>
              <a:fillRect/>
            </a:stretch>
          </a:blipFill>
        </p:spPr>
        <p:txBody>
          <a:bodyPr/>
          <a:lstStyle/>
          <a:p>
            <a:endParaRPr lang="en-VN"/>
          </a:p>
        </p:txBody>
      </p:sp>
    </p:spTree>
  </p:cSld>
  <p:clrMapOvr>
    <a:masterClrMapping/>
  </p:clrMapOvr>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grpId="0" nodeType="withEffect">
                            <p:stCondLst>
                              <p:cond delay="180"/>
                            </p:stCondLst>
                            <p:childTnLst>
                              <p:set>
                                <p:cBhvr>
                                  <p:cTn id="5" dur="1" fill="hold">
                                    <p:stCondLst>
                                      <p:cond delay="0"/>
                                    </p:stCondLst>
                                  </p:cTn>
                                  <p:tgtEl>
                                    <p:spTgt spid="12"/>
                                  </p:tgtEl>
                                  <p:attrNameLst>
                                    <p:attrName>style.visibility</p:attrName>
                                  </p:attrNameLst>
                                </p:cBhvr>
                                <p:to>
                                  <p:strVal val="visible"/>
                                </p:to>
                              </p:set>
                              <p:animEffect transition="in" filter="wipe(left)">
                                <p:cBhvr>
                                  <p:cTn id="6" dur="860"/>
                                  <p:tgtEl>
                                    <p:spTgt spid="12"/>
                                  </p:tgtEl>
                                </p:cBhvr>
                              </p:animEffect>
                            </p:childTnLst>
                          </p:cTn>
                        </p:par>
                        <p:par>
                          <p:cTn id="7" presetID="10" presetClass="entr" presetSubtype="0" fill="hold" grpId="0" nodeType="withEffect">
                            <p:stCondLst>
                              <p:cond delay="350"/>
                            </p:stCondLst>
                            <p:childTnLst>
                              <p:set>
                                <p:cBhvr>
                                  <p:cTn id="8" dur="1" fill="hold">
                                    <p:stCondLst>
                                      <p:cond delay="0"/>
                                    </p:stCondLst>
                                  </p:cTn>
                                  <p:tgtEl>
                                    <p:spTgt spid="10"/>
                                  </p:tgtEl>
                                  <p:attrNameLst>
                                    <p:attrName>style.visibility</p:attrName>
                                  </p:attrNameLst>
                                </p:cBhvr>
                                <p:to>
                                  <p:strVal val="visible"/>
                                </p:to>
                              </p:set>
                              <p:animEffect transition="in" filter="wipe(left)">
                                <p:cBhvr>
                                  <p:cTn id="9" dur="860"/>
                                  <p:tgtEl>
                                    <p:spTgt spid="10"/>
                                  </p:tgtEl>
                                </p:cBhvr>
                              </p:animEffect>
                            </p:childTnLst>
                          </p:cTn>
                        </p:par>
                        <p:par>
                          <p:cTn id="10" presetID="10" presetClass="entr" presetSubtype="0" fill="hold" grpId="0" nodeType="withEffect">
                            <p:stCondLst>
                              <p:cond delay="520"/>
                            </p:stCondLst>
                            <p:childTnLst>
                              <p:set>
                                <p:cBhvr>
                                  <p:cTn id="11" dur="1" fill="hold">
                                    <p:stCondLst>
                                      <p:cond delay="0"/>
                                    </p:stCondLst>
                                  </p:cTn>
                                  <p:tgtEl>
                                    <p:spTgt spid="11"/>
                                  </p:tgtEl>
                                  <p:attrNameLst>
                                    <p:attrName>style.visibility</p:attrName>
                                  </p:attrNameLst>
                                </p:cBhvr>
                                <p:to>
                                  <p:strVal val="visible"/>
                                </p:to>
                              </p:set>
                              <p:animEffect transition="in" filter="wipe(left)">
                                <p:cBhvr>
                                  <p:cTn id="12" dur="860"/>
                                  <p:tgtEl>
                                    <p:spTgt spid="11"/>
                                  </p:tgtEl>
                                </p:cBhvr>
                              </p:animEffect>
                            </p:childTnLst>
                          </p:cTn>
                        </p:par>
                      </p:childTnLst>
                    </p:cTn>
                  </p:par>
                </p:childTnLst>
              </p:cTn>
            </p:seq>
          </p:childTnLst>
        </p:cTn>
      </p:par>
    </p:tnLst>
    <p:bldLst>
      <p:bldP spid="10" grpId="0"/>
      <p:bldP spid="11" grpId="0"/>
      <p:bldP spid="1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10800000">
            <a:off x="17259300" y="-233820"/>
            <a:ext cx="1940843" cy="970417"/>
            <a:chOff x="0" y="0"/>
            <a:chExt cx="2587790" cy="1293889"/>
          </a:xfrm>
        </p:grpSpPr>
        <p:sp>
          <p:nvSpPr>
            <p:cNvPr id="3" name="Freeform 3"/>
            <p:cNvSpPr/>
            <p:nvPr/>
          </p:nvSpPr>
          <p:spPr>
            <a:xfrm>
              <a:off x="0" y="0"/>
              <a:ext cx="2587752" cy="1293876"/>
            </a:xfrm>
            <a:custGeom>
              <a:avLst/>
              <a:gdLst/>
              <a:ahLst/>
              <a:cxnLst/>
              <a:rect l="l" t="t" r="r" b="b"/>
              <a:pathLst>
                <a:path w="2587752" h="1293876">
                  <a:moveTo>
                    <a:pt x="0" y="0"/>
                  </a:moveTo>
                  <a:lnTo>
                    <a:pt x="2587752" y="0"/>
                  </a:lnTo>
                  <a:lnTo>
                    <a:pt x="2587752" y="1293876"/>
                  </a:lnTo>
                  <a:lnTo>
                    <a:pt x="0" y="1293876"/>
                  </a:lnTo>
                  <a:lnTo>
                    <a:pt x="0" y="0"/>
                  </a:lnTo>
                  <a:close/>
                </a:path>
              </a:pathLst>
            </a:custGeom>
            <a:blipFill>
              <a:blip r:embed="rId2"/>
              <a:stretch>
                <a:fillRect r="-1"/>
              </a:stretch>
            </a:blipFill>
          </p:spPr>
          <p:txBody>
            <a:bodyPr/>
            <a:lstStyle/>
            <a:p>
              <a:endParaRPr lang="en-VN"/>
            </a:p>
          </p:txBody>
        </p:sp>
      </p:grpSp>
      <p:grpSp>
        <p:nvGrpSpPr>
          <p:cNvPr id="4" name="Group 4"/>
          <p:cNvGrpSpPr/>
          <p:nvPr/>
        </p:nvGrpSpPr>
        <p:grpSpPr>
          <a:xfrm>
            <a:off x="-912143" y="9429369"/>
            <a:ext cx="1940843" cy="970417"/>
            <a:chOff x="0" y="0"/>
            <a:chExt cx="2587790" cy="1293889"/>
          </a:xfrm>
        </p:grpSpPr>
        <p:sp>
          <p:nvSpPr>
            <p:cNvPr id="5" name="Freeform 5"/>
            <p:cNvSpPr/>
            <p:nvPr/>
          </p:nvSpPr>
          <p:spPr>
            <a:xfrm>
              <a:off x="0" y="0"/>
              <a:ext cx="2587752" cy="1293876"/>
            </a:xfrm>
            <a:custGeom>
              <a:avLst/>
              <a:gdLst/>
              <a:ahLst/>
              <a:cxnLst/>
              <a:rect l="l" t="t" r="r" b="b"/>
              <a:pathLst>
                <a:path w="2587752" h="1293876">
                  <a:moveTo>
                    <a:pt x="0" y="0"/>
                  </a:moveTo>
                  <a:lnTo>
                    <a:pt x="2587752" y="0"/>
                  </a:lnTo>
                  <a:lnTo>
                    <a:pt x="2587752" y="1293876"/>
                  </a:lnTo>
                  <a:lnTo>
                    <a:pt x="0" y="1293876"/>
                  </a:lnTo>
                  <a:lnTo>
                    <a:pt x="0" y="0"/>
                  </a:lnTo>
                  <a:close/>
                </a:path>
              </a:pathLst>
            </a:custGeom>
            <a:blipFill>
              <a:blip r:embed="rId2"/>
              <a:stretch>
                <a:fillRect r="-1"/>
              </a:stretch>
            </a:blipFill>
          </p:spPr>
          <p:txBody>
            <a:bodyPr/>
            <a:lstStyle/>
            <a:p>
              <a:endParaRPr lang="en-VN"/>
            </a:p>
          </p:txBody>
        </p:sp>
      </p:grpSp>
      <p:grpSp>
        <p:nvGrpSpPr>
          <p:cNvPr id="6" name="Group 6"/>
          <p:cNvGrpSpPr/>
          <p:nvPr/>
        </p:nvGrpSpPr>
        <p:grpSpPr>
          <a:xfrm>
            <a:off x="-3127839" y="9986436"/>
            <a:ext cx="22035035" cy="2837612"/>
            <a:chOff x="0" y="0"/>
            <a:chExt cx="5803466" cy="747355"/>
          </a:xfrm>
        </p:grpSpPr>
        <p:sp>
          <p:nvSpPr>
            <p:cNvPr id="7" name="Freeform 7"/>
            <p:cNvSpPr/>
            <p:nvPr/>
          </p:nvSpPr>
          <p:spPr>
            <a:xfrm>
              <a:off x="0" y="0"/>
              <a:ext cx="5803466" cy="747355"/>
            </a:xfrm>
            <a:custGeom>
              <a:avLst/>
              <a:gdLst/>
              <a:ahLst/>
              <a:cxnLst/>
              <a:rect l="l" t="t" r="r" b="b"/>
              <a:pathLst>
                <a:path w="5803466" h="747355">
                  <a:moveTo>
                    <a:pt x="0" y="0"/>
                  </a:moveTo>
                  <a:lnTo>
                    <a:pt x="5803466" y="0"/>
                  </a:lnTo>
                  <a:lnTo>
                    <a:pt x="5803466" y="747355"/>
                  </a:lnTo>
                  <a:lnTo>
                    <a:pt x="0" y="747355"/>
                  </a:lnTo>
                  <a:close/>
                </a:path>
              </a:pathLst>
            </a:custGeom>
            <a:solidFill>
              <a:srgbClr val="3C4F75"/>
            </a:solidFill>
          </p:spPr>
          <p:txBody>
            <a:bodyPr/>
            <a:lstStyle/>
            <a:p>
              <a:endParaRPr lang="en-VN"/>
            </a:p>
          </p:txBody>
        </p:sp>
        <p:sp>
          <p:nvSpPr>
            <p:cNvPr id="8" name="TextBox 8"/>
            <p:cNvSpPr txBox="1"/>
            <p:nvPr/>
          </p:nvSpPr>
          <p:spPr>
            <a:xfrm>
              <a:off x="0" y="-47625"/>
              <a:ext cx="5803466" cy="794980"/>
            </a:xfrm>
            <a:prstGeom prst="rect">
              <a:avLst/>
            </a:prstGeom>
          </p:spPr>
          <p:txBody>
            <a:bodyPr lIns="50800" tIns="50800" rIns="50800" bIns="50800" rtlCol="0" anchor="ctr"/>
            <a:lstStyle/>
            <a:p>
              <a:pPr algn="ctr">
                <a:lnSpc>
                  <a:spcPts val="2940"/>
                </a:lnSpc>
              </a:pPr>
              <a:endParaRPr/>
            </a:p>
          </p:txBody>
        </p:sp>
      </p:grpSp>
      <p:sp>
        <p:nvSpPr>
          <p:cNvPr id="9" name="TextBox 9"/>
          <p:cNvSpPr txBox="1"/>
          <p:nvPr/>
        </p:nvSpPr>
        <p:spPr>
          <a:xfrm>
            <a:off x="1028700" y="1095375"/>
            <a:ext cx="10321094" cy="534618"/>
          </a:xfrm>
          <a:prstGeom prst="rect">
            <a:avLst/>
          </a:prstGeom>
        </p:spPr>
        <p:txBody>
          <a:bodyPr lIns="0" tIns="0" rIns="0" bIns="0" rtlCol="0" anchor="t">
            <a:spAutoFit/>
          </a:bodyPr>
          <a:lstStyle/>
          <a:p>
            <a:pPr algn="just">
              <a:lnSpc>
                <a:spcPts val="4039"/>
              </a:lnSpc>
            </a:pPr>
            <a:r>
              <a:rPr lang="en-US" sz="3999" b="1">
                <a:solidFill>
                  <a:srgbClr val="0C1D4B"/>
                </a:solidFill>
                <a:latin typeface="Roboto Slab Bold"/>
                <a:ea typeface="Roboto Slab Bold"/>
                <a:cs typeface="Roboto Slab Bold"/>
                <a:sym typeface="Roboto Slab Bold"/>
              </a:rPr>
              <a:t>2.2. Một số phương pháp xây dựng Chatbot</a:t>
            </a:r>
          </a:p>
        </p:txBody>
      </p:sp>
      <p:sp>
        <p:nvSpPr>
          <p:cNvPr id="10" name="TextBox 10"/>
          <p:cNvSpPr txBox="1"/>
          <p:nvPr/>
        </p:nvSpPr>
        <p:spPr>
          <a:xfrm>
            <a:off x="1028700" y="1725243"/>
            <a:ext cx="10081822" cy="685800"/>
          </a:xfrm>
          <a:prstGeom prst="rect">
            <a:avLst/>
          </a:prstGeom>
        </p:spPr>
        <p:txBody>
          <a:bodyPr lIns="0" tIns="0" rIns="0" bIns="0" rtlCol="0" anchor="t">
            <a:spAutoFit/>
          </a:bodyPr>
          <a:lstStyle/>
          <a:p>
            <a:pPr algn="just">
              <a:lnSpc>
                <a:spcPts val="6000"/>
              </a:lnSpc>
            </a:pPr>
            <a:r>
              <a:rPr lang="en-US" sz="3000" b="1">
                <a:solidFill>
                  <a:srgbClr val="0C1D4B"/>
                </a:solidFill>
                <a:latin typeface="Roboto Slab Bold"/>
                <a:ea typeface="Roboto Slab Bold"/>
                <a:cs typeface="Roboto Slab Bold"/>
                <a:sym typeface="Roboto Slab Bold"/>
              </a:rPr>
              <a:t>AI Agent</a:t>
            </a:r>
          </a:p>
        </p:txBody>
      </p:sp>
      <p:sp>
        <p:nvSpPr>
          <p:cNvPr id="11" name="TextBox 11"/>
          <p:cNvSpPr txBox="1"/>
          <p:nvPr/>
        </p:nvSpPr>
        <p:spPr>
          <a:xfrm>
            <a:off x="1028700" y="2630118"/>
            <a:ext cx="9079671" cy="3896739"/>
          </a:xfrm>
          <a:prstGeom prst="rect">
            <a:avLst/>
          </a:prstGeom>
        </p:spPr>
        <p:txBody>
          <a:bodyPr lIns="0" tIns="0" rIns="0" bIns="0" rtlCol="0" anchor="t">
            <a:spAutoFit/>
          </a:bodyPr>
          <a:lstStyle/>
          <a:p>
            <a:pPr marL="604519" lvl="1" indent="-302260" algn="l">
              <a:lnSpc>
                <a:spcPts val="4479"/>
              </a:lnSpc>
              <a:buFont typeface="Arial"/>
              <a:buChar char="•"/>
            </a:pPr>
            <a:r>
              <a:rPr lang="en-US" sz="2799">
                <a:solidFill>
                  <a:srgbClr val="0C1D4B"/>
                </a:solidFill>
                <a:latin typeface="Roboto Slab"/>
                <a:ea typeface="Roboto Slab"/>
                <a:cs typeface="Roboto Slab"/>
                <a:sym typeface="Roboto Slab"/>
              </a:rPr>
              <a:t>AI Agent là hệ thống có khả năng nhận yêu cầu, phân tích trạng thái hiện tại, lựa chọn hành động phù hợp và sử dụng công cụ để đạt mục tiêu</a:t>
            </a:r>
          </a:p>
          <a:p>
            <a:pPr marL="604519" lvl="1" indent="-302260" algn="l">
              <a:lnSpc>
                <a:spcPts val="4479"/>
              </a:lnSpc>
              <a:buFont typeface="Arial"/>
              <a:buChar char="•"/>
            </a:pPr>
            <a:r>
              <a:rPr lang="en-US" sz="2799">
                <a:solidFill>
                  <a:srgbClr val="0C1D4B"/>
                </a:solidFill>
                <a:latin typeface="Roboto Slab"/>
                <a:ea typeface="Roboto Slab"/>
                <a:cs typeface="Roboto Slab"/>
                <a:sym typeface="Roboto Slab"/>
              </a:rPr>
              <a:t>AI Agent là Agent được xây dựng với nền tảng các kỹ thuật AI, đặc biệt là LLMs</a:t>
            </a:r>
          </a:p>
          <a:p>
            <a:pPr marL="604519" lvl="1" indent="-302260" algn="l">
              <a:lnSpc>
                <a:spcPts val="4479"/>
              </a:lnSpc>
              <a:buFont typeface="Arial"/>
              <a:buChar char="•"/>
            </a:pPr>
            <a:r>
              <a:rPr lang="en-US" sz="2799">
                <a:solidFill>
                  <a:srgbClr val="0C1D4B"/>
                </a:solidFill>
                <a:latin typeface="Roboto Slab"/>
                <a:ea typeface="Roboto Slab"/>
                <a:cs typeface="Roboto Slab"/>
                <a:sym typeface="Roboto Slab"/>
              </a:rPr>
              <a:t>LLMs thường được ứng dụng như khối não của AI Agent</a:t>
            </a:r>
          </a:p>
        </p:txBody>
      </p:sp>
      <p:grpSp>
        <p:nvGrpSpPr>
          <p:cNvPr id="12" name="Group 12"/>
          <p:cNvGrpSpPr/>
          <p:nvPr/>
        </p:nvGrpSpPr>
        <p:grpSpPr>
          <a:xfrm>
            <a:off x="11110522" y="2734893"/>
            <a:ext cx="6674961" cy="4480642"/>
            <a:chOff x="0" y="0"/>
            <a:chExt cx="8817826" cy="5919064"/>
          </a:xfrm>
        </p:grpSpPr>
        <p:sp>
          <p:nvSpPr>
            <p:cNvPr id="13" name="Freeform 13"/>
            <p:cNvSpPr/>
            <p:nvPr/>
          </p:nvSpPr>
          <p:spPr>
            <a:xfrm>
              <a:off x="0" y="0"/>
              <a:ext cx="8817864" cy="5919089"/>
            </a:xfrm>
            <a:custGeom>
              <a:avLst/>
              <a:gdLst/>
              <a:ahLst/>
              <a:cxnLst/>
              <a:rect l="l" t="t" r="r" b="b"/>
              <a:pathLst>
                <a:path w="8817864" h="5919089">
                  <a:moveTo>
                    <a:pt x="0" y="0"/>
                  </a:moveTo>
                  <a:lnTo>
                    <a:pt x="8817864" y="0"/>
                  </a:lnTo>
                  <a:lnTo>
                    <a:pt x="8817864" y="5919089"/>
                  </a:lnTo>
                  <a:lnTo>
                    <a:pt x="0" y="5919089"/>
                  </a:lnTo>
                  <a:lnTo>
                    <a:pt x="0" y="0"/>
                  </a:lnTo>
                  <a:close/>
                </a:path>
              </a:pathLst>
            </a:custGeom>
            <a:blipFill>
              <a:blip r:embed="rId3"/>
              <a:stretch>
                <a:fillRect l="-14042" r="-14042"/>
              </a:stretch>
            </a:blipFill>
          </p:spPr>
          <p:txBody>
            <a:bodyPr/>
            <a:lstStyle/>
            <a:p>
              <a:endParaRPr lang="en-VN"/>
            </a:p>
          </p:txBody>
        </p:sp>
      </p:grpSp>
      <p:sp>
        <p:nvSpPr>
          <p:cNvPr id="14" name="TextBox 14"/>
          <p:cNvSpPr txBox="1"/>
          <p:nvPr/>
        </p:nvSpPr>
        <p:spPr>
          <a:xfrm>
            <a:off x="1687249" y="346410"/>
            <a:ext cx="3954904" cy="356289"/>
          </a:xfrm>
          <a:prstGeom prst="rect">
            <a:avLst/>
          </a:prstGeom>
        </p:spPr>
        <p:txBody>
          <a:bodyPr lIns="0" tIns="0" rIns="0" bIns="0" rtlCol="0" anchor="t">
            <a:spAutoFit/>
          </a:bodyPr>
          <a:lstStyle/>
          <a:p>
            <a:pPr algn="l">
              <a:lnSpc>
                <a:spcPts val="2940"/>
              </a:lnSpc>
            </a:pPr>
            <a:r>
              <a:rPr lang="en-US" sz="2100" b="1">
                <a:solidFill>
                  <a:srgbClr val="2C2C2C"/>
                </a:solidFill>
                <a:latin typeface="Roboto Slab Bold"/>
                <a:ea typeface="Roboto Slab Bold"/>
                <a:cs typeface="Roboto Slab Bold"/>
                <a:sym typeface="Roboto Slab Bold"/>
              </a:rPr>
              <a:t>HỌC VIỆN KỸ THUẬT MẬT MÃ</a:t>
            </a:r>
          </a:p>
        </p:txBody>
      </p:sp>
      <p:sp>
        <p:nvSpPr>
          <p:cNvPr id="15" name="Freeform 15"/>
          <p:cNvSpPr/>
          <p:nvPr/>
        </p:nvSpPr>
        <p:spPr>
          <a:xfrm>
            <a:off x="1028700" y="251389"/>
            <a:ext cx="551704" cy="584433"/>
          </a:xfrm>
          <a:custGeom>
            <a:avLst/>
            <a:gdLst/>
            <a:ahLst/>
            <a:cxnLst/>
            <a:rect l="l" t="t" r="r" b="b"/>
            <a:pathLst>
              <a:path w="551704" h="584433">
                <a:moveTo>
                  <a:pt x="0" y="0"/>
                </a:moveTo>
                <a:lnTo>
                  <a:pt x="551704" y="0"/>
                </a:lnTo>
                <a:lnTo>
                  <a:pt x="551704" y="584432"/>
                </a:lnTo>
                <a:lnTo>
                  <a:pt x="0" y="584432"/>
                </a:lnTo>
                <a:lnTo>
                  <a:pt x="0" y="0"/>
                </a:lnTo>
                <a:close/>
              </a:path>
            </a:pathLst>
          </a:custGeom>
          <a:blipFill>
            <a:blip r:embed="rId4"/>
            <a:stretch>
              <a:fillRect/>
            </a:stretch>
          </a:blipFill>
        </p:spPr>
        <p:txBody>
          <a:bodyPr/>
          <a:lstStyle/>
          <a:p>
            <a:endParaRPr lang="en-VN"/>
          </a:p>
        </p:txBody>
      </p:sp>
    </p:spTree>
  </p:cSld>
  <p:clrMapOvr>
    <a:masterClrMapping/>
  </p:clrMapOvr>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grpId="0" nodeType="withEffect">
                            <p:stCondLst>
                              <p:cond delay="180"/>
                            </p:stCondLst>
                            <p:childTnLst>
                              <p:set>
                                <p:cBhvr>
                                  <p:cTn id="5" dur="1" fill="hold">
                                    <p:stCondLst>
                                      <p:cond delay="0"/>
                                    </p:stCondLst>
                                  </p:cTn>
                                  <p:tgtEl>
                                    <p:spTgt spid="10"/>
                                  </p:tgtEl>
                                  <p:attrNameLst>
                                    <p:attrName>style.visibility</p:attrName>
                                  </p:attrNameLst>
                                </p:cBhvr>
                                <p:to>
                                  <p:strVal val="visible"/>
                                </p:to>
                              </p:set>
                              <p:animEffect transition="in" filter="wipe(left)">
                                <p:cBhvr>
                                  <p:cTn id="6" dur="860"/>
                                  <p:tgtEl>
                                    <p:spTgt spid="10"/>
                                  </p:tgtEl>
                                </p:cBhvr>
                              </p:animEffect>
                            </p:childTnLst>
                          </p:cTn>
                        </p:par>
                        <p:par>
                          <p:cTn id="7" presetID="10" presetClass="entr" presetSubtype="0" fill="hold" grpId="0" nodeType="withEffect">
                            <p:stCondLst>
                              <p:cond delay="350"/>
                            </p:stCondLst>
                            <p:childTnLst>
                              <p:set>
                                <p:cBhvr>
                                  <p:cTn id="8" dur="1" fill="hold">
                                    <p:stCondLst>
                                      <p:cond delay="0"/>
                                    </p:stCondLst>
                                  </p:cTn>
                                  <p:tgtEl>
                                    <p:spTgt spid="11"/>
                                  </p:tgtEl>
                                  <p:attrNameLst>
                                    <p:attrName>style.visibility</p:attrName>
                                  </p:attrNameLst>
                                </p:cBhvr>
                                <p:to>
                                  <p:strVal val="visible"/>
                                </p:to>
                              </p:set>
                              <p:animEffect transition="in" filter="wipe(left)">
                                <p:cBhvr>
                                  <p:cTn id="9" dur="860"/>
                                  <p:tgtEl>
                                    <p:spTgt spid="11"/>
                                  </p:tgtEl>
                                </p:cBhvr>
                              </p:animEffect>
                            </p:childTnLst>
                          </p:cTn>
                        </p:par>
                        <p:par>
                          <p:cTn id="10" presetID="10" presetClass="entr" presetSubtype="0" fill="hold" grpId="0" nodeType="withEffect">
                            <p:stCondLst>
                              <p:cond delay="520"/>
                            </p:stCondLst>
                            <p:childTnLst>
                              <p:set>
                                <p:cBhvr>
                                  <p:cTn id="11" dur="1" fill="hold">
                                    <p:stCondLst>
                                      <p:cond delay="0"/>
                                    </p:stCondLst>
                                  </p:cTn>
                                  <p:tgtEl>
                                    <p:spTgt spid="12"/>
                                  </p:tgtEl>
                                  <p:attrNameLst>
                                    <p:attrName>style.visibility</p:attrName>
                                  </p:attrNameLst>
                                </p:cBhvr>
                                <p:to>
                                  <p:strVal val="visible"/>
                                </p:to>
                              </p:set>
                              <p:animEffect transition="in" filter="wipe(left)">
                                <p:cBhvr>
                                  <p:cTn id="12" dur="860"/>
                                  <p:tgtEl>
                                    <p:spTgt spid="12"/>
                                  </p:tgtEl>
                                </p:cBhvr>
                              </p:animEffect>
                            </p:childTnLst>
                          </p:cTn>
                        </p:par>
                      </p:childTnLst>
                    </p:cTn>
                  </p:par>
                </p:childTnLst>
              </p:cTn>
            </p:seq>
          </p:childTnLst>
        </p:cTn>
      </p:par>
    </p:tnLst>
    <p:bldLst>
      <p:bldP spid="10" grpId="0"/>
      <p:bldP spid="11" grpId="0"/>
      <p:bldP spid="1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10800000">
            <a:off x="17259300" y="-233820"/>
            <a:ext cx="1940843" cy="970417"/>
            <a:chOff x="0" y="0"/>
            <a:chExt cx="2587790" cy="1293889"/>
          </a:xfrm>
        </p:grpSpPr>
        <p:sp>
          <p:nvSpPr>
            <p:cNvPr id="3" name="Freeform 3"/>
            <p:cNvSpPr/>
            <p:nvPr/>
          </p:nvSpPr>
          <p:spPr>
            <a:xfrm>
              <a:off x="0" y="0"/>
              <a:ext cx="2587752" cy="1293876"/>
            </a:xfrm>
            <a:custGeom>
              <a:avLst/>
              <a:gdLst/>
              <a:ahLst/>
              <a:cxnLst/>
              <a:rect l="l" t="t" r="r" b="b"/>
              <a:pathLst>
                <a:path w="2587752" h="1293876">
                  <a:moveTo>
                    <a:pt x="0" y="0"/>
                  </a:moveTo>
                  <a:lnTo>
                    <a:pt x="2587752" y="0"/>
                  </a:lnTo>
                  <a:lnTo>
                    <a:pt x="2587752" y="1293876"/>
                  </a:lnTo>
                  <a:lnTo>
                    <a:pt x="0" y="1293876"/>
                  </a:lnTo>
                  <a:lnTo>
                    <a:pt x="0" y="0"/>
                  </a:lnTo>
                  <a:close/>
                </a:path>
              </a:pathLst>
            </a:custGeom>
            <a:blipFill>
              <a:blip r:embed="rId2"/>
              <a:stretch>
                <a:fillRect r="-1"/>
              </a:stretch>
            </a:blipFill>
          </p:spPr>
          <p:txBody>
            <a:bodyPr/>
            <a:lstStyle/>
            <a:p>
              <a:endParaRPr lang="en-VN"/>
            </a:p>
          </p:txBody>
        </p:sp>
      </p:grpSp>
      <p:grpSp>
        <p:nvGrpSpPr>
          <p:cNvPr id="4" name="Group 4"/>
          <p:cNvGrpSpPr/>
          <p:nvPr/>
        </p:nvGrpSpPr>
        <p:grpSpPr>
          <a:xfrm>
            <a:off x="-912143" y="9429369"/>
            <a:ext cx="1940843" cy="970417"/>
            <a:chOff x="0" y="0"/>
            <a:chExt cx="2587790" cy="1293889"/>
          </a:xfrm>
        </p:grpSpPr>
        <p:sp>
          <p:nvSpPr>
            <p:cNvPr id="5" name="Freeform 5"/>
            <p:cNvSpPr/>
            <p:nvPr/>
          </p:nvSpPr>
          <p:spPr>
            <a:xfrm>
              <a:off x="0" y="0"/>
              <a:ext cx="2587752" cy="1293876"/>
            </a:xfrm>
            <a:custGeom>
              <a:avLst/>
              <a:gdLst/>
              <a:ahLst/>
              <a:cxnLst/>
              <a:rect l="l" t="t" r="r" b="b"/>
              <a:pathLst>
                <a:path w="2587752" h="1293876">
                  <a:moveTo>
                    <a:pt x="0" y="0"/>
                  </a:moveTo>
                  <a:lnTo>
                    <a:pt x="2587752" y="0"/>
                  </a:lnTo>
                  <a:lnTo>
                    <a:pt x="2587752" y="1293876"/>
                  </a:lnTo>
                  <a:lnTo>
                    <a:pt x="0" y="1293876"/>
                  </a:lnTo>
                  <a:lnTo>
                    <a:pt x="0" y="0"/>
                  </a:lnTo>
                  <a:close/>
                </a:path>
              </a:pathLst>
            </a:custGeom>
            <a:blipFill>
              <a:blip r:embed="rId2"/>
              <a:stretch>
                <a:fillRect r="-1"/>
              </a:stretch>
            </a:blipFill>
          </p:spPr>
          <p:txBody>
            <a:bodyPr/>
            <a:lstStyle/>
            <a:p>
              <a:endParaRPr lang="en-VN"/>
            </a:p>
          </p:txBody>
        </p:sp>
      </p:grpSp>
      <p:grpSp>
        <p:nvGrpSpPr>
          <p:cNvPr id="6" name="Group 6"/>
          <p:cNvGrpSpPr/>
          <p:nvPr/>
        </p:nvGrpSpPr>
        <p:grpSpPr>
          <a:xfrm>
            <a:off x="-3127839" y="9986436"/>
            <a:ext cx="22035035" cy="2837612"/>
            <a:chOff x="0" y="0"/>
            <a:chExt cx="5803466" cy="747355"/>
          </a:xfrm>
        </p:grpSpPr>
        <p:sp>
          <p:nvSpPr>
            <p:cNvPr id="7" name="Freeform 7"/>
            <p:cNvSpPr/>
            <p:nvPr/>
          </p:nvSpPr>
          <p:spPr>
            <a:xfrm>
              <a:off x="0" y="0"/>
              <a:ext cx="5803466" cy="747355"/>
            </a:xfrm>
            <a:custGeom>
              <a:avLst/>
              <a:gdLst/>
              <a:ahLst/>
              <a:cxnLst/>
              <a:rect l="l" t="t" r="r" b="b"/>
              <a:pathLst>
                <a:path w="5803466" h="747355">
                  <a:moveTo>
                    <a:pt x="0" y="0"/>
                  </a:moveTo>
                  <a:lnTo>
                    <a:pt x="5803466" y="0"/>
                  </a:lnTo>
                  <a:lnTo>
                    <a:pt x="5803466" y="747355"/>
                  </a:lnTo>
                  <a:lnTo>
                    <a:pt x="0" y="747355"/>
                  </a:lnTo>
                  <a:close/>
                </a:path>
              </a:pathLst>
            </a:custGeom>
            <a:solidFill>
              <a:srgbClr val="3C4F75"/>
            </a:solidFill>
          </p:spPr>
          <p:txBody>
            <a:bodyPr/>
            <a:lstStyle/>
            <a:p>
              <a:endParaRPr lang="en-VN"/>
            </a:p>
          </p:txBody>
        </p:sp>
        <p:sp>
          <p:nvSpPr>
            <p:cNvPr id="8" name="TextBox 8"/>
            <p:cNvSpPr txBox="1"/>
            <p:nvPr/>
          </p:nvSpPr>
          <p:spPr>
            <a:xfrm>
              <a:off x="0" y="-47625"/>
              <a:ext cx="5803466" cy="794980"/>
            </a:xfrm>
            <a:prstGeom prst="rect">
              <a:avLst/>
            </a:prstGeom>
          </p:spPr>
          <p:txBody>
            <a:bodyPr lIns="50800" tIns="50800" rIns="50800" bIns="50800" rtlCol="0" anchor="ctr"/>
            <a:lstStyle/>
            <a:p>
              <a:pPr algn="ctr">
                <a:lnSpc>
                  <a:spcPts val="2940"/>
                </a:lnSpc>
              </a:pPr>
              <a:endParaRPr/>
            </a:p>
          </p:txBody>
        </p:sp>
      </p:grpSp>
      <p:sp>
        <p:nvSpPr>
          <p:cNvPr id="9" name="Freeform 9"/>
          <p:cNvSpPr/>
          <p:nvPr/>
        </p:nvSpPr>
        <p:spPr>
          <a:xfrm>
            <a:off x="1028700" y="251389"/>
            <a:ext cx="551704" cy="584433"/>
          </a:xfrm>
          <a:custGeom>
            <a:avLst/>
            <a:gdLst/>
            <a:ahLst/>
            <a:cxnLst/>
            <a:rect l="l" t="t" r="r" b="b"/>
            <a:pathLst>
              <a:path w="551704" h="584433">
                <a:moveTo>
                  <a:pt x="0" y="0"/>
                </a:moveTo>
                <a:lnTo>
                  <a:pt x="551704" y="0"/>
                </a:lnTo>
                <a:lnTo>
                  <a:pt x="551704" y="584432"/>
                </a:lnTo>
                <a:lnTo>
                  <a:pt x="0" y="584432"/>
                </a:lnTo>
                <a:lnTo>
                  <a:pt x="0" y="0"/>
                </a:lnTo>
                <a:close/>
              </a:path>
            </a:pathLst>
          </a:custGeom>
          <a:blipFill>
            <a:blip r:embed="rId3"/>
            <a:stretch>
              <a:fillRect/>
            </a:stretch>
          </a:blipFill>
        </p:spPr>
        <p:txBody>
          <a:bodyPr/>
          <a:lstStyle/>
          <a:p>
            <a:endParaRPr lang="en-VN"/>
          </a:p>
        </p:txBody>
      </p:sp>
      <p:sp>
        <p:nvSpPr>
          <p:cNvPr id="10" name="Freeform 10"/>
          <p:cNvSpPr/>
          <p:nvPr/>
        </p:nvSpPr>
        <p:spPr>
          <a:xfrm>
            <a:off x="656071" y="5698966"/>
            <a:ext cx="8935125" cy="3225915"/>
          </a:xfrm>
          <a:custGeom>
            <a:avLst/>
            <a:gdLst/>
            <a:ahLst/>
            <a:cxnLst/>
            <a:rect l="l" t="t" r="r" b="b"/>
            <a:pathLst>
              <a:path w="8935125" h="3225915">
                <a:moveTo>
                  <a:pt x="0" y="0"/>
                </a:moveTo>
                <a:lnTo>
                  <a:pt x="8935125" y="0"/>
                </a:lnTo>
                <a:lnTo>
                  <a:pt x="8935125" y="3225915"/>
                </a:lnTo>
                <a:lnTo>
                  <a:pt x="0" y="3225915"/>
                </a:lnTo>
                <a:lnTo>
                  <a:pt x="0" y="0"/>
                </a:lnTo>
                <a:close/>
              </a:path>
            </a:pathLst>
          </a:custGeom>
          <a:blipFill>
            <a:blip r:embed="rId4"/>
            <a:stretch>
              <a:fillRect t="-335" r="-2023" b="-335"/>
            </a:stretch>
          </a:blipFill>
        </p:spPr>
        <p:txBody>
          <a:bodyPr/>
          <a:lstStyle/>
          <a:p>
            <a:endParaRPr lang="en-VN"/>
          </a:p>
        </p:txBody>
      </p:sp>
      <p:sp>
        <p:nvSpPr>
          <p:cNvPr id="11" name="Freeform 11"/>
          <p:cNvSpPr/>
          <p:nvPr/>
        </p:nvSpPr>
        <p:spPr>
          <a:xfrm>
            <a:off x="10401213" y="5698966"/>
            <a:ext cx="7129094" cy="3225915"/>
          </a:xfrm>
          <a:custGeom>
            <a:avLst/>
            <a:gdLst/>
            <a:ahLst/>
            <a:cxnLst/>
            <a:rect l="l" t="t" r="r" b="b"/>
            <a:pathLst>
              <a:path w="7129094" h="3225915">
                <a:moveTo>
                  <a:pt x="0" y="0"/>
                </a:moveTo>
                <a:lnTo>
                  <a:pt x="7129094" y="0"/>
                </a:lnTo>
                <a:lnTo>
                  <a:pt x="7129094" y="3225915"/>
                </a:lnTo>
                <a:lnTo>
                  <a:pt x="0" y="3225915"/>
                </a:lnTo>
                <a:lnTo>
                  <a:pt x="0" y="0"/>
                </a:lnTo>
                <a:close/>
              </a:path>
            </a:pathLst>
          </a:custGeom>
          <a:blipFill>
            <a:blip r:embed="rId5"/>
            <a:stretch>
              <a:fillRect/>
            </a:stretch>
          </a:blipFill>
        </p:spPr>
        <p:txBody>
          <a:bodyPr/>
          <a:lstStyle/>
          <a:p>
            <a:endParaRPr lang="en-VN"/>
          </a:p>
        </p:txBody>
      </p:sp>
      <p:sp>
        <p:nvSpPr>
          <p:cNvPr id="12" name="TextBox 12"/>
          <p:cNvSpPr txBox="1"/>
          <p:nvPr/>
        </p:nvSpPr>
        <p:spPr>
          <a:xfrm>
            <a:off x="1028700" y="1095375"/>
            <a:ext cx="3954904" cy="512961"/>
          </a:xfrm>
          <a:prstGeom prst="rect">
            <a:avLst/>
          </a:prstGeom>
        </p:spPr>
        <p:txBody>
          <a:bodyPr wrap="square" lIns="0" tIns="0" rIns="0" bIns="0" rtlCol="0" anchor="t">
            <a:spAutoFit/>
          </a:bodyPr>
          <a:lstStyle/>
          <a:p>
            <a:pPr algn="just">
              <a:lnSpc>
                <a:spcPts val="4039"/>
              </a:lnSpc>
            </a:pPr>
            <a:r>
              <a:rPr lang="en-US" sz="3999" b="1" dirty="0">
                <a:solidFill>
                  <a:srgbClr val="0C1D4B"/>
                </a:solidFill>
                <a:latin typeface="Roboto Slab Bold"/>
                <a:ea typeface="Roboto Slab Bold"/>
                <a:cs typeface="Roboto Slab Bold"/>
                <a:sym typeface="Roboto Slab Bold"/>
              </a:rPr>
              <a:t>2.3. </a:t>
            </a:r>
            <a:r>
              <a:rPr lang="en-US" sz="3999" b="1" dirty="0" err="1">
                <a:solidFill>
                  <a:srgbClr val="0C1D4B"/>
                </a:solidFill>
                <a:latin typeface="Roboto Slab Bold"/>
                <a:ea typeface="Roboto Slab Bold"/>
                <a:cs typeface="Roboto Slab Bold"/>
                <a:sym typeface="Roboto Slab Bold"/>
              </a:rPr>
              <a:t>LangGraph</a:t>
            </a:r>
            <a:endParaRPr lang="en-US" sz="3999" b="1" dirty="0">
              <a:solidFill>
                <a:srgbClr val="0C1D4B"/>
              </a:solidFill>
              <a:latin typeface="Roboto Slab Bold"/>
              <a:ea typeface="Roboto Slab Bold"/>
              <a:cs typeface="Roboto Slab Bold"/>
              <a:sym typeface="Roboto Slab Bold"/>
            </a:endParaRPr>
          </a:p>
        </p:txBody>
      </p:sp>
      <p:sp>
        <p:nvSpPr>
          <p:cNvPr id="13" name="TextBox 13"/>
          <p:cNvSpPr txBox="1"/>
          <p:nvPr/>
        </p:nvSpPr>
        <p:spPr>
          <a:xfrm>
            <a:off x="1028700" y="1849068"/>
            <a:ext cx="16230600" cy="3334710"/>
          </a:xfrm>
          <a:prstGeom prst="rect">
            <a:avLst/>
          </a:prstGeom>
        </p:spPr>
        <p:txBody>
          <a:bodyPr lIns="0" tIns="0" rIns="0" bIns="0" rtlCol="0" anchor="t">
            <a:spAutoFit/>
          </a:bodyPr>
          <a:lstStyle/>
          <a:p>
            <a:pPr algn="l">
              <a:lnSpc>
                <a:spcPts val="4479"/>
              </a:lnSpc>
            </a:pPr>
            <a:r>
              <a:rPr lang="en-US" sz="2799">
                <a:solidFill>
                  <a:srgbClr val="0C1D4B"/>
                </a:solidFill>
                <a:latin typeface="Roboto Slab"/>
                <a:ea typeface="Roboto Slab"/>
                <a:cs typeface="Roboto Slab"/>
                <a:sym typeface="Roboto Slab"/>
              </a:rPr>
              <a:t>LangGraph là một framework cho phép mô hình hóa luồng xử lý thành graph gồm node, edge và state.</a:t>
            </a:r>
          </a:p>
          <a:p>
            <a:pPr marL="604519" lvl="1" indent="-302260" algn="l">
              <a:lnSpc>
                <a:spcPts val="4479"/>
              </a:lnSpc>
              <a:buFont typeface="Arial"/>
              <a:buChar char="•"/>
            </a:pPr>
            <a:r>
              <a:rPr lang="en-US" sz="2799">
                <a:solidFill>
                  <a:srgbClr val="0C1D4B"/>
                </a:solidFill>
                <a:latin typeface="Roboto Slab"/>
                <a:ea typeface="Roboto Slab"/>
                <a:cs typeface="Roboto Slab"/>
                <a:sym typeface="Roboto Slab"/>
              </a:rPr>
              <a:t>Node tương ứng với các bước xử lý</a:t>
            </a:r>
          </a:p>
          <a:p>
            <a:pPr marL="604519" lvl="1" indent="-302260" algn="l">
              <a:lnSpc>
                <a:spcPts val="4479"/>
              </a:lnSpc>
              <a:buFont typeface="Arial"/>
              <a:buChar char="•"/>
            </a:pPr>
            <a:r>
              <a:rPr lang="en-US" sz="2799">
                <a:solidFill>
                  <a:srgbClr val="0C1D4B"/>
                </a:solidFill>
                <a:latin typeface="Roboto Slab"/>
                <a:ea typeface="Roboto Slab"/>
                <a:cs typeface="Roboto Slab"/>
                <a:sym typeface="Roboto Slab"/>
              </a:rPr>
              <a:t>Edge là các cạnh thể hiện hướng di chuyển giữa các node</a:t>
            </a:r>
          </a:p>
          <a:p>
            <a:pPr marL="604519" lvl="1" indent="-302260" algn="l">
              <a:lnSpc>
                <a:spcPts val="4479"/>
              </a:lnSpc>
              <a:buFont typeface="Arial"/>
              <a:buChar char="•"/>
            </a:pPr>
            <a:r>
              <a:rPr lang="en-US" sz="2799">
                <a:solidFill>
                  <a:srgbClr val="0C1D4B"/>
                </a:solidFill>
                <a:latin typeface="Roboto Slab"/>
                <a:ea typeface="Roboto Slab"/>
                <a:cs typeface="Roboto Slab"/>
                <a:sym typeface="Roboto Slab"/>
              </a:rPr>
              <a:t>State lưu thông tin xuyên suốt quá trình xử lý của Agent</a:t>
            </a:r>
          </a:p>
          <a:p>
            <a:pPr marL="604519" lvl="1" indent="-302260" algn="l">
              <a:lnSpc>
                <a:spcPts val="4479"/>
              </a:lnSpc>
              <a:buFont typeface="Arial"/>
              <a:buChar char="•"/>
            </a:pPr>
            <a:r>
              <a:rPr lang="en-US" sz="2799">
                <a:solidFill>
                  <a:srgbClr val="0C1D4B"/>
                </a:solidFill>
                <a:latin typeface="Roboto Slab"/>
                <a:ea typeface="Roboto Slab"/>
                <a:cs typeface="Roboto Slab"/>
                <a:sym typeface="Roboto Slab"/>
              </a:rPr>
              <a:t>Conditional edge giúp kiểm soát hướng đi của graph theo điều kiện</a:t>
            </a:r>
          </a:p>
        </p:txBody>
      </p:sp>
      <p:sp>
        <p:nvSpPr>
          <p:cNvPr id="14" name="TextBox 14"/>
          <p:cNvSpPr txBox="1"/>
          <p:nvPr/>
        </p:nvSpPr>
        <p:spPr>
          <a:xfrm>
            <a:off x="1687249" y="346410"/>
            <a:ext cx="3954904" cy="356289"/>
          </a:xfrm>
          <a:prstGeom prst="rect">
            <a:avLst/>
          </a:prstGeom>
        </p:spPr>
        <p:txBody>
          <a:bodyPr lIns="0" tIns="0" rIns="0" bIns="0" rtlCol="0" anchor="t">
            <a:spAutoFit/>
          </a:bodyPr>
          <a:lstStyle/>
          <a:p>
            <a:pPr algn="l">
              <a:lnSpc>
                <a:spcPts val="2940"/>
              </a:lnSpc>
            </a:pPr>
            <a:r>
              <a:rPr lang="en-US" sz="2100" b="1">
                <a:solidFill>
                  <a:srgbClr val="2C2C2C"/>
                </a:solidFill>
                <a:latin typeface="Roboto Slab Bold"/>
                <a:ea typeface="Roboto Slab Bold"/>
                <a:cs typeface="Roboto Slab Bold"/>
                <a:sym typeface="Roboto Slab Bold"/>
              </a:rPr>
              <a:t>HỌC VIỆN KỸ THUẬT MẬT MÃ</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grpId="0" nodeType="withEffect">
                            <p:stCondLst>
                              <p:cond delay="180"/>
                            </p:stCondLst>
                            <p:childTnLst>
                              <p:set>
                                <p:cBhvr>
                                  <p:cTn id="5" dur="1" fill="hold">
                                    <p:stCondLst>
                                      <p:cond delay="0"/>
                                    </p:stCondLst>
                                  </p:cTn>
                                  <p:tgtEl>
                                    <p:spTgt spid="12"/>
                                  </p:tgtEl>
                                  <p:attrNameLst>
                                    <p:attrName>style.visibility</p:attrName>
                                  </p:attrNameLst>
                                </p:cBhvr>
                                <p:to>
                                  <p:strVal val="visible"/>
                                </p:to>
                              </p:set>
                              <p:animEffect transition="in" filter="wipe(left)">
                                <p:cBhvr>
                                  <p:cTn id="6" dur="860"/>
                                  <p:tgtEl>
                                    <p:spTgt spid="12"/>
                                  </p:tgtEl>
                                </p:cBhvr>
                              </p:animEffect>
                            </p:childTnLst>
                          </p:cTn>
                        </p:par>
                        <p:par>
                          <p:cTn id="7" presetID="10" presetClass="entr" presetSubtype="0" fill="hold" grpId="0" nodeType="withEffect">
                            <p:stCondLst>
                              <p:cond delay="350"/>
                            </p:stCondLst>
                            <p:childTnLst>
                              <p:set>
                                <p:cBhvr>
                                  <p:cTn id="8" dur="1" fill="hold">
                                    <p:stCondLst>
                                      <p:cond delay="0"/>
                                    </p:stCondLst>
                                  </p:cTn>
                                  <p:tgtEl>
                                    <p:spTgt spid="13"/>
                                  </p:tgtEl>
                                  <p:attrNameLst>
                                    <p:attrName>style.visibility</p:attrName>
                                  </p:attrNameLst>
                                </p:cBhvr>
                                <p:to>
                                  <p:strVal val="visible"/>
                                </p:to>
                              </p:set>
                              <p:animEffect transition="in" filter="wipe(left)">
                                <p:cBhvr>
                                  <p:cTn id="9" dur="860"/>
                                  <p:tgtEl>
                                    <p:spTgt spid="13"/>
                                  </p:tgtEl>
                                </p:cBhvr>
                              </p:animEffect>
                            </p:childTnLst>
                          </p:cTn>
                        </p:par>
                        <p:par>
                          <p:cTn id="10" presetID="10" presetClass="entr" presetSubtype="0" fill="hold" grpId="0" nodeType="withEffect">
                            <p:stCondLst>
                              <p:cond delay="520"/>
                            </p:stCondLst>
                            <p:childTnLst>
                              <p:set>
                                <p:cBhvr>
                                  <p:cTn id="11" dur="1" fill="hold">
                                    <p:stCondLst>
                                      <p:cond delay="0"/>
                                    </p:stCondLst>
                                  </p:cTn>
                                  <p:tgtEl>
                                    <p:spTgt spid="10"/>
                                  </p:tgtEl>
                                  <p:attrNameLst>
                                    <p:attrName>style.visibility</p:attrName>
                                  </p:attrNameLst>
                                </p:cBhvr>
                                <p:to>
                                  <p:strVal val="visible"/>
                                </p:to>
                              </p:set>
                              <p:animEffect transition="in" filter="wipe(left)">
                                <p:cBhvr>
                                  <p:cTn id="12" dur="860"/>
                                  <p:tgtEl>
                                    <p:spTgt spid="10"/>
                                  </p:tgtEl>
                                </p:cBhvr>
                              </p:animEffect>
                            </p:childTnLst>
                          </p:cTn>
                        </p:par>
                        <p:par>
                          <p:cTn id="13" presetID="10" presetClass="entr" presetSubtype="0" fill="hold" grpId="0" nodeType="withEffect">
                            <p:stCondLst>
                              <p:cond delay="690"/>
                            </p:stCondLst>
                            <p:childTnLst>
                              <p:set>
                                <p:cBhvr>
                                  <p:cTn id="14" dur="1" fill="hold">
                                    <p:stCondLst>
                                      <p:cond delay="0"/>
                                    </p:stCondLst>
                                  </p:cTn>
                                  <p:tgtEl>
                                    <p:spTgt spid="11"/>
                                  </p:tgtEl>
                                  <p:attrNameLst>
                                    <p:attrName>style.visibility</p:attrName>
                                  </p:attrNameLst>
                                </p:cBhvr>
                                <p:to>
                                  <p:strVal val="visible"/>
                                </p:to>
                              </p:set>
                              <p:animEffect transition="in" filter="wipe(left)">
                                <p:cBhvr>
                                  <p:cTn id="15" dur="860"/>
                                  <p:tgtEl>
                                    <p:spTgt spid="11"/>
                                  </p:tgtEl>
                                </p:cBhvr>
                              </p:animEffect>
                            </p:childTnLst>
                          </p:cTn>
                        </p:par>
                      </p:childTnLst>
                    </p:cTn>
                  </p:par>
                </p:childTnLst>
              </p:cTn>
            </p:seq>
          </p:childTnLst>
        </p:cTn>
      </p:par>
    </p:tnLst>
    <p:bldLst>
      <p:bldP spid="10" grpId="0" animBg="1"/>
      <p:bldP spid="11" grpId="0" animBg="1"/>
      <p:bldP spid="12" grpId="0"/>
      <p:bldP spid="13"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3127839" y="9986436"/>
            <a:ext cx="22035035" cy="2837612"/>
            <a:chOff x="0" y="0"/>
            <a:chExt cx="5803466" cy="747355"/>
          </a:xfrm>
        </p:grpSpPr>
        <p:sp>
          <p:nvSpPr>
            <p:cNvPr id="3" name="Freeform 3"/>
            <p:cNvSpPr/>
            <p:nvPr/>
          </p:nvSpPr>
          <p:spPr>
            <a:xfrm>
              <a:off x="0" y="0"/>
              <a:ext cx="5803466" cy="747355"/>
            </a:xfrm>
            <a:custGeom>
              <a:avLst/>
              <a:gdLst/>
              <a:ahLst/>
              <a:cxnLst/>
              <a:rect l="l" t="t" r="r" b="b"/>
              <a:pathLst>
                <a:path w="5803466" h="747355">
                  <a:moveTo>
                    <a:pt x="0" y="0"/>
                  </a:moveTo>
                  <a:lnTo>
                    <a:pt x="5803466" y="0"/>
                  </a:lnTo>
                  <a:lnTo>
                    <a:pt x="5803466" y="747355"/>
                  </a:lnTo>
                  <a:lnTo>
                    <a:pt x="0" y="747355"/>
                  </a:lnTo>
                  <a:close/>
                </a:path>
              </a:pathLst>
            </a:custGeom>
            <a:solidFill>
              <a:srgbClr val="3C4F75"/>
            </a:solidFill>
          </p:spPr>
          <p:txBody>
            <a:bodyPr/>
            <a:lstStyle/>
            <a:p>
              <a:endParaRPr lang="en-VN"/>
            </a:p>
          </p:txBody>
        </p:sp>
        <p:sp>
          <p:nvSpPr>
            <p:cNvPr id="4" name="TextBox 4"/>
            <p:cNvSpPr txBox="1"/>
            <p:nvPr/>
          </p:nvSpPr>
          <p:spPr>
            <a:xfrm>
              <a:off x="0" y="-47625"/>
              <a:ext cx="5803466" cy="794980"/>
            </a:xfrm>
            <a:prstGeom prst="rect">
              <a:avLst/>
            </a:prstGeom>
          </p:spPr>
          <p:txBody>
            <a:bodyPr lIns="50800" tIns="50800" rIns="50800" bIns="50800" rtlCol="0" anchor="ctr"/>
            <a:lstStyle/>
            <a:p>
              <a:pPr algn="ctr">
                <a:lnSpc>
                  <a:spcPts val="2940"/>
                </a:lnSpc>
              </a:pPr>
              <a:endParaRPr/>
            </a:p>
          </p:txBody>
        </p:sp>
      </p:grpSp>
      <p:grpSp>
        <p:nvGrpSpPr>
          <p:cNvPr id="5" name="Group 5"/>
          <p:cNvGrpSpPr/>
          <p:nvPr/>
        </p:nvGrpSpPr>
        <p:grpSpPr>
          <a:xfrm rot="-10800000">
            <a:off x="17259300" y="-233820"/>
            <a:ext cx="1940843" cy="970417"/>
            <a:chOff x="0" y="0"/>
            <a:chExt cx="2587790" cy="1293889"/>
          </a:xfrm>
        </p:grpSpPr>
        <p:sp>
          <p:nvSpPr>
            <p:cNvPr id="6" name="Freeform 6"/>
            <p:cNvSpPr/>
            <p:nvPr/>
          </p:nvSpPr>
          <p:spPr>
            <a:xfrm>
              <a:off x="0" y="0"/>
              <a:ext cx="2587752" cy="1293876"/>
            </a:xfrm>
            <a:custGeom>
              <a:avLst/>
              <a:gdLst/>
              <a:ahLst/>
              <a:cxnLst/>
              <a:rect l="l" t="t" r="r" b="b"/>
              <a:pathLst>
                <a:path w="2587752" h="1293876">
                  <a:moveTo>
                    <a:pt x="0" y="0"/>
                  </a:moveTo>
                  <a:lnTo>
                    <a:pt x="2587752" y="0"/>
                  </a:lnTo>
                  <a:lnTo>
                    <a:pt x="2587752" y="1293876"/>
                  </a:lnTo>
                  <a:lnTo>
                    <a:pt x="0" y="1293876"/>
                  </a:lnTo>
                  <a:lnTo>
                    <a:pt x="0" y="0"/>
                  </a:lnTo>
                  <a:close/>
                </a:path>
              </a:pathLst>
            </a:custGeom>
            <a:blipFill>
              <a:blip r:embed="rId2"/>
              <a:stretch>
                <a:fillRect r="-1"/>
              </a:stretch>
            </a:blipFill>
          </p:spPr>
          <p:txBody>
            <a:bodyPr/>
            <a:lstStyle/>
            <a:p>
              <a:endParaRPr lang="en-VN"/>
            </a:p>
          </p:txBody>
        </p:sp>
      </p:grpSp>
      <p:grpSp>
        <p:nvGrpSpPr>
          <p:cNvPr id="7" name="Group 7"/>
          <p:cNvGrpSpPr/>
          <p:nvPr/>
        </p:nvGrpSpPr>
        <p:grpSpPr>
          <a:xfrm>
            <a:off x="-912143" y="9429369"/>
            <a:ext cx="1940843" cy="970417"/>
            <a:chOff x="0" y="0"/>
            <a:chExt cx="2587790" cy="1293889"/>
          </a:xfrm>
        </p:grpSpPr>
        <p:sp>
          <p:nvSpPr>
            <p:cNvPr id="8" name="Freeform 8"/>
            <p:cNvSpPr/>
            <p:nvPr/>
          </p:nvSpPr>
          <p:spPr>
            <a:xfrm>
              <a:off x="0" y="0"/>
              <a:ext cx="2587752" cy="1293876"/>
            </a:xfrm>
            <a:custGeom>
              <a:avLst/>
              <a:gdLst/>
              <a:ahLst/>
              <a:cxnLst/>
              <a:rect l="l" t="t" r="r" b="b"/>
              <a:pathLst>
                <a:path w="2587752" h="1293876">
                  <a:moveTo>
                    <a:pt x="0" y="0"/>
                  </a:moveTo>
                  <a:lnTo>
                    <a:pt x="2587752" y="0"/>
                  </a:lnTo>
                  <a:lnTo>
                    <a:pt x="2587752" y="1293876"/>
                  </a:lnTo>
                  <a:lnTo>
                    <a:pt x="0" y="1293876"/>
                  </a:lnTo>
                  <a:lnTo>
                    <a:pt x="0" y="0"/>
                  </a:lnTo>
                  <a:close/>
                </a:path>
              </a:pathLst>
            </a:custGeom>
            <a:blipFill>
              <a:blip r:embed="rId2"/>
              <a:stretch>
                <a:fillRect r="-1"/>
              </a:stretch>
            </a:blipFill>
          </p:spPr>
          <p:txBody>
            <a:bodyPr/>
            <a:lstStyle/>
            <a:p>
              <a:endParaRPr lang="en-VN"/>
            </a:p>
          </p:txBody>
        </p:sp>
      </p:grpSp>
      <p:sp>
        <p:nvSpPr>
          <p:cNvPr id="9" name="Freeform 9"/>
          <p:cNvSpPr/>
          <p:nvPr/>
        </p:nvSpPr>
        <p:spPr>
          <a:xfrm>
            <a:off x="1028700" y="251389"/>
            <a:ext cx="551704" cy="584433"/>
          </a:xfrm>
          <a:custGeom>
            <a:avLst/>
            <a:gdLst/>
            <a:ahLst/>
            <a:cxnLst/>
            <a:rect l="l" t="t" r="r" b="b"/>
            <a:pathLst>
              <a:path w="551704" h="584433">
                <a:moveTo>
                  <a:pt x="0" y="0"/>
                </a:moveTo>
                <a:lnTo>
                  <a:pt x="551704" y="0"/>
                </a:lnTo>
                <a:lnTo>
                  <a:pt x="551704" y="584432"/>
                </a:lnTo>
                <a:lnTo>
                  <a:pt x="0" y="584432"/>
                </a:lnTo>
                <a:lnTo>
                  <a:pt x="0" y="0"/>
                </a:lnTo>
                <a:close/>
              </a:path>
            </a:pathLst>
          </a:custGeom>
          <a:blipFill>
            <a:blip r:embed="rId3"/>
            <a:stretch>
              <a:fillRect/>
            </a:stretch>
          </a:blipFill>
        </p:spPr>
        <p:txBody>
          <a:bodyPr/>
          <a:lstStyle/>
          <a:p>
            <a:endParaRPr lang="en-VN"/>
          </a:p>
        </p:txBody>
      </p:sp>
      <p:grpSp>
        <p:nvGrpSpPr>
          <p:cNvPr id="10" name="Group 10"/>
          <p:cNvGrpSpPr/>
          <p:nvPr/>
        </p:nvGrpSpPr>
        <p:grpSpPr>
          <a:xfrm>
            <a:off x="8555428" y="3969707"/>
            <a:ext cx="1177144" cy="1173793"/>
            <a:chOff x="0" y="0"/>
            <a:chExt cx="871377" cy="868896"/>
          </a:xfrm>
        </p:grpSpPr>
        <p:sp>
          <p:nvSpPr>
            <p:cNvPr id="11" name="Freeform 11"/>
            <p:cNvSpPr/>
            <p:nvPr/>
          </p:nvSpPr>
          <p:spPr>
            <a:xfrm>
              <a:off x="0" y="0"/>
              <a:ext cx="871377" cy="868896"/>
            </a:xfrm>
            <a:custGeom>
              <a:avLst/>
              <a:gdLst/>
              <a:ahLst/>
              <a:cxnLst/>
              <a:rect l="l" t="t" r="r" b="b"/>
              <a:pathLst>
                <a:path w="871377" h="868896">
                  <a:moveTo>
                    <a:pt x="435688" y="0"/>
                  </a:moveTo>
                  <a:cubicBezTo>
                    <a:pt x="195064" y="0"/>
                    <a:pt x="0" y="194509"/>
                    <a:pt x="0" y="434448"/>
                  </a:cubicBezTo>
                  <a:cubicBezTo>
                    <a:pt x="0" y="674387"/>
                    <a:pt x="195064" y="868896"/>
                    <a:pt x="435688" y="868896"/>
                  </a:cubicBezTo>
                  <a:cubicBezTo>
                    <a:pt x="676312" y="868896"/>
                    <a:pt x="871377" y="674387"/>
                    <a:pt x="871377" y="434448"/>
                  </a:cubicBezTo>
                  <a:cubicBezTo>
                    <a:pt x="871377" y="194509"/>
                    <a:pt x="676312" y="0"/>
                    <a:pt x="435688" y="0"/>
                  </a:cubicBezTo>
                  <a:close/>
                </a:path>
              </a:pathLst>
            </a:custGeom>
            <a:solidFill>
              <a:srgbClr val="0C1D4B"/>
            </a:solidFill>
          </p:spPr>
          <p:txBody>
            <a:bodyPr/>
            <a:lstStyle/>
            <a:p>
              <a:endParaRPr lang="en-VN"/>
            </a:p>
          </p:txBody>
        </p:sp>
        <p:sp>
          <p:nvSpPr>
            <p:cNvPr id="12" name="TextBox 12"/>
            <p:cNvSpPr txBox="1"/>
            <p:nvPr/>
          </p:nvSpPr>
          <p:spPr>
            <a:xfrm>
              <a:off x="81692" y="14784"/>
              <a:ext cx="707993" cy="772653"/>
            </a:xfrm>
            <a:prstGeom prst="rect">
              <a:avLst/>
            </a:prstGeom>
          </p:spPr>
          <p:txBody>
            <a:bodyPr lIns="50800" tIns="50800" rIns="50800" bIns="50800" rtlCol="0" anchor="ctr"/>
            <a:lstStyle/>
            <a:p>
              <a:pPr algn="ctr">
                <a:lnSpc>
                  <a:spcPts val="5880"/>
                </a:lnSpc>
              </a:pPr>
              <a:r>
                <a:rPr lang="en-US" sz="4200" b="1">
                  <a:solidFill>
                    <a:srgbClr val="FFFFFF"/>
                  </a:solidFill>
                  <a:latin typeface="Roboto Slab Bold"/>
                  <a:ea typeface="Roboto Slab Bold"/>
                  <a:cs typeface="Roboto Slab Bold"/>
                  <a:sym typeface="Roboto Slab Bold"/>
                </a:rPr>
                <a:t>3</a:t>
              </a:r>
            </a:p>
          </p:txBody>
        </p:sp>
      </p:grpSp>
      <p:sp>
        <p:nvSpPr>
          <p:cNvPr id="13" name="TextBox 13"/>
          <p:cNvSpPr txBox="1"/>
          <p:nvPr/>
        </p:nvSpPr>
        <p:spPr>
          <a:xfrm>
            <a:off x="1687249" y="346410"/>
            <a:ext cx="3954904" cy="356289"/>
          </a:xfrm>
          <a:prstGeom prst="rect">
            <a:avLst/>
          </a:prstGeom>
        </p:spPr>
        <p:txBody>
          <a:bodyPr lIns="0" tIns="0" rIns="0" bIns="0" rtlCol="0" anchor="t">
            <a:spAutoFit/>
          </a:bodyPr>
          <a:lstStyle/>
          <a:p>
            <a:pPr algn="l">
              <a:lnSpc>
                <a:spcPts val="2940"/>
              </a:lnSpc>
            </a:pPr>
            <a:r>
              <a:rPr lang="en-US" sz="2100" b="1">
                <a:solidFill>
                  <a:srgbClr val="2C2C2C"/>
                </a:solidFill>
                <a:latin typeface="Roboto Slab Bold"/>
                <a:ea typeface="Roboto Slab Bold"/>
                <a:cs typeface="Roboto Slab Bold"/>
                <a:sym typeface="Roboto Slab Bold"/>
              </a:rPr>
              <a:t>HỌC VIỆN KỸ THUẬT MẬT MÃ</a:t>
            </a:r>
          </a:p>
        </p:txBody>
      </p:sp>
      <p:sp>
        <p:nvSpPr>
          <p:cNvPr id="14" name="TextBox 14"/>
          <p:cNvSpPr txBox="1"/>
          <p:nvPr/>
        </p:nvSpPr>
        <p:spPr>
          <a:xfrm>
            <a:off x="5839542" y="5360956"/>
            <a:ext cx="6885858" cy="630228"/>
          </a:xfrm>
          <a:prstGeom prst="rect">
            <a:avLst/>
          </a:prstGeom>
        </p:spPr>
        <p:txBody>
          <a:bodyPr wrap="square" lIns="0" tIns="0" rIns="0" bIns="0" rtlCol="0" anchor="t">
            <a:spAutoFit/>
          </a:bodyPr>
          <a:lstStyle/>
          <a:p>
            <a:pPr algn="ctr">
              <a:lnSpc>
                <a:spcPts val="4848"/>
              </a:lnSpc>
            </a:pPr>
            <a:r>
              <a:rPr lang="en-US" sz="4800" b="1" dirty="0">
                <a:solidFill>
                  <a:srgbClr val="0C1D4B"/>
                </a:solidFill>
                <a:latin typeface="Roboto Slab Bold"/>
                <a:ea typeface="Roboto Slab Bold"/>
                <a:cs typeface="Roboto Slab Bold"/>
                <a:sym typeface="Roboto Slab Bold"/>
              </a:rPr>
              <a:t>XÂY DỰNG HỆ THỐNG</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grpId="0" nodeType="withEffect">
                            <p:stCondLst>
                              <p:cond delay="180"/>
                            </p:stCondLst>
                            <p:childTnLst>
                              <p:set>
                                <p:cBhvr>
                                  <p:cTn id="5" dur="1" fill="hold">
                                    <p:stCondLst>
                                      <p:cond delay="0"/>
                                    </p:stCondLst>
                                  </p:cTn>
                                  <p:tgtEl>
                                    <p:spTgt spid="10"/>
                                  </p:tgtEl>
                                  <p:attrNameLst>
                                    <p:attrName>style.visibility</p:attrName>
                                  </p:attrNameLst>
                                </p:cBhvr>
                                <p:to>
                                  <p:strVal val="visible"/>
                                </p:to>
                              </p:set>
                              <p:animEffect transition="in" filter="wipe(left)">
                                <p:cBhvr>
                                  <p:cTn id="6" dur="860"/>
                                  <p:tgtEl>
                                    <p:spTgt spid="10"/>
                                  </p:tgtEl>
                                </p:cBhvr>
                              </p:animEffect>
                            </p:childTnLst>
                          </p:cTn>
                        </p:par>
                        <p:par>
                          <p:cTn id="7" presetID="10" presetClass="entr" presetSubtype="0" fill="hold" grpId="0" nodeType="withEffect">
                            <p:stCondLst>
                              <p:cond delay="350"/>
                            </p:stCondLst>
                            <p:childTnLst>
                              <p:set>
                                <p:cBhvr>
                                  <p:cTn id="8" dur="1" fill="hold">
                                    <p:stCondLst>
                                      <p:cond delay="0"/>
                                    </p:stCondLst>
                                  </p:cTn>
                                  <p:tgtEl>
                                    <p:spTgt spid="14"/>
                                  </p:tgtEl>
                                  <p:attrNameLst>
                                    <p:attrName>style.visibility</p:attrName>
                                  </p:attrNameLst>
                                </p:cBhvr>
                                <p:to>
                                  <p:strVal val="visible"/>
                                </p:to>
                              </p:set>
                              <p:animEffect transition="in" filter="wipe(left)">
                                <p:cBhvr>
                                  <p:cTn id="9" dur="860"/>
                                  <p:tgtEl>
                                    <p:spTgt spid="14"/>
                                  </p:tgtEl>
                                </p:cBhvr>
                              </p:animEffect>
                            </p:childTnLst>
                          </p:cTn>
                        </p:par>
                      </p:childTnLst>
                    </p:cTn>
                  </p:par>
                </p:childTnLst>
              </p:cTn>
            </p:seq>
          </p:childTnLst>
        </p:cTn>
      </p:par>
    </p:tnLst>
    <p:bldLst>
      <p:bldP spid="10" grpId="0"/>
      <p:bldP spid="1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10800000">
            <a:off x="17259300" y="-233820"/>
            <a:ext cx="1940843" cy="970417"/>
            <a:chOff x="0" y="0"/>
            <a:chExt cx="2587790" cy="1293889"/>
          </a:xfrm>
        </p:grpSpPr>
        <p:sp>
          <p:nvSpPr>
            <p:cNvPr id="3" name="Freeform 3"/>
            <p:cNvSpPr/>
            <p:nvPr/>
          </p:nvSpPr>
          <p:spPr>
            <a:xfrm>
              <a:off x="0" y="0"/>
              <a:ext cx="2587752" cy="1293876"/>
            </a:xfrm>
            <a:custGeom>
              <a:avLst/>
              <a:gdLst/>
              <a:ahLst/>
              <a:cxnLst/>
              <a:rect l="l" t="t" r="r" b="b"/>
              <a:pathLst>
                <a:path w="2587752" h="1293876">
                  <a:moveTo>
                    <a:pt x="0" y="0"/>
                  </a:moveTo>
                  <a:lnTo>
                    <a:pt x="2587752" y="0"/>
                  </a:lnTo>
                  <a:lnTo>
                    <a:pt x="2587752" y="1293876"/>
                  </a:lnTo>
                  <a:lnTo>
                    <a:pt x="0" y="1293876"/>
                  </a:lnTo>
                  <a:lnTo>
                    <a:pt x="0" y="0"/>
                  </a:lnTo>
                  <a:close/>
                </a:path>
              </a:pathLst>
            </a:custGeom>
            <a:blipFill>
              <a:blip r:embed="rId2"/>
              <a:stretch>
                <a:fillRect r="-1"/>
              </a:stretch>
            </a:blipFill>
          </p:spPr>
          <p:txBody>
            <a:bodyPr/>
            <a:lstStyle/>
            <a:p>
              <a:endParaRPr lang="en-VN"/>
            </a:p>
          </p:txBody>
        </p:sp>
      </p:grpSp>
      <p:grpSp>
        <p:nvGrpSpPr>
          <p:cNvPr id="4" name="Group 4"/>
          <p:cNvGrpSpPr/>
          <p:nvPr/>
        </p:nvGrpSpPr>
        <p:grpSpPr>
          <a:xfrm>
            <a:off x="-912143" y="9429369"/>
            <a:ext cx="1940843" cy="970417"/>
            <a:chOff x="0" y="0"/>
            <a:chExt cx="2587790" cy="1293889"/>
          </a:xfrm>
        </p:grpSpPr>
        <p:sp>
          <p:nvSpPr>
            <p:cNvPr id="5" name="Freeform 5"/>
            <p:cNvSpPr/>
            <p:nvPr/>
          </p:nvSpPr>
          <p:spPr>
            <a:xfrm>
              <a:off x="0" y="0"/>
              <a:ext cx="2587752" cy="1293876"/>
            </a:xfrm>
            <a:custGeom>
              <a:avLst/>
              <a:gdLst/>
              <a:ahLst/>
              <a:cxnLst/>
              <a:rect l="l" t="t" r="r" b="b"/>
              <a:pathLst>
                <a:path w="2587752" h="1293876">
                  <a:moveTo>
                    <a:pt x="0" y="0"/>
                  </a:moveTo>
                  <a:lnTo>
                    <a:pt x="2587752" y="0"/>
                  </a:lnTo>
                  <a:lnTo>
                    <a:pt x="2587752" y="1293876"/>
                  </a:lnTo>
                  <a:lnTo>
                    <a:pt x="0" y="1293876"/>
                  </a:lnTo>
                  <a:lnTo>
                    <a:pt x="0" y="0"/>
                  </a:lnTo>
                  <a:close/>
                </a:path>
              </a:pathLst>
            </a:custGeom>
            <a:blipFill>
              <a:blip r:embed="rId2"/>
              <a:stretch>
                <a:fillRect r="-1"/>
              </a:stretch>
            </a:blipFill>
          </p:spPr>
          <p:txBody>
            <a:bodyPr/>
            <a:lstStyle/>
            <a:p>
              <a:endParaRPr lang="en-VN"/>
            </a:p>
          </p:txBody>
        </p:sp>
      </p:grpSp>
      <p:grpSp>
        <p:nvGrpSpPr>
          <p:cNvPr id="6" name="Group 6"/>
          <p:cNvGrpSpPr/>
          <p:nvPr/>
        </p:nvGrpSpPr>
        <p:grpSpPr>
          <a:xfrm>
            <a:off x="-3127839" y="9986436"/>
            <a:ext cx="22035035" cy="2837612"/>
            <a:chOff x="0" y="0"/>
            <a:chExt cx="5803466" cy="747355"/>
          </a:xfrm>
        </p:grpSpPr>
        <p:sp>
          <p:nvSpPr>
            <p:cNvPr id="7" name="Freeform 7"/>
            <p:cNvSpPr/>
            <p:nvPr/>
          </p:nvSpPr>
          <p:spPr>
            <a:xfrm>
              <a:off x="0" y="0"/>
              <a:ext cx="5803466" cy="747355"/>
            </a:xfrm>
            <a:custGeom>
              <a:avLst/>
              <a:gdLst/>
              <a:ahLst/>
              <a:cxnLst/>
              <a:rect l="l" t="t" r="r" b="b"/>
              <a:pathLst>
                <a:path w="5803466" h="747355">
                  <a:moveTo>
                    <a:pt x="0" y="0"/>
                  </a:moveTo>
                  <a:lnTo>
                    <a:pt x="5803466" y="0"/>
                  </a:lnTo>
                  <a:lnTo>
                    <a:pt x="5803466" y="747355"/>
                  </a:lnTo>
                  <a:lnTo>
                    <a:pt x="0" y="747355"/>
                  </a:lnTo>
                  <a:close/>
                </a:path>
              </a:pathLst>
            </a:custGeom>
            <a:solidFill>
              <a:srgbClr val="3C4F75"/>
            </a:solidFill>
          </p:spPr>
          <p:txBody>
            <a:bodyPr/>
            <a:lstStyle/>
            <a:p>
              <a:endParaRPr lang="en-VN"/>
            </a:p>
          </p:txBody>
        </p:sp>
        <p:sp>
          <p:nvSpPr>
            <p:cNvPr id="8" name="TextBox 8"/>
            <p:cNvSpPr txBox="1"/>
            <p:nvPr/>
          </p:nvSpPr>
          <p:spPr>
            <a:xfrm>
              <a:off x="0" y="-47625"/>
              <a:ext cx="5803466" cy="794980"/>
            </a:xfrm>
            <a:prstGeom prst="rect">
              <a:avLst/>
            </a:prstGeom>
          </p:spPr>
          <p:txBody>
            <a:bodyPr lIns="50800" tIns="50800" rIns="50800" bIns="50800" rtlCol="0" anchor="ctr"/>
            <a:lstStyle/>
            <a:p>
              <a:pPr algn="ctr">
                <a:lnSpc>
                  <a:spcPts val="2940"/>
                </a:lnSpc>
              </a:pPr>
              <a:endParaRPr/>
            </a:p>
          </p:txBody>
        </p:sp>
      </p:grpSp>
      <p:sp>
        <p:nvSpPr>
          <p:cNvPr id="9" name="Freeform 9"/>
          <p:cNvSpPr/>
          <p:nvPr/>
        </p:nvSpPr>
        <p:spPr>
          <a:xfrm>
            <a:off x="1028700" y="251389"/>
            <a:ext cx="551704" cy="584433"/>
          </a:xfrm>
          <a:custGeom>
            <a:avLst/>
            <a:gdLst/>
            <a:ahLst/>
            <a:cxnLst/>
            <a:rect l="l" t="t" r="r" b="b"/>
            <a:pathLst>
              <a:path w="551704" h="584433">
                <a:moveTo>
                  <a:pt x="0" y="0"/>
                </a:moveTo>
                <a:lnTo>
                  <a:pt x="551704" y="0"/>
                </a:lnTo>
                <a:lnTo>
                  <a:pt x="551704" y="584432"/>
                </a:lnTo>
                <a:lnTo>
                  <a:pt x="0" y="584432"/>
                </a:lnTo>
                <a:lnTo>
                  <a:pt x="0" y="0"/>
                </a:lnTo>
                <a:close/>
              </a:path>
            </a:pathLst>
          </a:custGeom>
          <a:blipFill>
            <a:blip r:embed="rId3"/>
            <a:stretch>
              <a:fillRect/>
            </a:stretch>
          </a:blipFill>
        </p:spPr>
        <p:txBody>
          <a:bodyPr/>
          <a:lstStyle/>
          <a:p>
            <a:endParaRPr lang="en-VN"/>
          </a:p>
        </p:txBody>
      </p:sp>
      <p:sp>
        <p:nvSpPr>
          <p:cNvPr id="10" name="TextBox 10"/>
          <p:cNvSpPr txBox="1"/>
          <p:nvPr/>
        </p:nvSpPr>
        <p:spPr>
          <a:xfrm>
            <a:off x="1028700" y="1095375"/>
            <a:ext cx="8332886" cy="534618"/>
          </a:xfrm>
          <a:prstGeom prst="rect">
            <a:avLst/>
          </a:prstGeom>
        </p:spPr>
        <p:txBody>
          <a:bodyPr lIns="0" tIns="0" rIns="0" bIns="0" rtlCol="0" anchor="t">
            <a:spAutoFit/>
          </a:bodyPr>
          <a:lstStyle/>
          <a:p>
            <a:pPr algn="just">
              <a:lnSpc>
                <a:spcPts val="4039"/>
              </a:lnSpc>
            </a:pPr>
            <a:r>
              <a:rPr lang="en-US" sz="3999" b="1">
                <a:solidFill>
                  <a:srgbClr val="0C1D4B"/>
                </a:solidFill>
                <a:latin typeface="Roboto Slab Bold"/>
                <a:ea typeface="Roboto Slab Bold"/>
                <a:cs typeface="Roboto Slab Bold"/>
                <a:sym typeface="Roboto Slab Bold"/>
              </a:rPr>
              <a:t>3.1. Xác định môi trường của agent</a:t>
            </a:r>
          </a:p>
        </p:txBody>
      </p:sp>
      <p:sp>
        <p:nvSpPr>
          <p:cNvPr id="11" name="TextBox 11"/>
          <p:cNvSpPr txBox="1"/>
          <p:nvPr/>
        </p:nvSpPr>
        <p:spPr>
          <a:xfrm>
            <a:off x="1687249" y="346410"/>
            <a:ext cx="3954904" cy="356289"/>
          </a:xfrm>
          <a:prstGeom prst="rect">
            <a:avLst/>
          </a:prstGeom>
        </p:spPr>
        <p:txBody>
          <a:bodyPr lIns="0" tIns="0" rIns="0" bIns="0" rtlCol="0" anchor="t">
            <a:spAutoFit/>
          </a:bodyPr>
          <a:lstStyle/>
          <a:p>
            <a:pPr algn="l">
              <a:lnSpc>
                <a:spcPts val="2940"/>
              </a:lnSpc>
            </a:pPr>
            <a:r>
              <a:rPr lang="en-US" sz="2100" b="1">
                <a:solidFill>
                  <a:srgbClr val="2C2C2C"/>
                </a:solidFill>
                <a:latin typeface="Roboto Slab Bold"/>
                <a:ea typeface="Roboto Slab Bold"/>
                <a:cs typeface="Roboto Slab Bold"/>
                <a:sym typeface="Roboto Slab Bold"/>
              </a:rPr>
              <a:t>HỌC VIỆN KỸ THUẬT MẬT MÃ</a:t>
            </a:r>
          </a:p>
        </p:txBody>
      </p:sp>
      <p:sp>
        <p:nvSpPr>
          <p:cNvPr id="12" name="AutoShape 12"/>
          <p:cNvSpPr/>
          <p:nvPr/>
        </p:nvSpPr>
        <p:spPr>
          <a:xfrm>
            <a:off x="2147797" y="2996784"/>
            <a:ext cx="0" cy="4208097"/>
          </a:xfrm>
          <a:prstGeom prst="line">
            <a:avLst/>
          </a:prstGeom>
          <a:ln w="38100" cap="flat">
            <a:solidFill>
              <a:srgbClr val="000000"/>
            </a:solidFill>
            <a:prstDash val="sysDash"/>
            <a:headEnd type="none" w="sm" len="sm"/>
            <a:tailEnd type="none" w="sm" len="sm"/>
          </a:ln>
        </p:spPr>
        <p:txBody>
          <a:bodyPr/>
          <a:lstStyle/>
          <a:p>
            <a:endParaRPr lang="en-VN"/>
          </a:p>
        </p:txBody>
      </p:sp>
      <p:sp>
        <p:nvSpPr>
          <p:cNvPr id="13" name="AutoShape 13"/>
          <p:cNvSpPr/>
          <p:nvPr/>
        </p:nvSpPr>
        <p:spPr>
          <a:xfrm>
            <a:off x="2147797" y="3703102"/>
            <a:ext cx="1050689" cy="0"/>
          </a:xfrm>
          <a:prstGeom prst="line">
            <a:avLst/>
          </a:prstGeom>
          <a:ln w="38100" cap="flat">
            <a:solidFill>
              <a:srgbClr val="000000"/>
            </a:solidFill>
            <a:prstDash val="sysDash"/>
            <a:headEnd type="none" w="sm" len="sm"/>
            <a:tailEnd type="none" w="sm" len="sm"/>
          </a:ln>
        </p:spPr>
        <p:txBody>
          <a:bodyPr/>
          <a:lstStyle/>
          <a:p>
            <a:endParaRPr lang="en-VN"/>
          </a:p>
        </p:txBody>
      </p:sp>
      <p:grpSp>
        <p:nvGrpSpPr>
          <p:cNvPr id="14" name="Group 14"/>
          <p:cNvGrpSpPr/>
          <p:nvPr/>
        </p:nvGrpSpPr>
        <p:grpSpPr>
          <a:xfrm>
            <a:off x="3198486" y="3590065"/>
            <a:ext cx="226074" cy="226074"/>
            <a:chOff x="0" y="0"/>
            <a:chExt cx="59542" cy="59542"/>
          </a:xfrm>
        </p:grpSpPr>
        <p:sp>
          <p:nvSpPr>
            <p:cNvPr id="15" name="Freeform 15"/>
            <p:cNvSpPr/>
            <p:nvPr/>
          </p:nvSpPr>
          <p:spPr>
            <a:xfrm>
              <a:off x="0" y="0"/>
              <a:ext cx="59542" cy="59542"/>
            </a:xfrm>
            <a:custGeom>
              <a:avLst/>
              <a:gdLst/>
              <a:ahLst/>
              <a:cxnLst/>
              <a:rect l="l" t="t" r="r" b="b"/>
              <a:pathLst>
                <a:path w="59542" h="59542">
                  <a:moveTo>
                    <a:pt x="29771" y="0"/>
                  </a:moveTo>
                  <a:cubicBezTo>
                    <a:pt x="13329" y="0"/>
                    <a:pt x="0" y="13329"/>
                    <a:pt x="0" y="29771"/>
                  </a:cubicBezTo>
                  <a:cubicBezTo>
                    <a:pt x="0" y="46213"/>
                    <a:pt x="13329" y="59542"/>
                    <a:pt x="29771" y="59542"/>
                  </a:cubicBezTo>
                  <a:cubicBezTo>
                    <a:pt x="46213" y="59542"/>
                    <a:pt x="59542" y="46213"/>
                    <a:pt x="59542" y="29771"/>
                  </a:cubicBezTo>
                  <a:cubicBezTo>
                    <a:pt x="59542" y="13329"/>
                    <a:pt x="46213" y="0"/>
                    <a:pt x="29771" y="0"/>
                  </a:cubicBezTo>
                  <a:close/>
                </a:path>
              </a:pathLst>
            </a:custGeom>
            <a:solidFill>
              <a:srgbClr val="0C1D4B"/>
            </a:solidFill>
          </p:spPr>
          <p:txBody>
            <a:bodyPr/>
            <a:lstStyle/>
            <a:p>
              <a:endParaRPr lang="en-VN"/>
            </a:p>
          </p:txBody>
        </p:sp>
        <p:sp>
          <p:nvSpPr>
            <p:cNvPr id="16" name="TextBox 16"/>
            <p:cNvSpPr txBox="1"/>
            <p:nvPr/>
          </p:nvSpPr>
          <p:spPr>
            <a:xfrm>
              <a:off x="5582" y="-42043"/>
              <a:ext cx="48378" cy="96003"/>
            </a:xfrm>
            <a:prstGeom prst="rect">
              <a:avLst/>
            </a:prstGeom>
          </p:spPr>
          <p:txBody>
            <a:bodyPr lIns="50800" tIns="50800" rIns="50800" bIns="50800" rtlCol="0" anchor="ctr"/>
            <a:lstStyle/>
            <a:p>
              <a:pPr algn="ctr">
                <a:lnSpc>
                  <a:spcPts val="2940"/>
                </a:lnSpc>
              </a:pPr>
              <a:endParaRPr/>
            </a:p>
          </p:txBody>
        </p:sp>
      </p:grpSp>
      <p:sp>
        <p:nvSpPr>
          <p:cNvPr id="17" name="TextBox 17"/>
          <p:cNvSpPr txBox="1"/>
          <p:nvPr/>
        </p:nvSpPr>
        <p:spPr>
          <a:xfrm>
            <a:off x="1028700" y="2264629"/>
            <a:ext cx="2238194" cy="732155"/>
          </a:xfrm>
          <a:prstGeom prst="rect">
            <a:avLst/>
          </a:prstGeom>
        </p:spPr>
        <p:txBody>
          <a:bodyPr lIns="0" tIns="0" rIns="0" bIns="0" rtlCol="0" anchor="t">
            <a:spAutoFit/>
          </a:bodyPr>
          <a:lstStyle/>
          <a:p>
            <a:pPr algn="ctr">
              <a:lnSpc>
                <a:spcPts val="6400"/>
              </a:lnSpc>
            </a:pPr>
            <a:r>
              <a:rPr lang="en-US" sz="3200" b="1" dirty="0" err="1">
                <a:solidFill>
                  <a:srgbClr val="0C1D4B"/>
                </a:solidFill>
                <a:latin typeface="Roboto Slab Bold"/>
                <a:ea typeface="Roboto Slab Bold"/>
                <a:cs typeface="Roboto Slab Bold"/>
                <a:sym typeface="Roboto Slab Bold"/>
              </a:rPr>
              <a:t>Môi</a:t>
            </a:r>
            <a:r>
              <a:rPr lang="en-US" sz="3200" b="1" dirty="0">
                <a:solidFill>
                  <a:srgbClr val="0C1D4B"/>
                </a:solidFill>
                <a:latin typeface="Roboto Slab Bold"/>
                <a:ea typeface="Roboto Slab Bold"/>
                <a:cs typeface="Roboto Slab Bold"/>
                <a:sym typeface="Roboto Slab Bold"/>
              </a:rPr>
              <a:t> </a:t>
            </a:r>
            <a:r>
              <a:rPr lang="en-US" sz="3200" b="1" dirty="0" err="1">
                <a:solidFill>
                  <a:srgbClr val="0C1D4B"/>
                </a:solidFill>
                <a:latin typeface="Roboto Slab Bold"/>
                <a:ea typeface="Roboto Slab Bold"/>
                <a:cs typeface="Roboto Slab Bold"/>
                <a:sym typeface="Roboto Slab Bold"/>
              </a:rPr>
              <a:t>trường</a:t>
            </a:r>
            <a:endParaRPr lang="en-US" sz="3200" b="1" dirty="0">
              <a:solidFill>
                <a:srgbClr val="0C1D4B"/>
              </a:solidFill>
              <a:latin typeface="Roboto Slab Bold"/>
              <a:ea typeface="Roboto Slab Bold"/>
              <a:cs typeface="Roboto Slab Bold"/>
              <a:sym typeface="Roboto Slab Bold"/>
            </a:endParaRPr>
          </a:p>
        </p:txBody>
      </p:sp>
      <p:sp>
        <p:nvSpPr>
          <p:cNvPr id="18" name="TextBox 18"/>
          <p:cNvSpPr txBox="1"/>
          <p:nvPr/>
        </p:nvSpPr>
        <p:spPr>
          <a:xfrm>
            <a:off x="3537597" y="3220766"/>
            <a:ext cx="3337010" cy="760729"/>
          </a:xfrm>
          <a:prstGeom prst="rect">
            <a:avLst/>
          </a:prstGeom>
        </p:spPr>
        <p:txBody>
          <a:bodyPr lIns="0" tIns="0" rIns="0" bIns="0" rtlCol="0" anchor="t">
            <a:spAutoFit/>
          </a:bodyPr>
          <a:lstStyle/>
          <a:p>
            <a:pPr algn="l">
              <a:lnSpc>
                <a:spcPts val="4000"/>
              </a:lnSpc>
            </a:pPr>
            <a:r>
              <a:rPr lang="en-US" sz="2500" b="1">
                <a:solidFill>
                  <a:srgbClr val="0C1D4B"/>
                </a:solidFill>
                <a:latin typeface="Roboto Slab Bold"/>
                <a:ea typeface="Roboto Slab Bold"/>
                <a:cs typeface="Roboto Slab Bold"/>
                <a:sym typeface="Roboto Slab Bold"/>
              </a:rPr>
              <a:t>CSDL pháp luật nội bộ</a:t>
            </a:r>
          </a:p>
          <a:p>
            <a:pPr algn="l">
              <a:lnSpc>
                <a:spcPts val="2080"/>
              </a:lnSpc>
            </a:pPr>
            <a:r>
              <a:rPr lang="en-US" sz="1300" i="1">
                <a:solidFill>
                  <a:srgbClr val="0C1D4B"/>
                </a:solidFill>
                <a:latin typeface="Roboto Italics"/>
                <a:ea typeface="Roboto Italics"/>
                <a:cs typeface="Roboto Italics"/>
                <a:sym typeface="Roboto Italics"/>
              </a:rPr>
              <a:t>Thông tin từ dữ liệu pháp luật Việt Nam</a:t>
            </a:r>
          </a:p>
        </p:txBody>
      </p:sp>
      <p:sp>
        <p:nvSpPr>
          <p:cNvPr id="19" name="AutoShape 19"/>
          <p:cNvSpPr/>
          <p:nvPr/>
        </p:nvSpPr>
        <p:spPr>
          <a:xfrm>
            <a:off x="2147797" y="5163075"/>
            <a:ext cx="1050689" cy="0"/>
          </a:xfrm>
          <a:prstGeom prst="line">
            <a:avLst/>
          </a:prstGeom>
          <a:ln w="38100" cap="flat">
            <a:solidFill>
              <a:srgbClr val="000000"/>
            </a:solidFill>
            <a:prstDash val="sysDash"/>
            <a:headEnd type="none" w="sm" len="sm"/>
            <a:tailEnd type="none" w="sm" len="sm"/>
          </a:ln>
        </p:spPr>
        <p:txBody>
          <a:bodyPr/>
          <a:lstStyle/>
          <a:p>
            <a:endParaRPr lang="en-VN"/>
          </a:p>
        </p:txBody>
      </p:sp>
      <p:grpSp>
        <p:nvGrpSpPr>
          <p:cNvPr id="20" name="Group 20"/>
          <p:cNvGrpSpPr/>
          <p:nvPr/>
        </p:nvGrpSpPr>
        <p:grpSpPr>
          <a:xfrm>
            <a:off x="3198486" y="5050038"/>
            <a:ext cx="205427" cy="226074"/>
            <a:chOff x="0" y="0"/>
            <a:chExt cx="54104" cy="59542"/>
          </a:xfrm>
        </p:grpSpPr>
        <p:sp>
          <p:nvSpPr>
            <p:cNvPr id="21" name="Freeform 21"/>
            <p:cNvSpPr/>
            <p:nvPr/>
          </p:nvSpPr>
          <p:spPr>
            <a:xfrm>
              <a:off x="0" y="0"/>
              <a:ext cx="54104" cy="59542"/>
            </a:xfrm>
            <a:custGeom>
              <a:avLst/>
              <a:gdLst/>
              <a:ahLst/>
              <a:cxnLst/>
              <a:rect l="l" t="t" r="r" b="b"/>
              <a:pathLst>
                <a:path w="54104" h="59542">
                  <a:moveTo>
                    <a:pt x="27052" y="0"/>
                  </a:moveTo>
                  <a:cubicBezTo>
                    <a:pt x="12112" y="0"/>
                    <a:pt x="0" y="13329"/>
                    <a:pt x="0" y="29771"/>
                  </a:cubicBezTo>
                  <a:cubicBezTo>
                    <a:pt x="0" y="46213"/>
                    <a:pt x="12112" y="59542"/>
                    <a:pt x="27052" y="59542"/>
                  </a:cubicBezTo>
                  <a:cubicBezTo>
                    <a:pt x="41993" y="59542"/>
                    <a:pt x="54104" y="46213"/>
                    <a:pt x="54104" y="29771"/>
                  </a:cubicBezTo>
                  <a:cubicBezTo>
                    <a:pt x="54104" y="13329"/>
                    <a:pt x="41993" y="0"/>
                    <a:pt x="27052" y="0"/>
                  </a:cubicBezTo>
                  <a:close/>
                </a:path>
              </a:pathLst>
            </a:custGeom>
            <a:solidFill>
              <a:srgbClr val="0C1D4B"/>
            </a:solidFill>
          </p:spPr>
          <p:txBody>
            <a:bodyPr/>
            <a:lstStyle/>
            <a:p>
              <a:endParaRPr lang="en-VN"/>
            </a:p>
          </p:txBody>
        </p:sp>
        <p:sp>
          <p:nvSpPr>
            <p:cNvPr id="22" name="TextBox 22"/>
            <p:cNvSpPr txBox="1"/>
            <p:nvPr/>
          </p:nvSpPr>
          <p:spPr>
            <a:xfrm>
              <a:off x="5072" y="-42043"/>
              <a:ext cx="43960" cy="96003"/>
            </a:xfrm>
            <a:prstGeom prst="rect">
              <a:avLst/>
            </a:prstGeom>
          </p:spPr>
          <p:txBody>
            <a:bodyPr lIns="50800" tIns="50800" rIns="50800" bIns="50800" rtlCol="0" anchor="ctr"/>
            <a:lstStyle/>
            <a:p>
              <a:pPr algn="ctr">
                <a:lnSpc>
                  <a:spcPts val="2940"/>
                </a:lnSpc>
              </a:pPr>
              <a:endParaRPr/>
            </a:p>
          </p:txBody>
        </p:sp>
      </p:grpSp>
      <p:sp>
        <p:nvSpPr>
          <p:cNvPr id="23" name="TextBox 23"/>
          <p:cNvSpPr txBox="1"/>
          <p:nvPr/>
        </p:nvSpPr>
        <p:spPr>
          <a:xfrm>
            <a:off x="3506628" y="4680738"/>
            <a:ext cx="5854958" cy="760729"/>
          </a:xfrm>
          <a:prstGeom prst="rect">
            <a:avLst/>
          </a:prstGeom>
        </p:spPr>
        <p:txBody>
          <a:bodyPr lIns="0" tIns="0" rIns="0" bIns="0" rtlCol="0" anchor="t">
            <a:spAutoFit/>
          </a:bodyPr>
          <a:lstStyle/>
          <a:p>
            <a:pPr algn="l">
              <a:lnSpc>
                <a:spcPts val="4000"/>
              </a:lnSpc>
            </a:pPr>
            <a:r>
              <a:rPr lang="en-US" sz="2500" b="1">
                <a:solidFill>
                  <a:srgbClr val="0C1D4B"/>
                </a:solidFill>
                <a:latin typeface="Roboto Slab Bold"/>
                <a:ea typeface="Roboto Slab Bold"/>
                <a:cs typeface="Roboto Slab Bold"/>
                <a:sym typeface="Roboto Slab Bold"/>
              </a:rPr>
              <a:t>Nguồn pháp luật cập nhật từ bên ngoài</a:t>
            </a:r>
          </a:p>
          <a:p>
            <a:pPr algn="l">
              <a:lnSpc>
                <a:spcPts val="2080"/>
              </a:lnSpc>
            </a:pPr>
            <a:r>
              <a:rPr lang="en-US" sz="1300" i="1">
                <a:solidFill>
                  <a:srgbClr val="0C1D4B"/>
                </a:solidFill>
                <a:latin typeface="Roboto Italics"/>
                <a:ea typeface="Roboto Italics"/>
                <a:cs typeface="Roboto Italics"/>
                <a:sym typeface="Roboto Italics"/>
              </a:rPr>
              <a:t>Các website dữ liệu pháp luật Việt Nam: thuvienphapluat.vn, vbpl.vn, v.v..</a:t>
            </a:r>
          </a:p>
        </p:txBody>
      </p:sp>
      <p:sp>
        <p:nvSpPr>
          <p:cNvPr id="24" name="AutoShape 24"/>
          <p:cNvSpPr/>
          <p:nvPr/>
        </p:nvSpPr>
        <p:spPr>
          <a:xfrm>
            <a:off x="2147797" y="6619129"/>
            <a:ext cx="1050689" cy="0"/>
          </a:xfrm>
          <a:prstGeom prst="line">
            <a:avLst/>
          </a:prstGeom>
          <a:ln w="38100" cap="flat">
            <a:solidFill>
              <a:srgbClr val="000000"/>
            </a:solidFill>
            <a:prstDash val="sysDash"/>
            <a:headEnd type="none" w="sm" len="sm"/>
            <a:tailEnd type="none" w="sm" len="sm"/>
          </a:ln>
        </p:spPr>
        <p:txBody>
          <a:bodyPr/>
          <a:lstStyle/>
          <a:p>
            <a:endParaRPr lang="en-VN"/>
          </a:p>
        </p:txBody>
      </p:sp>
      <p:grpSp>
        <p:nvGrpSpPr>
          <p:cNvPr id="25" name="Group 25"/>
          <p:cNvGrpSpPr/>
          <p:nvPr/>
        </p:nvGrpSpPr>
        <p:grpSpPr>
          <a:xfrm>
            <a:off x="3198486" y="6506092"/>
            <a:ext cx="205427" cy="226074"/>
            <a:chOff x="0" y="0"/>
            <a:chExt cx="54104" cy="59542"/>
          </a:xfrm>
        </p:grpSpPr>
        <p:sp>
          <p:nvSpPr>
            <p:cNvPr id="26" name="Freeform 26"/>
            <p:cNvSpPr/>
            <p:nvPr/>
          </p:nvSpPr>
          <p:spPr>
            <a:xfrm>
              <a:off x="0" y="0"/>
              <a:ext cx="54104" cy="59542"/>
            </a:xfrm>
            <a:custGeom>
              <a:avLst/>
              <a:gdLst/>
              <a:ahLst/>
              <a:cxnLst/>
              <a:rect l="l" t="t" r="r" b="b"/>
              <a:pathLst>
                <a:path w="54104" h="59542">
                  <a:moveTo>
                    <a:pt x="27052" y="0"/>
                  </a:moveTo>
                  <a:cubicBezTo>
                    <a:pt x="12112" y="0"/>
                    <a:pt x="0" y="13329"/>
                    <a:pt x="0" y="29771"/>
                  </a:cubicBezTo>
                  <a:cubicBezTo>
                    <a:pt x="0" y="46213"/>
                    <a:pt x="12112" y="59542"/>
                    <a:pt x="27052" y="59542"/>
                  </a:cubicBezTo>
                  <a:cubicBezTo>
                    <a:pt x="41993" y="59542"/>
                    <a:pt x="54104" y="46213"/>
                    <a:pt x="54104" y="29771"/>
                  </a:cubicBezTo>
                  <a:cubicBezTo>
                    <a:pt x="54104" y="13329"/>
                    <a:pt x="41993" y="0"/>
                    <a:pt x="27052" y="0"/>
                  </a:cubicBezTo>
                  <a:close/>
                </a:path>
              </a:pathLst>
            </a:custGeom>
            <a:solidFill>
              <a:srgbClr val="0C1D4B"/>
            </a:solidFill>
          </p:spPr>
          <p:txBody>
            <a:bodyPr/>
            <a:lstStyle/>
            <a:p>
              <a:endParaRPr lang="en-VN"/>
            </a:p>
          </p:txBody>
        </p:sp>
        <p:sp>
          <p:nvSpPr>
            <p:cNvPr id="27" name="TextBox 27"/>
            <p:cNvSpPr txBox="1"/>
            <p:nvPr/>
          </p:nvSpPr>
          <p:spPr>
            <a:xfrm>
              <a:off x="5072" y="-42043"/>
              <a:ext cx="43960" cy="96003"/>
            </a:xfrm>
            <a:prstGeom prst="rect">
              <a:avLst/>
            </a:prstGeom>
          </p:spPr>
          <p:txBody>
            <a:bodyPr lIns="50800" tIns="50800" rIns="50800" bIns="50800" rtlCol="0" anchor="ctr"/>
            <a:lstStyle/>
            <a:p>
              <a:pPr algn="ctr">
                <a:lnSpc>
                  <a:spcPts val="2940"/>
                </a:lnSpc>
              </a:pPr>
              <a:endParaRPr/>
            </a:p>
          </p:txBody>
        </p:sp>
      </p:grpSp>
      <p:sp>
        <p:nvSpPr>
          <p:cNvPr id="28" name="TextBox 28"/>
          <p:cNvSpPr txBox="1"/>
          <p:nvPr/>
        </p:nvSpPr>
        <p:spPr>
          <a:xfrm>
            <a:off x="3506628" y="6136792"/>
            <a:ext cx="5854958" cy="760729"/>
          </a:xfrm>
          <a:prstGeom prst="rect">
            <a:avLst/>
          </a:prstGeom>
        </p:spPr>
        <p:txBody>
          <a:bodyPr lIns="0" tIns="0" rIns="0" bIns="0" rtlCol="0" anchor="t">
            <a:spAutoFit/>
          </a:bodyPr>
          <a:lstStyle/>
          <a:p>
            <a:pPr algn="l">
              <a:lnSpc>
                <a:spcPts val="4000"/>
              </a:lnSpc>
            </a:pPr>
            <a:r>
              <a:rPr lang="en-US" sz="2500" b="1">
                <a:solidFill>
                  <a:srgbClr val="0C1D4B"/>
                </a:solidFill>
                <a:latin typeface="Roboto Slab Bold"/>
                <a:ea typeface="Roboto Slab Bold"/>
                <a:cs typeface="Roboto Slab Bold"/>
                <a:sym typeface="Roboto Slab Bold"/>
              </a:rPr>
              <a:t>Nguồn tri thức mới từ quản trị viên</a:t>
            </a:r>
          </a:p>
          <a:p>
            <a:pPr algn="l">
              <a:lnSpc>
                <a:spcPts val="2080"/>
              </a:lnSpc>
            </a:pPr>
            <a:r>
              <a:rPr lang="en-US" sz="1300" i="1">
                <a:solidFill>
                  <a:srgbClr val="0C1D4B"/>
                </a:solidFill>
                <a:latin typeface="Roboto Italics"/>
                <a:ea typeface="Roboto Italics"/>
                <a:cs typeface="Roboto Italics"/>
                <a:sym typeface="Roboto Italics"/>
              </a:rPr>
              <a:t>Văn bản PDF pháp luật đã xử lý</a:t>
            </a:r>
          </a:p>
        </p:txBody>
      </p:sp>
      <p:sp>
        <p:nvSpPr>
          <p:cNvPr id="29" name="AutoShape 29"/>
          <p:cNvSpPr/>
          <p:nvPr/>
        </p:nvSpPr>
        <p:spPr>
          <a:xfrm>
            <a:off x="10823583" y="2996784"/>
            <a:ext cx="0" cy="4374513"/>
          </a:xfrm>
          <a:prstGeom prst="line">
            <a:avLst/>
          </a:prstGeom>
          <a:ln w="38100" cap="flat">
            <a:solidFill>
              <a:srgbClr val="000000"/>
            </a:solidFill>
            <a:prstDash val="sysDash"/>
            <a:headEnd type="none" w="sm" len="sm"/>
            <a:tailEnd type="none" w="sm" len="sm"/>
          </a:ln>
        </p:spPr>
        <p:txBody>
          <a:bodyPr/>
          <a:lstStyle/>
          <a:p>
            <a:endParaRPr lang="en-VN"/>
          </a:p>
        </p:txBody>
      </p:sp>
      <p:sp>
        <p:nvSpPr>
          <p:cNvPr id="30" name="AutoShape 30"/>
          <p:cNvSpPr/>
          <p:nvPr/>
        </p:nvSpPr>
        <p:spPr>
          <a:xfrm>
            <a:off x="10823583" y="3703102"/>
            <a:ext cx="1050689" cy="0"/>
          </a:xfrm>
          <a:prstGeom prst="line">
            <a:avLst/>
          </a:prstGeom>
          <a:ln w="38100" cap="flat">
            <a:solidFill>
              <a:srgbClr val="000000"/>
            </a:solidFill>
            <a:prstDash val="sysDash"/>
            <a:headEnd type="none" w="sm" len="sm"/>
            <a:tailEnd type="none" w="sm" len="sm"/>
          </a:ln>
        </p:spPr>
        <p:txBody>
          <a:bodyPr/>
          <a:lstStyle/>
          <a:p>
            <a:endParaRPr lang="en-VN"/>
          </a:p>
        </p:txBody>
      </p:sp>
      <p:grpSp>
        <p:nvGrpSpPr>
          <p:cNvPr id="31" name="Group 31"/>
          <p:cNvGrpSpPr/>
          <p:nvPr/>
        </p:nvGrpSpPr>
        <p:grpSpPr>
          <a:xfrm>
            <a:off x="11874273" y="3590065"/>
            <a:ext cx="226074" cy="226074"/>
            <a:chOff x="0" y="0"/>
            <a:chExt cx="59542" cy="59542"/>
          </a:xfrm>
        </p:grpSpPr>
        <p:sp>
          <p:nvSpPr>
            <p:cNvPr id="32" name="Freeform 32"/>
            <p:cNvSpPr/>
            <p:nvPr/>
          </p:nvSpPr>
          <p:spPr>
            <a:xfrm>
              <a:off x="0" y="0"/>
              <a:ext cx="59542" cy="59542"/>
            </a:xfrm>
            <a:custGeom>
              <a:avLst/>
              <a:gdLst/>
              <a:ahLst/>
              <a:cxnLst/>
              <a:rect l="l" t="t" r="r" b="b"/>
              <a:pathLst>
                <a:path w="59542" h="59542">
                  <a:moveTo>
                    <a:pt x="29771" y="0"/>
                  </a:moveTo>
                  <a:cubicBezTo>
                    <a:pt x="13329" y="0"/>
                    <a:pt x="0" y="13329"/>
                    <a:pt x="0" y="29771"/>
                  </a:cubicBezTo>
                  <a:cubicBezTo>
                    <a:pt x="0" y="46213"/>
                    <a:pt x="13329" y="59542"/>
                    <a:pt x="29771" y="59542"/>
                  </a:cubicBezTo>
                  <a:cubicBezTo>
                    <a:pt x="46213" y="59542"/>
                    <a:pt x="59542" y="46213"/>
                    <a:pt x="59542" y="29771"/>
                  </a:cubicBezTo>
                  <a:cubicBezTo>
                    <a:pt x="59542" y="13329"/>
                    <a:pt x="46213" y="0"/>
                    <a:pt x="29771" y="0"/>
                  </a:cubicBezTo>
                  <a:close/>
                </a:path>
              </a:pathLst>
            </a:custGeom>
            <a:solidFill>
              <a:srgbClr val="0C1D4B"/>
            </a:solidFill>
          </p:spPr>
          <p:txBody>
            <a:bodyPr/>
            <a:lstStyle/>
            <a:p>
              <a:endParaRPr lang="en-VN"/>
            </a:p>
          </p:txBody>
        </p:sp>
        <p:sp>
          <p:nvSpPr>
            <p:cNvPr id="33" name="TextBox 33"/>
            <p:cNvSpPr txBox="1"/>
            <p:nvPr/>
          </p:nvSpPr>
          <p:spPr>
            <a:xfrm>
              <a:off x="5582" y="-42043"/>
              <a:ext cx="48378" cy="96003"/>
            </a:xfrm>
            <a:prstGeom prst="rect">
              <a:avLst/>
            </a:prstGeom>
          </p:spPr>
          <p:txBody>
            <a:bodyPr lIns="50800" tIns="50800" rIns="50800" bIns="50800" rtlCol="0" anchor="ctr"/>
            <a:lstStyle/>
            <a:p>
              <a:pPr algn="ctr">
                <a:lnSpc>
                  <a:spcPts val="2940"/>
                </a:lnSpc>
              </a:pPr>
              <a:endParaRPr/>
            </a:p>
          </p:txBody>
        </p:sp>
      </p:grpSp>
      <p:sp>
        <p:nvSpPr>
          <p:cNvPr id="34" name="TextBox 34"/>
          <p:cNvSpPr txBox="1"/>
          <p:nvPr/>
        </p:nvSpPr>
        <p:spPr>
          <a:xfrm>
            <a:off x="9200000" y="2264629"/>
            <a:ext cx="6200000" cy="732155"/>
          </a:xfrm>
          <a:prstGeom prst="rect">
            <a:avLst/>
          </a:prstGeom>
        </p:spPr>
        <p:txBody>
          <a:bodyPr lIns="254000" tIns="0" rIns="254000" bIns="0" rtlCol="0" anchor="t">
            <a:spAutoFit/>
          </a:bodyPr>
          <a:lstStyle/>
          <a:p>
            <a:pPr algn="ctr">
              <a:lnSpc>
                <a:spcPts val="6400"/>
              </a:lnSpc>
            </a:pPr>
            <a:r>
              <a:rPr lang="vi-VN" sz="3200" b="1" dirty="0">
                <a:solidFill>
                  <a:srgbClr val="0C1D4B"/>
                </a:solidFill>
                <a:latin typeface="Roboto Slab" pitchFamily="2" charset="0"/>
                <a:ea typeface="Roboto Slab" pitchFamily="2" charset="0"/>
                <a:cs typeface="Roboto Slab" pitchFamily="2" charset="0"/>
              </a:rPr>
              <a:t>Tập hành động của agent</a:t>
            </a:r>
          </a:p>
        </p:txBody>
      </p:sp>
      <p:sp>
        <p:nvSpPr>
          <p:cNvPr id="35" name="TextBox 35"/>
          <p:cNvSpPr txBox="1"/>
          <p:nvPr/>
        </p:nvSpPr>
        <p:spPr>
          <a:xfrm>
            <a:off x="12214646" y="3390378"/>
            <a:ext cx="3337010" cy="473048"/>
          </a:xfrm>
          <a:prstGeom prst="rect">
            <a:avLst/>
          </a:prstGeom>
        </p:spPr>
        <p:txBody>
          <a:bodyPr lIns="0" tIns="0" rIns="0" bIns="0" rtlCol="0" anchor="t">
            <a:spAutoFit/>
          </a:bodyPr>
          <a:lstStyle/>
          <a:p>
            <a:pPr algn="l">
              <a:lnSpc>
                <a:spcPts val="4000"/>
              </a:lnSpc>
            </a:pPr>
            <a:r>
              <a:rPr lang="en-US" sz="2500" b="1">
                <a:solidFill>
                  <a:srgbClr val="0C1D4B"/>
                </a:solidFill>
                <a:latin typeface="Roboto Slab Bold"/>
                <a:ea typeface="Roboto Slab Bold"/>
                <a:cs typeface="Roboto Slab Bold"/>
                <a:sym typeface="Roboto Slab Bold"/>
              </a:rPr>
              <a:t>Trả lời câu hỏi</a:t>
            </a:r>
          </a:p>
        </p:txBody>
      </p:sp>
      <p:sp>
        <p:nvSpPr>
          <p:cNvPr id="36" name="AutoShape 36"/>
          <p:cNvSpPr/>
          <p:nvPr/>
        </p:nvSpPr>
        <p:spPr>
          <a:xfrm>
            <a:off x="10891410" y="4738125"/>
            <a:ext cx="1050689" cy="0"/>
          </a:xfrm>
          <a:prstGeom prst="line">
            <a:avLst/>
          </a:prstGeom>
          <a:ln w="38100" cap="flat">
            <a:solidFill>
              <a:srgbClr val="000000"/>
            </a:solidFill>
            <a:prstDash val="sysDash"/>
            <a:headEnd type="none" w="sm" len="sm"/>
            <a:tailEnd type="none" w="sm" len="sm"/>
          </a:ln>
        </p:spPr>
        <p:txBody>
          <a:bodyPr/>
          <a:lstStyle/>
          <a:p>
            <a:endParaRPr lang="en-VN"/>
          </a:p>
        </p:txBody>
      </p:sp>
      <p:grpSp>
        <p:nvGrpSpPr>
          <p:cNvPr id="37" name="Group 37"/>
          <p:cNvGrpSpPr/>
          <p:nvPr/>
        </p:nvGrpSpPr>
        <p:grpSpPr>
          <a:xfrm>
            <a:off x="11942099" y="4625088"/>
            <a:ext cx="205427" cy="226074"/>
            <a:chOff x="0" y="0"/>
            <a:chExt cx="54104" cy="59542"/>
          </a:xfrm>
        </p:grpSpPr>
        <p:sp>
          <p:nvSpPr>
            <p:cNvPr id="38" name="Freeform 38"/>
            <p:cNvSpPr/>
            <p:nvPr/>
          </p:nvSpPr>
          <p:spPr>
            <a:xfrm>
              <a:off x="0" y="0"/>
              <a:ext cx="54104" cy="59542"/>
            </a:xfrm>
            <a:custGeom>
              <a:avLst/>
              <a:gdLst/>
              <a:ahLst/>
              <a:cxnLst/>
              <a:rect l="l" t="t" r="r" b="b"/>
              <a:pathLst>
                <a:path w="54104" h="59542">
                  <a:moveTo>
                    <a:pt x="27052" y="0"/>
                  </a:moveTo>
                  <a:cubicBezTo>
                    <a:pt x="12112" y="0"/>
                    <a:pt x="0" y="13329"/>
                    <a:pt x="0" y="29771"/>
                  </a:cubicBezTo>
                  <a:cubicBezTo>
                    <a:pt x="0" y="46213"/>
                    <a:pt x="12112" y="59542"/>
                    <a:pt x="27052" y="59542"/>
                  </a:cubicBezTo>
                  <a:cubicBezTo>
                    <a:pt x="41993" y="59542"/>
                    <a:pt x="54104" y="46213"/>
                    <a:pt x="54104" y="29771"/>
                  </a:cubicBezTo>
                  <a:cubicBezTo>
                    <a:pt x="54104" y="13329"/>
                    <a:pt x="41993" y="0"/>
                    <a:pt x="27052" y="0"/>
                  </a:cubicBezTo>
                  <a:close/>
                </a:path>
              </a:pathLst>
            </a:custGeom>
            <a:solidFill>
              <a:srgbClr val="0C1D4B"/>
            </a:solidFill>
          </p:spPr>
          <p:txBody>
            <a:bodyPr/>
            <a:lstStyle/>
            <a:p>
              <a:endParaRPr lang="en-VN"/>
            </a:p>
          </p:txBody>
        </p:sp>
        <p:sp>
          <p:nvSpPr>
            <p:cNvPr id="39" name="TextBox 39"/>
            <p:cNvSpPr txBox="1"/>
            <p:nvPr/>
          </p:nvSpPr>
          <p:spPr>
            <a:xfrm>
              <a:off x="5072" y="-42043"/>
              <a:ext cx="43960" cy="96003"/>
            </a:xfrm>
            <a:prstGeom prst="rect">
              <a:avLst/>
            </a:prstGeom>
          </p:spPr>
          <p:txBody>
            <a:bodyPr lIns="50800" tIns="50800" rIns="50800" bIns="50800" rtlCol="0" anchor="ctr"/>
            <a:lstStyle/>
            <a:p>
              <a:pPr algn="ctr">
                <a:lnSpc>
                  <a:spcPts val="2940"/>
                </a:lnSpc>
              </a:pPr>
              <a:endParaRPr/>
            </a:p>
          </p:txBody>
        </p:sp>
      </p:grpSp>
      <p:sp>
        <p:nvSpPr>
          <p:cNvPr id="40" name="TextBox 40"/>
          <p:cNvSpPr txBox="1"/>
          <p:nvPr/>
        </p:nvSpPr>
        <p:spPr>
          <a:xfrm>
            <a:off x="12214646" y="4453976"/>
            <a:ext cx="5854958" cy="473048"/>
          </a:xfrm>
          <a:prstGeom prst="rect">
            <a:avLst/>
          </a:prstGeom>
        </p:spPr>
        <p:txBody>
          <a:bodyPr lIns="0" tIns="0" rIns="0" bIns="0" rtlCol="0" anchor="t">
            <a:spAutoFit/>
          </a:bodyPr>
          <a:lstStyle/>
          <a:p>
            <a:pPr algn="l">
              <a:lnSpc>
                <a:spcPts val="4000"/>
              </a:lnSpc>
            </a:pPr>
            <a:r>
              <a:rPr lang="en-US" sz="2500" b="1">
                <a:solidFill>
                  <a:srgbClr val="0C1D4B"/>
                </a:solidFill>
                <a:latin typeface="Roboto Slab Bold"/>
                <a:ea typeface="Roboto Slab Bold"/>
                <a:cs typeface="Roboto Slab Bold"/>
                <a:sym typeface="Roboto Slab Bold"/>
              </a:rPr>
              <a:t>Truy hồi quy định pháp luật</a:t>
            </a:r>
          </a:p>
        </p:txBody>
      </p:sp>
      <p:sp>
        <p:nvSpPr>
          <p:cNvPr id="41" name="AutoShape 41"/>
          <p:cNvSpPr/>
          <p:nvPr/>
        </p:nvSpPr>
        <p:spPr>
          <a:xfrm flipV="1">
            <a:off x="10819711" y="5801723"/>
            <a:ext cx="1050689" cy="0"/>
          </a:xfrm>
          <a:prstGeom prst="line">
            <a:avLst/>
          </a:prstGeom>
          <a:ln w="38100" cap="flat">
            <a:solidFill>
              <a:srgbClr val="000000"/>
            </a:solidFill>
            <a:prstDash val="sysDash"/>
            <a:headEnd type="none" w="sm" len="sm"/>
            <a:tailEnd type="none" w="sm" len="sm"/>
          </a:ln>
        </p:spPr>
        <p:txBody>
          <a:bodyPr/>
          <a:lstStyle/>
          <a:p>
            <a:endParaRPr lang="en-VN"/>
          </a:p>
        </p:txBody>
      </p:sp>
      <p:grpSp>
        <p:nvGrpSpPr>
          <p:cNvPr id="42" name="Group 42"/>
          <p:cNvGrpSpPr/>
          <p:nvPr/>
        </p:nvGrpSpPr>
        <p:grpSpPr>
          <a:xfrm>
            <a:off x="11870400" y="5688686"/>
            <a:ext cx="205427" cy="226074"/>
            <a:chOff x="0" y="0"/>
            <a:chExt cx="54104" cy="59542"/>
          </a:xfrm>
        </p:grpSpPr>
        <p:sp>
          <p:nvSpPr>
            <p:cNvPr id="43" name="Freeform 43"/>
            <p:cNvSpPr/>
            <p:nvPr/>
          </p:nvSpPr>
          <p:spPr>
            <a:xfrm>
              <a:off x="0" y="0"/>
              <a:ext cx="54104" cy="59542"/>
            </a:xfrm>
            <a:custGeom>
              <a:avLst/>
              <a:gdLst/>
              <a:ahLst/>
              <a:cxnLst/>
              <a:rect l="l" t="t" r="r" b="b"/>
              <a:pathLst>
                <a:path w="54104" h="59542">
                  <a:moveTo>
                    <a:pt x="27052" y="0"/>
                  </a:moveTo>
                  <a:cubicBezTo>
                    <a:pt x="12112" y="0"/>
                    <a:pt x="0" y="13329"/>
                    <a:pt x="0" y="29771"/>
                  </a:cubicBezTo>
                  <a:cubicBezTo>
                    <a:pt x="0" y="46213"/>
                    <a:pt x="12112" y="59542"/>
                    <a:pt x="27052" y="59542"/>
                  </a:cubicBezTo>
                  <a:cubicBezTo>
                    <a:pt x="41993" y="59542"/>
                    <a:pt x="54104" y="46213"/>
                    <a:pt x="54104" y="29771"/>
                  </a:cubicBezTo>
                  <a:cubicBezTo>
                    <a:pt x="54104" y="13329"/>
                    <a:pt x="41993" y="0"/>
                    <a:pt x="27052" y="0"/>
                  </a:cubicBezTo>
                  <a:close/>
                </a:path>
              </a:pathLst>
            </a:custGeom>
            <a:solidFill>
              <a:srgbClr val="0C1D4B"/>
            </a:solidFill>
          </p:spPr>
          <p:txBody>
            <a:bodyPr/>
            <a:lstStyle/>
            <a:p>
              <a:endParaRPr lang="en-VN"/>
            </a:p>
          </p:txBody>
        </p:sp>
        <p:sp>
          <p:nvSpPr>
            <p:cNvPr id="44" name="TextBox 44"/>
            <p:cNvSpPr txBox="1"/>
            <p:nvPr/>
          </p:nvSpPr>
          <p:spPr>
            <a:xfrm>
              <a:off x="5072" y="-42043"/>
              <a:ext cx="43960" cy="96003"/>
            </a:xfrm>
            <a:prstGeom prst="rect">
              <a:avLst/>
            </a:prstGeom>
          </p:spPr>
          <p:txBody>
            <a:bodyPr lIns="50800" tIns="50800" rIns="50800" bIns="50800" rtlCol="0" anchor="ctr"/>
            <a:lstStyle/>
            <a:p>
              <a:pPr algn="ctr">
                <a:lnSpc>
                  <a:spcPts val="2940"/>
                </a:lnSpc>
              </a:pPr>
              <a:endParaRPr/>
            </a:p>
          </p:txBody>
        </p:sp>
      </p:grpSp>
      <p:sp>
        <p:nvSpPr>
          <p:cNvPr id="45" name="TextBox 45"/>
          <p:cNvSpPr txBox="1"/>
          <p:nvPr/>
        </p:nvSpPr>
        <p:spPr>
          <a:xfrm>
            <a:off x="12214646" y="5517574"/>
            <a:ext cx="4848862" cy="473048"/>
          </a:xfrm>
          <a:prstGeom prst="rect">
            <a:avLst/>
          </a:prstGeom>
        </p:spPr>
        <p:txBody>
          <a:bodyPr lIns="0" tIns="0" rIns="0" bIns="0" rtlCol="0" anchor="t">
            <a:spAutoFit/>
          </a:bodyPr>
          <a:lstStyle/>
          <a:p>
            <a:pPr algn="l">
              <a:lnSpc>
                <a:spcPts val="4000"/>
              </a:lnSpc>
            </a:pPr>
            <a:r>
              <a:rPr lang="en-US" sz="2500" b="1">
                <a:solidFill>
                  <a:srgbClr val="0C1D4B"/>
                </a:solidFill>
                <a:latin typeface="Roboto Slab Bold"/>
                <a:ea typeface="Roboto Slab Bold"/>
                <a:cs typeface="Roboto Slab Bold"/>
                <a:sym typeface="Roboto Slab Bold"/>
              </a:rPr>
              <a:t>Kiểm chứng và trích dẫn nguồn</a:t>
            </a:r>
          </a:p>
        </p:txBody>
      </p:sp>
      <p:sp>
        <p:nvSpPr>
          <p:cNvPr id="46" name="AutoShape 46"/>
          <p:cNvSpPr/>
          <p:nvPr/>
        </p:nvSpPr>
        <p:spPr>
          <a:xfrm flipV="1">
            <a:off x="10819711" y="6865320"/>
            <a:ext cx="1050689" cy="0"/>
          </a:xfrm>
          <a:prstGeom prst="line">
            <a:avLst/>
          </a:prstGeom>
          <a:ln w="38100" cap="flat">
            <a:solidFill>
              <a:srgbClr val="000000"/>
            </a:solidFill>
            <a:prstDash val="sysDash"/>
            <a:headEnd type="none" w="sm" len="sm"/>
            <a:tailEnd type="none" w="sm" len="sm"/>
          </a:ln>
        </p:spPr>
        <p:txBody>
          <a:bodyPr/>
          <a:lstStyle/>
          <a:p>
            <a:endParaRPr lang="en-VN"/>
          </a:p>
        </p:txBody>
      </p:sp>
      <p:grpSp>
        <p:nvGrpSpPr>
          <p:cNvPr id="47" name="Group 47"/>
          <p:cNvGrpSpPr/>
          <p:nvPr/>
        </p:nvGrpSpPr>
        <p:grpSpPr>
          <a:xfrm>
            <a:off x="11870400" y="6752283"/>
            <a:ext cx="205427" cy="226074"/>
            <a:chOff x="0" y="0"/>
            <a:chExt cx="54104" cy="59542"/>
          </a:xfrm>
        </p:grpSpPr>
        <p:sp>
          <p:nvSpPr>
            <p:cNvPr id="48" name="Freeform 48"/>
            <p:cNvSpPr/>
            <p:nvPr/>
          </p:nvSpPr>
          <p:spPr>
            <a:xfrm>
              <a:off x="0" y="0"/>
              <a:ext cx="54104" cy="59542"/>
            </a:xfrm>
            <a:custGeom>
              <a:avLst/>
              <a:gdLst/>
              <a:ahLst/>
              <a:cxnLst/>
              <a:rect l="l" t="t" r="r" b="b"/>
              <a:pathLst>
                <a:path w="54104" h="59542">
                  <a:moveTo>
                    <a:pt x="27052" y="0"/>
                  </a:moveTo>
                  <a:cubicBezTo>
                    <a:pt x="12112" y="0"/>
                    <a:pt x="0" y="13329"/>
                    <a:pt x="0" y="29771"/>
                  </a:cubicBezTo>
                  <a:cubicBezTo>
                    <a:pt x="0" y="46213"/>
                    <a:pt x="12112" y="59542"/>
                    <a:pt x="27052" y="59542"/>
                  </a:cubicBezTo>
                  <a:cubicBezTo>
                    <a:pt x="41993" y="59542"/>
                    <a:pt x="54104" y="46213"/>
                    <a:pt x="54104" y="29771"/>
                  </a:cubicBezTo>
                  <a:cubicBezTo>
                    <a:pt x="54104" y="13329"/>
                    <a:pt x="41993" y="0"/>
                    <a:pt x="27052" y="0"/>
                  </a:cubicBezTo>
                  <a:close/>
                </a:path>
              </a:pathLst>
            </a:custGeom>
            <a:solidFill>
              <a:srgbClr val="0C1D4B"/>
            </a:solidFill>
          </p:spPr>
          <p:txBody>
            <a:bodyPr/>
            <a:lstStyle/>
            <a:p>
              <a:endParaRPr lang="en-VN"/>
            </a:p>
          </p:txBody>
        </p:sp>
        <p:sp>
          <p:nvSpPr>
            <p:cNvPr id="49" name="TextBox 49"/>
            <p:cNvSpPr txBox="1"/>
            <p:nvPr/>
          </p:nvSpPr>
          <p:spPr>
            <a:xfrm>
              <a:off x="5072" y="-42043"/>
              <a:ext cx="43960" cy="96003"/>
            </a:xfrm>
            <a:prstGeom prst="rect">
              <a:avLst/>
            </a:prstGeom>
          </p:spPr>
          <p:txBody>
            <a:bodyPr lIns="50800" tIns="50800" rIns="50800" bIns="50800" rtlCol="0" anchor="ctr"/>
            <a:lstStyle/>
            <a:p>
              <a:pPr algn="ctr">
                <a:lnSpc>
                  <a:spcPts val="2940"/>
                </a:lnSpc>
              </a:pPr>
              <a:endParaRPr/>
            </a:p>
          </p:txBody>
        </p:sp>
      </p:grpSp>
      <p:sp>
        <p:nvSpPr>
          <p:cNvPr id="50" name="TextBox 50"/>
          <p:cNvSpPr txBox="1"/>
          <p:nvPr/>
        </p:nvSpPr>
        <p:spPr>
          <a:xfrm>
            <a:off x="12210774" y="6581171"/>
            <a:ext cx="4848862" cy="473048"/>
          </a:xfrm>
          <a:prstGeom prst="rect">
            <a:avLst/>
          </a:prstGeom>
        </p:spPr>
        <p:txBody>
          <a:bodyPr lIns="0" tIns="0" rIns="0" bIns="0" rtlCol="0" anchor="t">
            <a:spAutoFit/>
          </a:bodyPr>
          <a:lstStyle/>
          <a:p>
            <a:pPr algn="l">
              <a:lnSpc>
                <a:spcPts val="4000"/>
              </a:lnSpc>
            </a:pPr>
            <a:r>
              <a:rPr lang="en-US" sz="2500" b="1">
                <a:solidFill>
                  <a:srgbClr val="0C1D4B"/>
                </a:solidFill>
                <a:latin typeface="Roboto Slab Bold"/>
                <a:ea typeface="Roboto Slab Bold"/>
                <a:cs typeface="Roboto Slab Bold"/>
                <a:sym typeface="Roboto Slab Bold"/>
              </a:rPr>
              <a:t>Đối chiếu nguồn cập nhật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grpId="0" nodeType="withEffect">
                            <p:stCondLst>
                              <p:cond delay="80"/>
                            </p:stCondLst>
                            <p:childTnLst>
                              <p:set>
                                <p:cBhvr>
                                  <p:cTn id="5" dur="1" fill="hold">
                                    <p:stCondLst>
                                      <p:cond delay="0"/>
                                    </p:stCondLst>
                                  </p:cTn>
                                  <p:tgtEl>
                                    <p:spTgt spid="10"/>
                                  </p:tgtEl>
                                  <p:attrNameLst>
                                    <p:attrName>style.visibility</p:attrName>
                                  </p:attrNameLst>
                                </p:cBhvr>
                                <p:to>
                                  <p:strVal val="visible"/>
                                </p:to>
                              </p:set>
                              <p:animEffect transition="in" filter="wipe(left)">
                                <p:cBhvr>
                                  <p:cTn id="6" dur="430"/>
                                  <p:tgtEl>
                                    <p:spTgt spid="10"/>
                                  </p:tgtEl>
                                </p:cBhvr>
                              </p:animEffect>
                            </p:childTnLst>
                          </p:cTn>
                        </p:par>
                        <p:par>
                          <p:cTn id="7" presetID="10" presetClass="entr" presetSubtype="0" fill="hold" grpId="0" nodeType="withEffect">
                            <p:stCondLst>
                              <p:cond delay="135"/>
                            </p:stCondLst>
                            <p:childTnLst>
                              <p:set>
                                <p:cBhvr>
                                  <p:cTn id="8" dur="1" fill="hold">
                                    <p:stCondLst>
                                      <p:cond delay="0"/>
                                    </p:stCondLst>
                                  </p:cTn>
                                  <p:tgtEl>
                                    <p:spTgt spid="17"/>
                                  </p:tgtEl>
                                  <p:attrNameLst>
                                    <p:attrName>style.visibility</p:attrName>
                                  </p:attrNameLst>
                                </p:cBhvr>
                                <p:to>
                                  <p:strVal val="visible"/>
                                </p:to>
                              </p:set>
                              <p:animEffect transition="in" filter="wipe(left)">
                                <p:cBhvr>
                                  <p:cTn id="9" dur="430"/>
                                  <p:tgtEl>
                                    <p:spTgt spid="17"/>
                                  </p:tgtEl>
                                </p:cBhvr>
                              </p:animEffect>
                            </p:childTnLst>
                          </p:cTn>
                        </p:par>
                        <p:par>
                          <p:cTn id="10" presetID="10" presetClass="entr" presetSubtype="0" fill="hold" grpId="0" nodeType="withEffect">
                            <p:stCondLst>
                              <p:cond delay="190"/>
                            </p:stCondLst>
                            <p:childTnLst>
                              <p:set>
                                <p:cBhvr>
                                  <p:cTn id="11" dur="1" fill="hold">
                                    <p:stCondLst>
                                      <p:cond delay="0"/>
                                    </p:stCondLst>
                                  </p:cTn>
                                  <p:tgtEl>
                                    <p:spTgt spid="34"/>
                                  </p:tgtEl>
                                  <p:attrNameLst>
                                    <p:attrName>style.visibility</p:attrName>
                                  </p:attrNameLst>
                                </p:cBhvr>
                                <p:to>
                                  <p:strVal val="visible"/>
                                </p:to>
                              </p:set>
                              <p:animEffect transition="in" filter="wipe(left)">
                                <p:cBhvr>
                                  <p:cTn id="12" dur="430"/>
                                  <p:tgtEl>
                                    <p:spTgt spid="34"/>
                                  </p:tgtEl>
                                </p:cBhvr>
                              </p:animEffect>
                            </p:childTnLst>
                          </p:cTn>
                        </p:par>
                        <p:par>
                          <p:cTn id="13" presetID="10" presetClass="entr" presetSubtype="0" fill="hold" grpId="0" nodeType="withEffect">
                            <p:stCondLst>
                              <p:cond delay="245"/>
                            </p:stCondLst>
                            <p:childTnLst>
                              <p:set>
                                <p:cBhvr>
                                  <p:cTn id="14" dur="1" fill="hold">
                                    <p:stCondLst>
                                      <p:cond delay="0"/>
                                    </p:stCondLst>
                                  </p:cTn>
                                  <p:tgtEl>
                                    <p:spTgt spid="12"/>
                                  </p:tgtEl>
                                  <p:attrNameLst>
                                    <p:attrName>style.visibility</p:attrName>
                                  </p:attrNameLst>
                                </p:cBhvr>
                                <p:to>
                                  <p:strVal val="visible"/>
                                </p:to>
                              </p:set>
                              <p:animEffect transition="in" filter="wipe(left)">
                                <p:cBhvr>
                                  <p:cTn id="15" dur="430"/>
                                  <p:tgtEl>
                                    <p:spTgt spid="12"/>
                                  </p:tgtEl>
                                </p:cBhvr>
                              </p:animEffect>
                            </p:childTnLst>
                          </p:cTn>
                        </p:par>
                        <p:par>
                          <p:cTn id="16" presetID="10" presetClass="entr" presetSubtype="0" fill="hold" grpId="0" nodeType="withEffect">
                            <p:stCondLst>
                              <p:cond delay="300"/>
                            </p:stCondLst>
                            <p:childTnLst>
                              <p:set>
                                <p:cBhvr>
                                  <p:cTn id="17" dur="1" fill="hold">
                                    <p:stCondLst>
                                      <p:cond delay="0"/>
                                    </p:stCondLst>
                                  </p:cTn>
                                  <p:tgtEl>
                                    <p:spTgt spid="29"/>
                                  </p:tgtEl>
                                  <p:attrNameLst>
                                    <p:attrName>style.visibility</p:attrName>
                                  </p:attrNameLst>
                                </p:cBhvr>
                                <p:to>
                                  <p:strVal val="visible"/>
                                </p:to>
                              </p:set>
                              <p:animEffect transition="in" filter="wipe(left)">
                                <p:cBhvr>
                                  <p:cTn id="18" dur="430"/>
                                  <p:tgtEl>
                                    <p:spTgt spid="29"/>
                                  </p:tgtEl>
                                </p:cBhvr>
                              </p:animEffect>
                            </p:childTnLst>
                          </p:cTn>
                        </p:par>
                        <p:par>
                          <p:cTn id="19" presetID="10" presetClass="entr" presetSubtype="0" fill="hold" grpId="0" nodeType="withEffect">
                            <p:stCondLst>
                              <p:cond delay="355"/>
                            </p:stCondLst>
                            <p:childTnLst>
                              <p:set>
                                <p:cBhvr>
                                  <p:cTn id="20" dur="1" fill="hold">
                                    <p:stCondLst>
                                      <p:cond delay="0"/>
                                    </p:stCondLst>
                                  </p:cTn>
                                  <p:tgtEl>
                                    <p:spTgt spid="18"/>
                                  </p:tgtEl>
                                  <p:attrNameLst>
                                    <p:attrName>style.visibility</p:attrName>
                                  </p:attrNameLst>
                                </p:cBhvr>
                                <p:to>
                                  <p:strVal val="visible"/>
                                </p:to>
                              </p:set>
                              <p:animEffect transition="in" filter="wipe(left)">
                                <p:cBhvr>
                                  <p:cTn id="21" dur="430"/>
                                  <p:tgtEl>
                                    <p:spTgt spid="18"/>
                                  </p:tgtEl>
                                </p:cBhvr>
                              </p:animEffect>
                            </p:childTnLst>
                          </p:cTn>
                        </p:par>
                        <p:par>
                          <p:cTn id="22" presetID="10" presetClass="entr" presetSubtype="0" fill="hold" grpId="0" nodeType="withEffect">
                            <p:stCondLst>
                              <p:cond delay="410"/>
                            </p:stCondLst>
                            <p:childTnLst>
                              <p:set>
                                <p:cBhvr>
                                  <p:cTn id="23" dur="1" fill="hold">
                                    <p:stCondLst>
                                      <p:cond delay="0"/>
                                    </p:stCondLst>
                                  </p:cTn>
                                  <p:tgtEl>
                                    <p:spTgt spid="35"/>
                                  </p:tgtEl>
                                  <p:attrNameLst>
                                    <p:attrName>style.visibility</p:attrName>
                                  </p:attrNameLst>
                                </p:cBhvr>
                                <p:to>
                                  <p:strVal val="visible"/>
                                </p:to>
                              </p:set>
                              <p:animEffect transition="in" filter="wipe(left)">
                                <p:cBhvr>
                                  <p:cTn id="24" dur="430"/>
                                  <p:tgtEl>
                                    <p:spTgt spid="35"/>
                                  </p:tgtEl>
                                </p:cBhvr>
                              </p:animEffect>
                            </p:childTnLst>
                          </p:cTn>
                        </p:par>
                        <p:par>
                          <p:cTn id="25" presetID="10" presetClass="entr" presetSubtype="0" fill="hold" grpId="0" nodeType="withEffect">
                            <p:stCondLst>
                              <p:cond delay="465"/>
                            </p:stCondLst>
                            <p:childTnLst>
                              <p:set>
                                <p:cBhvr>
                                  <p:cTn id="26" dur="1" fill="hold">
                                    <p:stCondLst>
                                      <p:cond delay="0"/>
                                    </p:stCondLst>
                                  </p:cTn>
                                  <p:tgtEl>
                                    <p:spTgt spid="14"/>
                                  </p:tgtEl>
                                  <p:attrNameLst>
                                    <p:attrName>style.visibility</p:attrName>
                                  </p:attrNameLst>
                                </p:cBhvr>
                                <p:to>
                                  <p:strVal val="visible"/>
                                </p:to>
                              </p:set>
                              <p:animEffect transition="in" filter="wipe(left)">
                                <p:cBhvr>
                                  <p:cTn id="27" dur="430"/>
                                  <p:tgtEl>
                                    <p:spTgt spid="14"/>
                                  </p:tgtEl>
                                </p:cBhvr>
                              </p:animEffect>
                            </p:childTnLst>
                          </p:cTn>
                        </p:par>
                        <p:par>
                          <p:cTn id="28" presetID="10" presetClass="entr" presetSubtype="0" fill="hold" grpId="0" nodeType="withEffect">
                            <p:stCondLst>
                              <p:cond delay="520"/>
                            </p:stCondLst>
                            <p:childTnLst>
                              <p:set>
                                <p:cBhvr>
                                  <p:cTn id="29" dur="1" fill="hold">
                                    <p:stCondLst>
                                      <p:cond delay="0"/>
                                    </p:stCondLst>
                                  </p:cTn>
                                  <p:tgtEl>
                                    <p:spTgt spid="31"/>
                                  </p:tgtEl>
                                  <p:attrNameLst>
                                    <p:attrName>style.visibility</p:attrName>
                                  </p:attrNameLst>
                                </p:cBhvr>
                                <p:to>
                                  <p:strVal val="visible"/>
                                </p:to>
                              </p:set>
                              <p:animEffect transition="in" filter="wipe(left)">
                                <p:cBhvr>
                                  <p:cTn id="30" dur="430"/>
                                  <p:tgtEl>
                                    <p:spTgt spid="31"/>
                                  </p:tgtEl>
                                </p:cBhvr>
                              </p:animEffect>
                            </p:childTnLst>
                          </p:cTn>
                        </p:par>
                        <p:par>
                          <p:cTn id="31" presetID="10" presetClass="entr" presetSubtype="0" fill="hold" grpId="0" nodeType="withEffect">
                            <p:stCondLst>
                              <p:cond delay="575"/>
                            </p:stCondLst>
                            <p:childTnLst>
                              <p:set>
                                <p:cBhvr>
                                  <p:cTn id="32" dur="1" fill="hold">
                                    <p:stCondLst>
                                      <p:cond delay="0"/>
                                    </p:stCondLst>
                                  </p:cTn>
                                  <p:tgtEl>
                                    <p:spTgt spid="13"/>
                                  </p:tgtEl>
                                  <p:attrNameLst>
                                    <p:attrName>style.visibility</p:attrName>
                                  </p:attrNameLst>
                                </p:cBhvr>
                                <p:to>
                                  <p:strVal val="visible"/>
                                </p:to>
                              </p:set>
                              <p:animEffect transition="in" filter="wipe(left)">
                                <p:cBhvr>
                                  <p:cTn id="33" dur="430"/>
                                  <p:tgtEl>
                                    <p:spTgt spid="13"/>
                                  </p:tgtEl>
                                </p:cBhvr>
                              </p:animEffect>
                            </p:childTnLst>
                          </p:cTn>
                        </p:par>
                        <p:par>
                          <p:cTn id="34" presetID="10" presetClass="entr" presetSubtype="0" fill="hold" grpId="0" nodeType="withEffect">
                            <p:stCondLst>
                              <p:cond delay="630"/>
                            </p:stCondLst>
                            <p:childTnLst>
                              <p:set>
                                <p:cBhvr>
                                  <p:cTn id="35" dur="1" fill="hold">
                                    <p:stCondLst>
                                      <p:cond delay="0"/>
                                    </p:stCondLst>
                                  </p:cTn>
                                  <p:tgtEl>
                                    <p:spTgt spid="30"/>
                                  </p:tgtEl>
                                  <p:attrNameLst>
                                    <p:attrName>style.visibility</p:attrName>
                                  </p:attrNameLst>
                                </p:cBhvr>
                                <p:to>
                                  <p:strVal val="visible"/>
                                </p:to>
                              </p:set>
                              <p:animEffect transition="in" filter="wipe(left)">
                                <p:cBhvr>
                                  <p:cTn id="36" dur="430"/>
                                  <p:tgtEl>
                                    <p:spTgt spid="30"/>
                                  </p:tgtEl>
                                </p:cBhvr>
                              </p:animEffect>
                            </p:childTnLst>
                          </p:cTn>
                        </p:par>
                        <p:par>
                          <p:cTn id="37" presetID="10" presetClass="entr" presetSubtype="0" fill="hold" grpId="0" nodeType="withEffect">
                            <p:stCondLst>
                              <p:cond delay="685"/>
                            </p:stCondLst>
                            <p:childTnLst>
                              <p:set>
                                <p:cBhvr>
                                  <p:cTn id="38" dur="1" fill="hold">
                                    <p:stCondLst>
                                      <p:cond delay="0"/>
                                    </p:stCondLst>
                                  </p:cTn>
                                  <p:tgtEl>
                                    <p:spTgt spid="40"/>
                                  </p:tgtEl>
                                  <p:attrNameLst>
                                    <p:attrName>style.visibility</p:attrName>
                                  </p:attrNameLst>
                                </p:cBhvr>
                                <p:to>
                                  <p:strVal val="visible"/>
                                </p:to>
                              </p:set>
                              <p:animEffect transition="in" filter="wipe(left)">
                                <p:cBhvr>
                                  <p:cTn id="39" dur="430"/>
                                  <p:tgtEl>
                                    <p:spTgt spid="40"/>
                                  </p:tgtEl>
                                </p:cBhvr>
                              </p:animEffect>
                            </p:childTnLst>
                          </p:cTn>
                        </p:par>
                        <p:par>
                          <p:cTn id="40" presetID="10" presetClass="entr" presetSubtype="0" fill="hold" grpId="0" nodeType="withEffect">
                            <p:stCondLst>
                              <p:cond delay="740"/>
                            </p:stCondLst>
                            <p:childTnLst>
                              <p:set>
                                <p:cBhvr>
                                  <p:cTn id="41" dur="1" fill="hold">
                                    <p:stCondLst>
                                      <p:cond delay="0"/>
                                    </p:stCondLst>
                                  </p:cTn>
                                  <p:tgtEl>
                                    <p:spTgt spid="37"/>
                                  </p:tgtEl>
                                  <p:attrNameLst>
                                    <p:attrName>style.visibility</p:attrName>
                                  </p:attrNameLst>
                                </p:cBhvr>
                                <p:to>
                                  <p:strVal val="visible"/>
                                </p:to>
                              </p:set>
                              <p:animEffect transition="in" filter="wipe(left)">
                                <p:cBhvr>
                                  <p:cTn id="42" dur="430"/>
                                  <p:tgtEl>
                                    <p:spTgt spid="37"/>
                                  </p:tgtEl>
                                </p:cBhvr>
                              </p:animEffect>
                            </p:childTnLst>
                          </p:cTn>
                        </p:par>
                        <p:par>
                          <p:cTn id="43" presetID="10" presetClass="entr" presetSubtype="0" fill="hold" grpId="0" nodeType="withEffect">
                            <p:stCondLst>
                              <p:cond delay="795"/>
                            </p:stCondLst>
                            <p:childTnLst>
                              <p:set>
                                <p:cBhvr>
                                  <p:cTn id="44" dur="1" fill="hold">
                                    <p:stCondLst>
                                      <p:cond delay="0"/>
                                    </p:stCondLst>
                                  </p:cTn>
                                  <p:tgtEl>
                                    <p:spTgt spid="23"/>
                                  </p:tgtEl>
                                  <p:attrNameLst>
                                    <p:attrName>style.visibility</p:attrName>
                                  </p:attrNameLst>
                                </p:cBhvr>
                                <p:to>
                                  <p:strVal val="visible"/>
                                </p:to>
                              </p:set>
                              <p:animEffect transition="in" filter="wipe(left)">
                                <p:cBhvr>
                                  <p:cTn id="45" dur="430"/>
                                  <p:tgtEl>
                                    <p:spTgt spid="23"/>
                                  </p:tgtEl>
                                </p:cBhvr>
                              </p:animEffect>
                            </p:childTnLst>
                          </p:cTn>
                        </p:par>
                        <p:par>
                          <p:cTn id="46" presetID="10" presetClass="entr" presetSubtype="0" fill="hold" grpId="0" nodeType="withEffect">
                            <p:stCondLst>
                              <p:cond delay="850"/>
                            </p:stCondLst>
                            <p:childTnLst>
                              <p:set>
                                <p:cBhvr>
                                  <p:cTn id="47" dur="1" fill="hold">
                                    <p:stCondLst>
                                      <p:cond delay="0"/>
                                    </p:stCondLst>
                                  </p:cTn>
                                  <p:tgtEl>
                                    <p:spTgt spid="36"/>
                                  </p:tgtEl>
                                  <p:attrNameLst>
                                    <p:attrName>style.visibility</p:attrName>
                                  </p:attrNameLst>
                                </p:cBhvr>
                                <p:to>
                                  <p:strVal val="visible"/>
                                </p:to>
                              </p:set>
                              <p:animEffect transition="in" filter="wipe(left)">
                                <p:cBhvr>
                                  <p:cTn id="48" dur="430"/>
                                  <p:tgtEl>
                                    <p:spTgt spid="36"/>
                                  </p:tgtEl>
                                </p:cBhvr>
                              </p:animEffect>
                            </p:childTnLst>
                          </p:cTn>
                        </p:par>
                        <p:par>
                          <p:cTn id="49" presetID="10" presetClass="entr" presetSubtype="0" fill="hold" grpId="0" nodeType="withEffect">
                            <p:stCondLst>
                              <p:cond delay="905"/>
                            </p:stCondLst>
                            <p:childTnLst>
                              <p:set>
                                <p:cBhvr>
                                  <p:cTn id="50" dur="1" fill="hold">
                                    <p:stCondLst>
                                      <p:cond delay="0"/>
                                    </p:stCondLst>
                                  </p:cTn>
                                  <p:tgtEl>
                                    <p:spTgt spid="20"/>
                                  </p:tgtEl>
                                  <p:attrNameLst>
                                    <p:attrName>style.visibility</p:attrName>
                                  </p:attrNameLst>
                                </p:cBhvr>
                                <p:to>
                                  <p:strVal val="visible"/>
                                </p:to>
                              </p:set>
                              <p:animEffect transition="in" filter="wipe(left)">
                                <p:cBhvr>
                                  <p:cTn id="51" dur="430"/>
                                  <p:tgtEl>
                                    <p:spTgt spid="20"/>
                                  </p:tgtEl>
                                </p:cBhvr>
                              </p:animEffect>
                            </p:childTnLst>
                          </p:cTn>
                        </p:par>
                        <p:par>
                          <p:cTn id="52" presetID="10" presetClass="entr" presetSubtype="0" fill="hold" grpId="0" nodeType="withEffect">
                            <p:stCondLst>
                              <p:cond delay="960"/>
                            </p:stCondLst>
                            <p:childTnLst>
                              <p:set>
                                <p:cBhvr>
                                  <p:cTn id="53" dur="1" fill="hold">
                                    <p:stCondLst>
                                      <p:cond delay="0"/>
                                    </p:stCondLst>
                                  </p:cTn>
                                  <p:tgtEl>
                                    <p:spTgt spid="19"/>
                                  </p:tgtEl>
                                  <p:attrNameLst>
                                    <p:attrName>style.visibility</p:attrName>
                                  </p:attrNameLst>
                                </p:cBhvr>
                                <p:to>
                                  <p:strVal val="visible"/>
                                </p:to>
                              </p:set>
                              <p:animEffect transition="in" filter="wipe(left)">
                                <p:cBhvr>
                                  <p:cTn id="54" dur="430"/>
                                  <p:tgtEl>
                                    <p:spTgt spid="19"/>
                                  </p:tgtEl>
                                </p:cBhvr>
                              </p:animEffect>
                            </p:childTnLst>
                          </p:cTn>
                        </p:par>
                        <p:par>
                          <p:cTn id="55" presetID="10" presetClass="entr" presetSubtype="0" fill="hold" grpId="0" nodeType="withEffect">
                            <p:stCondLst>
                              <p:cond delay="1015"/>
                            </p:stCondLst>
                            <p:childTnLst>
                              <p:set>
                                <p:cBhvr>
                                  <p:cTn id="56" dur="1" fill="hold">
                                    <p:stCondLst>
                                      <p:cond delay="0"/>
                                    </p:stCondLst>
                                  </p:cTn>
                                  <p:tgtEl>
                                    <p:spTgt spid="45"/>
                                  </p:tgtEl>
                                  <p:attrNameLst>
                                    <p:attrName>style.visibility</p:attrName>
                                  </p:attrNameLst>
                                </p:cBhvr>
                                <p:to>
                                  <p:strVal val="visible"/>
                                </p:to>
                              </p:set>
                              <p:animEffect transition="in" filter="wipe(left)">
                                <p:cBhvr>
                                  <p:cTn id="57" dur="430"/>
                                  <p:tgtEl>
                                    <p:spTgt spid="45"/>
                                  </p:tgtEl>
                                </p:cBhvr>
                              </p:animEffect>
                            </p:childTnLst>
                          </p:cTn>
                        </p:par>
                        <p:par>
                          <p:cTn id="58" presetID="10" presetClass="entr" presetSubtype="0" fill="hold" grpId="0" nodeType="withEffect">
                            <p:stCondLst>
                              <p:cond delay="1070"/>
                            </p:stCondLst>
                            <p:childTnLst>
                              <p:set>
                                <p:cBhvr>
                                  <p:cTn id="59" dur="1" fill="hold">
                                    <p:stCondLst>
                                      <p:cond delay="0"/>
                                    </p:stCondLst>
                                  </p:cTn>
                                  <p:tgtEl>
                                    <p:spTgt spid="42"/>
                                  </p:tgtEl>
                                  <p:attrNameLst>
                                    <p:attrName>style.visibility</p:attrName>
                                  </p:attrNameLst>
                                </p:cBhvr>
                                <p:to>
                                  <p:strVal val="visible"/>
                                </p:to>
                              </p:set>
                              <p:animEffect transition="in" filter="wipe(left)">
                                <p:cBhvr>
                                  <p:cTn id="60" dur="430"/>
                                  <p:tgtEl>
                                    <p:spTgt spid="42"/>
                                  </p:tgtEl>
                                </p:cBhvr>
                              </p:animEffect>
                            </p:childTnLst>
                          </p:cTn>
                        </p:par>
                        <p:par>
                          <p:cTn id="61" presetID="10" presetClass="entr" presetSubtype="0" fill="hold" grpId="0" nodeType="withEffect">
                            <p:stCondLst>
                              <p:cond delay="1125"/>
                            </p:stCondLst>
                            <p:childTnLst>
                              <p:set>
                                <p:cBhvr>
                                  <p:cTn id="62" dur="1" fill="hold">
                                    <p:stCondLst>
                                      <p:cond delay="0"/>
                                    </p:stCondLst>
                                  </p:cTn>
                                  <p:tgtEl>
                                    <p:spTgt spid="41"/>
                                  </p:tgtEl>
                                  <p:attrNameLst>
                                    <p:attrName>style.visibility</p:attrName>
                                  </p:attrNameLst>
                                </p:cBhvr>
                                <p:to>
                                  <p:strVal val="visible"/>
                                </p:to>
                              </p:set>
                              <p:animEffect transition="in" filter="wipe(left)">
                                <p:cBhvr>
                                  <p:cTn id="63" dur="430"/>
                                  <p:tgtEl>
                                    <p:spTgt spid="41"/>
                                  </p:tgtEl>
                                </p:cBhvr>
                              </p:animEffect>
                            </p:childTnLst>
                          </p:cTn>
                        </p:par>
                        <p:par>
                          <p:cTn id="64" presetID="10" presetClass="entr" presetSubtype="0" fill="hold" grpId="0" nodeType="withEffect">
                            <p:stCondLst>
                              <p:cond delay="1180"/>
                            </p:stCondLst>
                            <p:childTnLst>
                              <p:set>
                                <p:cBhvr>
                                  <p:cTn id="65" dur="1" fill="hold">
                                    <p:stCondLst>
                                      <p:cond delay="0"/>
                                    </p:stCondLst>
                                  </p:cTn>
                                  <p:tgtEl>
                                    <p:spTgt spid="28"/>
                                  </p:tgtEl>
                                  <p:attrNameLst>
                                    <p:attrName>style.visibility</p:attrName>
                                  </p:attrNameLst>
                                </p:cBhvr>
                                <p:to>
                                  <p:strVal val="visible"/>
                                </p:to>
                              </p:set>
                              <p:animEffect transition="in" filter="wipe(left)">
                                <p:cBhvr>
                                  <p:cTn id="66" dur="430"/>
                                  <p:tgtEl>
                                    <p:spTgt spid="28"/>
                                  </p:tgtEl>
                                </p:cBhvr>
                              </p:animEffect>
                            </p:childTnLst>
                          </p:cTn>
                        </p:par>
                        <p:par>
                          <p:cTn id="67" presetID="10" presetClass="entr" presetSubtype="0" fill="hold" grpId="0" nodeType="withEffect">
                            <p:stCondLst>
                              <p:cond delay="1235"/>
                            </p:stCondLst>
                            <p:childTnLst>
                              <p:set>
                                <p:cBhvr>
                                  <p:cTn id="68" dur="1" fill="hold">
                                    <p:stCondLst>
                                      <p:cond delay="0"/>
                                    </p:stCondLst>
                                  </p:cTn>
                                  <p:tgtEl>
                                    <p:spTgt spid="25"/>
                                  </p:tgtEl>
                                  <p:attrNameLst>
                                    <p:attrName>style.visibility</p:attrName>
                                  </p:attrNameLst>
                                </p:cBhvr>
                                <p:to>
                                  <p:strVal val="visible"/>
                                </p:to>
                              </p:set>
                              <p:animEffect transition="in" filter="wipe(left)">
                                <p:cBhvr>
                                  <p:cTn id="69" dur="430"/>
                                  <p:tgtEl>
                                    <p:spTgt spid="25"/>
                                  </p:tgtEl>
                                </p:cBhvr>
                              </p:animEffect>
                            </p:childTnLst>
                          </p:cTn>
                        </p:par>
                        <p:par>
                          <p:cTn id="70" presetID="10" presetClass="entr" presetSubtype="0" fill="hold" grpId="0" nodeType="withEffect">
                            <p:stCondLst>
                              <p:cond delay="1290"/>
                            </p:stCondLst>
                            <p:childTnLst>
                              <p:set>
                                <p:cBhvr>
                                  <p:cTn id="71" dur="1" fill="hold">
                                    <p:stCondLst>
                                      <p:cond delay="0"/>
                                    </p:stCondLst>
                                  </p:cTn>
                                  <p:tgtEl>
                                    <p:spTgt spid="50"/>
                                  </p:tgtEl>
                                  <p:attrNameLst>
                                    <p:attrName>style.visibility</p:attrName>
                                  </p:attrNameLst>
                                </p:cBhvr>
                                <p:to>
                                  <p:strVal val="visible"/>
                                </p:to>
                              </p:set>
                              <p:animEffect transition="in" filter="wipe(left)">
                                <p:cBhvr>
                                  <p:cTn id="72" dur="430"/>
                                  <p:tgtEl>
                                    <p:spTgt spid="50"/>
                                  </p:tgtEl>
                                </p:cBhvr>
                              </p:animEffect>
                            </p:childTnLst>
                          </p:cTn>
                        </p:par>
                        <p:par>
                          <p:cTn id="73" presetID="10" presetClass="entr" presetSubtype="0" fill="hold" grpId="0" nodeType="withEffect">
                            <p:stCondLst>
                              <p:cond delay="1345"/>
                            </p:stCondLst>
                            <p:childTnLst>
                              <p:set>
                                <p:cBhvr>
                                  <p:cTn id="74" dur="1" fill="hold">
                                    <p:stCondLst>
                                      <p:cond delay="0"/>
                                    </p:stCondLst>
                                  </p:cTn>
                                  <p:tgtEl>
                                    <p:spTgt spid="24"/>
                                  </p:tgtEl>
                                  <p:attrNameLst>
                                    <p:attrName>style.visibility</p:attrName>
                                  </p:attrNameLst>
                                </p:cBhvr>
                                <p:to>
                                  <p:strVal val="visible"/>
                                </p:to>
                              </p:set>
                              <p:animEffect transition="in" filter="wipe(left)">
                                <p:cBhvr>
                                  <p:cTn id="75" dur="430"/>
                                  <p:tgtEl>
                                    <p:spTgt spid="24"/>
                                  </p:tgtEl>
                                </p:cBhvr>
                              </p:animEffect>
                            </p:childTnLst>
                          </p:cTn>
                        </p:par>
                        <p:par>
                          <p:cTn id="76" presetID="10" presetClass="entr" presetSubtype="0" fill="hold" grpId="0" nodeType="withEffect">
                            <p:stCondLst>
                              <p:cond delay="1400"/>
                            </p:stCondLst>
                            <p:childTnLst>
                              <p:set>
                                <p:cBhvr>
                                  <p:cTn id="77" dur="1" fill="hold">
                                    <p:stCondLst>
                                      <p:cond delay="0"/>
                                    </p:stCondLst>
                                  </p:cTn>
                                  <p:tgtEl>
                                    <p:spTgt spid="46"/>
                                  </p:tgtEl>
                                  <p:attrNameLst>
                                    <p:attrName>style.visibility</p:attrName>
                                  </p:attrNameLst>
                                </p:cBhvr>
                                <p:to>
                                  <p:strVal val="visible"/>
                                </p:to>
                              </p:set>
                              <p:animEffect transition="in" filter="wipe(left)">
                                <p:cBhvr>
                                  <p:cTn id="78" dur="430"/>
                                  <p:tgtEl>
                                    <p:spTgt spid="46"/>
                                  </p:tgtEl>
                                </p:cBhvr>
                              </p:animEffect>
                            </p:childTnLst>
                          </p:cTn>
                        </p:par>
                        <p:par>
                          <p:cTn id="79" presetID="10" presetClass="entr" presetSubtype="0" fill="hold" grpId="0" nodeType="withEffect">
                            <p:stCondLst>
                              <p:cond delay="1455"/>
                            </p:stCondLst>
                            <p:childTnLst>
                              <p:set>
                                <p:cBhvr>
                                  <p:cTn id="80" dur="1" fill="hold">
                                    <p:stCondLst>
                                      <p:cond delay="0"/>
                                    </p:stCondLst>
                                  </p:cTn>
                                  <p:tgtEl>
                                    <p:spTgt spid="47"/>
                                  </p:tgtEl>
                                  <p:attrNameLst>
                                    <p:attrName>style.visibility</p:attrName>
                                  </p:attrNameLst>
                                </p:cBhvr>
                                <p:to>
                                  <p:strVal val="visible"/>
                                </p:to>
                              </p:set>
                              <p:animEffect transition="in" filter="wipe(left)">
                                <p:cBhvr>
                                  <p:cTn id="81" dur="430"/>
                                  <p:tgtEl>
                                    <p:spTgt spid="47"/>
                                  </p:tgtEl>
                                </p:cBhvr>
                              </p:animEffect>
                            </p:childTnLst>
                          </p:cTn>
                        </p:par>
                      </p:childTnLst>
                    </p:cTn>
                  </p:par>
                </p:childTnLst>
              </p:cTn>
            </p:seq>
          </p:childTnLst>
        </p:cTn>
      </p:par>
    </p:tnLst>
    <p:bldLst>
      <p:bldP spid="10" grpId="0"/>
      <p:bldP spid="12" grpId="0" animBg="1"/>
      <p:bldP spid="13" grpId="0" animBg="1"/>
      <p:bldP spid="14" grpId="0"/>
      <p:bldP spid="17" grpId="0"/>
      <p:bldP spid="18" grpId="0"/>
      <p:bldP spid="19" grpId="0" animBg="1"/>
      <p:bldP spid="20" grpId="0"/>
      <p:bldP spid="23" grpId="0"/>
      <p:bldP spid="24" grpId="0" animBg="1"/>
      <p:bldP spid="25" grpId="0"/>
      <p:bldP spid="28" grpId="0"/>
      <p:bldP spid="29" grpId="0" animBg="1"/>
      <p:bldP spid="30" grpId="0" animBg="1"/>
      <p:bldP spid="31" grpId="0"/>
      <p:bldP spid="34" grpId="0"/>
      <p:bldP spid="35" grpId="0"/>
      <p:bldP spid="36" grpId="0" animBg="1"/>
      <p:bldP spid="37" grpId="0"/>
      <p:bldP spid="40" grpId="0"/>
      <p:bldP spid="41" grpId="0" animBg="1"/>
      <p:bldP spid="42" grpId="0"/>
      <p:bldP spid="45" grpId="0"/>
      <p:bldP spid="46" grpId="0" animBg="1"/>
      <p:bldP spid="47" grpId="0"/>
      <p:bldP spid="50"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10800000">
            <a:off x="17259300" y="-233820"/>
            <a:ext cx="1940843" cy="970417"/>
            <a:chOff x="0" y="0"/>
            <a:chExt cx="2587790" cy="1293889"/>
          </a:xfrm>
        </p:grpSpPr>
        <p:sp>
          <p:nvSpPr>
            <p:cNvPr id="3" name="Freeform 3"/>
            <p:cNvSpPr/>
            <p:nvPr/>
          </p:nvSpPr>
          <p:spPr>
            <a:xfrm>
              <a:off x="0" y="0"/>
              <a:ext cx="2587752" cy="1293876"/>
            </a:xfrm>
            <a:custGeom>
              <a:avLst/>
              <a:gdLst/>
              <a:ahLst/>
              <a:cxnLst/>
              <a:rect l="l" t="t" r="r" b="b"/>
              <a:pathLst>
                <a:path w="2587752" h="1293876">
                  <a:moveTo>
                    <a:pt x="0" y="0"/>
                  </a:moveTo>
                  <a:lnTo>
                    <a:pt x="2587752" y="0"/>
                  </a:lnTo>
                  <a:lnTo>
                    <a:pt x="2587752" y="1293876"/>
                  </a:lnTo>
                  <a:lnTo>
                    <a:pt x="0" y="1293876"/>
                  </a:lnTo>
                  <a:lnTo>
                    <a:pt x="0" y="0"/>
                  </a:lnTo>
                  <a:close/>
                </a:path>
              </a:pathLst>
            </a:custGeom>
            <a:blipFill>
              <a:blip r:embed="rId2"/>
              <a:stretch>
                <a:fillRect r="-1"/>
              </a:stretch>
            </a:blipFill>
          </p:spPr>
          <p:txBody>
            <a:bodyPr/>
            <a:lstStyle/>
            <a:p>
              <a:endParaRPr lang="en-VN"/>
            </a:p>
          </p:txBody>
        </p:sp>
      </p:grpSp>
      <p:grpSp>
        <p:nvGrpSpPr>
          <p:cNvPr id="4" name="Group 4"/>
          <p:cNvGrpSpPr/>
          <p:nvPr/>
        </p:nvGrpSpPr>
        <p:grpSpPr>
          <a:xfrm>
            <a:off x="-912143" y="9429369"/>
            <a:ext cx="1940843" cy="970417"/>
            <a:chOff x="0" y="0"/>
            <a:chExt cx="2587790" cy="1293889"/>
          </a:xfrm>
        </p:grpSpPr>
        <p:sp>
          <p:nvSpPr>
            <p:cNvPr id="5" name="Freeform 5"/>
            <p:cNvSpPr/>
            <p:nvPr/>
          </p:nvSpPr>
          <p:spPr>
            <a:xfrm>
              <a:off x="0" y="0"/>
              <a:ext cx="2587752" cy="1293876"/>
            </a:xfrm>
            <a:custGeom>
              <a:avLst/>
              <a:gdLst/>
              <a:ahLst/>
              <a:cxnLst/>
              <a:rect l="l" t="t" r="r" b="b"/>
              <a:pathLst>
                <a:path w="2587752" h="1293876">
                  <a:moveTo>
                    <a:pt x="0" y="0"/>
                  </a:moveTo>
                  <a:lnTo>
                    <a:pt x="2587752" y="0"/>
                  </a:lnTo>
                  <a:lnTo>
                    <a:pt x="2587752" y="1293876"/>
                  </a:lnTo>
                  <a:lnTo>
                    <a:pt x="0" y="1293876"/>
                  </a:lnTo>
                  <a:lnTo>
                    <a:pt x="0" y="0"/>
                  </a:lnTo>
                  <a:close/>
                </a:path>
              </a:pathLst>
            </a:custGeom>
            <a:blipFill>
              <a:blip r:embed="rId2"/>
              <a:stretch>
                <a:fillRect r="-1"/>
              </a:stretch>
            </a:blipFill>
          </p:spPr>
          <p:txBody>
            <a:bodyPr/>
            <a:lstStyle/>
            <a:p>
              <a:endParaRPr lang="en-VN"/>
            </a:p>
          </p:txBody>
        </p:sp>
      </p:grpSp>
      <p:grpSp>
        <p:nvGrpSpPr>
          <p:cNvPr id="6" name="Group 6"/>
          <p:cNvGrpSpPr/>
          <p:nvPr/>
        </p:nvGrpSpPr>
        <p:grpSpPr>
          <a:xfrm>
            <a:off x="-3127839" y="9986436"/>
            <a:ext cx="22035035" cy="2837612"/>
            <a:chOff x="0" y="0"/>
            <a:chExt cx="5803466" cy="747355"/>
          </a:xfrm>
        </p:grpSpPr>
        <p:sp>
          <p:nvSpPr>
            <p:cNvPr id="7" name="Freeform 7"/>
            <p:cNvSpPr/>
            <p:nvPr/>
          </p:nvSpPr>
          <p:spPr>
            <a:xfrm>
              <a:off x="0" y="0"/>
              <a:ext cx="5803466" cy="747355"/>
            </a:xfrm>
            <a:custGeom>
              <a:avLst/>
              <a:gdLst/>
              <a:ahLst/>
              <a:cxnLst/>
              <a:rect l="l" t="t" r="r" b="b"/>
              <a:pathLst>
                <a:path w="5803466" h="747355">
                  <a:moveTo>
                    <a:pt x="0" y="0"/>
                  </a:moveTo>
                  <a:lnTo>
                    <a:pt x="5803466" y="0"/>
                  </a:lnTo>
                  <a:lnTo>
                    <a:pt x="5803466" y="747355"/>
                  </a:lnTo>
                  <a:lnTo>
                    <a:pt x="0" y="747355"/>
                  </a:lnTo>
                  <a:close/>
                </a:path>
              </a:pathLst>
            </a:custGeom>
            <a:solidFill>
              <a:srgbClr val="3C4F75"/>
            </a:solidFill>
          </p:spPr>
          <p:txBody>
            <a:bodyPr/>
            <a:lstStyle/>
            <a:p>
              <a:endParaRPr lang="en-VN"/>
            </a:p>
          </p:txBody>
        </p:sp>
        <p:sp>
          <p:nvSpPr>
            <p:cNvPr id="8" name="TextBox 8"/>
            <p:cNvSpPr txBox="1"/>
            <p:nvPr/>
          </p:nvSpPr>
          <p:spPr>
            <a:xfrm>
              <a:off x="0" y="-47625"/>
              <a:ext cx="5803466" cy="794980"/>
            </a:xfrm>
            <a:prstGeom prst="rect">
              <a:avLst/>
            </a:prstGeom>
          </p:spPr>
          <p:txBody>
            <a:bodyPr lIns="50800" tIns="50800" rIns="50800" bIns="50800" rtlCol="0" anchor="ctr"/>
            <a:lstStyle/>
            <a:p>
              <a:pPr algn="ctr">
                <a:lnSpc>
                  <a:spcPts val="2940"/>
                </a:lnSpc>
              </a:pPr>
              <a:endParaRPr/>
            </a:p>
          </p:txBody>
        </p:sp>
      </p:grpSp>
      <p:sp>
        <p:nvSpPr>
          <p:cNvPr id="9" name="Freeform 9"/>
          <p:cNvSpPr/>
          <p:nvPr/>
        </p:nvSpPr>
        <p:spPr>
          <a:xfrm>
            <a:off x="1028700" y="251389"/>
            <a:ext cx="551704" cy="584433"/>
          </a:xfrm>
          <a:custGeom>
            <a:avLst/>
            <a:gdLst/>
            <a:ahLst/>
            <a:cxnLst/>
            <a:rect l="l" t="t" r="r" b="b"/>
            <a:pathLst>
              <a:path w="551704" h="584433">
                <a:moveTo>
                  <a:pt x="0" y="0"/>
                </a:moveTo>
                <a:lnTo>
                  <a:pt x="551704" y="0"/>
                </a:lnTo>
                <a:lnTo>
                  <a:pt x="551704" y="584432"/>
                </a:lnTo>
                <a:lnTo>
                  <a:pt x="0" y="584432"/>
                </a:lnTo>
                <a:lnTo>
                  <a:pt x="0" y="0"/>
                </a:lnTo>
                <a:close/>
              </a:path>
            </a:pathLst>
          </a:custGeom>
          <a:blipFill>
            <a:blip r:embed="rId3"/>
            <a:stretch>
              <a:fillRect/>
            </a:stretch>
          </a:blipFill>
        </p:spPr>
        <p:txBody>
          <a:bodyPr/>
          <a:lstStyle/>
          <a:p>
            <a:endParaRPr lang="en-VN"/>
          </a:p>
        </p:txBody>
      </p:sp>
      <p:sp>
        <p:nvSpPr>
          <p:cNvPr id="10" name="TextBox 10"/>
          <p:cNvSpPr txBox="1"/>
          <p:nvPr/>
        </p:nvSpPr>
        <p:spPr>
          <a:xfrm>
            <a:off x="1028700" y="1095375"/>
            <a:ext cx="10695872" cy="534618"/>
          </a:xfrm>
          <a:prstGeom prst="rect">
            <a:avLst/>
          </a:prstGeom>
        </p:spPr>
        <p:txBody>
          <a:bodyPr lIns="0" tIns="0" rIns="0" bIns="0" rtlCol="0" anchor="t">
            <a:spAutoFit/>
          </a:bodyPr>
          <a:lstStyle/>
          <a:p>
            <a:pPr algn="just">
              <a:lnSpc>
                <a:spcPts val="4039"/>
              </a:lnSpc>
            </a:pPr>
            <a:r>
              <a:rPr lang="en-US" sz="3999" b="1">
                <a:solidFill>
                  <a:srgbClr val="0C1D4B"/>
                </a:solidFill>
                <a:latin typeface="Roboto Slab Bold"/>
                <a:ea typeface="Roboto Slab Bold"/>
                <a:cs typeface="Roboto Slab Bold"/>
                <a:sym typeface="Roboto Slab Bold"/>
              </a:rPr>
              <a:t>3.2. Mô hình tổng quan của hệ thống chatbot</a:t>
            </a:r>
          </a:p>
        </p:txBody>
      </p:sp>
      <p:sp>
        <p:nvSpPr>
          <p:cNvPr id="11" name="TextBox 11"/>
          <p:cNvSpPr txBox="1"/>
          <p:nvPr/>
        </p:nvSpPr>
        <p:spPr>
          <a:xfrm>
            <a:off x="1687249" y="346410"/>
            <a:ext cx="3954904" cy="356289"/>
          </a:xfrm>
          <a:prstGeom prst="rect">
            <a:avLst/>
          </a:prstGeom>
        </p:spPr>
        <p:txBody>
          <a:bodyPr lIns="0" tIns="0" rIns="0" bIns="0" rtlCol="0" anchor="t">
            <a:spAutoFit/>
          </a:bodyPr>
          <a:lstStyle/>
          <a:p>
            <a:pPr algn="l">
              <a:lnSpc>
                <a:spcPts val="2940"/>
              </a:lnSpc>
            </a:pPr>
            <a:r>
              <a:rPr lang="en-US" sz="2100" b="1">
                <a:solidFill>
                  <a:srgbClr val="2C2C2C"/>
                </a:solidFill>
                <a:latin typeface="Roboto Slab Bold"/>
                <a:ea typeface="Roboto Slab Bold"/>
                <a:cs typeface="Roboto Slab Bold"/>
                <a:sym typeface="Roboto Slab Bold"/>
              </a:rPr>
              <a:t>HỌC VIỆN KỸ THUẬT MẬT MÃ</a:t>
            </a:r>
          </a:p>
        </p:txBody>
      </p:sp>
      <p:grpSp>
        <p:nvGrpSpPr>
          <p:cNvPr id="12" name="Group 12"/>
          <p:cNvGrpSpPr/>
          <p:nvPr/>
        </p:nvGrpSpPr>
        <p:grpSpPr>
          <a:xfrm>
            <a:off x="1109300" y="2124912"/>
            <a:ext cx="15788284" cy="7304457"/>
            <a:chOff x="0" y="0"/>
            <a:chExt cx="21051045" cy="9739277"/>
          </a:xfrm>
        </p:grpSpPr>
        <p:sp>
          <p:nvSpPr>
            <p:cNvPr id="13" name="Freeform 13"/>
            <p:cNvSpPr/>
            <p:nvPr/>
          </p:nvSpPr>
          <p:spPr>
            <a:xfrm>
              <a:off x="9065146" y="1511175"/>
              <a:ext cx="1154532" cy="1194854"/>
            </a:xfrm>
            <a:custGeom>
              <a:avLst/>
              <a:gdLst/>
              <a:ahLst/>
              <a:cxnLst/>
              <a:rect l="l" t="t" r="r" b="b"/>
              <a:pathLst>
                <a:path w="1154532" h="1194854">
                  <a:moveTo>
                    <a:pt x="0" y="0"/>
                  </a:moveTo>
                  <a:lnTo>
                    <a:pt x="1154531" y="0"/>
                  </a:lnTo>
                  <a:lnTo>
                    <a:pt x="1154531" y="1194854"/>
                  </a:lnTo>
                  <a:lnTo>
                    <a:pt x="0" y="1194854"/>
                  </a:lnTo>
                  <a:lnTo>
                    <a:pt x="0" y="0"/>
                  </a:lnTo>
                  <a:close/>
                </a:path>
              </a:pathLst>
            </a:custGeom>
            <a:blipFill>
              <a:blip>
                <a:extLst>
                  <a:ext uri="{96DAC541-7B7A-43D3-8B79-37D633B846F1}">
                    <asvg:svgBlip xmlns:asvg="http://schemas.microsoft.com/office/drawing/2016/SVG/main" r:embed="rId4"/>
                  </a:ext>
                </a:extLst>
              </a:blip>
              <a:stretch>
                <a:fillRect t="-435" b="-436"/>
              </a:stretch>
            </a:blipFill>
          </p:spPr>
          <p:txBody>
            <a:bodyPr/>
            <a:lstStyle/>
            <a:p>
              <a:endParaRPr lang="en-VN"/>
            </a:p>
          </p:txBody>
        </p:sp>
        <p:sp>
          <p:nvSpPr>
            <p:cNvPr id="14" name="Freeform 14"/>
            <p:cNvSpPr/>
            <p:nvPr/>
          </p:nvSpPr>
          <p:spPr>
            <a:xfrm>
              <a:off x="513179" y="1517995"/>
              <a:ext cx="1092264" cy="1188034"/>
            </a:xfrm>
            <a:custGeom>
              <a:avLst/>
              <a:gdLst/>
              <a:ahLst/>
              <a:cxnLst/>
              <a:rect l="l" t="t" r="r" b="b"/>
              <a:pathLst>
                <a:path w="1092264" h="1188034">
                  <a:moveTo>
                    <a:pt x="0" y="0"/>
                  </a:moveTo>
                  <a:lnTo>
                    <a:pt x="1092264" y="0"/>
                  </a:lnTo>
                  <a:lnTo>
                    <a:pt x="1092264" y="1188034"/>
                  </a:lnTo>
                  <a:lnTo>
                    <a:pt x="0" y="1188034"/>
                  </a:lnTo>
                  <a:lnTo>
                    <a:pt x="0" y="0"/>
                  </a:lnTo>
                  <a:close/>
                </a:path>
              </a:pathLst>
            </a:custGeom>
            <a:blipFill>
              <a:blip>
                <a:extLst>
                  <a:ext uri="{96DAC541-7B7A-43D3-8B79-37D633B846F1}">
                    <asvg:svgBlip xmlns:asvg="http://schemas.microsoft.com/office/drawing/2016/SVG/main" r:embed="rId5"/>
                  </a:ext>
                </a:extLst>
              </a:blip>
              <a:stretch>
                <a:fillRect l="-333" r="-333"/>
              </a:stretch>
            </a:blipFill>
          </p:spPr>
          <p:txBody>
            <a:bodyPr/>
            <a:lstStyle/>
            <a:p>
              <a:endParaRPr lang="en-VN"/>
            </a:p>
          </p:txBody>
        </p:sp>
        <p:sp>
          <p:nvSpPr>
            <p:cNvPr id="15" name="Freeform 15"/>
            <p:cNvSpPr/>
            <p:nvPr/>
          </p:nvSpPr>
          <p:spPr>
            <a:xfrm>
              <a:off x="11966271" y="4533937"/>
              <a:ext cx="1078065" cy="1041692"/>
            </a:xfrm>
            <a:custGeom>
              <a:avLst/>
              <a:gdLst/>
              <a:ahLst/>
              <a:cxnLst/>
              <a:rect l="l" t="t" r="r" b="b"/>
              <a:pathLst>
                <a:path w="1078065" h="1041692">
                  <a:moveTo>
                    <a:pt x="0" y="0"/>
                  </a:moveTo>
                  <a:lnTo>
                    <a:pt x="1078065" y="0"/>
                  </a:lnTo>
                  <a:lnTo>
                    <a:pt x="1078065" y="1041692"/>
                  </a:lnTo>
                  <a:lnTo>
                    <a:pt x="0" y="1041692"/>
                  </a:lnTo>
                  <a:lnTo>
                    <a:pt x="0" y="0"/>
                  </a:lnTo>
                  <a:close/>
                </a:path>
              </a:pathLst>
            </a:custGeom>
            <a:blipFill>
              <a:blip>
                <a:extLst>
                  <a:ext uri="{96DAC541-7B7A-43D3-8B79-37D633B846F1}">
                    <asvg:svgBlip xmlns:asvg="http://schemas.microsoft.com/office/drawing/2016/SVG/main" r:embed="rId6"/>
                  </a:ext>
                </a:extLst>
              </a:blip>
              <a:stretch>
                <a:fillRect t="-529" b="-527"/>
              </a:stretch>
            </a:blipFill>
          </p:spPr>
          <p:txBody>
            <a:bodyPr/>
            <a:lstStyle/>
            <a:p>
              <a:endParaRPr lang="en-VN"/>
            </a:p>
          </p:txBody>
        </p:sp>
        <p:sp>
          <p:nvSpPr>
            <p:cNvPr id="16" name="TextBox 16"/>
            <p:cNvSpPr txBox="1"/>
            <p:nvPr/>
          </p:nvSpPr>
          <p:spPr>
            <a:xfrm>
              <a:off x="3518390" y="7129067"/>
              <a:ext cx="1603822" cy="1439740"/>
            </a:xfrm>
            <a:prstGeom prst="rect">
              <a:avLst/>
            </a:prstGeom>
          </p:spPr>
          <p:txBody>
            <a:bodyPr lIns="0" tIns="0" rIns="0" bIns="0" rtlCol="0" anchor="t">
              <a:spAutoFit/>
            </a:bodyPr>
            <a:lstStyle/>
            <a:p>
              <a:pPr algn="ctr">
                <a:lnSpc>
                  <a:spcPts val="2178"/>
                </a:lnSpc>
              </a:pPr>
              <a:r>
                <a:rPr lang="en-US" sz="1555" b="1">
                  <a:solidFill>
                    <a:srgbClr val="000000"/>
                  </a:solidFill>
                  <a:latin typeface="Roboto Slab Bold"/>
                  <a:ea typeface="Roboto Slab Bold"/>
                  <a:cs typeface="Roboto Slab Bold"/>
                  <a:sym typeface="Roboto Slab Bold"/>
                </a:rPr>
                <a:t>Vector chunks từ văn bản pháp luật</a:t>
              </a:r>
            </a:p>
          </p:txBody>
        </p:sp>
        <p:sp>
          <p:nvSpPr>
            <p:cNvPr id="17" name="Freeform 17"/>
            <p:cNvSpPr/>
            <p:nvPr/>
          </p:nvSpPr>
          <p:spPr>
            <a:xfrm>
              <a:off x="12083070" y="7308900"/>
              <a:ext cx="873392" cy="1065111"/>
            </a:xfrm>
            <a:custGeom>
              <a:avLst/>
              <a:gdLst/>
              <a:ahLst/>
              <a:cxnLst/>
              <a:rect l="l" t="t" r="r" b="b"/>
              <a:pathLst>
                <a:path w="873392" h="1065111">
                  <a:moveTo>
                    <a:pt x="0" y="0"/>
                  </a:moveTo>
                  <a:lnTo>
                    <a:pt x="873391" y="0"/>
                  </a:lnTo>
                  <a:lnTo>
                    <a:pt x="873391" y="1065111"/>
                  </a:lnTo>
                  <a:lnTo>
                    <a:pt x="0" y="1065111"/>
                  </a:lnTo>
                  <a:lnTo>
                    <a:pt x="0" y="0"/>
                  </a:lnTo>
                  <a:close/>
                </a:path>
              </a:pathLst>
            </a:custGeom>
            <a:blipFill>
              <a:blip>
                <a:extLst>
                  <a:ext uri="{96DAC541-7B7A-43D3-8B79-37D633B846F1}">
                    <asvg:svgBlip xmlns:asvg="http://schemas.microsoft.com/office/drawing/2016/SVG/main" r:embed="rId7"/>
                  </a:ext>
                </a:extLst>
              </a:blip>
              <a:stretch>
                <a:fillRect l="-87" r="-87"/>
              </a:stretch>
            </a:blipFill>
          </p:spPr>
          <p:txBody>
            <a:bodyPr/>
            <a:lstStyle/>
            <a:p>
              <a:endParaRPr lang="en-VN"/>
            </a:p>
          </p:txBody>
        </p:sp>
        <p:sp>
          <p:nvSpPr>
            <p:cNvPr id="18" name="Freeform 18"/>
            <p:cNvSpPr/>
            <p:nvPr/>
          </p:nvSpPr>
          <p:spPr>
            <a:xfrm>
              <a:off x="5999307" y="4715512"/>
              <a:ext cx="1078065" cy="1041692"/>
            </a:xfrm>
            <a:custGeom>
              <a:avLst/>
              <a:gdLst/>
              <a:ahLst/>
              <a:cxnLst/>
              <a:rect l="l" t="t" r="r" b="b"/>
              <a:pathLst>
                <a:path w="1078065" h="1041692">
                  <a:moveTo>
                    <a:pt x="0" y="0"/>
                  </a:moveTo>
                  <a:lnTo>
                    <a:pt x="1078065" y="0"/>
                  </a:lnTo>
                  <a:lnTo>
                    <a:pt x="1078065" y="1041692"/>
                  </a:lnTo>
                  <a:lnTo>
                    <a:pt x="0" y="1041692"/>
                  </a:lnTo>
                  <a:lnTo>
                    <a:pt x="0" y="0"/>
                  </a:lnTo>
                  <a:close/>
                </a:path>
              </a:pathLst>
            </a:custGeom>
            <a:blipFill>
              <a:blip>
                <a:extLst>
                  <a:ext uri="{96DAC541-7B7A-43D3-8B79-37D633B846F1}">
                    <asvg:svgBlip xmlns:asvg="http://schemas.microsoft.com/office/drawing/2016/SVG/main" r:embed="rId6"/>
                  </a:ext>
                </a:extLst>
              </a:blip>
              <a:stretch>
                <a:fillRect t="-529" b="-527"/>
              </a:stretch>
            </a:blipFill>
          </p:spPr>
          <p:txBody>
            <a:bodyPr/>
            <a:lstStyle/>
            <a:p>
              <a:endParaRPr lang="en-VN"/>
            </a:p>
          </p:txBody>
        </p:sp>
        <p:sp>
          <p:nvSpPr>
            <p:cNvPr id="19" name="Freeform 19"/>
            <p:cNvSpPr/>
            <p:nvPr/>
          </p:nvSpPr>
          <p:spPr>
            <a:xfrm>
              <a:off x="6101644" y="7308900"/>
              <a:ext cx="873392" cy="1065111"/>
            </a:xfrm>
            <a:custGeom>
              <a:avLst/>
              <a:gdLst/>
              <a:ahLst/>
              <a:cxnLst/>
              <a:rect l="l" t="t" r="r" b="b"/>
              <a:pathLst>
                <a:path w="873392" h="1065111">
                  <a:moveTo>
                    <a:pt x="0" y="0"/>
                  </a:moveTo>
                  <a:lnTo>
                    <a:pt x="873392" y="0"/>
                  </a:lnTo>
                  <a:lnTo>
                    <a:pt x="873392" y="1065111"/>
                  </a:lnTo>
                  <a:lnTo>
                    <a:pt x="0" y="1065111"/>
                  </a:lnTo>
                  <a:lnTo>
                    <a:pt x="0" y="0"/>
                  </a:lnTo>
                  <a:close/>
                </a:path>
              </a:pathLst>
            </a:custGeom>
            <a:blipFill>
              <a:blip>
                <a:extLst>
                  <a:ext uri="{96DAC541-7B7A-43D3-8B79-37D633B846F1}">
                    <asvg:svgBlip xmlns:asvg="http://schemas.microsoft.com/office/drawing/2016/SVG/main" r:embed="rId7"/>
                  </a:ext>
                </a:extLst>
              </a:blip>
              <a:stretch>
                <a:fillRect l="-87" r="-87"/>
              </a:stretch>
            </a:blipFill>
          </p:spPr>
          <p:txBody>
            <a:bodyPr/>
            <a:lstStyle/>
            <a:p>
              <a:endParaRPr lang="en-VN"/>
            </a:p>
          </p:txBody>
        </p:sp>
        <p:grpSp>
          <p:nvGrpSpPr>
            <p:cNvPr id="20" name="Group 20"/>
            <p:cNvGrpSpPr/>
            <p:nvPr/>
          </p:nvGrpSpPr>
          <p:grpSpPr>
            <a:xfrm>
              <a:off x="18292779" y="1673636"/>
              <a:ext cx="2758266" cy="876752"/>
              <a:chOff x="0" y="0"/>
              <a:chExt cx="544843" cy="173186"/>
            </a:xfrm>
          </p:grpSpPr>
          <p:sp>
            <p:nvSpPr>
              <p:cNvPr id="21" name="Freeform 21"/>
              <p:cNvSpPr/>
              <p:nvPr/>
            </p:nvSpPr>
            <p:spPr>
              <a:xfrm>
                <a:off x="0" y="0"/>
                <a:ext cx="544843" cy="173186"/>
              </a:xfrm>
              <a:custGeom>
                <a:avLst/>
                <a:gdLst/>
                <a:ahLst/>
                <a:cxnLst/>
                <a:rect l="l" t="t" r="r" b="b"/>
                <a:pathLst>
                  <a:path w="544843" h="173186">
                    <a:moveTo>
                      <a:pt x="86593" y="0"/>
                    </a:moveTo>
                    <a:lnTo>
                      <a:pt x="458250" y="0"/>
                    </a:lnTo>
                    <a:cubicBezTo>
                      <a:pt x="481216" y="0"/>
                      <a:pt x="503241" y="9123"/>
                      <a:pt x="519480" y="25362"/>
                    </a:cubicBezTo>
                    <a:cubicBezTo>
                      <a:pt x="535719" y="41602"/>
                      <a:pt x="544843" y="63627"/>
                      <a:pt x="544843" y="86593"/>
                    </a:cubicBezTo>
                    <a:lnTo>
                      <a:pt x="544843" y="86593"/>
                    </a:lnTo>
                    <a:cubicBezTo>
                      <a:pt x="544843" y="134417"/>
                      <a:pt x="506074" y="173186"/>
                      <a:pt x="458250" y="173186"/>
                    </a:cubicBezTo>
                    <a:lnTo>
                      <a:pt x="86593" y="173186"/>
                    </a:lnTo>
                    <a:cubicBezTo>
                      <a:pt x="63627" y="173186"/>
                      <a:pt x="41602" y="164062"/>
                      <a:pt x="25362" y="147823"/>
                    </a:cubicBezTo>
                    <a:cubicBezTo>
                      <a:pt x="9123" y="131584"/>
                      <a:pt x="0" y="109559"/>
                      <a:pt x="0" y="86593"/>
                    </a:cubicBezTo>
                    <a:lnTo>
                      <a:pt x="0" y="86593"/>
                    </a:lnTo>
                    <a:cubicBezTo>
                      <a:pt x="0" y="63627"/>
                      <a:pt x="9123" y="41602"/>
                      <a:pt x="25362" y="25362"/>
                    </a:cubicBezTo>
                    <a:cubicBezTo>
                      <a:pt x="41602" y="9123"/>
                      <a:pt x="63627" y="0"/>
                      <a:pt x="86593" y="0"/>
                    </a:cubicBezTo>
                    <a:close/>
                  </a:path>
                </a:pathLst>
              </a:custGeom>
              <a:ln w="28575" cap="rnd">
                <a:solidFill>
                  <a:srgbClr val="000000"/>
                </a:solidFill>
                <a:prstDash val="solid"/>
                <a:round/>
              </a:ln>
            </p:spPr>
            <p:txBody>
              <a:bodyPr/>
              <a:lstStyle/>
              <a:p>
                <a:endParaRPr lang="en-VN"/>
              </a:p>
            </p:txBody>
          </p:sp>
          <p:sp>
            <p:nvSpPr>
              <p:cNvPr id="22" name="TextBox 22"/>
              <p:cNvSpPr txBox="1"/>
              <p:nvPr/>
            </p:nvSpPr>
            <p:spPr>
              <a:xfrm>
                <a:off x="0" y="-38100"/>
                <a:ext cx="544843" cy="211286"/>
              </a:xfrm>
              <a:prstGeom prst="rect">
                <a:avLst/>
              </a:prstGeom>
            </p:spPr>
            <p:txBody>
              <a:bodyPr lIns="50800" tIns="50800" rIns="50800" bIns="50800" rtlCol="0" anchor="ctr"/>
              <a:lstStyle/>
              <a:p>
                <a:pPr algn="ctr">
                  <a:lnSpc>
                    <a:spcPts val="2940"/>
                  </a:lnSpc>
                </a:pPr>
                <a:r>
                  <a:rPr lang="en-US" sz="2100" b="1">
                    <a:solidFill>
                      <a:srgbClr val="000000"/>
                    </a:solidFill>
                    <a:latin typeface="Roboto Slab Bold"/>
                    <a:ea typeface="Roboto Slab Bold"/>
                    <a:cs typeface="Roboto Slab Bold"/>
                    <a:sym typeface="Roboto Slab Bold"/>
                  </a:rPr>
                  <a:t>Trả lời</a:t>
                </a:r>
              </a:p>
            </p:txBody>
          </p:sp>
        </p:grpSp>
        <p:sp>
          <p:nvSpPr>
            <p:cNvPr id="23" name="AutoShape 23"/>
            <p:cNvSpPr/>
            <p:nvPr/>
          </p:nvSpPr>
          <p:spPr>
            <a:xfrm>
              <a:off x="1605443" y="2112012"/>
              <a:ext cx="7203590" cy="0"/>
            </a:xfrm>
            <a:prstGeom prst="line">
              <a:avLst/>
            </a:prstGeom>
            <a:ln w="50800" cap="flat">
              <a:solidFill>
                <a:srgbClr val="000000"/>
              </a:solidFill>
              <a:prstDash val="solid"/>
              <a:headEnd type="none" w="sm" len="sm"/>
              <a:tailEnd type="triangle" w="lg" len="med"/>
            </a:ln>
          </p:spPr>
          <p:txBody>
            <a:bodyPr/>
            <a:lstStyle/>
            <a:p>
              <a:endParaRPr lang="en-VN"/>
            </a:p>
          </p:txBody>
        </p:sp>
        <p:sp>
          <p:nvSpPr>
            <p:cNvPr id="24" name="AutoShape 24"/>
            <p:cNvSpPr/>
            <p:nvPr/>
          </p:nvSpPr>
          <p:spPr>
            <a:xfrm>
              <a:off x="10521129" y="2108602"/>
              <a:ext cx="7771650" cy="3410"/>
            </a:xfrm>
            <a:prstGeom prst="line">
              <a:avLst/>
            </a:prstGeom>
            <a:ln w="50800" cap="flat">
              <a:solidFill>
                <a:srgbClr val="000000"/>
              </a:solidFill>
              <a:prstDash val="solid"/>
              <a:headEnd type="none" w="sm" len="sm"/>
              <a:tailEnd type="triangle" w="lg" len="med"/>
            </a:ln>
          </p:spPr>
          <p:txBody>
            <a:bodyPr/>
            <a:lstStyle/>
            <a:p>
              <a:endParaRPr lang="en-VN"/>
            </a:p>
          </p:txBody>
        </p:sp>
        <p:sp>
          <p:nvSpPr>
            <p:cNvPr id="25" name="AutoShape 25"/>
            <p:cNvSpPr/>
            <p:nvPr/>
          </p:nvSpPr>
          <p:spPr>
            <a:xfrm flipV="1">
              <a:off x="6538340" y="5757204"/>
              <a:ext cx="0" cy="1551696"/>
            </a:xfrm>
            <a:prstGeom prst="line">
              <a:avLst/>
            </a:prstGeom>
            <a:ln w="50800" cap="flat">
              <a:solidFill>
                <a:srgbClr val="000000"/>
              </a:solidFill>
              <a:prstDash val="solid"/>
              <a:headEnd type="none" w="sm" len="sm"/>
              <a:tailEnd type="triangle" w="lg" len="med"/>
            </a:ln>
          </p:spPr>
          <p:txBody>
            <a:bodyPr/>
            <a:lstStyle/>
            <a:p>
              <a:endParaRPr lang="en-VN"/>
            </a:p>
          </p:txBody>
        </p:sp>
        <p:sp>
          <p:nvSpPr>
            <p:cNvPr id="26" name="AutoShape 26"/>
            <p:cNvSpPr/>
            <p:nvPr/>
          </p:nvSpPr>
          <p:spPr>
            <a:xfrm flipH="1">
              <a:off x="5122212" y="7841456"/>
              <a:ext cx="979432" cy="17007"/>
            </a:xfrm>
            <a:prstGeom prst="line">
              <a:avLst/>
            </a:prstGeom>
            <a:ln w="50800" cap="flat">
              <a:solidFill>
                <a:srgbClr val="000000"/>
              </a:solidFill>
              <a:prstDash val="solid"/>
              <a:headEnd type="none" w="sm" len="sm"/>
              <a:tailEnd type="triangle" w="lg" len="med"/>
            </a:ln>
          </p:spPr>
          <p:txBody>
            <a:bodyPr/>
            <a:lstStyle/>
            <a:p>
              <a:endParaRPr lang="en-VN"/>
            </a:p>
          </p:txBody>
        </p:sp>
        <p:sp>
          <p:nvSpPr>
            <p:cNvPr id="27" name="AutoShape 27"/>
            <p:cNvSpPr/>
            <p:nvPr/>
          </p:nvSpPr>
          <p:spPr>
            <a:xfrm flipV="1">
              <a:off x="6538340" y="2706029"/>
              <a:ext cx="2526806" cy="2009483"/>
            </a:xfrm>
            <a:prstGeom prst="line">
              <a:avLst/>
            </a:prstGeom>
            <a:ln w="50800" cap="flat">
              <a:solidFill>
                <a:srgbClr val="000000"/>
              </a:solidFill>
              <a:prstDash val="solid"/>
              <a:headEnd type="none" w="sm" len="sm"/>
              <a:tailEnd type="triangle" w="lg" len="med"/>
            </a:ln>
          </p:spPr>
          <p:txBody>
            <a:bodyPr/>
            <a:lstStyle/>
            <a:p>
              <a:endParaRPr lang="en-VN"/>
            </a:p>
          </p:txBody>
        </p:sp>
        <p:sp>
          <p:nvSpPr>
            <p:cNvPr id="28" name="AutoShape 28"/>
            <p:cNvSpPr/>
            <p:nvPr/>
          </p:nvSpPr>
          <p:spPr>
            <a:xfrm flipH="1" flipV="1">
              <a:off x="12505304" y="5575629"/>
              <a:ext cx="14462" cy="1733271"/>
            </a:xfrm>
            <a:prstGeom prst="line">
              <a:avLst/>
            </a:prstGeom>
            <a:ln w="50800" cap="flat">
              <a:solidFill>
                <a:srgbClr val="000000"/>
              </a:solidFill>
              <a:prstDash val="solid"/>
              <a:headEnd type="none" w="sm" len="sm"/>
              <a:tailEnd type="triangle" w="lg" len="med"/>
            </a:ln>
          </p:spPr>
          <p:txBody>
            <a:bodyPr/>
            <a:lstStyle/>
            <a:p>
              <a:endParaRPr lang="en-VN"/>
            </a:p>
          </p:txBody>
        </p:sp>
        <p:sp>
          <p:nvSpPr>
            <p:cNvPr id="29" name="AutoShape 29"/>
            <p:cNvSpPr/>
            <p:nvPr/>
          </p:nvSpPr>
          <p:spPr>
            <a:xfrm>
              <a:off x="12956461" y="7841456"/>
              <a:ext cx="1050896" cy="0"/>
            </a:xfrm>
            <a:prstGeom prst="line">
              <a:avLst/>
            </a:prstGeom>
            <a:ln w="50800" cap="flat">
              <a:solidFill>
                <a:srgbClr val="000000"/>
              </a:solidFill>
              <a:prstDash val="solid"/>
              <a:headEnd type="none" w="sm" len="sm"/>
              <a:tailEnd type="triangle" w="lg" len="med"/>
            </a:ln>
          </p:spPr>
          <p:txBody>
            <a:bodyPr/>
            <a:lstStyle/>
            <a:p>
              <a:endParaRPr lang="en-VN"/>
            </a:p>
          </p:txBody>
        </p:sp>
        <p:sp>
          <p:nvSpPr>
            <p:cNvPr id="30" name="AutoShape 30"/>
            <p:cNvSpPr/>
            <p:nvPr/>
          </p:nvSpPr>
          <p:spPr>
            <a:xfrm flipH="1" flipV="1">
              <a:off x="10219677" y="2706029"/>
              <a:ext cx="2285626" cy="1827908"/>
            </a:xfrm>
            <a:prstGeom prst="line">
              <a:avLst/>
            </a:prstGeom>
            <a:ln w="50800" cap="flat">
              <a:solidFill>
                <a:srgbClr val="000000"/>
              </a:solidFill>
              <a:prstDash val="solid"/>
              <a:headEnd type="none" w="sm" len="sm"/>
              <a:tailEnd type="triangle" w="lg" len="med"/>
            </a:ln>
          </p:spPr>
          <p:txBody>
            <a:bodyPr/>
            <a:lstStyle/>
            <a:p>
              <a:endParaRPr lang="en-VN"/>
            </a:p>
          </p:txBody>
        </p:sp>
        <p:grpSp>
          <p:nvGrpSpPr>
            <p:cNvPr id="31" name="Group 31"/>
            <p:cNvGrpSpPr/>
            <p:nvPr/>
          </p:nvGrpSpPr>
          <p:grpSpPr>
            <a:xfrm>
              <a:off x="2390211" y="0"/>
              <a:ext cx="15117799" cy="9739277"/>
              <a:chOff x="0" y="0"/>
              <a:chExt cx="2986232" cy="1923808"/>
            </a:xfrm>
          </p:grpSpPr>
          <p:sp>
            <p:nvSpPr>
              <p:cNvPr id="32" name="Freeform 32"/>
              <p:cNvSpPr/>
              <p:nvPr/>
            </p:nvSpPr>
            <p:spPr>
              <a:xfrm>
                <a:off x="0" y="0"/>
                <a:ext cx="2986232" cy="1923808"/>
              </a:xfrm>
              <a:custGeom>
                <a:avLst/>
                <a:gdLst/>
                <a:ahLst/>
                <a:cxnLst/>
                <a:rect l="l" t="t" r="r" b="b"/>
                <a:pathLst>
                  <a:path w="2986232" h="1923808">
                    <a:moveTo>
                      <a:pt x="0" y="0"/>
                    </a:moveTo>
                    <a:lnTo>
                      <a:pt x="2986232" y="0"/>
                    </a:lnTo>
                    <a:lnTo>
                      <a:pt x="2986232" y="1923808"/>
                    </a:lnTo>
                    <a:lnTo>
                      <a:pt x="0" y="1923808"/>
                    </a:lnTo>
                    <a:close/>
                  </a:path>
                </a:pathLst>
              </a:custGeom>
              <a:ln w="19050" cap="sq">
                <a:solidFill>
                  <a:srgbClr val="000000"/>
                </a:solidFill>
                <a:prstDash val="solid"/>
                <a:miter/>
              </a:ln>
            </p:spPr>
            <p:txBody>
              <a:bodyPr/>
              <a:lstStyle/>
              <a:p>
                <a:endParaRPr lang="en-VN"/>
              </a:p>
            </p:txBody>
          </p:sp>
          <p:sp>
            <p:nvSpPr>
              <p:cNvPr id="33" name="TextBox 33"/>
              <p:cNvSpPr txBox="1"/>
              <p:nvPr/>
            </p:nvSpPr>
            <p:spPr>
              <a:xfrm>
                <a:off x="0" y="-47625"/>
                <a:ext cx="2986232" cy="1971433"/>
              </a:xfrm>
              <a:prstGeom prst="rect">
                <a:avLst/>
              </a:prstGeom>
            </p:spPr>
            <p:txBody>
              <a:bodyPr lIns="50800" tIns="50800" rIns="50800" bIns="50800" rtlCol="0" anchor="ctr"/>
              <a:lstStyle/>
              <a:p>
                <a:pPr algn="ctr">
                  <a:lnSpc>
                    <a:spcPts val="2940"/>
                  </a:lnSpc>
                </a:pPr>
                <a:endParaRPr/>
              </a:p>
            </p:txBody>
          </p:sp>
        </p:grpSp>
        <p:sp>
          <p:nvSpPr>
            <p:cNvPr id="34" name="TextBox 34"/>
            <p:cNvSpPr txBox="1"/>
            <p:nvPr/>
          </p:nvSpPr>
          <p:spPr>
            <a:xfrm>
              <a:off x="11775030" y="8459557"/>
              <a:ext cx="1489469" cy="723875"/>
            </a:xfrm>
            <a:prstGeom prst="rect">
              <a:avLst/>
            </a:prstGeom>
          </p:spPr>
          <p:txBody>
            <a:bodyPr lIns="0" tIns="0" rIns="0" bIns="0" rtlCol="0" anchor="t">
              <a:spAutoFit/>
            </a:bodyPr>
            <a:lstStyle/>
            <a:p>
              <a:pPr algn="ctr">
                <a:lnSpc>
                  <a:spcPts val="2178"/>
                </a:lnSpc>
              </a:pPr>
              <a:r>
                <a:rPr lang="en-US" sz="1555" b="1" dirty="0">
                  <a:solidFill>
                    <a:srgbClr val="000000"/>
                  </a:solidFill>
                  <a:latin typeface="Roboto Slab Bold"/>
                  <a:ea typeface="Roboto Slab Bold"/>
                  <a:cs typeface="Roboto Slab Bold"/>
                  <a:sym typeface="Roboto Slab Bold"/>
                </a:rPr>
                <a:t>CSDL</a:t>
              </a:r>
            </a:p>
            <a:p>
              <a:pPr algn="ctr">
                <a:lnSpc>
                  <a:spcPts val="2178"/>
                </a:lnSpc>
              </a:pPr>
              <a:r>
                <a:rPr lang="en-US" sz="1555" b="1" dirty="0">
                  <a:solidFill>
                    <a:srgbClr val="000000"/>
                  </a:solidFill>
                  <a:latin typeface="Roboto Slab Bold"/>
                  <a:ea typeface="Roboto Slab Bold"/>
                  <a:cs typeface="Roboto Slab Bold"/>
                  <a:sym typeface="Roboto Slab Bold"/>
                </a:rPr>
                <a:t>PostgreSQL</a:t>
              </a:r>
            </a:p>
          </p:txBody>
        </p:sp>
        <p:sp>
          <p:nvSpPr>
            <p:cNvPr id="35" name="TextBox 35"/>
            <p:cNvSpPr txBox="1"/>
            <p:nvPr/>
          </p:nvSpPr>
          <p:spPr>
            <a:xfrm>
              <a:off x="0" y="2869961"/>
              <a:ext cx="2118622" cy="957615"/>
            </a:xfrm>
            <a:prstGeom prst="rect">
              <a:avLst/>
            </a:prstGeom>
          </p:spPr>
          <p:txBody>
            <a:bodyPr lIns="0" tIns="0" rIns="0" bIns="0" rtlCol="0" anchor="t">
              <a:spAutoFit/>
            </a:bodyPr>
            <a:lstStyle/>
            <a:p>
              <a:pPr algn="ctr">
                <a:lnSpc>
                  <a:spcPts val="2940"/>
                </a:lnSpc>
              </a:pPr>
              <a:r>
                <a:rPr lang="en-US" sz="2100" b="1">
                  <a:solidFill>
                    <a:srgbClr val="000000"/>
                  </a:solidFill>
                  <a:latin typeface="Roboto Slab Bold"/>
                  <a:ea typeface="Roboto Slab Bold"/>
                  <a:cs typeface="Roboto Slab Bold"/>
                  <a:sym typeface="Roboto Slab Bold"/>
                </a:rPr>
                <a:t>Câu hỏi từ người dùng</a:t>
              </a:r>
            </a:p>
          </p:txBody>
        </p:sp>
        <p:sp>
          <p:nvSpPr>
            <p:cNvPr id="36" name="TextBox 36"/>
            <p:cNvSpPr txBox="1"/>
            <p:nvPr/>
          </p:nvSpPr>
          <p:spPr>
            <a:xfrm>
              <a:off x="7042734" y="638772"/>
              <a:ext cx="5493448" cy="791401"/>
            </a:xfrm>
            <a:prstGeom prst="rect">
              <a:avLst/>
            </a:prstGeom>
          </p:spPr>
          <p:txBody>
            <a:bodyPr lIns="0" tIns="0" rIns="0" bIns="0" rtlCol="0" anchor="t">
              <a:spAutoFit/>
            </a:bodyPr>
            <a:lstStyle/>
            <a:p>
              <a:pPr algn="ctr">
                <a:lnSpc>
                  <a:spcPts val="2459"/>
                </a:lnSpc>
              </a:pPr>
              <a:r>
                <a:rPr lang="en-US" sz="1755" b="1">
                  <a:solidFill>
                    <a:srgbClr val="000000"/>
                  </a:solidFill>
                  <a:latin typeface="Roboto Slab Bold"/>
                  <a:ea typeface="Roboto Slab Bold"/>
                  <a:cs typeface="Roboto Slab Bold"/>
                  <a:sym typeface="Roboto Slab Bold"/>
                </a:rPr>
                <a:t>LLMs phân tích câu hỏi, điều phối công cụ và tổng hợp câu trả lời</a:t>
              </a:r>
            </a:p>
          </p:txBody>
        </p:sp>
        <p:sp>
          <p:nvSpPr>
            <p:cNvPr id="37" name="TextBox 37"/>
            <p:cNvSpPr txBox="1"/>
            <p:nvPr/>
          </p:nvSpPr>
          <p:spPr>
            <a:xfrm>
              <a:off x="2630767" y="176938"/>
              <a:ext cx="1683291" cy="515620"/>
            </a:xfrm>
            <a:prstGeom prst="rect">
              <a:avLst/>
            </a:prstGeom>
          </p:spPr>
          <p:txBody>
            <a:bodyPr lIns="0" tIns="0" rIns="0" bIns="0" rtlCol="0" anchor="t">
              <a:spAutoFit/>
            </a:bodyPr>
            <a:lstStyle/>
            <a:p>
              <a:pPr algn="ctr">
                <a:lnSpc>
                  <a:spcPts val="3360"/>
                </a:lnSpc>
              </a:pPr>
              <a:r>
                <a:rPr lang="en-US" sz="2400" b="1">
                  <a:solidFill>
                    <a:srgbClr val="000000"/>
                  </a:solidFill>
                  <a:latin typeface="Roboto Slab Bold"/>
                  <a:ea typeface="Roboto Slab Bold"/>
                  <a:cs typeface="Roboto Slab Bold"/>
                  <a:sym typeface="Roboto Slab Bold"/>
                </a:rPr>
                <a:t>AI Agent</a:t>
              </a:r>
            </a:p>
          </p:txBody>
        </p:sp>
        <p:sp>
          <p:nvSpPr>
            <p:cNvPr id="38" name="TextBox 38"/>
            <p:cNvSpPr txBox="1"/>
            <p:nvPr/>
          </p:nvSpPr>
          <p:spPr>
            <a:xfrm>
              <a:off x="4017352" y="4732403"/>
              <a:ext cx="1805775" cy="1071368"/>
            </a:xfrm>
            <a:prstGeom prst="rect">
              <a:avLst/>
            </a:prstGeom>
          </p:spPr>
          <p:txBody>
            <a:bodyPr lIns="0" tIns="0" rIns="0" bIns="0" rtlCol="0" anchor="t">
              <a:spAutoFit/>
            </a:bodyPr>
            <a:lstStyle/>
            <a:p>
              <a:pPr algn="ctr">
                <a:lnSpc>
                  <a:spcPts val="2178"/>
                </a:lnSpc>
              </a:pPr>
              <a:r>
                <a:rPr lang="en-US" sz="1555" b="1">
                  <a:solidFill>
                    <a:srgbClr val="000000"/>
                  </a:solidFill>
                  <a:latin typeface="Roboto Slab Bold"/>
                  <a:ea typeface="Roboto Slab Bold"/>
                  <a:cs typeface="Roboto Slab Bold"/>
                  <a:sym typeface="Roboto Slab Bold"/>
                </a:rPr>
                <a:t>Tool truy hồi pháp luật nội bộ</a:t>
              </a:r>
            </a:p>
          </p:txBody>
        </p:sp>
        <p:sp>
          <p:nvSpPr>
            <p:cNvPr id="39" name="TextBox 39"/>
            <p:cNvSpPr txBox="1"/>
            <p:nvPr/>
          </p:nvSpPr>
          <p:spPr>
            <a:xfrm>
              <a:off x="13352103" y="4858152"/>
              <a:ext cx="2512876" cy="334624"/>
            </a:xfrm>
            <a:prstGeom prst="rect">
              <a:avLst/>
            </a:prstGeom>
          </p:spPr>
          <p:txBody>
            <a:bodyPr lIns="0" tIns="0" rIns="0" bIns="0" rtlCol="0" anchor="t">
              <a:spAutoFit/>
            </a:bodyPr>
            <a:lstStyle/>
            <a:p>
              <a:pPr algn="ctr">
                <a:lnSpc>
                  <a:spcPts val="2178"/>
                </a:lnSpc>
              </a:pPr>
              <a:r>
                <a:rPr lang="en-US" sz="1555" b="1">
                  <a:solidFill>
                    <a:srgbClr val="000000"/>
                  </a:solidFill>
                  <a:latin typeface="Roboto Slab Bold"/>
                  <a:ea typeface="Roboto Slab Bold"/>
                  <a:cs typeface="Roboto Slab Bold"/>
                  <a:sym typeface="Roboto Slab Bold"/>
                </a:rPr>
                <a:t>Tool truy vấn CSDL</a:t>
              </a:r>
            </a:p>
          </p:txBody>
        </p:sp>
        <p:sp>
          <p:nvSpPr>
            <p:cNvPr id="40" name="TextBox 40"/>
            <p:cNvSpPr txBox="1"/>
            <p:nvPr/>
          </p:nvSpPr>
          <p:spPr>
            <a:xfrm>
              <a:off x="5823114" y="8476564"/>
              <a:ext cx="1358532" cy="702996"/>
            </a:xfrm>
            <a:prstGeom prst="rect">
              <a:avLst/>
            </a:prstGeom>
          </p:spPr>
          <p:txBody>
            <a:bodyPr lIns="0" tIns="0" rIns="0" bIns="0" rtlCol="0" anchor="t">
              <a:spAutoFit/>
            </a:bodyPr>
            <a:lstStyle/>
            <a:p>
              <a:pPr algn="ctr">
                <a:lnSpc>
                  <a:spcPts val="2178"/>
                </a:lnSpc>
              </a:pPr>
              <a:r>
                <a:rPr lang="en-US" sz="1555" b="1">
                  <a:solidFill>
                    <a:srgbClr val="000000"/>
                  </a:solidFill>
                  <a:latin typeface="Roboto Slab Bold"/>
                  <a:ea typeface="Roboto Slab Bold"/>
                  <a:cs typeface="Roboto Slab Bold"/>
                  <a:sym typeface="Roboto Slab Bold"/>
                </a:rPr>
                <a:t>CSDL</a:t>
              </a:r>
            </a:p>
            <a:p>
              <a:pPr algn="ctr">
                <a:lnSpc>
                  <a:spcPts val="2178"/>
                </a:lnSpc>
              </a:pPr>
              <a:r>
                <a:rPr lang="en-US" sz="1555" b="1">
                  <a:solidFill>
                    <a:srgbClr val="000000"/>
                  </a:solidFill>
                  <a:latin typeface="Roboto Slab Bold"/>
                  <a:ea typeface="Roboto Slab Bold"/>
                  <a:cs typeface="Roboto Slab Bold"/>
                  <a:sym typeface="Roboto Slab Bold"/>
                </a:rPr>
                <a:t>ChromaDB</a:t>
              </a:r>
            </a:p>
          </p:txBody>
        </p:sp>
        <p:sp>
          <p:nvSpPr>
            <p:cNvPr id="41" name="TextBox 41"/>
            <p:cNvSpPr txBox="1"/>
            <p:nvPr/>
          </p:nvSpPr>
          <p:spPr>
            <a:xfrm>
              <a:off x="14007358" y="7480433"/>
              <a:ext cx="1202368" cy="702996"/>
            </a:xfrm>
            <a:prstGeom prst="rect">
              <a:avLst/>
            </a:prstGeom>
          </p:spPr>
          <p:txBody>
            <a:bodyPr lIns="0" tIns="0" rIns="0" bIns="0" rtlCol="0" anchor="t">
              <a:spAutoFit/>
            </a:bodyPr>
            <a:lstStyle/>
            <a:p>
              <a:pPr algn="ctr">
                <a:lnSpc>
                  <a:spcPts val="2178"/>
                </a:lnSpc>
              </a:pPr>
              <a:r>
                <a:rPr lang="en-US" sz="1555" b="1">
                  <a:solidFill>
                    <a:srgbClr val="000000"/>
                  </a:solidFill>
                  <a:latin typeface="Roboto Slab Bold"/>
                  <a:ea typeface="Roboto Slab Bold"/>
                  <a:cs typeface="Roboto Slab Bold"/>
                  <a:sym typeface="Roboto Slab Bold"/>
                </a:rPr>
                <a:t>Lịch sử hội thoại</a:t>
              </a:r>
            </a:p>
          </p:txBody>
        </p:sp>
        <p:sp>
          <p:nvSpPr>
            <p:cNvPr id="42" name="Freeform 42"/>
            <p:cNvSpPr/>
            <p:nvPr/>
          </p:nvSpPr>
          <p:spPr>
            <a:xfrm>
              <a:off x="9096886" y="4629973"/>
              <a:ext cx="1078065" cy="1041692"/>
            </a:xfrm>
            <a:custGeom>
              <a:avLst/>
              <a:gdLst/>
              <a:ahLst/>
              <a:cxnLst/>
              <a:rect l="l" t="t" r="r" b="b"/>
              <a:pathLst>
                <a:path w="1078065" h="1041692">
                  <a:moveTo>
                    <a:pt x="0" y="0"/>
                  </a:moveTo>
                  <a:lnTo>
                    <a:pt x="1078065" y="0"/>
                  </a:lnTo>
                  <a:lnTo>
                    <a:pt x="1078065" y="1041692"/>
                  </a:lnTo>
                  <a:lnTo>
                    <a:pt x="0" y="1041692"/>
                  </a:lnTo>
                  <a:lnTo>
                    <a:pt x="0" y="0"/>
                  </a:lnTo>
                  <a:close/>
                </a:path>
              </a:pathLst>
            </a:custGeom>
            <a:blipFill>
              <a:blip>
                <a:extLst>
                  <a:ext uri="{96DAC541-7B7A-43D3-8B79-37D633B846F1}">
                    <asvg:svgBlip xmlns:asvg="http://schemas.microsoft.com/office/drawing/2016/SVG/main" r:embed="rId6"/>
                  </a:ext>
                </a:extLst>
              </a:blip>
              <a:stretch>
                <a:fillRect t="-529" b="-527"/>
              </a:stretch>
            </a:blipFill>
          </p:spPr>
          <p:txBody>
            <a:bodyPr/>
            <a:lstStyle/>
            <a:p>
              <a:endParaRPr lang="en-VN"/>
            </a:p>
          </p:txBody>
        </p:sp>
        <p:sp>
          <p:nvSpPr>
            <p:cNvPr id="43" name="AutoShape 43"/>
            <p:cNvSpPr/>
            <p:nvPr/>
          </p:nvSpPr>
          <p:spPr>
            <a:xfrm flipV="1">
              <a:off x="9635918" y="2706029"/>
              <a:ext cx="6493" cy="1923944"/>
            </a:xfrm>
            <a:prstGeom prst="line">
              <a:avLst/>
            </a:prstGeom>
            <a:ln w="50800" cap="flat">
              <a:solidFill>
                <a:srgbClr val="000000"/>
              </a:solidFill>
              <a:prstDash val="solid"/>
              <a:headEnd type="none" w="sm" len="sm"/>
              <a:tailEnd type="triangle" w="lg" len="med"/>
            </a:ln>
          </p:spPr>
          <p:txBody>
            <a:bodyPr/>
            <a:lstStyle/>
            <a:p>
              <a:endParaRPr lang="en-VN"/>
            </a:p>
          </p:txBody>
        </p:sp>
        <p:sp>
          <p:nvSpPr>
            <p:cNvPr id="44" name="TextBox 44"/>
            <p:cNvSpPr txBox="1"/>
            <p:nvPr/>
          </p:nvSpPr>
          <p:spPr>
            <a:xfrm>
              <a:off x="8974192" y="5784721"/>
              <a:ext cx="1323452" cy="702996"/>
            </a:xfrm>
            <a:prstGeom prst="rect">
              <a:avLst/>
            </a:prstGeom>
          </p:spPr>
          <p:txBody>
            <a:bodyPr lIns="0" tIns="0" rIns="0" bIns="0" rtlCol="0" anchor="t">
              <a:spAutoFit/>
            </a:bodyPr>
            <a:lstStyle/>
            <a:p>
              <a:pPr algn="ctr">
                <a:lnSpc>
                  <a:spcPts val="2178"/>
                </a:lnSpc>
              </a:pPr>
              <a:r>
                <a:rPr lang="en-US" sz="1555" b="1">
                  <a:solidFill>
                    <a:srgbClr val="000000"/>
                  </a:solidFill>
                  <a:latin typeface="Roboto Slab Bold"/>
                  <a:ea typeface="Roboto Slab Bold"/>
                  <a:cs typeface="Roboto Slab Bold"/>
                  <a:sym typeface="Roboto Slab Bold"/>
                </a:rPr>
                <a:t>Tool web search</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grpId="0" nodeType="withEffect">
                            <p:stCondLst>
                              <p:cond delay="180"/>
                            </p:stCondLst>
                            <p:childTnLst>
                              <p:set>
                                <p:cBhvr>
                                  <p:cTn id="5" dur="1" fill="hold">
                                    <p:stCondLst>
                                      <p:cond delay="0"/>
                                    </p:stCondLst>
                                  </p:cTn>
                                  <p:tgtEl>
                                    <p:spTgt spid="10"/>
                                  </p:tgtEl>
                                  <p:attrNameLst>
                                    <p:attrName>style.visibility</p:attrName>
                                  </p:attrNameLst>
                                </p:cBhvr>
                                <p:to>
                                  <p:strVal val="visible"/>
                                </p:to>
                              </p:set>
                              <p:animEffect transition="in" filter="wipe(left)">
                                <p:cBhvr>
                                  <p:cTn id="6" dur="860"/>
                                  <p:tgtEl>
                                    <p:spTgt spid="10"/>
                                  </p:tgtEl>
                                </p:cBhvr>
                              </p:animEffect>
                            </p:childTnLst>
                          </p:cTn>
                        </p:par>
                        <p:par>
                          <p:cTn id="7" presetID="10" presetClass="entr" presetSubtype="0" fill="hold" grpId="0" nodeType="withEffect">
                            <p:stCondLst>
                              <p:cond delay="350"/>
                            </p:stCondLst>
                            <p:childTnLst>
                              <p:set>
                                <p:cBhvr>
                                  <p:cTn id="8" dur="1" fill="hold">
                                    <p:stCondLst>
                                      <p:cond delay="0"/>
                                    </p:stCondLst>
                                  </p:cTn>
                                  <p:tgtEl>
                                    <p:spTgt spid="12"/>
                                  </p:tgtEl>
                                  <p:attrNameLst>
                                    <p:attrName>style.visibility</p:attrName>
                                  </p:attrNameLst>
                                </p:cBhvr>
                                <p:to>
                                  <p:strVal val="visible"/>
                                </p:to>
                              </p:set>
                              <p:animEffect transition="in" filter="wipe(left)">
                                <p:cBhvr>
                                  <p:cTn id="9" dur="860"/>
                                  <p:tgtEl>
                                    <p:spTgt spid="12"/>
                                  </p:tgtEl>
                                </p:cBhvr>
                              </p:animEffect>
                            </p:childTnLst>
                          </p:cTn>
                        </p:par>
                      </p:childTnLst>
                    </p:cTn>
                  </p:par>
                </p:childTnLst>
              </p:cTn>
            </p:seq>
          </p:childTnLst>
        </p:cTn>
      </p:par>
    </p:tnLst>
    <p:bldLst>
      <p:bldP spid="10" grpId="0"/>
      <p:bldP spid="1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10800000">
            <a:off x="17259300" y="-233820"/>
            <a:ext cx="1940843" cy="970417"/>
            <a:chOff x="0" y="0"/>
            <a:chExt cx="2587790" cy="1293889"/>
          </a:xfrm>
        </p:grpSpPr>
        <p:sp>
          <p:nvSpPr>
            <p:cNvPr id="3" name="Freeform 3"/>
            <p:cNvSpPr/>
            <p:nvPr/>
          </p:nvSpPr>
          <p:spPr>
            <a:xfrm>
              <a:off x="0" y="0"/>
              <a:ext cx="2587752" cy="1293876"/>
            </a:xfrm>
            <a:custGeom>
              <a:avLst/>
              <a:gdLst/>
              <a:ahLst/>
              <a:cxnLst/>
              <a:rect l="l" t="t" r="r" b="b"/>
              <a:pathLst>
                <a:path w="2587752" h="1293876">
                  <a:moveTo>
                    <a:pt x="0" y="0"/>
                  </a:moveTo>
                  <a:lnTo>
                    <a:pt x="2587752" y="0"/>
                  </a:lnTo>
                  <a:lnTo>
                    <a:pt x="2587752" y="1293876"/>
                  </a:lnTo>
                  <a:lnTo>
                    <a:pt x="0" y="1293876"/>
                  </a:lnTo>
                  <a:lnTo>
                    <a:pt x="0" y="0"/>
                  </a:lnTo>
                  <a:close/>
                </a:path>
              </a:pathLst>
            </a:custGeom>
            <a:blipFill>
              <a:blip r:embed="rId2"/>
              <a:stretch>
                <a:fillRect r="-1"/>
              </a:stretch>
            </a:blipFill>
          </p:spPr>
          <p:txBody>
            <a:bodyPr/>
            <a:lstStyle/>
            <a:p>
              <a:endParaRPr lang="en-VN"/>
            </a:p>
          </p:txBody>
        </p:sp>
      </p:grpSp>
      <p:grpSp>
        <p:nvGrpSpPr>
          <p:cNvPr id="4" name="Group 4"/>
          <p:cNvGrpSpPr/>
          <p:nvPr/>
        </p:nvGrpSpPr>
        <p:grpSpPr>
          <a:xfrm>
            <a:off x="-912143" y="9429369"/>
            <a:ext cx="1940843" cy="970417"/>
            <a:chOff x="0" y="0"/>
            <a:chExt cx="2587790" cy="1293889"/>
          </a:xfrm>
        </p:grpSpPr>
        <p:sp>
          <p:nvSpPr>
            <p:cNvPr id="5" name="Freeform 5"/>
            <p:cNvSpPr/>
            <p:nvPr/>
          </p:nvSpPr>
          <p:spPr>
            <a:xfrm>
              <a:off x="0" y="0"/>
              <a:ext cx="2587752" cy="1293876"/>
            </a:xfrm>
            <a:custGeom>
              <a:avLst/>
              <a:gdLst/>
              <a:ahLst/>
              <a:cxnLst/>
              <a:rect l="l" t="t" r="r" b="b"/>
              <a:pathLst>
                <a:path w="2587752" h="1293876">
                  <a:moveTo>
                    <a:pt x="0" y="0"/>
                  </a:moveTo>
                  <a:lnTo>
                    <a:pt x="2587752" y="0"/>
                  </a:lnTo>
                  <a:lnTo>
                    <a:pt x="2587752" y="1293876"/>
                  </a:lnTo>
                  <a:lnTo>
                    <a:pt x="0" y="1293876"/>
                  </a:lnTo>
                  <a:lnTo>
                    <a:pt x="0" y="0"/>
                  </a:lnTo>
                  <a:close/>
                </a:path>
              </a:pathLst>
            </a:custGeom>
            <a:blipFill>
              <a:blip r:embed="rId2"/>
              <a:stretch>
                <a:fillRect r="-1"/>
              </a:stretch>
            </a:blipFill>
          </p:spPr>
          <p:txBody>
            <a:bodyPr/>
            <a:lstStyle/>
            <a:p>
              <a:endParaRPr lang="en-VN"/>
            </a:p>
          </p:txBody>
        </p:sp>
      </p:grpSp>
      <p:grpSp>
        <p:nvGrpSpPr>
          <p:cNvPr id="6" name="Group 6"/>
          <p:cNvGrpSpPr/>
          <p:nvPr/>
        </p:nvGrpSpPr>
        <p:grpSpPr>
          <a:xfrm>
            <a:off x="-3127839" y="9986436"/>
            <a:ext cx="22035035" cy="2837612"/>
            <a:chOff x="0" y="0"/>
            <a:chExt cx="5803466" cy="747355"/>
          </a:xfrm>
        </p:grpSpPr>
        <p:sp>
          <p:nvSpPr>
            <p:cNvPr id="7" name="Freeform 7"/>
            <p:cNvSpPr/>
            <p:nvPr/>
          </p:nvSpPr>
          <p:spPr>
            <a:xfrm>
              <a:off x="0" y="0"/>
              <a:ext cx="5803466" cy="747355"/>
            </a:xfrm>
            <a:custGeom>
              <a:avLst/>
              <a:gdLst/>
              <a:ahLst/>
              <a:cxnLst/>
              <a:rect l="l" t="t" r="r" b="b"/>
              <a:pathLst>
                <a:path w="5803466" h="747355">
                  <a:moveTo>
                    <a:pt x="0" y="0"/>
                  </a:moveTo>
                  <a:lnTo>
                    <a:pt x="5803466" y="0"/>
                  </a:lnTo>
                  <a:lnTo>
                    <a:pt x="5803466" y="747355"/>
                  </a:lnTo>
                  <a:lnTo>
                    <a:pt x="0" y="747355"/>
                  </a:lnTo>
                  <a:close/>
                </a:path>
              </a:pathLst>
            </a:custGeom>
            <a:solidFill>
              <a:srgbClr val="3C4F75"/>
            </a:solidFill>
          </p:spPr>
          <p:txBody>
            <a:bodyPr/>
            <a:lstStyle/>
            <a:p>
              <a:endParaRPr lang="en-VN"/>
            </a:p>
          </p:txBody>
        </p:sp>
        <p:sp>
          <p:nvSpPr>
            <p:cNvPr id="8" name="TextBox 8"/>
            <p:cNvSpPr txBox="1"/>
            <p:nvPr/>
          </p:nvSpPr>
          <p:spPr>
            <a:xfrm>
              <a:off x="0" y="-47625"/>
              <a:ext cx="5803466" cy="794980"/>
            </a:xfrm>
            <a:prstGeom prst="rect">
              <a:avLst/>
            </a:prstGeom>
          </p:spPr>
          <p:txBody>
            <a:bodyPr lIns="50800" tIns="50800" rIns="50800" bIns="50800" rtlCol="0" anchor="ctr"/>
            <a:lstStyle/>
            <a:p>
              <a:pPr algn="ctr">
                <a:lnSpc>
                  <a:spcPts val="2940"/>
                </a:lnSpc>
              </a:pPr>
              <a:endParaRPr/>
            </a:p>
          </p:txBody>
        </p:sp>
      </p:grpSp>
      <p:sp>
        <p:nvSpPr>
          <p:cNvPr id="9" name="Freeform 9"/>
          <p:cNvSpPr/>
          <p:nvPr/>
        </p:nvSpPr>
        <p:spPr>
          <a:xfrm>
            <a:off x="1028700" y="251389"/>
            <a:ext cx="551704" cy="584433"/>
          </a:xfrm>
          <a:custGeom>
            <a:avLst/>
            <a:gdLst/>
            <a:ahLst/>
            <a:cxnLst/>
            <a:rect l="l" t="t" r="r" b="b"/>
            <a:pathLst>
              <a:path w="551704" h="584433">
                <a:moveTo>
                  <a:pt x="0" y="0"/>
                </a:moveTo>
                <a:lnTo>
                  <a:pt x="551704" y="0"/>
                </a:lnTo>
                <a:lnTo>
                  <a:pt x="551704" y="584432"/>
                </a:lnTo>
                <a:lnTo>
                  <a:pt x="0" y="584432"/>
                </a:lnTo>
                <a:lnTo>
                  <a:pt x="0" y="0"/>
                </a:lnTo>
                <a:close/>
              </a:path>
            </a:pathLst>
          </a:custGeom>
          <a:blipFill>
            <a:blip r:embed="rId3"/>
            <a:stretch>
              <a:fillRect/>
            </a:stretch>
          </a:blipFill>
        </p:spPr>
        <p:txBody>
          <a:bodyPr/>
          <a:lstStyle/>
          <a:p>
            <a:endParaRPr lang="en-VN"/>
          </a:p>
        </p:txBody>
      </p:sp>
      <p:sp>
        <p:nvSpPr>
          <p:cNvPr id="10" name="TextBox 10"/>
          <p:cNvSpPr txBox="1"/>
          <p:nvPr/>
        </p:nvSpPr>
        <p:spPr>
          <a:xfrm>
            <a:off x="1028700" y="1095375"/>
            <a:ext cx="10695872" cy="534618"/>
          </a:xfrm>
          <a:prstGeom prst="rect">
            <a:avLst/>
          </a:prstGeom>
        </p:spPr>
        <p:txBody>
          <a:bodyPr lIns="0" tIns="0" rIns="0" bIns="0" rtlCol="0" anchor="t">
            <a:spAutoFit/>
          </a:bodyPr>
          <a:lstStyle/>
          <a:p>
            <a:pPr algn="just">
              <a:lnSpc>
                <a:spcPts val="4039"/>
              </a:lnSpc>
            </a:pPr>
            <a:r>
              <a:rPr lang="en-US" sz="3999" b="1">
                <a:solidFill>
                  <a:srgbClr val="0C1D4B"/>
                </a:solidFill>
                <a:latin typeface="Roboto Slab Bold"/>
                <a:ea typeface="Roboto Slab Bold"/>
                <a:cs typeface="Roboto Slab Bold"/>
                <a:sym typeface="Roboto Slab Bold"/>
              </a:rPr>
              <a:t>3.2. Mô hình tổng quan của hệ thống chatbot</a:t>
            </a:r>
          </a:p>
        </p:txBody>
      </p:sp>
      <p:sp>
        <p:nvSpPr>
          <p:cNvPr id="11" name="TextBox 11"/>
          <p:cNvSpPr txBox="1"/>
          <p:nvPr/>
        </p:nvSpPr>
        <p:spPr>
          <a:xfrm>
            <a:off x="1687249" y="346410"/>
            <a:ext cx="3954904" cy="356289"/>
          </a:xfrm>
          <a:prstGeom prst="rect">
            <a:avLst/>
          </a:prstGeom>
        </p:spPr>
        <p:txBody>
          <a:bodyPr lIns="0" tIns="0" rIns="0" bIns="0" rtlCol="0" anchor="t">
            <a:spAutoFit/>
          </a:bodyPr>
          <a:lstStyle/>
          <a:p>
            <a:pPr algn="l">
              <a:lnSpc>
                <a:spcPts val="2940"/>
              </a:lnSpc>
            </a:pPr>
            <a:r>
              <a:rPr lang="en-US" sz="2100" b="1">
                <a:solidFill>
                  <a:srgbClr val="2C2C2C"/>
                </a:solidFill>
                <a:latin typeface="Roboto Slab Bold"/>
                <a:ea typeface="Roboto Slab Bold"/>
                <a:cs typeface="Roboto Slab Bold"/>
                <a:sym typeface="Roboto Slab Bold"/>
              </a:rPr>
              <a:t>HỌC VIỆN KỸ THUẬT MẬT MÃ</a:t>
            </a:r>
          </a:p>
        </p:txBody>
      </p:sp>
      <p:grpSp>
        <p:nvGrpSpPr>
          <p:cNvPr id="12" name="Group 12"/>
          <p:cNvGrpSpPr/>
          <p:nvPr/>
        </p:nvGrpSpPr>
        <p:grpSpPr>
          <a:xfrm>
            <a:off x="770560" y="2281885"/>
            <a:ext cx="15631933" cy="7353415"/>
            <a:chOff x="0" y="0"/>
            <a:chExt cx="20842578" cy="9804554"/>
          </a:xfrm>
        </p:grpSpPr>
        <p:sp>
          <p:nvSpPr>
            <p:cNvPr id="13" name="Freeform 13"/>
            <p:cNvSpPr/>
            <p:nvPr/>
          </p:nvSpPr>
          <p:spPr>
            <a:xfrm>
              <a:off x="4674566" y="0"/>
              <a:ext cx="1133754" cy="1382624"/>
            </a:xfrm>
            <a:custGeom>
              <a:avLst/>
              <a:gdLst/>
              <a:ahLst/>
              <a:cxnLst/>
              <a:rect l="l" t="t" r="r" b="b"/>
              <a:pathLst>
                <a:path w="1133754" h="1382624">
                  <a:moveTo>
                    <a:pt x="0" y="0"/>
                  </a:moveTo>
                  <a:lnTo>
                    <a:pt x="1133754" y="0"/>
                  </a:lnTo>
                  <a:lnTo>
                    <a:pt x="1133754" y="1382624"/>
                  </a:lnTo>
                  <a:lnTo>
                    <a:pt x="0" y="1382624"/>
                  </a:lnTo>
                  <a:lnTo>
                    <a:pt x="0" y="0"/>
                  </a:lnTo>
                  <a:close/>
                </a:path>
              </a:pathLst>
            </a:custGeom>
            <a:blipFill>
              <a:blip>
                <a:extLst>
                  <a:ext uri="{96DAC541-7B7A-43D3-8B79-37D633B846F1}">
                    <asvg:svgBlip xmlns:asvg="http://schemas.microsoft.com/office/drawing/2016/SVG/main" r:embed="rId4"/>
                  </a:ext>
                </a:extLst>
              </a:blip>
              <a:stretch>
                <a:fillRect l="-347" r="-346"/>
              </a:stretch>
            </a:blipFill>
          </p:spPr>
          <p:txBody>
            <a:bodyPr/>
            <a:lstStyle/>
            <a:p>
              <a:endParaRPr lang="en-VN"/>
            </a:p>
          </p:txBody>
        </p:sp>
        <p:sp>
          <p:nvSpPr>
            <p:cNvPr id="14" name="Freeform 14"/>
            <p:cNvSpPr/>
            <p:nvPr/>
          </p:nvSpPr>
          <p:spPr>
            <a:xfrm>
              <a:off x="8682331" y="2999156"/>
              <a:ext cx="1209764" cy="1252030"/>
            </a:xfrm>
            <a:custGeom>
              <a:avLst/>
              <a:gdLst/>
              <a:ahLst/>
              <a:cxnLst/>
              <a:rect l="l" t="t" r="r" b="b"/>
              <a:pathLst>
                <a:path w="1209764" h="1252030">
                  <a:moveTo>
                    <a:pt x="0" y="0"/>
                  </a:moveTo>
                  <a:lnTo>
                    <a:pt x="1209764" y="0"/>
                  </a:lnTo>
                  <a:lnTo>
                    <a:pt x="1209764" y="1252030"/>
                  </a:lnTo>
                  <a:lnTo>
                    <a:pt x="0" y="1252030"/>
                  </a:lnTo>
                  <a:lnTo>
                    <a:pt x="0" y="0"/>
                  </a:lnTo>
                  <a:close/>
                </a:path>
              </a:pathLst>
            </a:custGeom>
            <a:blipFill>
              <a:blip>
                <a:extLst>
                  <a:ext uri="{96DAC541-7B7A-43D3-8B79-37D633B846F1}">
                    <asvg:svgBlip xmlns:asvg="http://schemas.microsoft.com/office/drawing/2016/SVG/main" r:embed="rId5"/>
                  </a:ext>
                </a:extLst>
              </a:blip>
              <a:stretch>
                <a:fillRect l="-178" r="-178"/>
              </a:stretch>
            </a:blipFill>
          </p:spPr>
          <p:txBody>
            <a:bodyPr/>
            <a:lstStyle/>
            <a:p>
              <a:endParaRPr lang="en-VN"/>
            </a:p>
          </p:txBody>
        </p:sp>
        <p:sp>
          <p:nvSpPr>
            <p:cNvPr id="15" name="Freeform 15"/>
            <p:cNvSpPr/>
            <p:nvPr/>
          </p:nvSpPr>
          <p:spPr>
            <a:xfrm>
              <a:off x="15083225" y="2997695"/>
              <a:ext cx="1209764" cy="1252030"/>
            </a:xfrm>
            <a:custGeom>
              <a:avLst/>
              <a:gdLst/>
              <a:ahLst/>
              <a:cxnLst/>
              <a:rect l="l" t="t" r="r" b="b"/>
              <a:pathLst>
                <a:path w="1209764" h="1252030">
                  <a:moveTo>
                    <a:pt x="0" y="0"/>
                  </a:moveTo>
                  <a:lnTo>
                    <a:pt x="1209764" y="0"/>
                  </a:lnTo>
                  <a:lnTo>
                    <a:pt x="1209764" y="1252030"/>
                  </a:lnTo>
                  <a:lnTo>
                    <a:pt x="0" y="1252030"/>
                  </a:lnTo>
                  <a:lnTo>
                    <a:pt x="0" y="0"/>
                  </a:lnTo>
                  <a:close/>
                </a:path>
              </a:pathLst>
            </a:custGeom>
            <a:blipFill>
              <a:blip>
                <a:extLst>
                  <a:ext uri="{96DAC541-7B7A-43D3-8B79-37D633B846F1}">
                    <asvg:svgBlip xmlns:asvg="http://schemas.microsoft.com/office/drawing/2016/SVG/main" r:embed="rId5"/>
                  </a:ext>
                </a:extLst>
              </a:blip>
              <a:stretch>
                <a:fillRect l="-178" r="-178"/>
              </a:stretch>
            </a:blipFill>
          </p:spPr>
          <p:txBody>
            <a:bodyPr/>
            <a:lstStyle/>
            <a:p>
              <a:endParaRPr lang="en-VN"/>
            </a:p>
          </p:txBody>
        </p:sp>
        <p:sp>
          <p:nvSpPr>
            <p:cNvPr id="16" name="Freeform 16"/>
            <p:cNvSpPr/>
            <p:nvPr/>
          </p:nvSpPr>
          <p:spPr>
            <a:xfrm>
              <a:off x="488505" y="2997695"/>
              <a:ext cx="1182560" cy="1286243"/>
            </a:xfrm>
            <a:custGeom>
              <a:avLst/>
              <a:gdLst/>
              <a:ahLst/>
              <a:cxnLst/>
              <a:rect l="l" t="t" r="r" b="b"/>
              <a:pathLst>
                <a:path w="1182560" h="1286243">
                  <a:moveTo>
                    <a:pt x="0" y="0"/>
                  </a:moveTo>
                  <a:lnTo>
                    <a:pt x="1182561" y="0"/>
                  </a:lnTo>
                  <a:lnTo>
                    <a:pt x="1182561" y="1286244"/>
                  </a:lnTo>
                  <a:lnTo>
                    <a:pt x="0" y="1286244"/>
                  </a:lnTo>
                  <a:lnTo>
                    <a:pt x="0" y="0"/>
                  </a:lnTo>
                  <a:close/>
                </a:path>
              </a:pathLst>
            </a:custGeom>
            <a:blipFill>
              <a:blip>
                <a:extLst>
                  <a:ext uri="{96DAC541-7B7A-43D3-8B79-37D633B846F1}">
                    <asvg:svgBlip xmlns:asvg="http://schemas.microsoft.com/office/drawing/2016/SVG/main" r:embed="rId6"/>
                  </a:ext>
                </a:extLst>
              </a:blip>
              <a:stretch>
                <a:fillRect l="-118" r="-118"/>
              </a:stretch>
            </a:blipFill>
          </p:spPr>
          <p:txBody>
            <a:bodyPr/>
            <a:lstStyle/>
            <a:p>
              <a:endParaRPr lang="en-VN"/>
            </a:p>
          </p:txBody>
        </p:sp>
        <p:sp>
          <p:nvSpPr>
            <p:cNvPr id="17" name="Freeform 17"/>
            <p:cNvSpPr/>
            <p:nvPr/>
          </p:nvSpPr>
          <p:spPr>
            <a:xfrm>
              <a:off x="11845659" y="6371432"/>
              <a:ext cx="831355" cy="803300"/>
            </a:xfrm>
            <a:custGeom>
              <a:avLst/>
              <a:gdLst/>
              <a:ahLst/>
              <a:cxnLst/>
              <a:rect l="l" t="t" r="r" b="b"/>
              <a:pathLst>
                <a:path w="831355" h="803300">
                  <a:moveTo>
                    <a:pt x="0" y="0"/>
                  </a:moveTo>
                  <a:lnTo>
                    <a:pt x="831355" y="0"/>
                  </a:lnTo>
                  <a:lnTo>
                    <a:pt x="831355" y="803300"/>
                  </a:lnTo>
                  <a:lnTo>
                    <a:pt x="0" y="803300"/>
                  </a:lnTo>
                  <a:lnTo>
                    <a:pt x="0" y="0"/>
                  </a:lnTo>
                  <a:close/>
                </a:path>
              </a:pathLst>
            </a:custGeom>
            <a:blipFill>
              <a:blip>
                <a:extLst>
                  <a:ext uri="{96DAC541-7B7A-43D3-8B79-37D633B846F1}">
                    <asvg:svgBlip xmlns:asvg="http://schemas.microsoft.com/office/drawing/2016/SVG/main" r:embed="rId7"/>
                  </a:ext>
                </a:extLst>
              </a:blip>
              <a:stretch>
                <a:fillRect t="-178" b="-177"/>
              </a:stretch>
            </a:blipFill>
          </p:spPr>
          <p:txBody>
            <a:bodyPr/>
            <a:lstStyle/>
            <a:p>
              <a:endParaRPr lang="en-VN"/>
            </a:p>
          </p:txBody>
        </p:sp>
        <p:sp>
          <p:nvSpPr>
            <p:cNvPr id="18" name="TextBox 18"/>
            <p:cNvSpPr txBox="1"/>
            <p:nvPr/>
          </p:nvSpPr>
          <p:spPr>
            <a:xfrm>
              <a:off x="0" y="4458360"/>
              <a:ext cx="2159584" cy="711099"/>
            </a:xfrm>
            <a:prstGeom prst="rect">
              <a:avLst/>
            </a:prstGeom>
          </p:spPr>
          <p:txBody>
            <a:bodyPr lIns="0" tIns="0" rIns="0" bIns="0" rtlCol="0" anchor="t">
              <a:spAutoFit/>
            </a:bodyPr>
            <a:lstStyle/>
            <a:p>
              <a:pPr algn="ctr">
                <a:lnSpc>
                  <a:spcPts val="2238"/>
                </a:lnSpc>
              </a:pPr>
              <a:r>
                <a:rPr lang="en-US" sz="1599" b="1">
                  <a:solidFill>
                    <a:srgbClr val="000000"/>
                  </a:solidFill>
                  <a:latin typeface="Roboto Slab Bold"/>
                  <a:ea typeface="Roboto Slab Bold"/>
                  <a:cs typeface="Roboto Slab Bold"/>
                  <a:sym typeface="Roboto Slab Bold"/>
                </a:rPr>
                <a:t>Tin nhắn mới từ người dùng</a:t>
              </a:r>
            </a:p>
          </p:txBody>
        </p:sp>
        <p:sp>
          <p:nvSpPr>
            <p:cNvPr id="19" name="TextBox 19"/>
            <p:cNvSpPr txBox="1"/>
            <p:nvPr/>
          </p:nvSpPr>
          <p:spPr>
            <a:xfrm>
              <a:off x="8931372" y="4380980"/>
              <a:ext cx="711669" cy="342727"/>
            </a:xfrm>
            <a:prstGeom prst="rect">
              <a:avLst/>
            </a:prstGeom>
          </p:spPr>
          <p:txBody>
            <a:bodyPr lIns="0" tIns="0" rIns="0" bIns="0" rtlCol="0" anchor="t">
              <a:spAutoFit/>
            </a:bodyPr>
            <a:lstStyle/>
            <a:p>
              <a:pPr algn="ctr">
                <a:lnSpc>
                  <a:spcPts val="2238"/>
                </a:lnSpc>
              </a:pPr>
              <a:r>
                <a:rPr lang="en-US" sz="1599" b="1">
                  <a:solidFill>
                    <a:srgbClr val="000000"/>
                  </a:solidFill>
                  <a:latin typeface="Roboto Slab Bold"/>
                  <a:ea typeface="Roboto Slab Bold"/>
                  <a:cs typeface="Roboto Slab Bold"/>
                  <a:sym typeface="Roboto Slab Bold"/>
                </a:rPr>
                <a:t>LLMs</a:t>
              </a:r>
            </a:p>
          </p:txBody>
        </p:sp>
        <p:sp>
          <p:nvSpPr>
            <p:cNvPr id="20" name="TextBox 20"/>
            <p:cNvSpPr txBox="1"/>
            <p:nvPr/>
          </p:nvSpPr>
          <p:spPr>
            <a:xfrm>
              <a:off x="2731787" y="207277"/>
              <a:ext cx="1720985" cy="791909"/>
            </a:xfrm>
            <a:prstGeom prst="rect">
              <a:avLst/>
            </a:prstGeom>
          </p:spPr>
          <p:txBody>
            <a:bodyPr wrap="square" lIns="0" tIns="0" rIns="0" bIns="0" rtlCol="0" anchor="t">
              <a:spAutoFit/>
            </a:bodyPr>
            <a:lstStyle/>
            <a:p>
              <a:pPr algn="ctr">
                <a:lnSpc>
                  <a:spcPts val="2443"/>
                </a:lnSpc>
              </a:pPr>
              <a:r>
                <a:rPr lang="en-US" sz="1746" b="1" dirty="0">
                  <a:solidFill>
                    <a:srgbClr val="000000"/>
                  </a:solidFill>
                  <a:latin typeface="Roboto Slab Bold"/>
                  <a:ea typeface="Roboto Slab Bold"/>
                  <a:cs typeface="Roboto Slab Bold"/>
                  <a:sym typeface="Roboto Slab Bold"/>
                </a:rPr>
                <a:t>Database</a:t>
              </a:r>
            </a:p>
            <a:p>
              <a:pPr algn="ctr">
                <a:lnSpc>
                  <a:spcPts val="2443"/>
                </a:lnSpc>
              </a:pPr>
              <a:r>
                <a:rPr lang="en-US" sz="1746" b="1" dirty="0">
                  <a:solidFill>
                    <a:srgbClr val="000000"/>
                  </a:solidFill>
                  <a:latin typeface="Roboto Slab Bold"/>
                  <a:ea typeface="Roboto Slab Bold"/>
                  <a:cs typeface="Roboto Slab Bold"/>
                  <a:sym typeface="Roboto Slab Bold"/>
                </a:rPr>
                <a:t>PostgreSQL</a:t>
              </a:r>
            </a:p>
          </p:txBody>
        </p:sp>
        <p:sp>
          <p:nvSpPr>
            <p:cNvPr id="21" name="TextBox 21"/>
            <p:cNvSpPr txBox="1"/>
            <p:nvPr/>
          </p:nvSpPr>
          <p:spPr>
            <a:xfrm>
              <a:off x="8207414" y="2135658"/>
              <a:ext cx="2159584" cy="711099"/>
            </a:xfrm>
            <a:prstGeom prst="rect">
              <a:avLst/>
            </a:prstGeom>
          </p:spPr>
          <p:txBody>
            <a:bodyPr lIns="0" tIns="0" rIns="0" bIns="0" rtlCol="0" anchor="t">
              <a:spAutoFit/>
            </a:bodyPr>
            <a:lstStyle/>
            <a:p>
              <a:pPr algn="ctr">
                <a:lnSpc>
                  <a:spcPts val="2238"/>
                </a:lnSpc>
              </a:pPr>
              <a:r>
                <a:rPr lang="en-US" sz="1599" b="1">
                  <a:solidFill>
                    <a:srgbClr val="000000"/>
                  </a:solidFill>
                  <a:latin typeface="Roboto Slab Bold"/>
                  <a:ea typeface="Roboto Slab Bold"/>
                  <a:cs typeface="Roboto Slab Bold"/>
                  <a:sym typeface="Roboto Slab Bold"/>
                </a:rPr>
                <a:t>Phân tích câu hỏi</a:t>
              </a:r>
            </a:p>
          </p:txBody>
        </p:sp>
        <p:sp>
          <p:nvSpPr>
            <p:cNvPr id="22" name="TextBox 22"/>
            <p:cNvSpPr txBox="1"/>
            <p:nvPr/>
          </p:nvSpPr>
          <p:spPr>
            <a:xfrm>
              <a:off x="14592649" y="2135658"/>
              <a:ext cx="2190915" cy="711099"/>
            </a:xfrm>
            <a:prstGeom prst="rect">
              <a:avLst/>
            </a:prstGeom>
          </p:spPr>
          <p:txBody>
            <a:bodyPr lIns="0" tIns="0" rIns="0" bIns="0" rtlCol="0" anchor="t">
              <a:spAutoFit/>
            </a:bodyPr>
            <a:lstStyle/>
            <a:p>
              <a:pPr algn="ctr">
                <a:lnSpc>
                  <a:spcPts val="2238"/>
                </a:lnSpc>
              </a:pPr>
              <a:r>
                <a:rPr lang="en-US" sz="1599" b="1">
                  <a:solidFill>
                    <a:srgbClr val="000000"/>
                  </a:solidFill>
                  <a:latin typeface="Roboto Slab Bold"/>
                  <a:ea typeface="Roboto Slab Bold"/>
                  <a:cs typeface="Roboto Slab Bold"/>
                  <a:sym typeface="Roboto Slab Bold"/>
                </a:rPr>
                <a:t>Verifier kiểm chứng kết quả</a:t>
              </a:r>
            </a:p>
          </p:txBody>
        </p:sp>
        <p:sp>
          <p:nvSpPr>
            <p:cNvPr id="23" name="TextBox 23"/>
            <p:cNvSpPr txBox="1"/>
            <p:nvPr/>
          </p:nvSpPr>
          <p:spPr>
            <a:xfrm>
              <a:off x="13341128" y="5017343"/>
              <a:ext cx="1331354" cy="730149"/>
            </a:xfrm>
            <a:prstGeom prst="rect">
              <a:avLst/>
            </a:prstGeom>
          </p:spPr>
          <p:txBody>
            <a:bodyPr lIns="0" tIns="0" rIns="0" bIns="0" rtlCol="0" anchor="t">
              <a:spAutoFit/>
            </a:bodyPr>
            <a:lstStyle/>
            <a:p>
              <a:pPr algn="ctr">
                <a:lnSpc>
                  <a:spcPts val="2238"/>
                </a:lnSpc>
              </a:pPr>
              <a:r>
                <a:rPr lang="en-US" sz="1599" i="1">
                  <a:solidFill>
                    <a:srgbClr val="000000"/>
                  </a:solidFill>
                  <a:latin typeface="Roboto Italics"/>
                  <a:ea typeface="Roboto Italics"/>
                  <a:cs typeface="Roboto Italics"/>
                  <a:sym typeface="Roboto Italics"/>
                </a:rPr>
                <a:t>Cần thực hiện tiếp</a:t>
              </a:r>
            </a:p>
          </p:txBody>
        </p:sp>
        <p:sp>
          <p:nvSpPr>
            <p:cNvPr id="24" name="TextBox 24"/>
            <p:cNvSpPr txBox="1"/>
            <p:nvPr/>
          </p:nvSpPr>
          <p:spPr>
            <a:xfrm>
              <a:off x="11749277" y="7298557"/>
              <a:ext cx="1024118" cy="342727"/>
            </a:xfrm>
            <a:prstGeom prst="rect">
              <a:avLst/>
            </a:prstGeom>
          </p:spPr>
          <p:txBody>
            <a:bodyPr lIns="0" tIns="0" rIns="0" bIns="0" rtlCol="0" anchor="t">
              <a:spAutoFit/>
            </a:bodyPr>
            <a:lstStyle/>
            <a:p>
              <a:pPr algn="ctr">
                <a:lnSpc>
                  <a:spcPts val="2238"/>
                </a:lnSpc>
              </a:pPr>
              <a:r>
                <a:rPr lang="en-US" sz="1599" b="1">
                  <a:solidFill>
                    <a:srgbClr val="000000"/>
                  </a:solidFill>
                  <a:latin typeface="Roboto Slab Bold"/>
                  <a:ea typeface="Roboto Slab Bold"/>
                  <a:cs typeface="Roboto Slab Bold"/>
                  <a:sym typeface="Roboto Slab Bold"/>
                </a:rPr>
                <a:t>Các tool</a:t>
              </a:r>
            </a:p>
          </p:txBody>
        </p:sp>
        <p:sp>
          <p:nvSpPr>
            <p:cNvPr id="25" name="TextBox 25"/>
            <p:cNvSpPr txBox="1"/>
            <p:nvPr/>
          </p:nvSpPr>
          <p:spPr>
            <a:xfrm>
              <a:off x="9966315" y="5201529"/>
              <a:ext cx="1331354" cy="361777"/>
            </a:xfrm>
            <a:prstGeom prst="rect">
              <a:avLst/>
            </a:prstGeom>
          </p:spPr>
          <p:txBody>
            <a:bodyPr lIns="0" tIns="0" rIns="0" bIns="0" rtlCol="0" anchor="t">
              <a:spAutoFit/>
            </a:bodyPr>
            <a:lstStyle/>
            <a:p>
              <a:pPr algn="ctr">
                <a:lnSpc>
                  <a:spcPts val="2238"/>
                </a:lnSpc>
              </a:pPr>
              <a:r>
                <a:rPr lang="en-US" sz="1599" i="1">
                  <a:solidFill>
                    <a:srgbClr val="000000"/>
                  </a:solidFill>
                  <a:latin typeface="Roboto Italics"/>
                  <a:ea typeface="Roboto Italics"/>
                  <a:cs typeface="Roboto Italics"/>
                  <a:sym typeface="Roboto Italics"/>
                </a:rPr>
                <a:t>Trả kết quả</a:t>
              </a:r>
            </a:p>
          </p:txBody>
        </p:sp>
        <p:sp>
          <p:nvSpPr>
            <p:cNvPr id="26" name="TextBox 26"/>
            <p:cNvSpPr txBox="1"/>
            <p:nvPr/>
          </p:nvSpPr>
          <p:spPr>
            <a:xfrm>
              <a:off x="2911438" y="1657571"/>
              <a:ext cx="2107222" cy="730149"/>
            </a:xfrm>
            <a:prstGeom prst="rect">
              <a:avLst/>
            </a:prstGeom>
          </p:spPr>
          <p:txBody>
            <a:bodyPr lIns="0" tIns="0" rIns="0" bIns="0" rtlCol="0" anchor="t">
              <a:spAutoFit/>
            </a:bodyPr>
            <a:lstStyle/>
            <a:p>
              <a:pPr algn="ctr">
                <a:lnSpc>
                  <a:spcPts val="2238"/>
                </a:lnSpc>
              </a:pPr>
              <a:r>
                <a:rPr lang="en-US" sz="1599" i="1">
                  <a:solidFill>
                    <a:srgbClr val="000000"/>
                  </a:solidFill>
                  <a:latin typeface="Roboto Italics"/>
                  <a:ea typeface="Roboto Italics"/>
                  <a:cs typeface="Roboto Italics"/>
                  <a:sym typeface="Roboto Italics"/>
                </a:rPr>
                <a:t>Lấy lịch sử trò chuyện</a:t>
              </a:r>
            </a:p>
          </p:txBody>
        </p:sp>
        <p:grpSp>
          <p:nvGrpSpPr>
            <p:cNvPr id="27" name="Group 27"/>
            <p:cNvGrpSpPr/>
            <p:nvPr/>
          </p:nvGrpSpPr>
          <p:grpSpPr>
            <a:xfrm>
              <a:off x="3090017" y="2911534"/>
              <a:ext cx="4302852" cy="1438264"/>
              <a:chOff x="0" y="0"/>
              <a:chExt cx="849926" cy="284134"/>
            </a:xfrm>
          </p:grpSpPr>
          <p:sp>
            <p:nvSpPr>
              <p:cNvPr id="28" name="Freeform 28"/>
              <p:cNvSpPr/>
              <p:nvPr/>
            </p:nvSpPr>
            <p:spPr>
              <a:xfrm>
                <a:off x="0" y="0"/>
                <a:ext cx="849926" cy="284134"/>
              </a:xfrm>
              <a:custGeom>
                <a:avLst/>
                <a:gdLst/>
                <a:ahLst/>
                <a:cxnLst/>
                <a:rect l="l" t="t" r="r" b="b"/>
                <a:pathLst>
                  <a:path w="849926" h="284134">
                    <a:moveTo>
                      <a:pt x="849926" y="59975"/>
                    </a:moveTo>
                    <a:lnTo>
                      <a:pt x="849926" y="224159"/>
                    </a:lnTo>
                    <a:cubicBezTo>
                      <a:pt x="849926" y="240065"/>
                      <a:pt x="843608" y="255320"/>
                      <a:pt x="832360" y="266567"/>
                    </a:cubicBezTo>
                    <a:cubicBezTo>
                      <a:pt x="821112" y="277815"/>
                      <a:pt x="805858" y="284134"/>
                      <a:pt x="789951" y="284134"/>
                    </a:cubicBezTo>
                    <a:lnTo>
                      <a:pt x="59975" y="284134"/>
                    </a:lnTo>
                    <a:cubicBezTo>
                      <a:pt x="26852" y="284134"/>
                      <a:pt x="0" y="257282"/>
                      <a:pt x="0" y="224159"/>
                    </a:cubicBezTo>
                    <a:lnTo>
                      <a:pt x="0" y="59975"/>
                    </a:lnTo>
                    <a:cubicBezTo>
                      <a:pt x="0" y="44069"/>
                      <a:pt x="6319" y="28814"/>
                      <a:pt x="17566" y="17566"/>
                    </a:cubicBezTo>
                    <a:cubicBezTo>
                      <a:pt x="28814" y="6319"/>
                      <a:pt x="44069" y="0"/>
                      <a:pt x="59975" y="0"/>
                    </a:cubicBezTo>
                    <a:lnTo>
                      <a:pt x="789951" y="0"/>
                    </a:lnTo>
                    <a:cubicBezTo>
                      <a:pt x="823075" y="0"/>
                      <a:pt x="849926" y="26852"/>
                      <a:pt x="849926" y="59975"/>
                    </a:cubicBezTo>
                    <a:close/>
                  </a:path>
                </a:pathLst>
              </a:custGeom>
              <a:ln w="28575" cap="rnd">
                <a:solidFill>
                  <a:srgbClr val="000000"/>
                </a:solidFill>
                <a:prstDash val="solid"/>
                <a:round/>
              </a:ln>
            </p:spPr>
            <p:txBody>
              <a:bodyPr/>
              <a:lstStyle/>
              <a:p>
                <a:endParaRPr lang="en-VN"/>
              </a:p>
            </p:txBody>
          </p:sp>
          <p:sp>
            <p:nvSpPr>
              <p:cNvPr id="29" name="TextBox 29"/>
              <p:cNvSpPr txBox="1"/>
              <p:nvPr/>
            </p:nvSpPr>
            <p:spPr>
              <a:xfrm>
                <a:off x="0" y="-38100"/>
                <a:ext cx="849926" cy="322234"/>
              </a:xfrm>
              <a:prstGeom prst="rect">
                <a:avLst/>
              </a:prstGeom>
            </p:spPr>
            <p:txBody>
              <a:bodyPr lIns="50800" tIns="50800" rIns="50800" bIns="50800" rtlCol="0" anchor="ctr"/>
              <a:lstStyle/>
              <a:p>
                <a:pPr algn="ctr">
                  <a:lnSpc>
                    <a:spcPts val="2940"/>
                  </a:lnSpc>
                </a:pPr>
                <a:r>
                  <a:rPr lang="en-US" sz="2100" b="1">
                    <a:solidFill>
                      <a:srgbClr val="000000"/>
                    </a:solidFill>
                    <a:latin typeface="Roboto Slab Bold"/>
                    <a:ea typeface="Roboto Slab Bold"/>
                    <a:cs typeface="Roboto Slab Bold"/>
                    <a:sym typeface="Roboto Slab Bold"/>
                  </a:rPr>
                  <a:t>Tổng hợp context cuộc trò chuyện</a:t>
                </a:r>
              </a:p>
            </p:txBody>
          </p:sp>
        </p:grpSp>
        <p:sp>
          <p:nvSpPr>
            <p:cNvPr id="30" name="AutoShape 30"/>
            <p:cNvSpPr/>
            <p:nvPr/>
          </p:nvSpPr>
          <p:spPr>
            <a:xfrm>
              <a:off x="5241443" y="1382624"/>
              <a:ext cx="0" cy="1528911"/>
            </a:xfrm>
            <a:prstGeom prst="line">
              <a:avLst/>
            </a:prstGeom>
            <a:ln w="50800" cap="flat">
              <a:solidFill>
                <a:srgbClr val="000000"/>
              </a:solidFill>
              <a:prstDash val="solid"/>
              <a:headEnd type="none" w="sm" len="sm"/>
              <a:tailEnd type="triangle" w="lg" len="med"/>
            </a:ln>
          </p:spPr>
          <p:txBody>
            <a:bodyPr/>
            <a:lstStyle/>
            <a:p>
              <a:endParaRPr lang="en-VN"/>
            </a:p>
          </p:txBody>
        </p:sp>
        <p:sp>
          <p:nvSpPr>
            <p:cNvPr id="31" name="AutoShape 31"/>
            <p:cNvSpPr/>
            <p:nvPr/>
          </p:nvSpPr>
          <p:spPr>
            <a:xfrm flipV="1">
              <a:off x="1671066" y="3630666"/>
              <a:ext cx="1419244" cy="10151"/>
            </a:xfrm>
            <a:prstGeom prst="line">
              <a:avLst/>
            </a:prstGeom>
            <a:ln w="50800" cap="flat">
              <a:solidFill>
                <a:srgbClr val="000000"/>
              </a:solidFill>
              <a:prstDash val="solid"/>
              <a:headEnd type="none" w="sm" len="sm"/>
              <a:tailEnd type="triangle" w="lg" len="med"/>
            </a:ln>
          </p:spPr>
          <p:txBody>
            <a:bodyPr/>
            <a:lstStyle/>
            <a:p>
              <a:endParaRPr lang="en-VN"/>
            </a:p>
          </p:txBody>
        </p:sp>
        <p:sp>
          <p:nvSpPr>
            <p:cNvPr id="32" name="AutoShape 32"/>
            <p:cNvSpPr/>
            <p:nvPr/>
          </p:nvSpPr>
          <p:spPr>
            <a:xfrm flipV="1">
              <a:off x="7392576" y="3625171"/>
              <a:ext cx="1289754" cy="5495"/>
            </a:xfrm>
            <a:prstGeom prst="line">
              <a:avLst/>
            </a:prstGeom>
            <a:ln w="50800" cap="flat">
              <a:solidFill>
                <a:srgbClr val="000000"/>
              </a:solidFill>
              <a:prstDash val="solid"/>
              <a:headEnd type="none" w="sm" len="sm"/>
              <a:tailEnd type="triangle" w="lg" len="med"/>
            </a:ln>
          </p:spPr>
          <p:txBody>
            <a:bodyPr/>
            <a:lstStyle/>
            <a:p>
              <a:endParaRPr lang="en-VN"/>
            </a:p>
          </p:txBody>
        </p:sp>
        <p:sp>
          <p:nvSpPr>
            <p:cNvPr id="33" name="Freeform 33"/>
            <p:cNvSpPr/>
            <p:nvPr/>
          </p:nvSpPr>
          <p:spPr>
            <a:xfrm>
              <a:off x="11739017" y="2997695"/>
              <a:ext cx="1209764" cy="1252030"/>
            </a:xfrm>
            <a:custGeom>
              <a:avLst/>
              <a:gdLst/>
              <a:ahLst/>
              <a:cxnLst/>
              <a:rect l="l" t="t" r="r" b="b"/>
              <a:pathLst>
                <a:path w="1209764" h="1252030">
                  <a:moveTo>
                    <a:pt x="0" y="0"/>
                  </a:moveTo>
                  <a:lnTo>
                    <a:pt x="1209764" y="0"/>
                  </a:lnTo>
                  <a:lnTo>
                    <a:pt x="1209764" y="1252030"/>
                  </a:lnTo>
                  <a:lnTo>
                    <a:pt x="0" y="1252030"/>
                  </a:lnTo>
                  <a:lnTo>
                    <a:pt x="0" y="0"/>
                  </a:lnTo>
                  <a:close/>
                </a:path>
              </a:pathLst>
            </a:custGeom>
            <a:blipFill>
              <a:blip>
                <a:extLst>
                  <a:ext uri="{96DAC541-7B7A-43D3-8B79-37D633B846F1}">
                    <asvg:svgBlip xmlns:asvg="http://schemas.microsoft.com/office/drawing/2016/SVG/main" r:embed="rId5"/>
                  </a:ext>
                </a:extLst>
              </a:blip>
              <a:stretch>
                <a:fillRect l="-178" r="-178"/>
              </a:stretch>
            </a:blipFill>
          </p:spPr>
          <p:txBody>
            <a:bodyPr/>
            <a:lstStyle/>
            <a:p>
              <a:endParaRPr lang="en-VN"/>
            </a:p>
          </p:txBody>
        </p:sp>
        <p:sp>
          <p:nvSpPr>
            <p:cNvPr id="34" name="TextBox 34"/>
            <p:cNvSpPr txBox="1"/>
            <p:nvPr/>
          </p:nvSpPr>
          <p:spPr>
            <a:xfrm>
              <a:off x="11181544" y="1767285"/>
              <a:ext cx="2159584" cy="1079471"/>
            </a:xfrm>
            <a:prstGeom prst="rect">
              <a:avLst/>
            </a:prstGeom>
          </p:spPr>
          <p:txBody>
            <a:bodyPr lIns="0" tIns="0" rIns="0" bIns="0" rtlCol="0" anchor="t">
              <a:spAutoFit/>
            </a:bodyPr>
            <a:lstStyle/>
            <a:p>
              <a:pPr algn="ctr">
                <a:lnSpc>
                  <a:spcPts val="2238"/>
                </a:lnSpc>
              </a:pPr>
              <a:r>
                <a:rPr lang="en-US" sz="1599" b="1">
                  <a:solidFill>
                    <a:srgbClr val="000000"/>
                  </a:solidFill>
                  <a:latin typeface="Roboto Slab Bold"/>
                  <a:ea typeface="Roboto Slab Bold"/>
                  <a:cs typeface="Roboto Slab Bold"/>
                  <a:sym typeface="Roboto Slab Bold"/>
                </a:rPr>
                <a:t>Điều phối các tool để thu thập context</a:t>
              </a:r>
            </a:p>
          </p:txBody>
        </p:sp>
        <p:sp>
          <p:nvSpPr>
            <p:cNvPr id="35" name="AutoShape 35"/>
            <p:cNvSpPr/>
            <p:nvPr/>
          </p:nvSpPr>
          <p:spPr>
            <a:xfrm flipV="1">
              <a:off x="9892095" y="3623710"/>
              <a:ext cx="1846922" cy="1461"/>
            </a:xfrm>
            <a:prstGeom prst="line">
              <a:avLst/>
            </a:prstGeom>
            <a:ln w="50800" cap="flat">
              <a:solidFill>
                <a:srgbClr val="000000"/>
              </a:solidFill>
              <a:prstDash val="solid"/>
              <a:headEnd type="none" w="sm" len="sm"/>
              <a:tailEnd type="triangle" w="lg" len="med"/>
            </a:ln>
          </p:spPr>
          <p:txBody>
            <a:bodyPr/>
            <a:lstStyle/>
            <a:p>
              <a:endParaRPr lang="en-VN"/>
            </a:p>
          </p:txBody>
        </p:sp>
        <p:sp>
          <p:nvSpPr>
            <p:cNvPr id="36" name="Freeform 36"/>
            <p:cNvSpPr/>
            <p:nvPr/>
          </p:nvSpPr>
          <p:spPr>
            <a:xfrm>
              <a:off x="12562195" y="4249725"/>
              <a:ext cx="598294" cy="2121707"/>
            </a:xfrm>
            <a:custGeom>
              <a:avLst/>
              <a:gdLst/>
              <a:ahLst/>
              <a:cxnLst/>
              <a:rect l="l" t="t" r="r" b="b"/>
              <a:pathLst>
                <a:path w="598294" h="2121707">
                  <a:moveTo>
                    <a:pt x="386586" y="0"/>
                  </a:moveTo>
                  <a:quadBezTo>
                    <a:pt x="954193" y="1199493"/>
                    <a:pt x="0" y="2121707"/>
                  </a:quadBezTo>
                </a:path>
              </a:pathLst>
            </a:custGeom>
            <a:ln w="50800" cap="flat">
              <a:solidFill>
                <a:srgbClr val="000000"/>
              </a:solidFill>
              <a:prstDash val="solid"/>
              <a:headEnd type="none" w="sm" len="sm"/>
              <a:tailEnd type="arrow" w="med" len="sm"/>
            </a:ln>
          </p:spPr>
          <p:txBody>
            <a:bodyPr/>
            <a:lstStyle/>
            <a:p>
              <a:endParaRPr lang="en-VN"/>
            </a:p>
          </p:txBody>
        </p:sp>
        <p:sp>
          <p:nvSpPr>
            <p:cNvPr id="37" name="Freeform 37"/>
            <p:cNvSpPr/>
            <p:nvPr/>
          </p:nvSpPr>
          <p:spPr>
            <a:xfrm>
              <a:off x="11466733" y="4249725"/>
              <a:ext cx="378926" cy="2121707"/>
            </a:xfrm>
            <a:custGeom>
              <a:avLst/>
              <a:gdLst/>
              <a:ahLst/>
              <a:cxnLst/>
              <a:rect l="l" t="t" r="r" b="b"/>
              <a:pathLst>
                <a:path w="378926" h="2121707">
                  <a:moveTo>
                    <a:pt x="378926" y="2121707"/>
                  </a:moveTo>
                  <a:quadBezTo>
                    <a:pt x="-321209" y="1093364"/>
                    <a:pt x="272284" y="0"/>
                  </a:quadBezTo>
                </a:path>
              </a:pathLst>
            </a:custGeom>
            <a:ln w="50800" cap="flat">
              <a:solidFill>
                <a:srgbClr val="000000"/>
              </a:solidFill>
              <a:prstDash val="solid"/>
              <a:headEnd type="none" w="sm" len="sm"/>
              <a:tailEnd type="arrow" w="med" len="sm"/>
            </a:ln>
          </p:spPr>
          <p:txBody>
            <a:bodyPr/>
            <a:lstStyle/>
            <a:p>
              <a:endParaRPr lang="en-VN"/>
            </a:p>
          </p:txBody>
        </p:sp>
        <p:sp>
          <p:nvSpPr>
            <p:cNvPr id="38" name="TextBox 38"/>
            <p:cNvSpPr txBox="1"/>
            <p:nvPr/>
          </p:nvSpPr>
          <p:spPr>
            <a:xfrm>
              <a:off x="15332273" y="4380980"/>
              <a:ext cx="711669" cy="342727"/>
            </a:xfrm>
            <a:prstGeom prst="rect">
              <a:avLst/>
            </a:prstGeom>
          </p:spPr>
          <p:txBody>
            <a:bodyPr lIns="0" tIns="0" rIns="0" bIns="0" rtlCol="0" anchor="t">
              <a:spAutoFit/>
            </a:bodyPr>
            <a:lstStyle/>
            <a:p>
              <a:pPr algn="ctr">
                <a:lnSpc>
                  <a:spcPts val="2238"/>
                </a:lnSpc>
              </a:pPr>
              <a:r>
                <a:rPr lang="en-US" sz="1599" b="1">
                  <a:solidFill>
                    <a:srgbClr val="000000"/>
                  </a:solidFill>
                  <a:latin typeface="Roboto Slab Bold"/>
                  <a:ea typeface="Roboto Slab Bold"/>
                  <a:cs typeface="Roboto Slab Bold"/>
                  <a:sym typeface="Roboto Slab Bold"/>
                </a:rPr>
                <a:t>LLMs</a:t>
              </a:r>
            </a:p>
          </p:txBody>
        </p:sp>
        <p:sp>
          <p:nvSpPr>
            <p:cNvPr id="39" name="AutoShape 39"/>
            <p:cNvSpPr/>
            <p:nvPr/>
          </p:nvSpPr>
          <p:spPr>
            <a:xfrm>
              <a:off x="12948781" y="3623710"/>
              <a:ext cx="2134444" cy="0"/>
            </a:xfrm>
            <a:prstGeom prst="line">
              <a:avLst/>
            </a:prstGeom>
            <a:ln w="50800" cap="flat">
              <a:solidFill>
                <a:srgbClr val="000000"/>
              </a:solidFill>
              <a:prstDash val="solid"/>
              <a:headEnd type="none" w="sm" len="sm"/>
              <a:tailEnd type="triangle" w="lg" len="med"/>
            </a:ln>
          </p:spPr>
          <p:txBody>
            <a:bodyPr/>
            <a:lstStyle/>
            <a:p>
              <a:endParaRPr lang="en-VN"/>
            </a:p>
          </p:txBody>
        </p:sp>
        <p:sp>
          <p:nvSpPr>
            <p:cNvPr id="40" name="AutoShape 40"/>
            <p:cNvSpPr/>
            <p:nvPr/>
          </p:nvSpPr>
          <p:spPr>
            <a:xfrm>
              <a:off x="16292989" y="3623710"/>
              <a:ext cx="1422613" cy="0"/>
            </a:xfrm>
            <a:prstGeom prst="line">
              <a:avLst/>
            </a:prstGeom>
            <a:ln w="50800" cap="flat">
              <a:solidFill>
                <a:srgbClr val="000000"/>
              </a:solidFill>
              <a:prstDash val="solid"/>
              <a:headEnd type="none" w="sm" len="sm"/>
              <a:tailEnd type="triangle" w="lg" len="med"/>
            </a:ln>
          </p:spPr>
          <p:txBody>
            <a:bodyPr/>
            <a:lstStyle/>
            <a:p>
              <a:endParaRPr lang="en-VN"/>
            </a:p>
          </p:txBody>
        </p:sp>
        <p:grpSp>
          <p:nvGrpSpPr>
            <p:cNvPr id="41" name="Group 41"/>
            <p:cNvGrpSpPr/>
            <p:nvPr/>
          </p:nvGrpSpPr>
          <p:grpSpPr>
            <a:xfrm>
              <a:off x="17715389" y="2904578"/>
              <a:ext cx="3127189" cy="1438264"/>
              <a:chOff x="0" y="0"/>
              <a:chExt cx="617702" cy="284134"/>
            </a:xfrm>
          </p:grpSpPr>
          <p:sp>
            <p:nvSpPr>
              <p:cNvPr id="42" name="Freeform 42"/>
              <p:cNvSpPr/>
              <p:nvPr/>
            </p:nvSpPr>
            <p:spPr>
              <a:xfrm>
                <a:off x="0" y="0"/>
                <a:ext cx="617702" cy="284134"/>
              </a:xfrm>
              <a:custGeom>
                <a:avLst/>
                <a:gdLst/>
                <a:ahLst/>
                <a:cxnLst/>
                <a:rect l="l" t="t" r="r" b="b"/>
                <a:pathLst>
                  <a:path w="617702" h="284134">
                    <a:moveTo>
                      <a:pt x="617702" y="82523"/>
                    </a:moveTo>
                    <a:lnTo>
                      <a:pt x="617702" y="201611"/>
                    </a:lnTo>
                    <a:cubicBezTo>
                      <a:pt x="617702" y="223497"/>
                      <a:pt x="609008" y="244487"/>
                      <a:pt x="593532" y="259963"/>
                    </a:cubicBezTo>
                    <a:cubicBezTo>
                      <a:pt x="578056" y="275439"/>
                      <a:pt x="557066" y="284134"/>
                      <a:pt x="535179" y="284134"/>
                    </a:cubicBezTo>
                    <a:lnTo>
                      <a:pt x="82523" y="284134"/>
                    </a:lnTo>
                    <a:cubicBezTo>
                      <a:pt x="60636" y="284134"/>
                      <a:pt x="39646" y="275439"/>
                      <a:pt x="24170" y="259963"/>
                    </a:cubicBezTo>
                    <a:cubicBezTo>
                      <a:pt x="8694" y="244487"/>
                      <a:pt x="0" y="223497"/>
                      <a:pt x="0" y="201611"/>
                    </a:cubicBezTo>
                    <a:lnTo>
                      <a:pt x="0" y="82523"/>
                    </a:lnTo>
                    <a:cubicBezTo>
                      <a:pt x="0" y="60636"/>
                      <a:pt x="8694" y="39646"/>
                      <a:pt x="24170" y="24170"/>
                    </a:cubicBezTo>
                    <a:cubicBezTo>
                      <a:pt x="39646" y="8694"/>
                      <a:pt x="60636" y="0"/>
                      <a:pt x="82523" y="0"/>
                    </a:cubicBezTo>
                    <a:lnTo>
                      <a:pt x="535179" y="0"/>
                    </a:lnTo>
                    <a:cubicBezTo>
                      <a:pt x="557066" y="0"/>
                      <a:pt x="578056" y="8694"/>
                      <a:pt x="593532" y="24170"/>
                    </a:cubicBezTo>
                    <a:cubicBezTo>
                      <a:pt x="609008" y="39646"/>
                      <a:pt x="617702" y="60636"/>
                      <a:pt x="617702" y="82523"/>
                    </a:cubicBezTo>
                    <a:close/>
                  </a:path>
                </a:pathLst>
              </a:custGeom>
              <a:ln w="28575" cap="rnd">
                <a:solidFill>
                  <a:srgbClr val="000000"/>
                </a:solidFill>
                <a:prstDash val="solid"/>
                <a:round/>
              </a:ln>
            </p:spPr>
            <p:txBody>
              <a:bodyPr/>
              <a:lstStyle/>
              <a:p>
                <a:endParaRPr lang="en-VN"/>
              </a:p>
            </p:txBody>
          </p:sp>
          <p:sp>
            <p:nvSpPr>
              <p:cNvPr id="43" name="TextBox 43"/>
              <p:cNvSpPr txBox="1"/>
              <p:nvPr/>
            </p:nvSpPr>
            <p:spPr>
              <a:xfrm>
                <a:off x="0" y="-38100"/>
                <a:ext cx="617702" cy="322234"/>
              </a:xfrm>
              <a:prstGeom prst="rect">
                <a:avLst/>
              </a:prstGeom>
            </p:spPr>
            <p:txBody>
              <a:bodyPr lIns="50800" tIns="50800" rIns="50800" bIns="50800" rtlCol="0" anchor="ctr"/>
              <a:lstStyle/>
              <a:p>
                <a:pPr algn="ctr">
                  <a:lnSpc>
                    <a:spcPts val="2940"/>
                  </a:lnSpc>
                </a:pPr>
                <a:r>
                  <a:rPr lang="en-US" sz="2100" b="1">
                    <a:solidFill>
                      <a:srgbClr val="000000"/>
                    </a:solidFill>
                    <a:latin typeface="Roboto Slab Bold"/>
                    <a:ea typeface="Roboto Slab Bold"/>
                    <a:cs typeface="Roboto Slab Bold"/>
                    <a:sym typeface="Roboto Slab Bold"/>
                  </a:rPr>
                  <a:t>Câu trả lời có căn cứ pháp lý</a:t>
                </a:r>
              </a:p>
            </p:txBody>
          </p:sp>
        </p:grpSp>
        <p:sp>
          <p:nvSpPr>
            <p:cNvPr id="44" name="TextBox 44"/>
            <p:cNvSpPr txBox="1"/>
            <p:nvPr/>
          </p:nvSpPr>
          <p:spPr>
            <a:xfrm>
              <a:off x="5667717" y="9320859"/>
              <a:ext cx="8823519" cy="483695"/>
            </a:xfrm>
            <a:prstGeom prst="rect">
              <a:avLst/>
            </a:prstGeom>
          </p:spPr>
          <p:txBody>
            <a:bodyPr lIns="0" tIns="0" rIns="0" bIns="0" rtlCol="0" anchor="t">
              <a:spAutoFit/>
            </a:bodyPr>
            <a:lstStyle/>
            <a:p>
              <a:pPr algn="ctr">
                <a:lnSpc>
                  <a:spcPts val="3199"/>
                </a:lnSpc>
              </a:pPr>
              <a:r>
                <a:rPr lang="en-US" sz="1999" b="1" i="1">
                  <a:solidFill>
                    <a:srgbClr val="0C1D4B"/>
                  </a:solidFill>
                  <a:latin typeface="Roboto Bold Italics"/>
                  <a:ea typeface="Roboto Bold Italics"/>
                  <a:cs typeface="Roboto Bold Italics"/>
                  <a:sym typeface="Roboto Bold Italics"/>
                </a:rPr>
                <a:t>Hành trình của một tin nhắn khi đi qua hệ thống</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grpId="0" nodeType="withEffect">
                            <p:stCondLst>
                              <p:cond delay="180"/>
                            </p:stCondLst>
                            <p:childTnLst>
                              <p:set>
                                <p:cBhvr>
                                  <p:cTn id="5" dur="1" fill="hold">
                                    <p:stCondLst>
                                      <p:cond delay="0"/>
                                    </p:stCondLst>
                                  </p:cTn>
                                  <p:tgtEl>
                                    <p:spTgt spid="12"/>
                                  </p:tgtEl>
                                  <p:attrNameLst>
                                    <p:attrName>style.visibility</p:attrName>
                                  </p:attrNameLst>
                                </p:cBhvr>
                                <p:to>
                                  <p:strVal val="visible"/>
                                </p:to>
                              </p:set>
                              <p:animEffect transition="in" filter="wipe(left)">
                                <p:cBhvr>
                                  <p:cTn id="6" dur="860"/>
                                  <p:tgtEl>
                                    <p:spTgt spid="12"/>
                                  </p:tgtEl>
                                </p:cBhvr>
                              </p:animEffect>
                            </p:childTnLst>
                          </p:cTn>
                        </p:par>
                      </p:childTnLst>
                    </p:cTn>
                  </p:par>
                </p:childTnLst>
              </p:cTn>
            </p:seq>
          </p:childTnLst>
        </p:cTn>
      </p:par>
    </p:tnLst>
    <p:bldLst>
      <p:bldP spid="1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10800000">
            <a:off x="17259300" y="-233820"/>
            <a:ext cx="1940843" cy="970417"/>
            <a:chOff x="0" y="0"/>
            <a:chExt cx="2587790" cy="1293889"/>
          </a:xfrm>
        </p:grpSpPr>
        <p:sp>
          <p:nvSpPr>
            <p:cNvPr id="3" name="Freeform 3"/>
            <p:cNvSpPr/>
            <p:nvPr/>
          </p:nvSpPr>
          <p:spPr>
            <a:xfrm>
              <a:off x="0" y="0"/>
              <a:ext cx="2587752" cy="1293876"/>
            </a:xfrm>
            <a:custGeom>
              <a:avLst/>
              <a:gdLst/>
              <a:ahLst/>
              <a:cxnLst/>
              <a:rect l="l" t="t" r="r" b="b"/>
              <a:pathLst>
                <a:path w="2587752" h="1293876">
                  <a:moveTo>
                    <a:pt x="0" y="0"/>
                  </a:moveTo>
                  <a:lnTo>
                    <a:pt x="2587752" y="0"/>
                  </a:lnTo>
                  <a:lnTo>
                    <a:pt x="2587752" y="1293876"/>
                  </a:lnTo>
                  <a:lnTo>
                    <a:pt x="0" y="1293876"/>
                  </a:lnTo>
                  <a:lnTo>
                    <a:pt x="0" y="0"/>
                  </a:lnTo>
                  <a:close/>
                </a:path>
              </a:pathLst>
            </a:custGeom>
            <a:blipFill>
              <a:blip r:embed="rId2"/>
              <a:stretch>
                <a:fillRect r="-1"/>
              </a:stretch>
            </a:blipFill>
          </p:spPr>
          <p:txBody>
            <a:bodyPr/>
            <a:lstStyle/>
            <a:p>
              <a:endParaRPr lang="en-VN"/>
            </a:p>
          </p:txBody>
        </p:sp>
      </p:grpSp>
      <p:grpSp>
        <p:nvGrpSpPr>
          <p:cNvPr id="4" name="Group 4"/>
          <p:cNvGrpSpPr/>
          <p:nvPr/>
        </p:nvGrpSpPr>
        <p:grpSpPr>
          <a:xfrm>
            <a:off x="-912143" y="9429369"/>
            <a:ext cx="1940843" cy="970417"/>
            <a:chOff x="0" y="0"/>
            <a:chExt cx="2587790" cy="1293889"/>
          </a:xfrm>
        </p:grpSpPr>
        <p:sp>
          <p:nvSpPr>
            <p:cNvPr id="5" name="Freeform 5"/>
            <p:cNvSpPr/>
            <p:nvPr/>
          </p:nvSpPr>
          <p:spPr>
            <a:xfrm>
              <a:off x="0" y="0"/>
              <a:ext cx="2587752" cy="1293876"/>
            </a:xfrm>
            <a:custGeom>
              <a:avLst/>
              <a:gdLst/>
              <a:ahLst/>
              <a:cxnLst/>
              <a:rect l="l" t="t" r="r" b="b"/>
              <a:pathLst>
                <a:path w="2587752" h="1293876">
                  <a:moveTo>
                    <a:pt x="0" y="0"/>
                  </a:moveTo>
                  <a:lnTo>
                    <a:pt x="2587752" y="0"/>
                  </a:lnTo>
                  <a:lnTo>
                    <a:pt x="2587752" y="1293876"/>
                  </a:lnTo>
                  <a:lnTo>
                    <a:pt x="0" y="1293876"/>
                  </a:lnTo>
                  <a:lnTo>
                    <a:pt x="0" y="0"/>
                  </a:lnTo>
                  <a:close/>
                </a:path>
              </a:pathLst>
            </a:custGeom>
            <a:blipFill>
              <a:blip r:embed="rId2"/>
              <a:stretch>
                <a:fillRect r="-1"/>
              </a:stretch>
            </a:blipFill>
          </p:spPr>
          <p:txBody>
            <a:bodyPr/>
            <a:lstStyle/>
            <a:p>
              <a:endParaRPr lang="en-VN"/>
            </a:p>
          </p:txBody>
        </p:sp>
      </p:grpSp>
      <p:grpSp>
        <p:nvGrpSpPr>
          <p:cNvPr id="6" name="Group 6"/>
          <p:cNvGrpSpPr/>
          <p:nvPr/>
        </p:nvGrpSpPr>
        <p:grpSpPr>
          <a:xfrm>
            <a:off x="-3127839" y="9986436"/>
            <a:ext cx="22035035" cy="2837612"/>
            <a:chOff x="0" y="0"/>
            <a:chExt cx="5803466" cy="747355"/>
          </a:xfrm>
        </p:grpSpPr>
        <p:sp>
          <p:nvSpPr>
            <p:cNvPr id="7" name="Freeform 7"/>
            <p:cNvSpPr/>
            <p:nvPr/>
          </p:nvSpPr>
          <p:spPr>
            <a:xfrm>
              <a:off x="0" y="0"/>
              <a:ext cx="5803466" cy="747355"/>
            </a:xfrm>
            <a:custGeom>
              <a:avLst/>
              <a:gdLst/>
              <a:ahLst/>
              <a:cxnLst/>
              <a:rect l="l" t="t" r="r" b="b"/>
              <a:pathLst>
                <a:path w="5803466" h="747355">
                  <a:moveTo>
                    <a:pt x="0" y="0"/>
                  </a:moveTo>
                  <a:lnTo>
                    <a:pt x="5803466" y="0"/>
                  </a:lnTo>
                  <a:lnTo>
                    <a:pt x="5803466" y="747355"/>
                  </a:lnTo>
                  <a:lnTo>
                    <a:pt x="0" y="747355"/>
                  </a:lnTo>
                  <a:close/>
                </a:path>
              </a:pathLst>
            </a:custGeom>
            <a:solidFill>
              <a:srgbClr val="3C4F75"/>
            </a:solidFill>
          </p:spPr>
          <p:txBody>
            <a:bodyPr/>
            <a:lstStyle/>
            <a:p>
              <a:endParaRPr lang="en-VN"/>
            </a:p>
          </p:txBody>
        </p:sp>
        <p:sp>
          <p:nvSpPr>
            <p:cNvPr id="8" name="TextBox 8"/>
            <p:cNvSpPr txBox="1"/>
            <p:nvPr/>
          </p:nvSpPr>
          <p:spPr>
            <a:xfrm>
              <a:off x="0" y="-47625"/>
              <a:ext cx="5803466" cy="794980"/>
            </a:xfrm>
            <a:prstGeom prst="rect">
              <a:avLst/>
            </a:prstGeom>
          </p:spPr>
          <p:txBody>
            <a:bodyPr lIns="50800" tIns="50800" rIns="50800" bIns="50800" rtlCol="0" anchor="ctr"/>
            <a:lstStyle/>
            <a:p>
              <a:pPr algn="ctr">
                <a:lnSpc>
                  <a:spcPts val="2940"/>
                </a:lnSpc>
              </a:pPr>
              <a:endParaRPr/>
            </a:p>
          </p:txBody>
        </p:sp>
      </p:grpSp>
      <p:sp>
        <p:nvSpPr>
          <p:cNvPr id="9" name="Freeform 9"/>
          <p:cNvSpPr/>
          <p:nvPr/>
        </p:nvSpPr>
        <p:spPr>
          <a:xfrm>
            <a:off x="1028700" y="251389"/>
            <a:ext cx="551704" cy="584433"/>
          </a:xfrm>
          <a:custGeom>
            <a:avLst/>
            <a:gdLst/>
            <a:ahLst/>
            <a:cxnLst/>
            <a:rect l="l" t="t" r="r" b="b"/>
            <a:pathLst>
              <a:path w="551704" h="584433">
                <a:moveTo>
                  <a:pt x="0" y="0"/>
                </a:moveTo>
                <a:lnTo>
                  <a:pt x="551704" y="0"/>
                </a:lnTo>
                <a:lnTo>
                  <a:pt x="551704" y="584432"/>
                </a:lnTo>
                <a:lnTo>
                  <a:pt x="0" y="584432"/>
                </a:lnTo>
                <a:lnTo>
                  <a:pt x="0" y="0"/>
                </a:lnTo>
                <a:close/>
              </a:path>
            </a:pathLst>
          </a:custGeom>
          <a:blipFill>
            <a:blip r:embed="rId3"/>
            <a:stretch>
              <a:fillRect/>
            </a:stretch>
          </a:blipFill>
        </p:spPr>
        <p:txBody>
          <a:bodyPr/>
          <a:lstStyle/>
          <a:p>
            <a:endParaRPr lang="en-VN"/>
          </a:p>
        </p:txBody>
      </p:sp>
      <p:sp>
        <p:nvSpPr>
          <p:cNvPr id="10" name="TextBox 10"/>
          <p:cNvSpPr txBox="1"/>
          <p:nvPr/>
        </p:nvSpPr>
        <p:spPr>
          <a:xfrm>
            <a:off x="1028700" y="1095375"/>
            <a:ext cx="5617179" cy="534618"/>
          </a:xfrm>
          <a:prstGeom prst="rect">
            <a:avLst/>
          </a:prstGeom>
        </p:spPr>
        <p:txBody>
          <a:bodyPr lIns="0" tIns="0" rIns="0" bIns="0" rtlCol="0" anchor="t">
            <a:spAutoFit/>
          </a:bodyPr>
          <a:lstStyle/>
          <a:p>
            <a:pPr algn="just">
              <a:lnSpc>
                <a:spcPts val="4039"/>
              </a:lnSpc>
            </a:pPr>
            <a:r>
              <a:rPr lang="en-US" sz="3999" b="1">
                <a:solidFill>
                  <a:srgbClr val="0C1D4B"/>
                </a:solidFill>
                <a:latin typeface="Roboto Slab Bold"/>
                <a:ea typeface="Roboto Slab Bold"/>
                <a:cs typeface="Roboto Slab Bold"/>
                <a:sym typeface="Roboto Slab Bold"/>
              </a:rPr>
              <a:t>3.3. Đồ thị của hệ thống</a:t>
            </a:r>
          </a:p>
        </p:txBody>
      </p:sp>
      <p:sp>
        <p:nvSpPr>
          <p:cNvPr id="11" name="TextBox 11"/>
          <p:cNvSpPr txBox="1"/>
          <p:nvPr/>
        </p:nvSpPr>
        <p:spPr>
          <a:xfrm>
            <a:off x="1687249" y="346410"/>
            <a:ext cx="3954904" cy="356289"/>
          </a:xfrm>
          <a:prstGeom prst="rect">
            <a:avLst/>
          </a:prstGeom>
        </p:spPr>
        <p:txBody>
          <a:bodyPr lIns="0" tIns="0" rIns="0" bIns="0" rtlCol="0" anchor="t">
            <a:spAutoFit/>
          </a:bodyPr>
          <a:lstStyle/>
          <a:p>
            <a:pPr algn="l">
              <a:lnSpc>
                <a:spcPts val="2940"/>
              </a:lnSpc>
            </a:pPr>
            <a:r>
              <a:rPr lang="en-US" sz="2100" b="1">
                <a:solidFill>
                  <a:srgbClr val="2C2C2C"/>
                </a:solidFill>
                <a:latin typeface="Roboto Slab Bold"/>
                <a:ea typeface="Roboto Slab Bold"/>
                <a:cs typeface="Roboto Slab Bold"/>
                <a:sym typeface="Roboto Slab Bold"/>
              </a:rPr>
              <a:t>HỌC VIỆN KỸ THUẬT MẬT MÃ</a:t>
            </a:r>
          </a:p>
        </p:txBody>
      </p:sp>
      <p:pic>
        <p:nvPicPr>
          <p:cNvPr id="54" name="Picture 53">
            <a:extLst>
              <a:ext uri="{FF2B5EF4-FFF2-40B4-BE49-F238E27FC236}">
                <a16:creationId xmlns:a16="http://schemas.microsoft.com/office/drawing/2014/main" id="{60CCFE10-199A-0BD4-F5D5-B886110E8C99}"/>
              </a:ext>
            </a:extLst>
          </p:cNvPr>
          <p:cNvPicPr>
            <a:picLocks noChangeAspect="1"/>
          </p:cNvPicPr>
          <p:nvPr/>
        </p:nvPicPr>
        <p:blipFill>
          <a:blip r:embed="rId4"/>
          <a:stretch>
            <a:fillRect/>
          </a:stretch>
        </p:blipFill>
        <p:spPr>
          <a:xfrm>
            <a:off x="3368534" y="1862752"/>
            <a:ext cx="11550931" cy="7557583"/>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grpId="0" nodeType="withEffect">
                            <p:stCondLst>
                              <p:cond delay="180"/>
                            </p:stCondLst>
                            <p:childTnLst>
                              <p:set>
                                <p:cBhvr>
                                  <p:cTn id="5" dur="1" fill="hold">
                                    <p:stCondLst>
                                      <p:cond delay="0"/>
                                    </p:stCondLst>
                                  </p:cTn>
                                  <p:tgtEl>
                                    <p:spTgt spid="10"/>
                                  </p:tgtEl>
                                  <p:attrNameLst>
                                    <p:attrName>style.visibility</p:attrName>
                                  </p:attrNameLst>
                                </p:cBhvr>
                                <p:to>
                                  <p:strVal val="visible"/>
                                </p:to>
                              </p:set>
                              <p:animEffect transition="in" filter="wipe(left)">
                                <p:cBhvr>
                                  <p:cTn id="6" dur="860"/>
                                  <p:tgtEl>
                                    <p:spTgt spid="10"/>
                                  </p:tgtEl>
                                </p:cBhvr>
                              </p:animEffect>
                            </p:childTnLst>
                          </p:cTn>
                        </p:par>
                        <p:par>
                          <p:cTn id="7" presetID="10" presetClass="entr" presetSubtype="0" fill="hold" grpId="0" nodeType="withEffect">
                            <p:stCondLst>
                              <p:cond delay="350"/>
                            </p:stCondLst>
                            <p:childTnLst>
                              <p:set>
                                <p:cBhvr>
                                  <p:cTn id="8" dur="1" fill="hold">
                                    <p:stCondLst>
                                      <p:cond delay="0"/>
                                    </p:stCondLst>
                                  </p:cTn>
                                  <p:tgtEl>
                                    <p:spTgt spid="54"/>
                                  </p:tgtEl>
                                  <p:attrNameLst>
                                    <p:attrName>style.visibility</p:attrName>
                                  </p:attrNameLst>
                                </p:cBhvr>
                                <p:to>
                                  <p:strVal val="visible"/>
                                </p:to>
                              </p:set>
                              <p:animEffect transition="in" filter="wipe(left)">
                                <p:cBhvr>
                                  <p:cTn id="9" dur="860"/>
                                  <p:tgtEl>
                                    <p:spTgt spid="54"/>
                                  </p:tgtEl>
                                </p:cBhvr>
                              </p:animEffect>
                            </p:childTnLst>
                          </p:cTn>
                        </p:par>
                      </p:childTnLst>
                    </p:cTn>
                  </p:par>
                </p:childTnLst>
              </p:cTn>
            </p:seq>
          </p:childTnLst>
        </p:cTn>
      </p:par>
    </p:tnLst>
    <p:bldLst>
      <p:bldP spid="10" grpId="0"/>
      <p:bldP spid="54"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10800000">
            <a:off x="17259300" y="-233820"/>
            <a:ext cx="1940843" cy="970417"/>
            <a:chOff x="0" y="0"/>
            <a:chExt cx="2587790" cy="1293889"/>
          </a:xfrm>
        </p:grpSpPr>
        <p:sp>
          <p:nvSpPr>
            <p:cNvPr id="3" name="Freeform 3"/>
            <p:cNvSpPr/>
            <p:nvPr/>
          </p:nvSpPr>
          <p:spPr>
            <a:xfrm>
              <a:off x="0" y="0"/>
              <a:ext cx="2587752" cy="1293876"/>
            </a:xfrm>
            <a:custGeom>
              <a:avLst/>
              <a:gdLst/>
              <a:ahLst/>
              <a:cxnLst/>
              <a:rect l="l" t="t" r="r" b="b"/>
              <a:pathLst>
                <a:path w="2587752" h="1293876">
                  <a:moveTo>
                    <a:pt x="0" y="0"/>
                  </a:moveTo>
                  <a:lnTo>
                    <a:pt x="2587752" y="0"/>
                  </a:lnTo>
                  <a:lnTo>
                    <a:pt x="2587752" y="1293876"/>
                  </a:lnTo>
                  <a:lnTo>
                    <a:pt x="0" y="1293876"/>
                  </a:lnTo>
                  <a:lnTo>
                    <a:pt x="0" y="0"/>
                  </a:lnTo>
                  <a:close/>
                </a:path>
              </a:pathLst>
            </a:custGeom>
            <a:blipFill>
              <a:blip r:embed="rId2"/>
              <a:stretch>
                <a:fillRect r="-1"/>
              </a:stretch>
            </a:blipFill>
          </p:spPr>
          <p:txBody>
            <a:bodyPr/>
            <a:lstStyle/>
            <a:p>
              <a:endParaRPr lang="en-VN"/>
            </a:p>
          </p:txBody>
        </p:sp>
      </p:grpSp>
      <p:grpSp>
        <p:nvGrpSpPr>
          <p:cNvPr id="4" name="Group 4"/>
          <p:cNvGrpSpPr/>
          <p:nvPr/>
        </p:nvGrpSpPr>
        <p:grpSpPr>
          <a:xfrm>
            <a:off x="-912143" y="9429369"/>
            <a:ext cx="1940843" cy="970417"/>
            <a:chOff x="0" y="0"/>
            <a:chExt cx="2587790" cy="1293889"/>
          </a:xfrm>
        </p:grpSpPr>
        <p:sp>
          <p:nvSpPr>
            <p:cNvPr id="5" name="Freeform 5"/>
            <p:cNvSpPr/>
            <p:nvPr/>
          </p:nvSpPr>
          <p:spPr>
            <a:xfrm>
              <a:off x="0" y="0"/>
              <a:ext cx="2587752" cy="1293876"/>
            </a:xfrm>
            <a:custGeom>
              <a:avLst/>
              <a:gdLst/>
              <a:ahLst/>
              <a:cxnLst/>
              <a:rect l="l" t="t" r="r" b="b"/>
              <a:pathLst>
                <a:path w="2587752" h="1293876">
                  <a:moveTo>
                    <a:pt x="0" y="0"/>
                  </a:moveTo>
                  <a:lnTo>
                    <a:pt x="2587752" y="0"/>
                  </a:lnTo>
                  <a:lnTo>
                    <a:pt x="2587752" y="1293876"/>
                  </a:lnTo>
                  <a:lnTo>
                    <a:pt x="0" y="1293876"/>
                  </a:lnTo>
                  <a:lnTo>
                    <a:pt x="0" y="0"/>
                  </a:lnTo>
                  <a:close/>
                </a:path>
              </a:pathLst>
            </a:custGeom>
            <a:blipFill>
              <a:blip r:embed="rId2"/>
              <a:stretch>
                <a:fillRect r="-1"/>
              </a:stretch>
            </a:blipFill>
          </p:spPr>
          <p:txBody>
            <a:bodyPr/>
            <a:lstStyle/>
            <a:p>
              <a:endParaRPr lang="en-VN"/>
            </a:p>
          </p:txBody>
        </p:sp>
      </p:grpSp>
      <p:grpSp>
        <p:nvGrpSpPr>
          <p:cNvPr id="6" name="Group 6"/>
          <p:cNvGrpSpPr/>
          <p:nvPr/>
        </p:nvGrpSpPr>
        <p:grpSpPr>
          <a:xfrm>
            <a:off x="-3127839" y="9986436"/>
            <a:ext cx="22035035" cy="2837612"/>
            <a:chOff x="0" y="0"/>
            <a:chExt cx="5803466" cy="747355"/>
          </a:xfrm>
        </p:grpSpPr>
        <p:sp>
          <p:nvSpPr>
            <p:cNvPr id="7" name="Freeform 7"/>
            <p:cNvSpPr/>
            <p:nvPr/>
          </p:nvSpPr>
          <p:spPr>
            <a:xfrm>
              <a:off x="0" y="0"/>
              <a:ext cx="5803466" cy="747355"/>
            </a:xfrm>
            <a:custGeom>
              <a:avLst/>
              <a:gdLst/>
              <a:ahLst/>
              <a:cxnLst/>
              <a:rect l="l" t="t" r="r" b="b"/>
              <a:pathLst>
                <a:path w="5803466" h="747355">
                  <a:moveTo>
                    <a:pt x="0" y="0"/>
                  </a:moveTo>
                  <a:lnTo>
                    <a:pt x="5803466" y="0"/>
                  </a:lnTo>
                  <a:lnTo>
                    <a:pt x="5803466" y="747355"/>
                  </a:lnTo>
                  <a:lnTo>
                    <a:pt x="0" y="747355"/>
                  </a:lnTo>
                  <a:close/>
                </a:path>
              </a:pathLst>
            </a:custGeom>
            <a:solidFill>
              <a:srgbClr val="3C4F75"/>
            </a:solidFill>
          </p:spPr>
          <p:txBody>
            <a:bodyPr/>
            <a:lstStyle/>
            <a:p>
              <a:endParaRPr lang="en-VN"/>
            </a:p>
          </p:txBody>
        </p:sp>
        <p:sp>
          <p:nvSpPr>
            <p:cNvPr id="8" name="TextBox 8"/>
            <p:cNvSpPr txBox="1"/>
            <p:nvPr/>
          </p:nvSpPr>
          <p:spPr>
            <a:xfrm>
              <a:off x="0" y="-47625"/>
              <a:ext cx="5803466" cy="794980"/>
            </a:xfrm>
            <a:prstGeom prst="rect">
              <a:avLst/>
            </a:prstGeom>
          </p:spPr>
          <p:txBody>
            <a:bodyPr lIns="50800" tIns="50800" rIns="50800" bIns="50800" rtlCol="0" anchor="ctr"/>
            <a:lstStyle/>
            <a:p>
              <a:pPr algn="ctr">
                <a:lnSpc>
                  <a:spcPts val="2940"/>
                </a:lnSpc>
              </a:pPr>
              <a:endParaRPr/>
            </a:p>
          </p:txBody>
        </p:sp>
      </p:grpSp>
      <p:sp>
        <p:nvSpPr>
          <p:cNvPr id="9" name="Freeform 9"/>
          <p:cNvSpPr/>
          <p:nvPr/>
        </p:nvSpPr>
        <p:spPr>
          <a:xfrm>
            <a:off x="1028700" y="251389"/>
            <a:ext cx="551704" cy="584433"/>
          </a:xfrm>
          <a:custGeom>
            <a:avLst/>
            <a:gdLst/>
            <a:ahLst/>
            <a:cxnLst/>
            <a:rect l="l" t="t" r="r" b="b"/>
            <a:pathLst>
              <a:path w="551704" h="584433">
                <a:moveTo>
                  <a:pt x="0" y="0"/>
                </a:moveTo>
                <a:lnTo>
                  <a:pt x="551704" y="0"/>
                </a:lnTo>
                <a:lnTo>
                  <a:pt x="551704" y="584432"/>
                </a:lnTo>
                <a:lnTo>
                  <a:pt x="0" y="584432"/>
                </a:lnTo>
                <a:lnTo>
                  <a:pt x="0" y="0"/>
                </a:lnTo>
                <a:close/>
              </a:path>
            </a:pathLst>
          </a:custGeom>
          <a:blipFill>
            <a:blip r:embed="rId3"/>
            <a:stretch>
              <a:fillRect/>
            </a:stretch>
          </a:blipFill>
        </p:spPr>
        <p:txBody>
          <a:bodyPr/>
          <a:lstStyle/>
          <a:p>
            <a:endParaRPr lang="en-VN"/>
          </a:p>
        </p:txBody>
      </p:sp>
      <p:sp>
        <p:nvSpPr>
          <p:cNvPr id="10" name="TextBox 10"/>
          <p:cNvSpPr txBox="1"/>
          <p:nvPr/>
        </p:nvSpPr>
        <p:spPr>
          <a:xfrm>
            <a:off x="1028700" y="1095375"/>
            <a:ext cx="12497555" cy="534618"/>
          </a:xfrm>
          <a:prstGeom prst="rect">
            <a:avLst/>
          </a:prstGeom>
        </p:spPr>
        <p:txBody>
          <a:bodyPr lIns="0" tIns="0" rIns="0" bIns="0" rtlCol="0" anchor="t">
            <a:spAutoFit/>
          </a:bodyPr>
          <a:lstStyle/>
          <a:p>
            <a:pPr algn="just">
              <a:lnSpc>
                <a:spcPts val="4039"/>
              </a:lnSpc>
            </a:pPr>
            <a:r>
              <a:rPr lang="en-US" sz="3999" b="1">
                <a:solidFill>
                  <a:srgbClr val="0C1D4B"/>
                </a:solidFill>
                <a:latin typeface="Roboto Slab Bold"/>
                <a:ea typeface="Roboto Slab Bold"/>
                <a:cs typeface="Roboto Slab Bold"/>
                <a:sym typeface="Roboto Slab Bold"/>
              </a:rPr>
              <a:t>3.4. Xây dựng các node trong hệ thống</a:t>
            </a:r>
          </a:p>
        </p:txBody>
      </p:sp>
      <p:sp>
        <p:nvSpPr>
          <p:cNvPr id="11" name="TextBox 11"/>
          <p:cNvSpPr txBox="1"/>
          <p:nvPr/>
        </p:nvSpPr>
        <p:spPr>
          <a:xfrm>
            <a:off x="1687249" y="346410"/>
            <a:ext cx="3954904" cy="356289"/>
          </a:xfrm>
          <a:prstGeom prst="rect">
            <a:avLst/>
          </a:prstGeom>
        </p:spPr>
        <p:txBody>
          <a:bodyPr lIns="0" tIns="0" rIns="0" bIns="0" rtlCol="0" anchor="t">
            <a:spAutoFit/>
          </a:bodyPr>
          <a:lstStyle/>
          <a:p>
            <a:pPr algn="l">
              <a:lnSpc>
                <a:spcPts val="2940"/>
              </a:lnSpc>
            </a:pPr>
            <a:r>
              <a:rPr lang="en-US" sz="2100" b="1">
                <a:solidFill>
                  <a:srgbClr val="2C2C2C"/>
                </a:solidFill>
                <a:latin typeface="Roboto Slab Bold"/>
                <a:ea typeface="Roboto Slab Bold"/>
                <a:cs typeface="Roboto Slab Bold"/>
                <a:sym typeface="Roboto Slab Bold"/>
              </a:rPr>
              <a:t>HỌC VIỆN KỸ THUẬT MẬT MÃ</a:t>
            </a:r>
          </a:p>
        </p:txBody>
      </p:sp>
      <p:sp>
        <p:nvSpPr>
          <p:cNvPr id="12" name="TextBox 12"/>
          <p:cNvSpPr txBox="1"/>
          <p:nvPr/>
        </p:nvSpPr>
        <p:spPr>
          <a:xfrm>
            <a:off x="1028700" y="1725243"/>
            <a:ext cx="10081822" cy="685800"/>
          </a:xfrm>
          <a:prstGeom prst="rect">
            <a:avLst/>
          </a:prstGeom>
        </p:spPr>
        <p:txBody>
          <a:bodyPr lIns="0" tIns="0" rIns="0" bIns="0" rtlCol="0" anchor="t">
            <a:spAutoFit/>
          </a:bodyPr>
          <a:lstStyle/>
          <a:p>
            <a:pPr algn="just">
              <a:lnSpc>
                <a:spcPts val="6000"/>
              </a:lnSpc>
            </a:pPr>
            <a:r>
              <a:rPr lang="en-US" sz="3000" b="1">
                <a:solidFill>
                  <a:srgbClr val="0C1D4B"/>
                </a:solidFill>
                <a:latin typeface="Roboto Slab Bold"/>
                <a:ea typeface="Roboto Slab Bold"/>
                <a:cs typeface="Roboto Slab Bold"/>
                <a:sym typeface="Roboto Slab Bold"/>
              </a:rPr>
              <a:t>Node Guardrail</a:t>
            </a:r>
          </a:p>
        </p:txBody>
      </p:sp>
      <p:sp>
        <p:nvSpPr>
          <p:cNvPr id="13" name="TextBox 13"/>
          <p:cNvSpPr txBox="1"/>
          <p:nvPr/>
        </p:nvSpPr>
        <p:spPr>
          <a:xfrm>
            <a:off x="1028700" y="2496768"/>
            <a:ext cx="16230600" cy="2210652"/>
          </a:xfrm>
          <a:prstGeom prst="rect">
            <a:avLst/>
          </a:prstGeom>
        </p:spPr>
        <p:txBody>
          <a:bodyPr lIns="0" tIns="0" rIns="0" bIns="0" rtlCol="0" anchor="t">
            <a:spAutoFit/>
          </a:bodyPr>
          <a:lstStyle/>
          <a:p>
            <a:pPr marL="604519" lvl="1" indent="-302260" algn="l">
              <a:lnSpc>
                <a:spcPts val="4479"/>
              </a:lnSpc>
              <a:buFont typeface="Arial"/>
              <a:buChar char="•"/>
            </a:pPr>
            <a:r>
              <a:rPr lang="en-US" sz="2799" dirty="0" err="1">
                <a:solidFill>
                  <a:srgbClr val="0C1D4B"/>
                </a:solidFill>
                <a:latin typeface="Roboto Slab"/>
                <a:ea typeface="Roboto Slab"/>
                <a:cs typeface="Roboto Slab"/>
                <a:sym typeface="Roboto Slab"/>
              </a:rPr>
              <a:t>Nhiệm</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vụ</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kiểm</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tra</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câu</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hỏi</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đầu</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vào</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loại</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bỏ</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các</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yêu</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cầu</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không</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phù</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hợp</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hoặc</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nằm</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ngoài</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phạm</a:t>
            </a:r>
            <a:r>
              <a:rPr lang="en-US" sz="2799" dirty="0">
                <a:solidFill>
                  <a:srgbClr val="0C1D4B"/>
                </a:solidFill>
                <a:latin typeface="Roboto Slab"/>
                <a:ea typeface="Roboto Slab"/>
                <a:cs typeface="Roboto Slab"/>
                <a:sym typeface="Roboto Slab"/>
              </a:rPr>
              <a:t> vi </a:t>
            </a:r>
            <a:r>
              <a:rPr lang="en-US" sz="2799" dirty="0" err="1">
                <a:solidFill>
                  <a:srgbClr val="0C1D4B"/>
                </a:solidFill>
                <a:latin typeface="Roboto Slab"/>
                <a:ea typeface="Roboto Slab"/>
                <a:cs typeface="Roboto Slab"/>
                <a:sym typeface="Roboto Slab"/>
              </a:rPr>
              <a:t>tư</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vấn</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pháp</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luật</a:t>
            </a:r>
            <a:endParaRPr lang="en-US" sz="2799" dirty="0">
              <a:solidFill>
                <a:srgbClr val="0C1D4B"/>
              </a:solidFill>
              <a:latin typeface="Roboto Slab"/>
              <a:ea typeface="Roboto Slab"/>
              <a:cs typeface="Roboto Slab"/>
              <a:sym typeface="Roboto Slab"/>
            </a:endParaRPr>
          </a:p>
          <a:p>
            <a:pPr marL="604519" lvl="1" indent="-302260" algn="l">
              <a:lnSpc>
                <a:spcPts val="4479"/>
              </a:lnSpc>
              <a:buFont typeface="Arial"/>
              <a:buChar char="•"/>
            </a:pPr>
            <a:r>
              <a:rPr lang="en-US" sz="2799" dirty="0">
                <a:solidFill>
                  <a:srgbClr val="0C1D4B"/>
                </a:solidFill>
                <a:latin typeface="Roboto Slab"/>
                <a:ea typeface="Roboto Slab"/>
                <a:cs typeface="Roboto Slab"/>
                <a:sym typeface="Roboto Slab"/>
              </a:rPr>
              <a:t>PROMPT: “</a:t>
            </a:r>
            <a:r>
              <a:rPr lang="en-US" sz="2799" dirty="0" err="1">
                <a:solidFill>
                  <a:srgbClr val="0C1D4B"/>
                </a:solidFill>
                <a:latin typeface="Roboto Slab"/>
                <a:ea typeface="Roboto Slab"/>
                <a:cs typeface="Roboto Slab"/>
                <a:sym typeface="Roboto Slab"/>
              </a:rPr>
              <a:t>Bạn</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là</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một</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bộ</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lọc</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kiểm</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duyệt</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cực</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kỳ</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nghiêm</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ngặt</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cho</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Hệ</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thống</a:t>
            </a:r>
            <a:r>
              <a:rPr lang="en-US" sz="2799" dirty="0">
                <a:solidFill>
                  <a:srgbClr val="0C1D4B"/>
                </a:solidFill>
                <a:latin typeface="Roboto Slab"/>
                <a:ea typeface="Roboto Slab"/>
                <a:cs typeface="Roboto Slab"/>
                <a:sym typeface="Roboto Slab"/>
              </a:rPr>
              <a:t> AI </a:t>
            </a:r>
            <a:r>
              <a:rPr lang="en-US" sz="2799" dirty="0" err="1">
                <a:solidFill>
                  <a:srgbClr val="0C1D4B"/>
                </a:solidFill>
                <a:latin typeface="Roboto Slab"/>
                <a:ea typeface="Roboto Slab"/>
                <a:cs typeface="Roboto Slab"/>
                <a:sym typeface="Roboto Slab"/>
              </a:rPr>
              <a:t>Tư</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vấn</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Luật</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pháp</a:t>
            </a:r>
            <a:r>
              <a:rPr lang="en-US" sz="2799" dirty="0">
                <a:solidFill>
                  <a:srgbClr val="0C1D4B"/>
                </a:solidFill>
                <a:latin typeface="Roboto Slab"/>
                <a:ea typeface="Roboto Slab"/>
                <a:cs typeface="Roboto Slab"/>
                <a:sym typeface="Roboto Slab"/>
              </a:rPr>
              <a:t> Việt Nam...”</a:t>
            </a:r>
          </a:p>
        </p:txBody>
      </p:sp>
      <p:sp>
        <p:nvSpPr>
          <p:cNvPr id="14" name="TextBox 14"/>
          <p:cNvSpPr txBox="1"/>
          <p:nvPr/>
        </p:nvSpPr>
        <p:spPr>
          <a:xfrm>
            <a:off x="1028700" y="8107037"/>
            <a:ext cx="14190830" cy="432408"/>
          </a:xfrm>
          <a:prstGeom prst="rect">
            <a:avLst/>
          </a:prstGeom>
        </p:spPr>
        <p:txBody>
          <a:bodyPr lIns="0" tIns="0" rIns="0" bIns="0" rtlCol="0" anchor="t">
            <a:spAutoFit/>
          </a:bodyPr>
          <a:lstStyle/>
          <a:p>
            <a:pPr algn="just">
              <a:lnSpc>
                <a:spcPts val="3600"/>
              </a:lnSpc>
            </a:pPr>
            <a:r>
              <a:rPr lang="en-US" sz="2400" b="1">
                <a:solidFill>
                  <a:srgbClr val="0C1D4B"/>
                </a:solidFill>
                <a:latin typeface="Roboto Slab Bold"/>
                <a:ea typeface="Roboto Slab Bold"/>
                <a:cs typeface="Roboto Slab Bold"/>
                <a:sym typeface="Roboto Slab Bold"/>
              </a:rPr>
              <a:t>Khi làm việc với LLMs là ta đang làm việc với PROMPT để cho ra đầu ra mong muốn</a:t>
            </a:r>
          </a:p>
        </p:txBody>
      </p:sp>
      <p:grpSp>
        <p:nvGrpSpPr>
          <p:cNvPr id="15" name="Group 15"/>
          <p:cNvGrpSpPr/>
          <p:nvPr/>
        </p:nvGrpSpPr>
        <p:grpSpPr>
          <a:xfrm>
            <a:off x="2057400" y="5576253"/>
            <a:ext cx="14108375" cy="2159286"/>
            <a:chOff x="0" y="0"/>
            <a:chExt cx="18811166" cy="2879048"/>
          </a:xfrm>
        </p:grpSpPr>
        <p:sp>
          <p:nvSpPr>
            <p:cNvPr id="16" name="Freeform 16"/>
            <p:cNvSpPr/>
            <p:nvPr/>
          </p:nvSpPr>
          <p:spPr>
            <a:xfrm>
              <a:off x="5991105" y="804463"/>
              <a:ext cx="1468480" cy="1442782"/>
            </a:xfrm>
            <a:custGeom>
              <a:avLst/>
              <a:gdLst/>
              <a:ahLst/>
              <a:cxnLst/>
              <a:rect l="l" t="t" r="r" b="b"/>
              <a:pathLst>
                <a:path w="1468480" h="1442782">
                  <a:moveTo>
                    <a:pt x="0" y="0"/>
                  </a:moveTo>
                  <a:lnTo>
                    <a:pt x="1468480" y="0"/>
                  </a:lnTo>
                  <a:lnTo>
                    <a:pt x="1468480" y="1442782"/>
                  </a:lnTo>
                  <a:lnTo>
                    <a:pt x="0" y="1442782"/>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VN"/>
            </a:p>
          </p:txBody>
        </p:sp>
        <p:sp>
          <p:nvSpPr>
            <p:cNvPr id="17" name="Freeform 17"/>
            <p:cNvSpPr/>
            <p:nvPr/>
          </p:nvSpPr>
          <p:spPr>
            <a:xfrm>
              <a:off x="10381696" y="722286"/>
              <a:ext cx="1500501" cy="1552911"/>
            </a:xfrm>
            <a:custGeom>
              <a:avLst/>
              <a:gdLst/>
              <a:ahLst/>
              <a:cxnLst/>
              <a:rect l="l" t="t" r="r" b="b"/>
              <a:pathLst>
                <a:path w="1500501" h="1552911">
                  <a:moveTo>
                    <a:pt x="0" y="0"/>
                  </a:moveTo>
                  <a:lnTo>
                    <a:pt x="1500500" y="0"/>
                  </a:lnTo>
                  <a:lnTo>
                    <a:pt x="1500500" y="1552912"/>
                  </a:lnTo>
                  <a:lnTo>
                    <a:pt x="0" y="155291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VN"/>
            </a:p>
          </p:txBody>
        </p:sp>
        <p:sp>
          <p:nvSpPr>
            <p:cNvPr id="18" name="TextBox 18"/>
            <p:cNvSpPr txBox="1"/>
            <p:nvPr/>
          </p:nvSpPr>
          <p:spPr>
            <a:xfrm>
              <a:off x="0" y="930179"/>
              <a:ext cx="3326861" cy="1099026"/>
            </a:xfrm>
            <a:prstGeom prst="rect">
              <a:avLst/>
            </a:prstGeom>
          </p:spPr>
          <p:txBody>
            <a:bodyPr lIns="0" tIns="0" rIns="0" bIns="0" rtlCol="0" anchor="t">
              <a:spAutoFit/>
            </a:bodyPr>
            <a:lstStyle/>
            <a:p>
              <a:pPr algn="l">
                <a:lnSpc>
                  <a:spcPts val="3392"/>
                </a:lnSpc>
                <a:spcBef>
                  <a:spcPct val="0"/>
                </a:spcBef>
              </a:pPr>
              <a:r>
                <a:rPr lang="en-US" sz="2423" b="1">
                  <a:solidFill>
                    <a:srgbClr val="000000"/>
                  </a:solidFill>
                  <a:latin typeface="Roboto Slab Bold"/>
                  <a:ea typeface="Roboto Slab Bold"/>
                  <a:cs typeface="Roboto Slab Bold"/>
                  <a:sym typeface="Roboto Slab Bold"/>
                </a:rPr>
                <a:t>Câu hỏi hiện tại của người dùng</a:t>
              </a:r>
            </a:p>
          </p:txBody>
        </p:sp>
        <p:sp>
          <p:nvSpPr>
            <p:cNvPr id="19" name="AutoShape 19"/>
            <p:cNvSpPr/>
            <p:nvPr/>
          </p:nvSpPr>
          <p:spPr>
            <a:xfrm>
              <a:off x="3326861" y="1498742"/>
              <a:ext cx="2664244" cy="27112"/>
            </a:xfrm>
            <a:prstGeom prst="line">
              <a:avLst/>
            </a:prstGeom>
            <a:ln w="50800" cap="flat">
              <a:solidFill>
                <a:srgbClr val="0C0C6B"/>
              </a:solidFill>
              <a:prstDash val="solid"/>
              <a:headEnd type="none" w="sm" len="sm"/>
              <a:tailEnd type="arrow" w="med" len="sm"/>
            </a:ln>
          </p:spPr>
          <p:txBody>
            <a:bodyPr/>
            <a:lstStyle/>
            <a:p>
              <a:endParaRPr lang="en-VN"/>
            </a:p>
          </p:txBody>
        </p:sp>
        <p:sp>
          <p:nvSpPr>
            <p:cNvPr id="20" name="AutoShape 20"/>
            <p:cNvSpPr/>
            <p:nvPr/>
          </p:nvSpPr>
          <p:spPr>
            <a:xfrm flipV="1">
              <a:off x="7459585" y="1498742"/>
              <a:ext cx="2922111" cy="27112"/>
            </a:xfrm>
            <a:prstGeom prst="line">
              <a:avLst/>
            </a:prstGeom>
            <a:ln w="50800" cap="flat">
              <a:solidFill>
                <a:srgbClr val="0C0C6B"/>
              </a:solidFill>
              <a:prstDash val="solid"/>
              <a:headEnd type="none" w="sm" len="sm"/>
              <a:tailEnd type="arrow" w="med" len="sm"/>
            </a:ln>
          </p:spPr>
          <p:txBody>
            <a:bodyPr/>
            <a:lstStyle/>
            <a:p>
              <a:endParaRPr lang="en-VN"/>
            </a:p>
          </p:txBody>
        </p:sp>
        <p:sp>
          <p:nvSpPr>
            <p:cNvPr id="21" name="TextBox 21"/>
            <p:cNvSpPr txBox="1"/>
            <p:nvPr/>
          </p:nvSpPr>
          <p:spPr>
            <a:xfrm>
              <a:off x="4764591" y="27314"/>
              <a:ext cx="4049764" cy="516005"/>
            </a:xfrm>
            <a:prstGeom prst="rect">
              <a:avLst/>
            </a:prstGeom>
          </p:spPr>
          <p:txBody>
            <a:bodyPr lIns="0" tIns="0" rIns="0" bIns="0" rtlCol="0" anchor="t">
              <a:spAutoFit/>
            </a:bodyPr>
            <a:lstStyle/>
            <a:p>
              <a:pPr algn="ctr">
                <a:lnSpc>
                  <a:spcPts val="3357"/>
                </a:lnSpc>
                <a:spcBef>
                  <a:spcPct val="0"/>
                </a:spcBef>
              </a:pPr>
              <a:r>
                <a:rPr lang="en-US" sz="2397" b="1" i="1">
                  <a:solidFill>
                    <a:srgbClr val="000000"/>
                  </a:solidFill>
                  <a:latin typeface="Roboto Slab Bold"/>
                  <a:ea typeface="Roboto Slab Bold"/>
                  <a:cs typeface="Roboto Slab Bold"/>
                  <a:sym typeface="Roboto Slab Bold"/>
                </a:rPr>
                <a:t>PROMT</a:t>
              </a:r>
            </a:p>
          </p:txBody>
        </p:sp>
        <p:sp>
          <p:nvSpPr>
            <p:cNvPr id="22" name="TextBox 22"/>
            <p:cNvSpPr txBox="1"/>
            <p:nvPr/>
          </p:nvSpPr>
          <p:spPr>
            <a:xfrm>
              <a:off x="9216895" y="-57150"/>
              <a:ext cx="3830101" cy="665884"/>
            </a:xfrm>
            <a:prstGeom prst="rect">
              <a:avLst/>
            </a:prstGeom>
          </p:spPr>
          <p:txBody>
            <a:bodyPr lIns="0" tIns="0" rIns="0" bIns="0" rtlCol="0" anchor="t">
              <a:spAutoFit/>
            </a:bodyPr>
            <a:lstStyle/>
            <a:p>
              <a:pPr algn="ctr">
                <a:lnSpc>
                  <a:spcPts val="4232"/>
                </a:lnSpc>
                <a:spcBef>
                  <a:spcPct val="0"/>
                </a:spcBef>
              </a:pPr>
              <a:r>
                <a:rPr lang="en-US" sz="3023" b="1">
                  <a:solidFill>
                    <a:srgbClr val="000000"/>
                  </a:solidFill>
                  <a:latin typeface="Roboto Slab Bold"/>
                  <a:ea typeface="Roboto Slab Bold"/>
                  <a:cs typeface="Roboto Slab Bold"/>
                  <a:sym typeface="Roboto Slab Bold"/>
                </a:rPr>
                <a:t>LLMs</a:t>
              </a:r>
            </a:p>
          </p:txBody>
        </p:sp>
        <p:sp>
          <p:nvSpPr>
            <p:cNvPr id="23" name="AutoShape 23"/>
            <p:cNvSpPr/>
            <p:nvPr/>
          </p:nvSpPr>
          <p:spPr>
            <a:xfrm flipV="1">
              <a:off x="11882196" y="722286"/>
              <a:ext cx="2787081" cy="746124"/>
            </a:xfrm>
            <a:prstGeom prst="line">
              <a:avLst/>
            </a:prstGeom>
            <a:ln w="50800" cap="flat">
              <a:solidFill>
                <a:srgbClr val="0C0C6B"/>
              </a:solidFill>
              <a:prstDash val="solid"/>
              <a:headEnd type="none" w="sm" len="sm"/>
              <a:tailEnd type="arrow" w="med" len="sm"/>
            </a:ln>
          </p:spPr>
          <p:txBody>
            <a:bodyPr/>
            <a:lstStyle/>
            <a:p>
              <a:endParaRPr lang="en-VN" dirty="0"/>
            </a:p>
          </p:txBody>
        </p:sp>
        <p:grpSp>
          <p:nvGrpSpPr>
            <p:cNvPr id="24" name="Group 24"/>
            <p:cNvGrpSpPr/>
            <p:nvPr/>
          </p:nvGrpSpPr>
          <p:grpSpPr>
            <a:xfrm>
              <a:off x="14669278" y="258286"/>
              <a:ext cx="4141889" cy="928000"/>
              <a:chOff x="0" y="0"/>
              <a:chExt cx="818151" cy="183309"/>
            </a:xfrm>
          </p:grpSpPr>
          <p:sp>
            <p:nvSpPr>
              <p:cNvPr id="25" name="Freeform 25"/>
              <p:cNvSpPr/>
              <p:nvPr/>
            </p:nvSpPr>
            <p:spPr>
              <a:xfrm>
                <a:off x="0" y="0"/>
                <a:ext cx="818151" cy="183309"/>
              </a:xfrm>
              <a:custGeom>
                <a:avLst/>
                <a:gdLst/>
                <a:ahLst/>
                <a:cxnLst/>
                <a:rect l="l" t="t" r="r" b="b"/>
                <a:pathLst>
                  <a:path w="818151" h="183309">
                    <a:moveTo>
                      <a:pt x="69783" y="0"/>
                    </a:moveTo>
                    <a:lnTo>
                      <a:pt x="748368" y="0"/>
                    </a:lnTo>
                    <a:cubicBezTo>
                      <a:pt x="786908" y="0"/>
                      <a:pt x="818151" y="31243"/>
                      <a:pt x="818151" y="69783"/>
                    </a:cubicBezTo>
                    <a:lnTo>
                      <a:pt x="818151" y="113526"/>
                    </a:lnTo>
                    <a:cubicBezTo>
                      <a:pt x="818151" y="132033"/>
                      <a:pt x="810799" y="149783"/>
                      <a:pt x="797712" y="162870"/>
                    </a:cubicBezTo>
                    <a:cubicBezTo>
                      <a:pt x="784625" y="175956"/>
                      <a:pt x="766876" y="183309"/>
                      <a:pt x="748368" y="183309"/>
                    </a:cubicBezTo>
                    <a:lnTo>
                      <a:pt x="69783" y="183309"/>
                    </a:lnTo>
                    <a:cubicBezTo>
                      <a:pt x="51275" y="183309"/>
                      <a:pt x="33526" y="175956"/>
                      <a:pt x="20439" y="162870"/>
                    </a:cubicBezTo>
                    <a:cubicBezTo>
                      <a:pt x="7352" y="149783"/>
                      <a:pt x="0" y="132033"/>
                      <a:pt x="0" y="113526"/>
                    </a:cubicBezTo>
                    <a:lnTo>
                      <a:pt x="0" y="69783"/>
                    </a:lnTo>
                    <a:cubicBezTo>
                      <a:pt x="0" y="51275"/>
                      <a:pt x="7352" y="33526"/>
                      <a:pt x="20439" y="20439"/>
                    </a:cubicBezTo>
                    <a:cubicBezTo>
                      <a:pt x="33526" y="7352"/>
                      <a:pt x="51275" y="0"/>
                      <a:pt x="69783" y="0"/>
                    </a:cubicBezTo>
                    <a:close/>
                  </a:path>
                </a:pathLst>
              </a:custGeom>
              <a:solidFill>
                <a:srgbClr val="0D1D4B"/>
              </a:solidFill>
            </p:spPr>
            <p:txBody>
              <a:bodyPr/>
              <a:lstStyle/>
              <a:p>
                <a:endParaRPr lang="en-VN"/>
              </a:p>
            </p:txBody>
          </p:sp>
          <p:sp>
            <p:nvSpPr>
              <p:cNvPr id="26" name="TextBox 26"/>
              <p:cNvSpPr txBox="1"/>
              <p:nvPr/>
            </p:nvSpPr>
            <p:spPr>
              <a:xfrm>
                <a:off x="0" y="-38100"/>
                <a:ext cx="818151" cy="221409"/>
              </a:xfrm>
              <a:prstGeom prst="rect">
                <a:avLst/>
              </a:prstGeom>
            </p:spPr>
            <p:txBody>
              <a:bodyPr lIns="50800" tIns="50800" rIns="50800" bIns="50800" rtlCol="0" anchor="ctr"/>
              <a:lstStyle/>
              <a:p>
                <a:pPr algn="ctr">
                  <a:lnSpc>
                    <a:spcPts val="2940"/>
                  </a:lnSpc>
                </a:pPr>
                <a:r>
                  <a:rPr lang="en-US" sz="2100" b="1" spc="50">
                    <a:solidFill>
                      <a:srgbClr val="FFFFFF"/>
                    </a:solidFill>
                    <a:latin typeface="Roboto Slab Bold"/>
                    <a:ea typeface="Roboto Slab Bold"/>
                    <a:cs typeface="Roboto Slab Bold"/>
                    <a:sym typeface="Roboto Slab Bold"/>
                  </a:rPr>
                  <a:t>END</a:t>
                </a:r>
              </a:p>
            </p:txBody>
          </p:sp>
        </p:grpSp>
        <p:sp>
          <p:nvSpPr>
            <p:cNvPr id="27" name="AutoShape 27"/>
            <p:cNvSpPr/>
            <p:nvPr/>
          </p:nvSpPr>
          <p:spPr>
            <a:xfrm>
              <a:off x="11852051" y="1525854"/>
              <a:ext cx="2817227" cy="905392"/>
            </a:xfrm>
            <a:prstGeom prst="line">
              <a:avLst/>
            </a:prstGeom>
            <a:ln w="50800" cap="flat">
              <a:solidFill>
                <a:srgbClr val="0C0C6B"/>
              </a:solidFill>
              <a:prstDash val="solid"/>
              <a:headEnd type="none" w="sm" len="sm"/>
              <a:tailEnd type="arrow" w="med" len="sm"/>
            </a:ln>
          </p:spPr>
          <p:txBody>
            <a:bodyPr/>
            <a:lstStyle/>
            <a:p>
              <a:endParaRPr lang="en-VN"/>
            </a:p>
          </p:txBody>
        </p:sp>
        <p:grpSp>
          <p:nvGrpSpPr>
            <p:cNvPr id="28" name="Group 28"/>
            <p:cNvGrpSpPr/>
            <p:nvPr/>
          </p:nvGrpSpPr>
          <p:grpSpPr>
            <a:xfrm>
              <a:off x="14669278" y="1983443"/>
              <a:ext cx="4141889" cy="895606"/>
              <a:chOff x="0" y="0"/>
              <a:chExt cx="847743" cy="183309"/>
            </a:xfrm>
          </p:grpSpPr>
          <p:sp>
            <p:nvSpPr>
              <p:cNvPr id="29" name="Freeform 29"/>
              <p:cNvSpPr/>
              <p:nvPr/>
            </p:nvSpPr>
            <p:spPr>
              <a:xfrm>
                <a:off x="0" y="0"/>
                <a:ext cx="847743" cy="183309"/>
              </a:xfrm>
              <a:custGeom>
                <a:avLst/>
                <a:gdLst/>
                <a:ahLst/>
                <a:cxnLst/>
                <a:rect l="l" t="t" r="r" b="b"/>
                <a:pathLst>
                  <a:path w="847743" h="183309">
                    <a:moveTo>
                      <a:pt x="69783" y="0"/>
                    </a:moveTo>
                    <a:lnTo>
                      <a:pt x="777961" y="0"/>
                    </a:lnTo>
                    <a:cubicBezTo>
                      <a:pt x="796468" y="0"/>
                      <a:pt x="814218" y="7352"/>
                      <a:pt x="827304" y="20439"/>
                    </a:cubicBezTo>
                    <a:cubicBezTo>
                      <a:pt x="840391" y="33526"/>
                      <a:pt x="847743" y="51275"/>
                      <a:pt x="847743" y="69783"/>
                    </a:cubicBezTo>
                    <a:lnTo>
                      <a:pt x="847743" y="113526"/>
                    </a:lnTo>
                    <a:cubicBezTo>
                      <a:pt x="847743" y="132033"/>
                      <a:pt x="840391" y="149783"/>
                      <a:pt x="827304" y="162870"/>
                    </a:cubicBezTo>
                    <a:cubicBezTo>
                      <a:pt x="814218" y="175956"/>
                      <a:pt x="796468" y="183309"/>
                      <a:pt x="777961" y="183309"/>
                    </a:cubicBezTo>
                    <a:lnTo>
                      <a:pt x="69783" y="183309"/>
                    </a:lnTo>
                    <a:cubicBezTo>
                      <a:pt x="51275" y="183309"/>
                      <a:pt x="33526" y="175956"/>
                      <a:pt x="20439" y="162870"/>
                    </a:cubicBezTo>
                    <a:cubicBezTo>
                      <a:pt x="7352" y="149783"/>
                      <a:pt x="0" y="132033"/>
                      <a:pt x="0" y="113526"/>
                    </a:cubicBezTo>
                    <a:lnTo>
                      <a:pt x="0" y="69783"/>
                    </a:lnTo>
                    <a:cubicBezTo>
                      <a:pt x="0" y="51275"/>
                      <a:pt x="7352" y="33526"/>
                      <a:pt x="20439" y="20439"/>
                    </a:cubicBezTo>
                    <a:cubicBezTo>
                      <a:pt x="33526" y="7352"/>
                      <a:pt x="51275" y="0"/>
                      <a:pt x="69783" y="0"/>
                    </a:cubicBezTo>
                    <a:close/>
                  </a:path>
                </a:pathLst>
              </a:custGeom>
              <a:solidFill>
                <a:srgbClr val="0D1D4B"/>
              </a:solidFill>
            </p:spPr>
            <p:txBody>
              <a:bodyPr/>
              <a:lstStyle/>
              <a:p>
                <a:endParaRPr lang="en-VN"/>
              </a:p>
            </p:txBody>
          </p:sp>
          <p:sp>
            <p:nvSpPr>
              <p:cNvPr id="30" name="TextBox 30"/>
              <p:cNvSpPr txBox="1"/>
              <p:nvPr/>
            </p:nvSpPr>
            <p:spPr>
              <a:xfrm>
                <a:off x="0" y="-38100"/>
                <a:ext cx="847743" cy="221409"/>
              </a:xfrm>
              <a:prstGeom prst="rect">
                <a:avLst/>
              </a:prstGeom>
            </p:spPr>
            <p:txBody>
              <a:bodyPr lIns="50800" tIns="50800" rIns="50800" bIns="50800" rtlCol="0" anchor="ctr"/>
              <a:lstStyle/>
              <a:p>
                <a:pPr algn="ctr">
                  <a:lnSpc>
                    <a:spcPts val="2940"/>
                  </a:lnSpc>
                </a:pPr>
                <a:r>
                  <a:rPr lang="en-US" sz="2100" b="1" spc="50">
                    <a:solidFill>
                      <a:srgbClr val="FFFFFF"/>
                    </a:solidFill>
                    <a:latin typeface="Roboto Slab Bold"/>
                    <a:ea typeface="Roboto Slab Bold"/>
                    <a:cs typeface="Roboto Slab Bold"/>
                    <a:sym typeface="Roboto Slab Bold"/>
                  </a:rPr>
                  <a:t>Node Query_Analysis</a:t>
                </a:r>
              </a:p>
            </p:txBody>
          </p:sp>
        </p:grpSp>
      </p:grpSp>
      <p:sp>
        <p:nvSpPr>
          <p:cNvPr id="31" name="RestoredLabel Reject"/>
          <p:cNvSpPr txBox="1"/>
          <p:nvPr/>
        </p:nvSpPr>
        <p:spPr>
          <a:xfrm rot="20636467">
            <a:off x="11584938" y="5997653"/>
            <a:ext cx="920124" cy="284693"/>
          </a:xfrm>
          <a:prstGeom prst="rect">
            <a:avLst/>
          </a:prstGeom>
          <a:noFill/>
          <a:ln>
            <a:noFill/>
          </a:ln>
        </p:spPr>
        <p:txBody>
          <a:bodyPr wrap="none" lIns="0" tIns="0" rIns="0" bIns="0" rtlCol="0" anchor="t">
            <a:spAutoFit/>
          </a:bodyPr>
          <a:lstStyle/>
          <a:p>
            <a:pPr algn="ctr"/>
            <a:r>
              <a:rPr lang="en-US" sz="1850" b="1" dirty="0">
                <a:solidFill>
                  <a:srgbClr val="0C1D4B"/>
                </a:solidFill>
                <a:latin typeface="Roboto Slab" pitchFamily="2" charset="0"/>
                <a:ea typeface="Roboto Slab" pitchFamily="2" charset="0"/>
                <a:cs typeface="Roboto Slab" pitchFamily="2" charset="0"/>
              </a:rPr>
              <a:t>REJECT</a:t>
            </a:r>
          </a:p>
        </p:txBody>
      </p:sp>
      <p:sp>
        <p:nvSpPr>
          <p:cNvPr id="32" name="RestoredLabel Valid"/>
          <p:cNvSpPr txBox="1"/>
          <p:nvPr/>
        </p:nvSpPr>
        <p:spPr>
          <a:xfrm rot="1100000">
            <a:off x="11703989" y="6743952"/>
            <a:ext cx="735650" cy="284693"/>
          </a:xfrm>
          <a:prstGeom prst="rect">
            <a:avLst/>
          </a:prstGeom>
          <a:noFill/>
          <a:ln>
            <a:noFill/>
          </a:ln>
        </p:spPr>
        <p:txBody>
          <a:bodyPr wrap="none" lIns="0" tIns="0" rIns="0" bIns="0" rtlCol="0" anchor="t">
            <a:spAutoFit/>
          </a:bodyPr>
          <a:lstStyle/>
          <a:p>
            <a:pPr algn="ctr"/>
            <a:r>
              <a:rPr lang="en-US" sz="1850" b="1" dirty="0">
                <a:solidFill>
                  <a:srgbClr val="0C1D4B"/>
                </a:solidFill>
                <a:latin typeface="Roboto Slab" pitchFamily="2" charset="0"/>
                <a:ea typeface="Roboto Slab" pitchFamily="2" charset="0"/>
                <a:cs typeface="Roboto Slab" pitchFamily="2" charset="0"/>
              </a:rPr>
              <a:t>VALID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grpId="0" nodeType="withEffect">
                            <p:stCondLst>
                              <p:cond delay="180"/>
                            </p:stCondLst>
                            <p:childTnLst>
                              <p:set>
                                <p:cBhvr>
                                  <p:cTn id="5" dur="1" fill="hold">
                                    <p:stCondLst>
                                      <p:cond delay="0"/>
                                    </p:stCondLst>
                                  </p:cTn>
                                  <p:tgtEl>
                                    <p:spTgt spid="10"/>
                                  </p:tgtEl>
                                  <p:attrNameLst>
                                    <p:attrName>style.visibility</p:attrName>
                                  </p:attrNameLst>
                                </p:cBhvr>
                                <p:to>
                                  <p:strVal val="visible"/>
                                </p:to>
                              </p:set>
                              <p:animEffect transition="in" filter="wipe(left)">
                                <p:cBhvr>
                                  <p:cTn id="6" dur="860"/>
                                  <p:tgtEl>
                                    <p:spTgt spid="10"/>
                                  </p:tgtEl>
                                </p:cBhvr>
                              </p:animEffect>
                            </p:childTnLst>
                          </p:cTn>
                        </p:par>
                        <p:par>
                          <p:cTn id="7" presetID="10" presetClass="entr" presetSubtype="0" fill="hold" grpId="0" nodeType="withEffect">
                            <p:stCondLst>
                              <p:cond delay="350"/>
                            </p:stCondLst>
                            <p:childTnLst>
                              <p:set>
                                <p:cBhvr>
                                  <p:cTn id="8" dur="1" fill="hold">
                                    <p:stCondLst>
                                      <p:cond delay="0"/>
                                    </p:stCondLst>
                                  </p:cTn>
                                  <p:tgtEl>
                                    <p:spTgt spid="12"/>
                                  </p:tgtEl>
                                  <p:attrNameLst>
                                    <p:attrName>style.visibility</p:attrName>
                                  </p:attrNameLst>
                                </p:cBhvr>
                                <p:to>
                                  <p:strVal val="visible"/>
                                </p:to>
                              </p:set>
                              <p:animEffect transition="in" filter="wipe(left)">
                                <p:cBhvr>
                                  <p:cTn id="9" dur="860"/>
                                  <p:tgtEl>
                                    <p:spTgt spid="12"/>
                                  </p:tgtEl>
                                </p:cBhvr>
                              </p:animEffect>
                            </p:childTnLst>
                          </p:cTn>
                        </p:par>
                        <p:par>
                          <p:cTn id="10" presetID="10" presetClass="entr" presetSubtype="0" fill="hold" grpId="0" nodeType="withEffect">
                            <p:stCondLst>
                              <p:cond delay="520"/>
                            </p:stCondLst>
                            <p:childTnLst>
                              <p:set>
                                <p:cBhvr>
                                  <p:cTn id="11" dur="1" fill="hold">
                                    <p:stCondLst>
                                      <p:cond delay="0"/>
                                    </p:stCondLst>
                                  </p:cTn>
                                  <p:tgtEl>
                                    <p:spTgt spid="13"/>
                                  </p:tgtEl>
                                  <p:attrNameLst>
                                    <p:attrName>style.visibility</p:attrName>
                                  </p:attrNameLst>
                                </p:cBhvr>
                                <p:to>
                                  <p:strVal val="visible"/>
                                </p:to>
                              </p:set>
                              <p:animEffect transition="in" filter="wipe(left)">
                                <p:cBhvr>
                                  <p:cTn id="12" dur="860"/>
                                  <p:tgtEl>
                                    <p:spTgt spid="13"/>
                                  </p:tgtEl>
                                </p:cBhvr>
                              </p:animEffect>
                            </p:childTnLst>
                          </p:cTn>
                        </p:par>
                        <p:par>
                          <p:cTn id="13" presetID="10" presetClass="entr" presetSubtype="0" fill="hold" grpId="0" nodeType="withEffect">
                            <p:stCondLst>
                              <p:cond delay="690"/>
                            </p:stCondLst>
                            <p:childTnLst>
                              <p:set>
                                <p:cBhvr>
                                  <p:cTn id="14" dur="1" fill="hold">
                                    <p:stCondLst>
                                      <p:cond delay="0"/>
                                    </p:stCondLst>
                                  </p:cTn>
                                  <p:tgtEl>
                                    <p:spTgt spid="15"/>
                                  </p:tgtEl>
                                  <p:attrNameLst>
                                    <p:attrName>style.visibility</p:attrName>
                                  </p:attrNameLst>
                                </p:cBhvr>
                                <p:to>
                                  <p:strVal val="visible"/>
                                </p:to>
                              </p:set>
                              <p:animEffect transition="in" filter="wipe(left)">
                                <p:cBhvr>
                                  <p:cTn id="15" dur="860"/>
                                  <p:tgtEl>
                                    <p:spTgt spid="15"/>
                                  </p:tgtEl>
                                </p:cBhvr>
                              </p:animEffect>
                            </p:childTnLst>
                          </p:cTn>
                        </p:par>
                        <p:par>
                          <p:cTn id="16" presetID="10" presetClass="entr" presetSubtype="0" fill="hold" grpId="0" nodeType="withEffect">
                            <p:stCondLst>
                              <p:cond delay="860"/>
                            </p:stCondLst>
                            <p:childTnLst>
                              <p:set>
                                <p:cBhvr>
                                  <p:cTn id="17" dur="1" fill="hold">
                                    <p:stCondLst>
                                      <p:cond delay="0"/>
                                    </p:stCondLst>
                                  </p:cTn>
                                  <p:tgtEl>
                                    <p:spTgt spid="31"/>
                                  </p:tgtEl>
                                  <p:attrNameLst>
                                    <p:attrName>style.visibility</p:attrName>
                                  </p:attrNameLst>
                                </p:cBhvr>
                                <p:to>
                                  <p:strVal val="visible"/>
                                </p:to>
                              </p:set>
                              <p:animEffect transition="in" filter="wipe(left)">
                                <p:cBhvr>
                                  <p:cTn id="18" dur="860"/>
                                  <p:tgtEl>
                                    <p:spTgt spid="31"/>
                                  </p:tgtEl>
                                </p:cBhvr>
                              </p:animEffect>
                            </p:childTnLst>
                          </p:cTn>
                        </p:par>
                        <p:par>
                          <p:cTn id="19" presetID="10" presetClass="entr" presetSubtype="0" fill="hold" grpId="0" nodeType="withEffect">
                            <p:stCondLst>
                              <p:cond delay="1030"/>
                            </p:stCondLst>
                            <p:childTnLst>
                              <p:set>
                                <p:cBhvr>
                                  <p:cTn id="20" dur="1" fill="hold">
                                    <p:stCondLst>
                                      <p:cond delay="0"/>
                                    </p:stCondLst>
                                  </p:cTn>
                                  <p:tgtEl>
                                    <p:spTgt spid="32"/>
                                  </p:tgtEl>
                                  <p:attrNameLst>
                                    <p:attrName>style.visibility</p:attrName>
                                  </p:attrNameLst>
                                </p:cBhvr>
                                <p:to>
                                  <p:strVal val="visible"/>
                                </p:to>
                              </p:set>
                              <p:animEffect transition="in" filter="wipe(left)">
                                <p:cBhvr>
                                  <p:cTn id="21" dur="860"/>
                                  <p:tgtEl>
                                    <p:spTgt spid="32"/>
                                  </p:tgtEl>
                                </p:cBhvr>
                              </p:animEffect>
                            </p:childTnLst>
                          </p:cTn>
                        </p:par>
                        <p:par>
                          <p:cTn id="22" presetID="10" presetClass="entr" presetSubtype="0" fill="hold" grpId="0" nodeType="withEffect">
                            <p:stCondLst>
                              <p:cond delay="1200"/>
                            </p:stCondLst>
                            <p:childTnLst>
                              <p:set>
                                <p:cBhvr>
                                  <p:cTn id="23" dur="1" fill="hold">
                                    <p:stCondLst>
                                      <p:cond delay="0"/>
                                    </p:stCondLst>
                                  </p:cTn>
                                  <p:tgtEl>
                                    <p:spTgt spid="14"/>
                                  </p:tgtEl>
                                  <p:attrNameLst>
                                    <p:attrName>style.visibility</p:attrName>
                                  </p:attrNameLst>
                                </p:cBhvr>
                                <p:to>
                                  <p:strVal val="visible"/>
                                </p:to>
                              </p:set>
                              <p:animEffect transition="in" filter="wipe(left)">
                                <p:cBhvr>
                                  <p:cTn id="24" dur="860"/>
                                  <p:tgtEl>
                                    <p:spTgt spid="14"/>
                                  </p:tgtEl>
                                </p:cBhvr>
                              </p:animEffect>
                            </p:childTnLst>
                          </p:cTn>
                        </p:par>
                      </p:childTnLst>
                    </p:cTn>
                  </p:par>
                </p:childTnLst>
              </p:cTn>
            </p:seq>
          </p:childTnLst>
        </p:cTn>
      </p:par>
    </p:tnLst>
    <p:bldLst>
      <p:bldP spid="10" grpId="0"/>
      <p:bldP spid="12" grpId="0"/>
      <p:bldP spid="13" grpId="0"/>
      <p:bldP spid="14" grpId="0"/>
      <p:bldP spid="15" grpId="0"/>
      <p:bldP spid="31" grpId="0"/>
      <p:bldP spid="32"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10800000">
            <a:off x="17259300" y="-233820"/>
            <a:ext cx="1940843" cy="970417"/>
            <a:chOff x="0" y="0"/>
            <a:chExt cx="2587790" cy="1293889"/>
          </a:xfrm>
        </p:grpSpPr>
        <p:sp>
          <p:nvSpPr>
            <p:cNvPr id="3" name="Freeform 3"/>
            <p:cNvSpPr/>
            <p:nvPr/>
          </p:nvSpPr>
          <p:spPr>
            <a:xfrm>
              <a:off x="0" y="0"/>
              <a:ext cx="2587752" cy="1293876"/>
            </a:xfrm>
            <a:custGeom>
              <a:avLst/>
              <a:gdLst/>
              <a:ahLst/>
              <a:cxnLst/>
              <a:rect l="l" t="t" r="r" b="b"/>
              <a:pathLst>
                <a:path w="2587752" h="1293876">
                  <a:moveTo>
                    <a:pt x="0" y="0"/>
                  </a:moveTo>
                  <a:lnTo>
                    <a:pt x="2587752" y="0"/>
                  </a:lnTo>
                  <a:lnTo>
                    <a:pt x="2587752" y="1293876"/>
                  </a:lnTo>
                  <a:lnTo>
                    <a:pt x="0" y="1293876"/>
                  </a:lnTo>
                  <a:lnTo>
                    <a:pt x="0" y="0"/>
                  </a:lnTo>
                  <a:close/>
                </a:path>
              </a:pathLst>
            </a:custGeom>
            <a:blipFill>
              <a:blip r:embed="rId2"/>
              <a:stretch>
                <a:fillRect r="-1"/>
              </a:stretch>
            </a:blipFill>
          </p:spPr>
          <p:txBody>
            <a:bodyPr/>
            <a:lstStyle/>
            <a:p>
              <a:endParaRPr lang="en-VN"/>
            </a:p>
          </p:txBody>
        </p:sp>
      </p:grpSp>
      <p:grpSp>
        <p:nvGrpSpPr>
          <p:cNvPr id="4" name="Group 4"/>
          <p:cNvGrpSpPr/>
          <p:nvPr/>
        </p:nvGrpSpPr>
        <p:grpSpPr>
          <a:xfrm>
            <a:off x="-912143" y="9429369"/>
            <a:ext cx="1940843" cy="970417"/>
            <a:chOff x="0" y="0"/>
            <a:chExt cx="2587790" cy="1293889"/>
          </a:xfrm>
        </p:grpSpPr>
        <p:sp>
          <p:nvSpPr>
            <p:cNvPr id="5" name="Freeform 5"/>
            <p:cNvSpPr/>
            <p:nvPr/>
          </p:nvSpPr>
          <p:spPr>
            <a:xfrm>
              <a:off x="0" y="0"/>
              <a:ext cx="2587752" cy="1293876"/>
            </a:xfrm>
            <a:custGeom>
              <a:avLst/>
              <a:gdLst/>
              <a:ahLst/>
              <a:cxnLst/>
              <a:rect l="l" t="t" r="r" b="b"/>
              <a:pathLst>
                <a:path w="2587752" h="1293876">
                  <a:moveTo>
                    <a:pt x="0" y="0"/>
                  </a:moveTo>
                  <a:lnTo>
                    <a:pt x="2587752" y="0"/>
                  </a:lnTo>
                  <a:lnTo>
                    <a:pt x="2587752" y="1293876"/>
                  </a:lnTo>
                  <a:lnTo>
                    <a:pt x="0" y="1293876"/>
                  </a:lnTo>
                  <a:lnTo>
                    <a:pt x="0" y="0"/>
                  </a:lnTo>
                  <a:close/>
                </a:path>
              </a:pathLst>
            </a:custGeom>
            <a:blipFill>
              <a:blip r:embed="rId2"/>
              <a:stretch>
                <a:fillRect r="-1"/>
              </a:stretch>
            </a:blipFill>
          </p:spPr>
          <p:txBody>
            <a:bodyPr/>
            <a:lstStyle/>
            <a:p>
              <a:endParaRPr lang="en-VN"/>
            </a:p>
          </p:txBody>
        </p:sp>
      </p:grpSp>
      <p:grpSp>
        <p:nvGrpSpPr>
          <p:cNvPr id="6" name="Group 6"/>
          <p:cNvGrpSpPr/>
          <p:nvPr/>
        </p:nvGrpSpPr>
        <p:grpSpPr>
          <a:xfrm>
            <a:off x="-3127839" y="9986436"/>
            <a:ext cx="22035035" cy="2837612"/>
            <a:chOff x="0" y="0"/>
            <a:chExt cx="5803466" cy="747355"/>
          </a:xfrm>
        </p:grpSpPr>
        <p:sp>
          <p:nvSpPr>
            <p:cNvPr id="7" name="Freeform 7"/>
            <p:cNvSpPr/>
            <p:nvPr/>
          </p:nvSpPr>
          <p:spPr>
            <a:xfrm>
              <a:off x="0" y="0"/>
              <a:ext cx="5803466" cy="747355"/>
            </a:xfrm>
            <a:custGeom>
              <a:avLst/>
              <a:gdLst/>
              <a:ahLst/>
              <a:cxnLst/>
              <a:rect l="l" t="t" r="r" b="b"/>
              <a:pathLst>
                <a:path w="5803466" h="747355">
                  <a:moveTo>
                    <a:pt x="0" y="0"/>
                  </a:moveTo>
                  <a:lnTo>
                    <a:pt x="5803466" y="0"/>
                  </a:lnTo>
                  <a:lnTo>
                    <a:pt x="5803466" y="747355"/>
                  </a:lnTo>
                  <a:lnTo>
                    <a:pt x="0" y="747355"/>
                  </a:lnTo>
                  <a:close/>
                </a:path>
              </a:pathLst>
            </a:custGeom>
            <a:solidFill>
              <a:srgbClr val="3C4F75"/>
            </a:solidFill>
          </p:spPr>
          <p:txBody>
            <a:bodyPr/>
            <a:lstStyle/>
            <a:p>
              <a:endParaRPr lang="en-VN"/>
            </a:p>
          </p:txBody>
        </p:sp>
        <p:sp>
          <p:nvSpPr>
            <p:cNvPr id="8" name="TextBox 8"/>
            <p:cNvSpPr txBox="1"/>
            <p:nvPr/>
          </p:nvSpPr>
          <p:spPr>
            <a:xfrm>
              <a:off x="0" y="-47625"/>
              <a:ext cx="5803466" cy="794980"/>
            </a:xfrm>
            <a:prstGeom prst="rect">
              <a:avLst/>
            </a:prstGeom>
          </p:spPr>
          <p:txBody>
            <a:bodyPr lIns="50800" tIns="50800" rIns="50800" bIns="50800" rtlCol="0" anchor="ctr"/>
            <a:lstStyle/>
            <a:p>
              <a:pPr algn="ctr">
                <a:lnSpc>
                  <a:spcPts val="2940"/>
                </a:lnSpc>
              </a:pPr>
              <a:endParaRPr/>
            </a:p>
          </p:txBody>
        </p:sp>
      </p:grpSp>
      <p:sp>
        <p:nvSpPr>
          <p:cNvPr id="9" name="Freeform 9"/>
          <p:cNvSpPr/>
          <p:nvPr/>
        </p:nvSpPr>
        <p:spPr>
          <a:xfrm>
            <a:off x="1028700" y="251389"/>
            <a:ext cx="551704" cy="584433"/>
          </a:xfrm>
          <a:custGeom>
            <a:avLst/>
            <a:gdLst/>
            <a:ahLst/>
            <a:cxnLst/>
            <a:rect l="l" t="t" r="r" b="b"/>
            <a:pathLst>
              <a:path w="551704" h="584433">
                <a:moveTo>
                  <a:pt x="0" y="0"/>
                </a:moveTo>
                <a:lnTo>
                  <a:pt x="551704" y="0"/>
                </a:lnTo>
                <a:lnTo>
                  <a:pt x="551704" y="584432"/>
                </a:lnTo>
                <a:lnTo>
                  <a:pt x="0" y="584432"/>
                </a:lnTo>
                <a:lnTo>
                  <a:pt x="0" y="0"/>
                </a:lnTo>
                <a:close/>
              </a:path>
            </a:pathLst>
          </a:custGeom>
          <a:blipFill>
            <a:blip r:embed="rId3"/>
            <a:stretch>
              <a:fillRect/>
            </a:stretch>
          </a:blipFill>
        </p:spPr>
        <p:txBody>
          <a:bodyPr/>
          <a:lstStyle/>
          <a:p>
            <a:endParaRPr lang="en-VN"/>
          </a:p>
        </p:txBody>
      </p:sp>
      <p:sp>
        <p:nvSpPr>
          <p:cNvPr id="10" name="TextBox 10"/>
          <p:cNvSpPr txBox="1"/>
          <p:nvPr/>
        </p:nvSpPr>
        <p:spPr>
          <a:xfrm>
            <a:off x="1028700" y="1095375"/>
            <a:ext cx="12497555" cy="534618"/>
          </a:xfrm>
          <a:prstGeom prst="rect">
            <a:avLst/>
          </a:prstGeom>
        </p:spPr>
        <p:txBody>
          <a:bodyPr lIns="0" tIns="0" rIns="0" bIns="0" rtlCol="0" anchor="t">
            <a:spAutoFit/>
          </a:bodyPr>
          <a:lstStyle/>
          <a:p>
            <a:pPr algn="just">
              <a:lnSpc>
                <a:spcPts val="4039"/>
              </a:lnSpc>
            </a:pPr>
            <a:r>
              <a:rPr lang="en-US" sz="3999" b="1">
                <a:solidFill>
                  <a:srgbClr val="0C1D4B"/>
                </a:solidFill>
                <a:latin typeface="Roboto Slab Bold"/>
                <a:ea typeface="Roboto Slab Bold"/>
                <a:cs typeface="Roboto Slab Bold"/>
                <a:sym typeface="Roboto Slab Bold"/>
              </a:rPr>
              <a:t>3.4. Xây dựng các node trong hệ thống</a:t>
            </a:r>
          </a:p>
        </p:txBody>
      </p:sp>
      <p:sp>
        <p:nvSpPr>
          <p:cNvPr id="11" name="TextBox 11"/>
          <p:cNvSpPr txBox="1"/>
          <p:nvPr/>
        </p:nvSpPr>
        <p:spPr>
          <a:xfrm>
            <a:off x="1687249" y="346410"/>
            <a:ext cx="3954904" cy="356289"/>
          </a:xfrm>
          <a:prstGeom prst="rect">
            <a:avLst/>
          </a:prstGeom>
        </p:spPr>
        <p:txBody>
          <a:bodyPr lIns="0" tIns="0" rIns="0" bIns="0" rtlCol="0" anchor="t">
            <a:spAutoFit/>
          </a:bodyPr>
          <a:lstStyle/>
          <a:p>
            <a:pPr algn="l">
              <a:lnSpc>
                <a:spcPts val="2940"/>
              </a:lnSpc>
            </a:pPr>
            <a:r>
              <a:rPr lang="en-US" sz="2100" b="1">
                <a:solidFill>
                  <a:srgbClr val="2C2C2C"/>
                </a:solidFill>
                <a:latin typeface="Roboto Slab Bold"/>
                <a:ea typeface="Roboto Slab Bold"/>
                <a:cs typeface="Roboto Slab Bold"/>
                <a:sym typeface="Roboto Slab Bold"/>
              </a:rPr>
              <a:t>HỌC VIỆN KỸ THUẬT MẬT MÃ</a:t>
            </a:r>
          </a:p>
        </p:txBody>
      </p:sp>
      <p:sp>
        <p:nvSpPr>
          <p:cNvPr id="12" name="TextBox 12"/>
          <p:cNvSpPr txBox="1"/>
          <p:nvPr/>
        </p:nvSpPr>
        <p:spPr>
          <a:xfrm>
            <a:off x="1028700" y="1725243"/>
            <a:ext cx="10081822" cy="685800"/>
          </a:xfrm>
          <a:prstGeom prst="rect">
            <a:avLst/>
          </a:prstGeom>
        </p:spPr>
        <p:txBody>
          <a:bodyPr lIns="0" tIns="0" rIns="0" bIns="0" rtlCol="0" anchor="t">
            <a:spAutoFit/>
          </a:bodyPr>
          <a:lstStyle/>
          <a:p>
            <a:pPr algn="just">
              <a:lnSpc>
                <a:spcPts val="6000"/>
              </a:lnSpc>
            </a:pPr>
            <a:r>
              <a:rPr lang="en-US" sz="3000" b="1" dirty="0">
                <a:solidFill>
                  <a:srgbClr val="0C1D4B"/>
                </a:solidFill>
                <a:latin typeface="Roboto Slab Bold"/>
                <a:ea typeface="Roboto Slab Bold"/>
                <a:cs typeface="Roboto Slab Bold"/>
                <a:sym typeface="Roboto Slab Bold"/>
              </a:rPr>
              <a:t>Node </a:t>
            </a:r>
            <a:r>
              <a:rPr lang="en-US" sz="3000" b="1" dirty="0" err="1">
                <a:solidFill>
                  <a:srgbClr val="0C1D4B"/>
                </a:solidFill>
                <a:latin typeface="Roboto Slab Bold"/>
                <a:ea typeface="Roboto Slab Bold"/>
                <a:cs typeface="Roboto Slab Bold"/>
                <a:sym typeface="Roboto Slab Bold"/>
              </a:rPr>
              <a:t>Query_Analysis</a:t>
            </a:r>
            <a:endParaRPr lang="en-US" sz="3000" b="1" dirty="0">
              <a:solidFill>
                <a:srgbClr val="0C1D4B"/>
              </a:solidFill>
              <a:latin typeface="Roboto Slab Bold"/>
              <a:ea typeface="Roboto Slab Bold"/>
              <a:cs typeface="Roboto Slab Bold"/>
              <a:sym typeface="Roboto Slab Bold"/>
            </a:endParaRPr>
          </a:p>
        </p:txBody>
      </p:sp>
      <p:sp>
        <p:nvSpPr>
          <p:cNvPr id="13" name="TextBox 13"/>
          <p:cNvSpPr txBox="1"/>
          <p:nvPr/>
        </p:nvSpPr>
        <p:spPr>
          <a:xfrm>
            <a:off x="1028700" y="2496768"/>
            <a:ext cx="16230600" cy="2252540"/>
          </a:xfrm>
          <a:prstGeom prst="rect">
            <a:avLst/>
          </a:prstGeom>
        </p:spPr>
        <p:txBody>
          <a:bodyPr lIns="0" tIns="0" rIns="0" bIns="0" rtlCol="0" anchor="t">
            <a:spAutoFit/>
          </a:bodyPr>
          <a:lstStyle/>
          <a:p>
            <a:pPr marL="604519" lvl="1" indent="-302260" algn="l">
              <a:lnSpc>
                <a:spcPts val="4479"/>
              </a:lnSpc>
              <a:buFont typeface="Arial"/>
              <a:buChar char="•"/>
            </a:pPr>
            <a:r>
              <a:rPr lang="en-US" sz="2799" dirty="0" err="1">
                <a:solidFill>
                  <a:srgbClr val="0C1D4B"/>
                </a:solidFill>
                <a:latin typeface="Roboto Slab"/>
                <a:ea typeface="Roboto Slab"/>
                <a:cs typeface="Roboto Slab"/>
                <a:sym typeface="Roboto Slab"/>
              </a:rPr>
              <a:t>Nhiệm</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vụ</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phân</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tích</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câu</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hỏi</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xác</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định</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vấn</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đề</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pháp</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lý</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chính</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thuật</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ngữ</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pháp</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lý</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liên</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quan</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và</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tạo</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truy</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vấn</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tối</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ưu</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cho</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từng</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nguồn</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dữ</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liệu</a:t>
            </a:r>
            <a:endParaRPr lang="en-US" sz="2799" dirty="0">
              <a:solidFill>
                <a:srgbClr val="0C1D4B"/>
              </a:solidFill>
              <a:latin typeface="Roboto Slab"/>
              <a:ea typeface="Roboto Slab"/>
              <a:cs typeface="Roboto Slab"/>
              <a:sym typeface="Roboto Slab"/>
            </a:endParaRPr>
          </a:p>
          <a:p>
            <a:pPr marL="604519" lvl="1" indent="-302260" algn="l">
              <a:lnSpc>
                <a:spcPts val="4479"/>
              </a:lnSpc>
              <a:buFont typeface="Arial"/>
              <a:buChar char="•"/>
            </a:pPr>
            <a:r>
              <a:rPr lang="en-US" sz="2799" dirty="0">
                <a:solidFill>
                  <a:srgbClr val="0C1D4B"/>
                </a:solidFill>
                <a:latin typeface="Roboto Slab"/>
                <a:ea typeface="Roboto Slab"/>
                <a:cs typeface="Roboto Slab"/>
                <a:sym typeface="Roboto Slab"/>
              </a:rPr>
              <a:t>PROMPT: “</a:t>
            </a:r>
            <a:r>
              <a:rPr lang="en-US" sz="2799" dirty="0" err="1">
                <a:solidFill>
                  <a:srgbClr val="0C1D4B"/>
                </a:solidFill>
                <a:latin typeface="Roboto Slab"/>
                <a:ea typeface="Roboto Slab"/>
                <a:cs typeface="Roboto Slab"/>
                <a:sym typeface="Roboto Slab"/>
              </a:rPr>
              <a:t>Bạn</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là</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chuyên</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gia</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phân</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tích</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pháp</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luật</a:t>
            </a:r>
            <a:r>
              <a:rPr lang="en-US" sz="2799" dirty="0">
                <a:solidFill>
                  <a:srgbClr val="0C1D4B"/>
                </a:solidFill>
                <a:latin typeface="Roboto Slab"/>
                <a:ea typeface="Roboto Slab"/>
                <a:cs typeface="Roboto Slab"/>
                <a:sym typeface="Roboto Slab"/>
              </a:rPr>
              <a:t> Việt Nam. </a:t>
            </a:r>
            <a:r>
              <a:rPr lang="en-US" sz="2799" dirty="0" err="1">
                <a:solidFill>
                  <a:srgbClr val="0C1D4B"/>
                </a:solidFill>
                <a:latin typeface="Roboto Slab"/>
                <a:ea typeface="Roboto Slab"/>
                <a:cs typeface="Roboto Slab"/>
                <a:sym typeface="Roboto Slab"/>
              </a:rPr>
              <a:t>Nhiệm</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vụ</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Phân</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tích</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câu</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hỏi</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pháp</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lý</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của</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người</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dùng</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và</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tạo</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ra</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các</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truy</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vấn</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tìm</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kiếm</a:t>
            </a:r>
            <a:r>
              <a:rPr lang="en-US" sz="2799" dirty="0">
                <a:solidFill>
                  <a:srgbClr val="0C1D4B"/>
                </a:solidFill>
                <a:latin typeface="Roboto Slab"/>
                <a:ea typeface="Roboto Slab"/>
                <a:cs typeface="Roboto Slab"/>
                <a:sym typeface="Roboto Slab"/>
              </a:rPr>
              <a:t> TỐI ƯU </a:t>
            </a:r>
            <a:r>
              <a:rPr lang="en-US" sz="2799" dirty="0" err="1">
                <a:solidFill>
                  <a:srgbClr val="0C1D4B"/>
                </a:solidFill>
                <a:latin typeface="Roboto Slab"/>
                <a:ea typeface="Roboto Slab"/>
                <a:cs typeface="Roboto Slab"/>
                <a:sym typeface="Roboto Slab"/>
              </a:rPr>
              <a:t>cho</a:t>
            </a:r>
            <a:r>
              <a:rPr lang="en-US" sz="2799" dirty="0">
                <a:solidFill>
                  <a:srgbClr val="0C1D4B"/>
                </a:solidFill>
                <a:latin typeface="Roboto Slab"/>
                <a:ea typeface="Roboto Slab"/>
                <a:cs typeface="Roboto Slab"/>
                <a:sym typeface="Roboto Slab"/>
              </a:rPr>
              <a:t> 2 </a:t>
            </a:r>
            <a:r>
              <a:rPr lang="en-US" sz="2799" dirty="0" err="1">
                <a:solidFill>
                  <a:srgbClr val="0C1D4B"/>
                </a:solidFill>
                <a:latin typeface="Roboto Slab"/>
                <a:ea typeface="Roboto Slab"/>
                <a:cs typeface="Roboto Slab"/>
                <a:sym typeface="Roboto Slab"/>
              </a:rPr>
              <a:t>hệ</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thống</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khác</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nhau</a:t>
            </a:r>
            <a:r>
              <a:rPr lang="en-US" sz="2799" dirty="0">
                <a:solidFill>
                  <a:srgbClr val="0C1D4B"/>
                </a:solidFill>
                <a:latin typeface="Roboto Slab"/>
                <a:ea typeface="Roboto Slab"/>
                <a:cs typeface="Roboto Slab"/>
                <a:sym typeface="Roboto Slab"/>
              </a:rPr>
              <a:t>...”</a:t>
            </a:r>
          </a:p>
        </p:txBody>
      </p:sp>
      <p:grpSp>
        <p:nvGrpSpPr>
          <p:cNvPr id="14" name="Group 14"/>
          <p:cNvGrpSpPr/>
          <p:nvPr/>
        </p:nvGrpSpPr>
        <p:grpSpPr>
          <a:xfrm>
            <a:off x="2543497" y="5269448"/>
            <a:ext cx="14843164" cy="2013203"/>
            <a:chOff x="0" y="0"/>
            <a:chExt cx="19790886" cy="2684271"/>
          </a:xfrm>
        </p:grpSpPr>
        <p:sp>
          <p:nvSpPr>
            <p:cNvPr id="15" name="Freeform 15"/>
            <p:cNvSpPr/>
            <p:nvPr/>
          </p:nvSpPr>
          <p:spPr>
            <a:xfrm>
              <a:off x="5358055" y="1213536"/>
              <a:ext cx="1468480" cy="1442782"/>
            </a:xfrm>
            <a:custGeom>
              <a:avLst/>
              <a:gdLst/>
              <a:ahLst/>
              <a:cxnLst/>
              <a:rect l="l" t="t" r="r" b="b"/>
              <a:pathLst>
                <a:path w="1468480" h="1442782">
                  <a:moveTo>
                    <a:pt x="0" y="0"/>
                  </a:moveTo>
                  <a:lnTo>
                    <a:pt x="1468480" y="0"/>
                  </a:lnTo>
                  <a:lnTo>
                    <a:pt x="1468480" y="1442782"/>
                  </a:lnTo>
                  <a:lnTo>
                    <a:pt x="0" y="1442782"/>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VN"/>
            </a:p>
          </p:txBody>
        </p:sp>
        <p:sp>
          <p:nvSpPr>
            <p:cNvPr id="16" name="Freeform 16"/>
            <p:cNvSpPr/>
            <p:nvPr/>
          </p:nvSpPr>
          <p:spPr>
            <a:xfrm>
              <a:off x="9748647" y="1131359"/>
              <a:ext cx="1500501" cy="1552911"/>
            </a:xfrm>
            <a:custGeom>
              <a:avLst/>
              <a:gdLst/>
              <a:ahLst/>
              <a:cxnLst/>
              <a:rect l="l" t="t" r="r" b="b"/>
              <a:pathLst>
                <a:path w="1500501" h="1552911">
                  <a:moveTo>
                    <a:pt x="0" y="0"/>
                  </a:moveTo>
                  <a:lnTo>
                    <a:pt x="1500500" y="0"/>
                  </a:lnTo>
                  <a:lnTo>
                    <a:pt x="1500500" y="1552912"/>
                  </a:lnTo>
                  <a:lnTo>
                    <a:pt x="0" y="155291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VN"/>
            </a:p>
          </p:txBody>
        </p:sp>
        <p:sp>
          <p:nvSpPr>
            <p:cNvPr id="17" name="TextBox 17"/>
            <p:cNvSpPr txBox="1"/>
            <p:nvPr/>
          </p:nvSpPr>
          <p:spPr>
            <a:xfrm>
              <a:off x="0" y="1339252"/>
              <a:ext cx="2693812" cy="1099026"/>
            </a:xfrm>
            <a:prstGeom prst="rect">
              <a:avLst/>
            </a:prstGeom>
          </p:spPr>
          <p:txBody>
            <a:bodyPr lIns="0" tIns="0" rIns="0" bIns="0" rtlCol="0" anchor="t">
              <a:spAutoFit/>
            </a:bodyPr>
            <a:lstStyle/>
            <a:p>
              <a:pPr algn="l">
                <a:lnSpc>
                  <a:spcPts val="3392"/>
                </a:lnSpc>
                <a:spcBef>
                  <a:spcPct val="0"/>
                </a:spcBef>
              </a:pPr>
              <a:r>
                <a:rPr lang="en-US" sz="2423" b="1">
                  <a:solidFill>
                    <a:srgbClr val="000000"/>
                  </a:solidFill>
                  <a:latin typeface="Roboto Slab Bold"/>
                  <a:ea typeface="Roboto Slab Bold"/>
                  <a:cs typeface="Roboto Slab Bold"/>
                  <a:sym typeface="Roboto Slab Bold"/>
                </a:rPr>
                <a:t>Câu hỏi đã qua kiểm tra</a:t>
              </a:r>
            </a:p>
          </p:txBody>
        </p:sp>
        <p:sp>
          <p:nvSpPr>
            <p:cNvPr id="18" name="AutoShape 18"/>
            <p:cNvSpPr/>
            <p:nvPr/>
          </p:nvSpPr>
          <p:spPr>
            <a:xfrm>
              <a:off x="2693812" y="1907815"/>
              <a:ext cx="2664244" cy="27112"/>
            </a:xfrm>
            <a:prstGeom prst="line">
              <a:avLst/>
            </a:prstGeom>
            <a:ln w="50800" cap="flat">
              <a:solidFill>
                <a:srgbClr val="0C0C6B"/>
              </a:solidFill>
              <a:prstDash val="solid"/>
              <a:headEnd type="none" w="sm" len="sm"/>
              <a:tailEnd type="arrow" w="med" len="sm"/>
            </a:ln>
          </p:spPr>
          <p:txBody>
            <a:bodyPr/>
            <a:lstStyle/>
            <a:p>
              <a:endParaRPr lang="en-VN"/>
            </a:p>
          </p:txBody>
        </p:sp>
        <p:sp>
          <p:nvSpPr>
            <p:cNvPr id="19" name="AutoShape 19"/>
            <p:cNvSpPr/>
            <p:nvPr/>
          </p:nvSpPr>
          <p:spPr>
            <a:xfrm flipV="1">
              <a:off x="6826535" y="1907815"/>
              <a:ext cx="2922111" cy="27112"/>
            </a:xfrm>
            <a:prstGeom prst="line">
              <a:avLst/>
            </a:prstGeom>
            <a:ln w="50800" cap="flat">
              <a:solidFill>
                <a:srgbClr val="0C0C6B"/>
              </a:solidFill>
              <a:prstDash val="solid"/>
              <a:headEnd type="none" w="sm" len="sm"/>
              <a:tailEnd type="arrow" w="med" len="sm"/>
            </a:ln>
          </p:spPr>
          <p:txBody>
            <a:bodyPr/>
            <a:lstStyle/>
            <a:p>
              <a:endParaRPr lang="en-VN"/>
            </a:p>
          </p:txBody>
        </p:sp>
        <p:sp>
          <p:nvSpPr>
            <p:cNvPr id="20" name="TextBox 20"/>
            <p:cNvSpPr txBox="1"/>
            <p:nvPr/>
          </p:nvSpPr>
          <p:spPr>
            <a:xfrm>
              <a:off x="4131542" y="436387"/>
              <a:ext cx="4049764" cy="516005"/>
            </a:xfrm>
            <a:prstGeom prst="rect">
              <a:avLst/>
            </a:prstGeom>
          </p:spPr>
          <p:txBody>
            <a:bodyPr lIns="0" tIns="0" rIns="0" bIns="0" rtlCol="0" anchor="t">
              <a:spAutoFit/>
            </a:bodyPr>
            <a:lstStyle/>
            <a:p>
              <a:pPr algn="ctr">
                <a:lnSpc>
                  <a:spcPts val="3357"/>
                </a:lnSpc>
                <a:spcBef>
                  <a:spcPct val="0"/>
                </a:spcBef>
              </a:pPr>
              <a:r>
                <a:rPr lang="en-US" sz="2397" b="1" i="1">
                  <a:solidFill>
                    <a:srgbClr val="000000"/>
                  </a:solidFill>
                  <a:latin typeface="Roboto Slab Bold"/>
                  <a:ea typeface="Roboto Slab Bold"/>
                  <a:cs typeface="Roboto Slab Bold"/>
                  <a:sym typeface="Roboto Slab Bold"/>
                </a:rPr>
                <a:t>PROMT</a:t>
              </a:r>
            </a:p>
          </p:txBody>
        </p:sp>
        <p:sp>
          <p:nvSpPr>
            <p:cNvPr id="21" name="TextBox 21"/>
            <p:cNvSpPr txBox="1"/>
            <p:nvPr/>
          </p:nvSpPr>
          <p:spPr>
            <a:xfrm>
              <a:off x="8583846" y="351923"/>
              <a:ext cx="3830101" cy="665884"/>
            </a:xfrm>
            <a:prstGeom prst="rect">
              <a:avLst/>
            </a:prstGeom>
          </p:spPr>
          <p:txBody>
            <a:bodyPr lIns="0" tIns="0" rIns="0" bIns="0" rtlCol="0" anchor="t">
              <a:spAutoFit/>
            </a:bodyPr>
            <a:lstStyle/>
            <a:p>
              <a:pPr algn="ctr">
                <a:lnSpc>
                  <a:spcPts val="4232"/>
                </a:lnSpc>
                <a:spcBef>
                  <a:spcPct val="0"/>
                </a:spcBef>
              </a:pPr>
              <a:r>
                <a:rPr lang="en-US" sz="3023" b="1">
                  <a:solidFill>
                    <a:srgbClr val="000000"/>
                  </a:solidFill>
                  <a:latin typeface="Roboto Slab Bold"/>
                  <a:ea typeface="Roboto Slab Bold"/>
                  <a:cs typeface="Roboto Slab Bold"/>
                  <a:sym typeface="Roboto Slab Bold"/>
                </a:rPr>
                <a:t>LLMs</a:t>
              </a:r>
            </a:p>
          </p:txBody>
        </p:sp>
        <p:sp>
          <p:nvSpPr>
            <p:cNvPr id="22" name="AutoShape 22"/>
            <p:cNvSpPr/>
            <p:nvPr/>
          </p:nvSpPr>
          <p:spPr>
            <a:xfrm>
              <a:off x="11249147" y="1907815"/>
              <a:ext cx="4399850" cy="0"/>
            </a:xfrm>
            <a:prstGeom prst="line">
              <a:avLst/>
            </a:prstGeom>
            <a:ln w="50800" cap="flat">
              <a:solidFill>
                <a:srgbClr val="0C0C6B"/>
              </a:solidFill>
              <a:prstDash val="solid"/>
              <a:headEnd type="none" w="sm" len="sm"/>
              <a:tailEnd type="arrow" w="med" len="sm"/>
            </a:ln>
          </p:spPr>
          <p:txBody>
            <a:bodyPr/>
            <a:lstStyle/>
            <a:p>
              <a:endParaRPr lang="en-VN"/>
            </a:p>
          </p:txBody>
        </p:sp>
        <p:grpSp>
          <p:nvGrpSpPr>
            <p:cNvPr id="23" name="Group 23"/>
            <p:cNvGrpSpPr/>
            <p:nvPr/>
          </p:nvGrpSpPr>
          <p:grpSpPr>
            <a:xfrm>
              <a:off x="15648997" y="1460012"/>
              <a:ext cx="4141889" cy="895606"/>
              <a:chOff x="0" y="0"/>
              <a:chExt cx="847743" cy="183309"/>
            </a:xfrm>
          </p:grpSpPr>
          <p:sp>
            <p:nvSpPr>
              <p:cNvPr id="24" name="Freeform 24"/>
              <p:cNvSpPr/>
              <p:nvPr/>
            </p:nvSpPr>
            <p:spPr>
              <a:xfrm>
                <a:off x="0" y="0"/>
                <a:ext cx="847743" cy="183309"/>
              </a:xfrm>
              <a:custGeom>
                <a:avLst/>
                <a:gdLst/>
                <a:ahLst/>
                <a:cxnLst/>
                <a:rect l="l" t="t" r="r" b="b"/>
                <a:pathLst>
                  <a:path w="847743" h="183309">
                    <a:moveTo>
                      <a:pt x="69783" y="0"/>
                    </a:moveTo>
                    <a:lnTo>
                      <a:pt x="777961" y="0"/>
                    </a:lnTo>
                    <a:cubicBezTo>
                      <a:pt x="796468" y="0"/>
                      <a:pt x="814218" y="7352"/>
                      <a:pt x="827304" y="20439"/>
                    </a:cubicBezTo>
                    <a:cubicBezTo>
                      <a:pt x="840391" y="33526"/>
                      <a:pt x="847743" y="51275"/>
                      <a:pt x="847743" y="69783"/>
                    </a:cubicBezTo>
                    <a:lnTo>
                      <a:pt x="847743" y="113526"/>
                    </a:lnTo>
                    <a:cubicBezTo>
                      <a:pt x="847743" y="132033"/>
                      <a:pt x="840391" y="149783"/>
                      <a:pt x="827304" y="162870"/>
                    </a:cubicBezTo>
                    <a:cubicBezTo>
                      <a:pt x="814218" y="175956"/>
                      <a:pt x="796468" y="183309"/>
                      <a:pt x="777961" y="183309"/>
                    </a:cubicBezTo>
                    <a:lnTo>
                      <a:pt x="69783" y="183309"/>
                    </a:lnTo>
                    <a:cubicBezTo>
                      <a:pt x="51275" y="183309"/>
                      <a:pt x="33526" y="175956"/>
                      <a:pt x="20439" y="162870"/>
                    </a:cubicBezTo>
                    <a:cubicBezTo>
                      <a:pt x="7352" y="149783"/>
                      <a:pt x="0" y="132033"/>
                      <a:pt x="0" y="113526"/>
                    </a:cubicBezTo>
                    <a:lnTo>
                      <a:pt x="0" y="69783"/>
                    </a:lnTo>
                    <a:cubicBezTo>
                      <a:pt x="0" y="51275"/>
                      <a:pt x="7352" y="33526"/>
                      <a:pt x="20439" y="20439"/>
                    </a:cubicBezTo>
                    <a:cubicBezTo>
                      <a:pt x="33526" y="7352"/>
                      <a:pt x="51275" y="0"/>
                      <a:pt x="69783" y="0"/>
                    </a:cubicBezTo>
                    <a:close/>
                  </a:path>
                </a:pathLst>
              </a:custGeom>
              <a:solidFill>
                <a:srgbClr val="0D1D4B"/>
              </a:solidFill>
            </p:spPr>
            <p:txBody>
              <a:bodyPr/>
              <a:lstStyle/>
              <a:p>
                <a:endParaRPr lang="en-VN"/>
              </a:p>
            </p:txBody>
          </p:sp>
          <p:sp>
            <p:nvSpPr>
              <p:cNvPr id="25" name="TextBox 25"/>
              <p:cNvSpPr txBox="1"/>
              <p:nvPr/>
            </p:nvSpPr>
            <p:spPr>
              <a:xfrm>
                <a:off x="0" y="-38100"/>
                <a:ext cx="847743" cy="221409"/>
              </a:xfrm>
              <a:prstGeom prst="rect">
                <a:avLst/>
              </a:prstGeom>
            </p:spPr>
            <p:txBody>
              <a:bodyPr lIns="50800" tIns="50800" rIns="50800" bIns="50800" rtlCol="0" anchor="ctr"/>
              <a:lstStyle/>
              <a:p>
                <a:pPr algn="ctr">
                  <a:lnSpc>
                    <a:spcPts val="2940"/>
                  </a:lnSpc>
                </a:pPr>
                <a:r>
                  <a:rPr lang="en-US" sz="2100" b="1" spc="50">
                    <a:solidFill>
                      <a:srgbClr val="FFFFFF"/>
                    </a:solidFill>
                    <a:latin typeface="Roboto Slab Bold"/>
                    <a:ea typeface="Roboto Slab Bold"/>
                    <a:cs typeface="Roboto Slab Bold"/>
                    <a:sym typeface="Roboto Slab Bold"/>
                  </a:rPr>
                  <a:t>Node Agent</a:t>
                </a:r>
              </a:p>
            </p:txBody>
          </p:sp>
        </p:grpSp>
        <p:sp>
          <p:nvSpPr>
            <p:cNvPr id="26" name="TextBox 26"/>
            <p:cNvSpPr txBox="1"/>
            <p:nvPr/>
          </p:nvSpPr>
          <p:spPr>
            <a:xfrm>
              <a:off x="12113362" y="-76200"/>
              <a:ext cx="2671420" cy="1884536"/>
            </a:xfrm>
            <a:prstGeom prst="rect">
              <a:avLst/>
            </a:prstGeom>
          </p:spPr>
          <p:txBody>
            <a:bodyPr lIns="0" tIns="0" rIns="0" bIns="0" rtlCol="0" anchor="t">
              <a:spAutoFit/>
            </a:bodyPr>
            <a:lstStyle/>
            <a:p>
              <a:pPr marL="388620" lvl="1" indent="-194310" algn="l">
                <a:lnSpc>
                  <a:spcPts val="2880"/>
                </a:lnSpc>
                <a:buFont typeface="Arial"/>
                <a:buChar char="•"/>
              </a:pPr>
              <a:r>
                <a:rPr lang="en-US" sz="1800">
                  <a:solidFill>
                    <a:srgbClr val="0C1D4B"/>
                  </a:solidFill>
                  <a:latin typeface="Roboto Slab"/>
                  <a:ea typeface="Roboto Slab"/>
                  <a:cs typeface="Roboto Slab"/>
                  <a:sym typeface="Roboto Slab"/>
                </a:rPr>
                <a:t>Các thuật ngữ pháp lý chính </a:t>
              </a:r>
            </a:p>
            <a:p>
              <a:pPr marL="388620" lvl="1" indent="-194310" algn="l">
                <a:lnSpc>
                  <a:spcPts val="2880"/>
                </a:lnSpc>
                <a:buFont typeface="Arial"/>
                <a:buChar char="•"/>
              </a:pPr>
              <a:r>
                <a:rPr lang="en-US" sz="1800">
                  <a:solidFill>
                    <a:srgbClr val="0C1D4B"/>
                  </a:solidFill>
                  <a:latin typeface="Roboto Slab"/>
                  <a:ea typeface="Roboto Slab"/>
                  <a:cs typeface="Roboto Slab"/>
                  <a:sym typeface="Roboto Slab"/>
                </a:rPr>
                <a:t>Tóm tắt nhu cầu tra cứu</a:t>
              </a:r>
            </a:p>
          </p:txBody>
        </p:sp>
      </p:grpSp>
      <p:sp>
        <p:nvSpPr>
          <p:cNvPr id="27" name="RestoredJsonSample QueryAnalysis"/>
          <p:cNvSpPr txBox="1"/>
          <p:nvPr/>
        </p:nvSpPr>
        <p:spPr>
          <a:xfrm>
            <a:off x="4526576" y="7474397"/>
            <a:ext cx="8305800" cy="2379878"/>
          </a:xfrm>
          <a:prstGeom prst="roundRect">
            <a:avLst/>
          </a:prstGeom>
          <a:solidFill>
            <a:srgbClr val="FFFFFF"/>
          </a:solidFill>
          <a:ln w="19050">
            <a:solidFill>
              <a:srgbClr val="0C1D4B"/>
            </a:solidFill>
          </a:ln>
        </p:spPr>
        <p:txBody>
          <a:bodyPr wrap="square" lIns="170000" tIns="120000" rIns="170000" bIns="90000" rtlCol="0" anchor="t">
            <a:spAutoFit/>
          </a:bodyPr>
          <a:lstStyle/>
          <a:p>
            <a:pPr algn="l"/>
            <a:r>
              <a:rPr lang="vi-VN" sz="1400" dirty="0">
                <a:solidFill>
                  <a:srgbClr val="111111"/>
                </a:solidFill>
                <a:latin typeface="Courier New"/>
              </a:rPr>
              <a:t>{</a:t>
            </a:r>
          </a:p>
          <a:p>
            <a:pPr algn="l"/>
            <a:r>
              <a:rPr lang="vi-VN" sz="1400" dirty="0">
                <a:solidFill>
                  <a:srgbClr val="111111"/>
                </a:solidFill>
                <a:latin typeface="Courier New"/>
              </a:rPr>
              <a:t>  "legal_topic": "Tội trộm cắp tài sản",</a:t>
            </a:r>
          </a:p>
          <a:p>
            <a:pPr algn="l"/>
            <a:r>
              <a:rPr lang="vi-VN" sz="1400" dirty="0">
                <a:solidFill>
                  <a:srgbClr val="111111"/>
                </a:solidFill>
                <a:latin typeface="Courier New"/>
              </a:rPr>
              <a:t>  "legal_domain": "Hình sự",</a:t>
            </a:r>
          </a:p>
          <a:p>
            <a:pPr algn="l"/>
            <a:r>
              <a:rPr lang="vi-VN" sz="1400" dirty="0">
                <a:solidFill>
                  <a:srgbClr val="111111"/>
                </a:solidFill>
                <a:latin typeface="Courier New"/>
              </a:rPr>
              <a:t>  "relevant_laws": ["Bộ luật Hình sự 2015"],</a:t>
            </a:r>
          </a:p>
          <a:p>
            <a:pPr algn="l"/>
            <a:r>
              <a:rPr lang="vi-VN" sz="1400" dirty="0">
                <a:solidFill>
                  <a:srgbClr val="111111"/>
                </a:solidFill>
                <a:latin typeface="Courier New"/>
              </a:rPr>
              <a:t>  "internal_search_query": "tội trộm cắp tài sản khung hình phạt",</a:t>
            </a:r>
          </a:p>
          <a:p>
            <a:pPr algn="l"/>
            <a:r>
              <a:rPr lang="vi-VN" sz="1400" dirty="0">
                <a:solidFill>
                  <a:srgbClr val="111111"/>
                </a:solidFill>
                <a:latin typeface="Courier New"/>
              </a:rPr>
              <a:t>  "web_search_query": "Điều 173 Bộ luật Hình sự 2015 quy định mới nhất",</a:t>
            </a:r>
          </a:p>
          <a:p>
            <a:pPr algn="l"/>
            <a:r>
              <a:rPr lang="vi-VN" sz="1400" dirty="0">
                <a:solidFill>
                  <a:srgbClr val="111111"/>
                </a:solidFill>
                <a:latin typeface="Courier New"/>
              </a:rPr>
              <a:t>  "key_legal_terms": ["trộm cắp tài sản", "khung hình phạt"],</a:t>
            </a:r>
          </a:p>
          <a:p>
            <a:pPr algn="l"/>
            <a:r>
              <a:rPr lang="vi-VN" sz="1400" dirty="0">
                <a:solidFill>
                  <a:srgbClr val="111111"/>
                </a:solidFill>
                <a:latin typeface="Courier New"/>
              </a:rPr>
              <a:t>  "analysis_summary": "Tạo truy vấn tối ưu cho ChromaDB và web search"</a:t>
            </a:r>
          </a:p>
          <a:p>
            <a:pPr algn="l"/>
            <a:r>
              <a:rPr lang="vi-VN" sz="1400" dirty="0">
                <a:solidFill>
                  <a:srgbClr val="111111"/>
                </a:solidFill>
                <a:latin typeface="Courier New"/>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grpId="0" nodeType="withEffect">
                            <p:stCondLst>
                              <p:cond delay="180"/>
                            </p:stCondLst>
                            <p:childTnLst>
                              <p:set>
                                <p:cBhvr>
                                  <p:cTn id="5" dur="1" fill="hold">
                                    <p:stCondLst>
                                      <p:cond delay="0"/>
                                    </p:stCondLst>
                                  </p:cTn>
                                  <p:tgtEl>
                                    <p:spTgt spid="12"/>
                                  </p:tgtEl>
                                  <p:attrNameLst>
                                    <p:attrName>style.visibility</p:attrName>
                                  </p:attrNameLst>
                                </p:cBhvr>
                                <p:to>
                                  <p:strVal val="visible"/>
                                </p:to>
                              </p:set>
                              <p:animEffect transition="in" filter="wipe(left)">
                                <p:cBhvr>
                                  <p:cTn id="6" dur="860"/>
                                  <p:tgtEl>
                                    <p:spTgt spid="12"/>
                                  </p:tgtEl>
                                </p:cBhvr>
                              </p:animEffect>
                            </p:childTnLst>
                          </p:cTn>
                        </p:par>
                        <p:par>
                          <p:cTn id="7" presetID="10" presetClass="entr" presetSubtype="0" fill="hold" grpId="0" nodeType="withEffect">
                            <p:stCondLst>
                              <p:cond delay="350"/>
                            </p:stCondLst>
                            <p:childTnLst>
                              <p:set>
                                <p:cBhvr>
                                  <p:cTn id="8" dur="1" fill="hold">
                                    <p:stCondLst>
                                      <p:cond delay="0"/>
                                    </p:stCondLst>
                                  </p:cTn>
                                  <p:tgtEl>
                                    <p:spTgt spid="13"/>
                                  </p:tgtEl>
                                  <p:attrNameLst>
                                    <p:attrName>style.visibility</p:attrName>
                                  </p:attrNameLst>
                                </p:cBhvr>
                                <p:to>
                                  <p:strVal val="visible"/>
                                </p:to>
                              </p:set>
                              <p:animEffect transition="in" filter="wipe(left)">
                                <p:cBhvr>
                                  <p:cTn id="9" dur="860"/>
                                  <p:tgtEl>
                                    <p:spTgt spid="13"/>
                                  </p:tgtEl>
                                </p:cBhvr>
                              </p:animEffect>
                            </p:childTnLst>
                          </p:cTn>
                        </p:par>
                        <p:par>
                          <p:cTn id="10" presetID="10" presetClass="entr" presetSubtype="0" fill="hold" grpId="0" nodeType="withEffect">
                            <p:stCondLst>
                              <p:cond delay="520"/>
                            </p:stCondLst>
                            <p:childTnLst>
                              <p:set>
                                <p:cBhvr>
                                  <p:cTn id="11" dur="1" fill="hold">
                                    <p:stCondLst>
                                      <p:cond delay="0"/>
                                    </p:stCondLst>
                                  </p:cTn>
                                  <p:tgtEl>
                                    <p:spTgt spid="14"/>
                                  </p:tgtEl>
                                  <p:attrNameLst>
                                    <p:attrName>style.visibility</p:attrName>
                                  </p:attrNameLst>
                                </p:cBhvr>
                                <p:to>
                                  <p:strVal val="visible"/>
                                </p:to>
                              </p:set>
                              <p:animEffect transition="in" filter="wipe(left)">
                                <p:cBhvr>
                                  <p:cTn id="12" dur="860"/>
                                  <p:tgtEl>
                                    <p:spTgt spid="14"/>
                                  </p:tgtEl>
                                </p:cBhvr>
                              </p:animEffect>
                            </p:childTnLst>
                          </p:cTn>
                        </p:par>
                        <p:par>
                          <p:cTn id="13" presetID="10" presetClass="entr" presetSubtype="0" fill="hold" grpId="0" nodeType="withEffect">
                            <p:stCondLst>
                              <p:cond delay="690"/>
                            </p:stCondLst>
                            <p:childTnLst>
                              <p:set>
                                <p:cBhvr>
                                  <p:cTn id="14" dur="1" fill="hold">
                                    <p:stCondLst>
                                      <p:cond delay="0"/>
                                    </p:stCondLst>
                                  </p:cTn>
                                  <p:tgtEl>
                                    <p:spTgt spid="27"/>
                                  </p:tgtEl>
                                  <p:attrNameLst>
                                    <p:attrName>style.visibility</p:attrName>
                                  </p:attrNameLst>
                                </p:cBhvr>
                                <p:to>
                                  <p:strVal val="visible"/>
                                </p:to>
                              </p:set>
                              <p:animEffect transition="in" filter="wipe(left)">
                                <p:cBhvr>
                                  <p:cTn id="15" dur="860"/>
                                  <p:tgtEl>
                                    <p:spTgt spid="27"/>
                                  </p:tgtEl>
                                </p:cBhvr>
                              </p:animEffect>
                            </p:childTnLst>
                          </p:cTn>
                        </p:par>
                      </p:childTnLst>
                    </p:cTn>
                  </p:par>
                </p:childTnLst>
              </p:cTn>
            </p:seq>
          </p:childTnLst>
        </p:cTn>
      </p:par>
    </p:tnLst>
    <p:bldLst>
      <p:bldP spid="12" grpId="0"/>
      <p:bldP spid="13" grpId="0"/>
      <p:bldP spid="14" grpId="0"/>
      <p:bldP spid="27"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10800000">
            <a:off x="17259300" y="-233820"/>
            <a:ext cx="1940843" cy="970417"/>
            <a:chOff x="0" y="0"/>
            <a:chExt cx="2587790" cy="1293889"/>
          </a:xfrm>
        </p:grpSpPr>
        <p:sp>
          <p:nvSpPr>
            <p:cNvPr id="3" name="Freeform 3"/>
            <p:cNvSpPr/>
            <p:nvPr/>
          </p:nvSpPr>
          <p:spPr>
            <a:xfrm>
              <a:off x="0" y="0"/>
              <a:ext cx="2587752" cy="1293876"/>
            </a:xfrm>
            <a:custGeom>
              <a:avLst/>
              <a:gdLst/>
              <a:ahLst/>
              <a:cxnLst/>
              <a:rect l="l" t="t" r="r" b="b"/>
              <a:pathLst>
                <a:path w="2587752" h="1293876">
                  <a:moveTo>
                    <a:pt x="0" y="0"/>
                  </a:moveTo>
                  <a:lnTo>
                    <a:pt x="2587752" y="0"/>
                  </a:lnTo>
                  <a:lnTo>
                    <a:pt x="2587752" y="1293876"/>
                  </a:lnTo>
                  <a:lnTo>
                    <a:pt x="0" y="1293876"/>
                  </a:lnTo>
                  <a:lnTo>
                    <a:pt x="0" y="0"/>
                  </a:lnTo>
                  <a:close/>
                </a:path>
              </a:pathLst>
            </a:custGeom>
            <a:blipFill>
              <a:blip r:embed="rId2"/>
              <a:stretch>
                <a:fillRect r="-1"/>
              </a:stretch>
            </a:blipFill>
          </p:spPr>
          <p:txBody>
            <a:bodyPr/>
            <a:lstStyle/>
            <a:p>
              <a:endParaRPr lang="en-VN"/>
            </a:p>
          </p:txBody>
        </p:sp>
      </p:grpSp>
      <p:grpSp>
        <p:nvGrpSpPr>
          <p:cNvPr id="4" name="Group 4"/>
          <p:cNvGrpSpPr/>
          <p:nvPr/>
        </p:nvGrpSpPr>
        <p:grpSpPr>
          <a:xfrm>
            <a:off x="-912143" y="9429369"/>
            <a:ext cx="1940843" cy="970417"/>
            <a:chOff x="0" y="0"/>
            <a:chExt cx="2587790" cy="1293889"/>
          </a:xfrm>
        </p:grpSpPr>
        <p:sp>
          <p:nvSpPr>
            <p:cNvPr id="5" name="Freeform 5"/>
            <p:cNvSpPr/>
            <p:nvPr/>
          </p:nvSpPr>
          <p:spPr>
            <a:xfrm>
              <a:off x="0" y="0"/>
              <a:ext cx="2587752" cy="1293876"/>
            </a:xfrm>
            <a:custGeom>
              <a:avLst/>
              <a:gdLst/>
              <a:ahLst/>
              <a:cxnLst/>
              <a:rect l="l" t="t" r="r" b="b"/>
              <a:pathLst>
                <a:path w="2587752" h="1293876">
                  <a:moveTo>
                    <a:pt x="0" y="0"/>
                  </a:moveTo>
                  <a:lnTo>
                    <a:pt x="2587752" y="0"/>
                  </a:lnTo>
                  <a:lnTo>
                    <a:pt x="2587752" y="1293876"/>
                  </a:lnTo>
                  <a:lnTo>
                    <a:pt x="0" y="1293876"/>
                  </a:lnTo>
                  <a:lnTo>
                    <a:pt x="0" y="0"/>
                  </a:lnTo>
                  <a:close/>
                </a:path>
              </a:pathLst>
            </a:custGeom>
            <a:blipFill>
              <a:blip r:embed="rId2"/>
              <a:stretch>
                <a:fillRect r="-1"/>
              </a:stretch>
            </a:blipFill>
          </p:spPr>
          <p:txBody>
            <a:bodyPr/>
            <a:lstStyle/>
            <a:p>
              <a:endParaRPr lang="en-VN"/>
            </a:p>
          </p:txBody>
        </p:sp>
      </p:grpSp>
      <p:grpSp>
        <p:nvGrpSpPr>
          <p:cNvPr id="6" name="Group 6"/>
          <p:cNvGrpSpPr/>
          <p:nvPr/>
        </p:nvGrpSpPr>
        <p:grpSpPr>
          <a:xfrm>
            <a:off x="-3127839" y="9986436"/>
            <a:ext cx="22035035" cy="2837612"/>
            <a:chOff x="0" y="0"/>
            <a:chExt cx="5803466" cy="747355"/>
          </a:xfrm>
        </p:grpSpPr>
        <p:sp>
          <p:nvSpPr>
            <p:cNvPr id="7" name="Freeform 7"/>
            <p:cNvSpPr/>
            <p:nvPr/>
          </p:nvSpPr>
          <p:spPr>
            <a:xfrm>
              <a:off x="0" y="0"/>
              <a:ext cx="5803466" cy="747355"/>
            </a:xfrm>
            <a:custGeom>
              <a:avLst/>
              <a:gdLst/>
              <a:ahLst/>
              <a:cxnLst/>
              <a:rect l="l" t="t" r="r" b="b"/>
              <a:pathLst>
                <a:path w="5803466" h="747355">
                  <a:moveTo>
                    <a:pt x="0" y="0"/>
                  </a:moveTo>
                  <a:lnTo>
                    <a:pt x="5803466" y="0"/>
                  </a:lnTo>
                  <a:lnTo>
                    <a:pt x="5803466" y="747355"/>
                  </a:lnTo>
                  <a:lnTo>
                    <a:pt x="0" y="747355"/>
                  </a:lnTo>
                  <a:close/>
                </a:path>
              </a:pathLst>
            </a:custGeom>
            <a:solidFill>
              <a:srgbClr val="3C4F75"/>
            </a:solidFill>
          </p:spPr>
          <p:txBody>
            <a:bodyPr/>
            <a:lstStyle/>
            <a:p>
              <a:endParaRPr lang="en-VN"/>
            </a:p>
          </p:txBody>
        </p:sp>
        <p:sp>
          <p:nvSpPr>
            <p:cNvPr id="8" name="TextBox 8"/>
            <p:cNvSpPr txBox="1"/>
            <p:nvPr/>
          </p:nvSpPr>
          <p:spPr>
            <a:xfrm>
              <a:off x="0" y="-47625"/>
              <a:ext cx="5803466" cy="794980"/>
            </a:xfrm>
            <a:prstGeom prst="rect">
              <a:avLst/>
            </a:prstGeom>
          </p:spPr>
          <p:txBody>
            <a:bodyPr lIns="50800" tIns="50800" rIns="50800" bIns="50800" rtlCol="0" anchor="ctr"/>
            <a:lstStyle/>
            <a:p>
              <a:pPr algn="ctr">
                <a:lnSpc>
                  <a:spcPts val="2940"/>
                </a:lnSpc>
              </a:pPr>
              <a:endParaRPr/>
            </a:p>
          </p:txBody>
        </p:sp>
      </p:grpSp>
      <p:sp>
        <p:nvSpPr>
          <p:cNvPr id="9" name="Freeform 9"/>
          <p:cNvSpPr/>
          <p:nvPr/>
        </p:nvSpPr>
        <p:spPr>
          <a:xfrm>
            <a:off x="1028700" y="251389"/>
            <a:ext cx="551704" cy="584433"/>
          </a:xfrm>
          <a:custGeom>
            <a:avLst/>
            <a:gdLst/>
            <a:ahLst/>
            <a:cxnLst/>
            <a:rect l="l" t="t" r="r" b="b"/>
            <a:pathLst>
              <a:path w="551704" h="584433">
                <a:moveTo>
                  <a:pt x="0" y="0"/>
                </a:moveTo>
                <a:lnTo>
                  <a:pt x="551704" y="0"/>
                </a:lnTo>
                <a:lnTo>
                  <a:pt x="551704" y="584432"/>
                </a:lnTo>
                <a:lnTo>
                  <a:pt x="0" y="584432"/>
                </a:lnTo>
                <a:lnTo>
                  <a:pt x="0" y="0"/>
                </a:lnTo>
                <a:close/>
              </a:path>
            </a:pathLst>
          </a:custGeom>
          <a:blipFill>
            <a:blip r:embed="rId3"/>
            <a:stretch>
              <a:fillRect/>
            </a:stretch>
          </a:blipFill>
        </p:spPr>
        <p:txBody>
          <a:bodyPr/>
          <a:lstStyle/>
          <a:p>
            <a:endParaRPr lang="en-VN"/>
          </a:p>
        </p:txBody>
      </p:sp>
      <p:sp>
        <p:nvSpPr>
          <p:cNvPr id="10" name="TextBox 10"/>
          <p:cNvSpPr txBox="1"/>
          <p:nvPr/>
        </p:nvSpPr>
        <p:spPr>
          <a:xfrm>
            <a:off x="1028700" y="1095375"/>
            <a:ext cx="12497555" cy="534618"/>
          </a:xfrm>
          <a:prstGeom prst="rect">
            <a:avLst/>
          </a:prstGeom>
        </p:spPr>
        <p:txBody>
          <a:bodyPr lIns="0" tIns="0" rIns="0" bIns="0" rtlCol="0" anchor="t">
            <a:spAutoFit/>
          </a:bodyPr>
          <a:lstStyle/>
          <a:p>
            <a:pPr algn="just">
              <a:lnSpc>
                <a:spcPts val="4039"/>
              </a:lnSpc>
            </a:pPr>
            <a:r>
              <a:rPr lang="en-US" sz="3999" b="1">
                <a:solidFill>
                  <a:srgbClr val="0C1D4B"/>
                </a:solidFill>
                <a:latin typeface="Roboto Slab Bold"/>
                <a:ea typeface="Roboto Slab Bold"/>
                <a:cs typeface="Roboto Slab Bold"/>
                <a:sym typeface="Roboto Slab Bold"/>
              </a:rPr>
              <a:t>3.4. Xây dựng các node trong hệ thống</a:t>
            </a:r>
          </a:p>
        </p:txBody>
      </p:sp>
      <p:sp>
        <p:nvSpPr>
          <p:cNvPr id="11" name="TextBox 11"/>
          <p:cNvSpPr txBox="1"/>
          <p:nvPr/>
        </p:nvSpPr>
        <p:spPr>
          <a:xfrm>
            <a:off x="1687249" y="346410"/>
            <a:ext cx="3954904" cy="356289"/>
          </a:xfrm>
          <a:prstGeom prst="rect">
            <a:avLst/>
          </a:prstGeom>
        </p:spPr>
        <p:txBody>
          <a:bodyPr lIns="0" tIns="0" rIns="0" bIns="0" rtlCol="0" anchor="t">
            <a:spAutoFit/>
          </a:bodyPr>
          <a:lstStyle/>
          <a:p>
            <a:pPr algn="l">
              <a:lnSpc>
                <a:spcPts val="2940"/>
              </a:lnSpc>
            </a:pPr>
            <a:r>
              <a:rPr lang="en-US" sz="2100" b="1">
                <a:solidFill>
                  <a:srgbClr val="2C2C2C"/>
                </a:solidFill>
                <a:latin typeface="Roboto Slab Bold"/>
                <a:ea typeface="Roboto Slab Bold"/>
                <a:cs typeface="Roboto Slab Bold"/>
                <a:sym typeface="Roboto Slab Bold"/>
              </a:rPr>
              <a:t>HỌC VIỆN KỸ THUẬT MẬT MÃ</a:t>
            </a:r>
          </a:p>
        </p:txBody>
      </p:sp>
      <p:sp>
        <p:nvSpPr>
          <p:cNvPr id="12" name="TextBox 12"/>
          <p:cNvSpPr txBox="1"/>
          <p:nvPr/>
        </p:nvSpPr>
        <p:spPr>
          <a:xfrm>
            <a:off x="1028700" y="1725243"/>
            <a:ext cx="10081822" cy="685800"/>
          </a:xfrm>
          <a:prstGeom prst="rect">
            <a:avLst/>
          </a:prstGeom>
        </p:spPr>
        <p:txBody>
          <a:bodyPr lIns="0" tIns="0" rIns="0" bIns="0" rtlCol="0" anchor="t">
            <a:spAutoFit/>
          </a:bodyPr>
          <a:lstStyle/>
          <a:p>
            <a:pPr algn="just">
              <a:lnSpc>
                <a:spcPts val="6000"/>
              </a:lnSpc>
            </a:pPr>
            <a:r>
              <a:rPr lang="en-US" sz="3000" b="1">
                <a:solidFill>
                  <a:srgbClr val="0C1D4B"/>
                </a:solidFill>
                <a:latin typeface="Roboto Slab Bold"/>
                <a:ea typeface="Roboto Slab Bold"/>
                <a:cs typeface="Roboto Slab Bold"/>
                <a:sym typeface="Roboto Slab Bold"/>
              </a:rPr>
              <a:t>Node Agent</a:t>
            </a:r>
          </a:p>
        </p:txBody>
      </p:sp>
      <p:sp>
        <p:nvSpPr>
          <p:cNvPr id="13" name="TextBox 13"/>
          <p:cNvSpPr txBox="1"/>
          <p:nvPr/>
        </p:nvSpPr>
        <p:spPr>
          <a:xfrm>
            <a:off x="1028700" y="2496768"/>
            <a:ext cx="16230600" cy="3406702"/>
          </a:xfrm>
          <a:prstGeom prst="rect">
            <a:avLst/>
          </a:prstGeom>
        </p:spPr>
        <p:txBody>
          <a:bodyPr lIns="0" tIns="0" rIns="0" bIns="0" rtlCol="0" anchor="t">
            <a:spAutoFit/>
          </a:bodyPr>
          <a:lstStyle/>
          <a:p>
            <a:pPr marL="604519" lvl="1" indent="-302260" algn="l">
              <a:lnSpc>
                <a:spcPts val="4479"/>
              </a:lnSpc>
              <a:buFont typeface="Arial"/>
              <a:buChar char="•"/>
            </a:pPr>
            <a:r>
              <a:rPr lang="en-US" sz="2799" dirty="0" err="1">
                <a:solidFill>
                  <a:srgbClr val="0C1D4B"/>
                </a:solidFill>
                <a:latin typeface="Roboto Slab"/>
                <a:ea typeface="Roboto Slab"/>
                <a:cs typeface="Roboto Slab"/>
                <a:sym typeface="Roboto Slab"/>
              </a:rPr>
              <a:t>Nhiệm</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vụ</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là</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thành</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phần</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suy</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luận</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trung</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tâm</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nhận</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kết</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quả</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phân</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tích</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lịch</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sử</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hội</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thoại</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các</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kết</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quả</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từ</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các</a:t>
            </a:r>
            <a:r>
              <a:rPr lang="en-US" sz="2799" dirty="0">
                <a:solidFill>
                  <a:srgbClr val="0C1D4B"/>
                </a:solidFill>
                <a:latin typeface="Roboto Slab"/>
                <a:ea typeface="Roboto Slab"/>
                <a:cs typeface="Roboto Slab"/>
                <a:sym typeface="Roboto Slab"/>
              </a:rPr>
              <a:t> tool </a:t>
            </a:r>
            <a:r>
              <a:rPr lang="en-US" sz="2799" dirty="0" err="1">
                <a:solidFill>
                  <a:srgbClr val="0C1D4B"/>
                </a:solidFill>
                <a:latin typeface="Roboto Slab"/>
                <a:ea typeface="Roboto Slab"/>
                <a:cs typeface="Roboto Slab"/>
                <a:sym typeface="Roboto Slab"/>
              </a:rPr>
              <a:t>sau</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đó</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quyết</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định</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các</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bước</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tiếp</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theo</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cần</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làm</a:t>
            </a:r>
            <a:endParaRPr lang="en-US" sz="2799" dirty="0">
              <a:solidFill>
                <a:srgbClr val="0C1D4B"/>
              </a:solidFill>
              <a:latin typeface="Roboto Slab"/>
              <a:ea typeface="Roboto Slab"/>
              <a:cs typeface="Roboto Slab"/>
              <a:sym typeface="Roboto Slab"/>
            </a:endParaRPr>
          </a:p>
          <a:p>
            <a:pPr marL="604519" lvl="1" indent="-302260" algn="l">
              <a:lnSpc>
                <a:spcPts val="4479"/>
              </a:lnSpc>
              <a:buFont typeface="Arial"/>
              <a:buChar char="•"/>
            </a:pPr>
            <a:r>
              <a:rPr lang="en-US" sz="2799" dirty="0" err="1">
                <a:solidFill>
                  <a:srgbClr val="0C1D4B"/>
                </a:solidFill>
                <a:latin typeface="Roboto Slab"/>
                <a:ea typeface="Roboto Slab"/>
                <a:cs typeface="Roboto Slab"/>
                <a:sym typeface="Roboto Slab"/>
              </a:rPr>
              <a:t>Có</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thể</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gọi</a:t>
            </a:r>
            <a:r>
              <a:rPr lang="en-US" sz="2799" dirty="0">
                <a:solidFill>
                  <a:srgbClr val="0C1D4B"/>
                </a:solidFill>
                <a:latin typeface="Roboto Slab"/>
                <a:ea typeface="Roboto Slab"/>
                <a:cs typeface="Roboto Slab"/>
                <a:sym typeface="Roboto Slab"/>
              </a:rPr>
              <a:t> tool </a:t>
            </a:r>
            <a:r>
              <a:rPr lang="en-US" sz="2799" dirty="0" err="1">
                <a:solidFill>
                  <a:srgbClr val="0C1D4B"/>
                </a:solidFill>
                <a:latin typeface="Roboto Slab"/>
                <a:ea typeface="Roboto Slab"/>
                <a:cs typeface="Roboto Slab"/>
                <a:sym typeface="Roboto Slab"/>
              </a:rPr>
              <a:t>truy</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hồi</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pháp</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luật</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nội</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bộ</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gọi</a:t>
            </a:r>
            <a:r>
              <a:rPr lang="en-US" sz="2799" dirty="0">
                <a:solidFill>
                  <a:srgbClr val="0C1D4B"/>
                </a:solidFill>
                <a:latin typeface="Roboto Slab"/>
                <a:ea typeface="Roboto Slab"/>
                <a:cs typeface="Roboto Slab"/>
                <a:sym typeface="Roboto Slab"/>
              </a:rPr>
              <a:t> tool </a:t>
            </a:r>
            <a:r>
              <a:rPr lang="en-US" sz="2799" dirty="0" err="1">
                <a:solidFill>
                  <a:srgbClr val="0C1D4B"/>
                </a:solidFill>
                <a:latin typeface="Roboto Slab"/>
                <a:ea typeface="Roboto Slab"/>
                <a:cs typeface="Roboto Slab"/>
                <a:sym typeface="Roboto Slab"/>
              </a:rPr>
              <a:t>tìm</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kiếm</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nguồn</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cập</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nhật</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hoặc</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tổng</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hợp</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kết</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quả</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nếu</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có</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chủ</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bằng</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chứng</a:t>
            </a:r>
            <a:endParaRPr lang="en-US" sz="2799" dirty="0">
              <a:solidFill>
                <a:srgbClr val="0C1D4B"/>
              </a:solidFill>
              <a:latin typeface="Roboto Slab"/>
              <a:ea typeface="Roboto Slab"/>
              <a:cs typeface="Roboto Slab"/>
              <a:sym typeface="Roboto Slab"/>
            </a:endParaRPr>
          </a:p>
          <a:p>
            <a:pPr marL="604519" lvl="1" indent="-302260" algn="l">
              <a:lnSpc>
                <a:spcPts val="4479"/>
              </a:lnSpc>
              <a:buFont typeface="Arial"/>
              <a:buChar char="•"/>
            </a:pPr>
            <a:r>
              <a:rPr lang="en-US" sz="2799" dirty="0">
                <a:solidFill>
                  <a:srgbClr val="0C1D4B"/>
                </a:solidFill>
                <a:latin typeface="Roboto Slab"/>
                <a:ea typeface="Roboto Slab"/>
                <a:cs typeface="Roboto Slab"/>
                <a:sym typeface="Roboto Slab"/>
              </a:rPr>
              <a:t>PROMPT: “</a:t>
            </a:r>
            <a:r>
              <a:rPr lang="en-US" sz="2799" dirty="0" err="1">
                <a:solidFill>
                  <a:srgbClr val="0C1D4B"/>
                </a:solidFill>
                <a:latin typeface="Roboto Slab"/>
                <a:ea typeface="Roboto Slab"/>
                <a:cs typeface="Roboto Slab"/>
                <a:sym typeface="Roboto Slab"/>
              </a:rPr>
              <a:t>Bạn</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là</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một</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Luật</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sư</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Tư</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vấn</a:t>
            </a:r>
            <a:r>
              <a:rPr lang="en-US" sz="2799" dirty="0">
                <a:solidFill>
                  <a:srgbClr val="0C1D4B"/>
                </a:solidFill>
                <a:latin typeface="Roboto Slab"/>
                <a:ea typeface="Roboto Slab"/>
                <a:cs typeface="Roboto Slab"/>
                <a:sym typeface="Roboto Slab"/>
              </a:rPr>
              <a:t> Pháp </a:t>
            </a:r>
            <a:r>
              <a:rPr lang="en-US" sz="2799" dirty="0" err="1">
                <a:solidFill>
                  <a:srgbClr val="0C1D4B"/>
                </a:solidFill>
                <a:latin typeface="Roboto Slab"/>
                <a:ea typeface="Roboto Slab"/>
                <a:cs typeface="Roboto Slab"/>
                <a:sym typeface="Roboto Slab"/>
              </a:rPr>
              <a:t>luật</a:t>
            </a:r>
            <a:r>
              <a:rPr lang="en-US" sz="2799" dirty="0">
                <a:solidFill>
                  <a:srgbClr val="0C1D4B"/>
                </a:solidFill>
                <a:latin typeface="Roboto Slab"/>
                <a:ea typeface="Roboto Slab"/>
                <a:cs typeface="Roboto Slab"/>
                <a:sym typeface="Roboto Slab"/>
              </a:rPr>
              <a:t> Việt Nam </a:t>
            </a:r>
            <a:r>
              <a:rPr lang="en-US" sz="2799" dirty="0" err="1">
                <a:solidFill>
                  <a:srgbClr val="0C1D4B"/>
                </a:solidFill>
                <a:latin typeface="Roboto Slab"/>
                <a:ea typeface="Roboto Slab"/>
                <a:cs typeface="Roboto Slab"/>
                <a:sym typeface="Roboto Slab"/>
              </a:rPr>
              <a:t>cấp</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cao</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với</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hơn</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nhiều</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năm</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kinh</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nghiệm</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hành</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nghề</a:t>
            </a:r>
            <a:r>
              <a:rPr lang="en-US" sz="2799" dirty="0">
                <a:solidFill>
                  <a:srgbClr val="0C1D4B"/>
                </a:solidFill>
                <a:latin typeface="Roboto Slab"/>
                <a:ea typeface="Roboto Slab"/>
                <a:cs typeface="Roboto Slab"/>
                <a:sym typeface="Roboto Slab"/>
              </a:rPr>
              <a:t>...”</a:t>
            </a:r>
          </a:p>
        </p:txBody>
      </p:sp>
      <p:grpSp>
        <p:nvGrpSpPr>
          <p:cNvPr id="14" name="Group 14"/>
          <p:cNvGrpSpPr/>
          <p:nvPr/>
        </p:nvGrpSpPr>
        <p:grpSpPr>
          <a:xfrm>
            <a:off x="1687249" y="6208517"/>
            <a:ext cx="13692416" cy="3609131"/>
            <a:chOff x="0" y="0"/>
            <a:chExt cx="18256555" cy="4812175"/>
          </a:xfrm>
        </p:grpSpPr>
        <p:sp>
          <p:nvSpPr>
            <p:cNvPr id="15" name="Freeform 15"/>
            <p:cNvSpPr/>
            <p:nvPr/>
          </p:nvSpPr>
          <p:spPr>
            <a:xfrm>
              <a:off x="7377784" y="804463"/>
              <a:ext cx="1468480" cy="1442782"/>
            </a:xfrm>
            <a:custGeom>
              <a:avLst/>
              <a:gdLst/>
              <a:ahLst/>
              <a:cxnLst/>
              <a:rect l="l" t="t" r="r" b="b"/>
              <a:pathLst>
                <a:path w="1468480" h="1442782">
                  <a:moveTo>
                    <a:pt x="0" y="0"/>
                  </a:moveTo>
                  <a:lnTo>
                    <a:pt x="1468480" y="0"/>
                  </a:lnTo>
                  <a:lnTo>
                    <a:pt x="1468480" y="1442782"/>
                  </a:lnTo>
                  <a:lnTo>
                    <a:pt x="0" y="1442782"/>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VN"/>
            </a:p>
          </p:txBody>
        </p:sp>
        <p:sp>
          <p:nvSpPr>
            <p:cNvPr id="16" name="Freeform 16"/>
            <p:cNvSpPr/>
            <p:nvPr/>
          </p:nvSpPr>
          <p:spPr>
            <a:xfrm>
              <a:off x="11768375" y="722286"/>
              <a:ext cx="1500501" cy="1552911"/>
            </a:xfrm>
            <a:custGeom>
              <a:avLst/>
              <a:gdLst/>
              <a:ahLst/>
              <a:cxnLst/>
              <a:rect l="l" t="t" r="r" b="b"/>
              <a:pathLst>
                <a:path w="1500501" h="1552911">
                  <a:moveTo>
                    <a:pt x="0" y="0"/>
                  </a:moveTo>
                  <a:lnTo>
                    <a:pt x="1500501" y="0"/>
                  </a:lnTo>
                  <a:lnTo>
                    <a:pt x="1500501" y="1552912"/>
                  </a:lnTo>
                  <a:lnTo>
                    <a:pt x="0" y="155291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VN"/>
            </a:p>
          </p:txBody>
        </p:sp>
        <p:sp>
          <p:nvSpPr>
            <p:cNvPr id="17" name="TextBox 17"/>
            <p:cNvSpPr txBox="1"/>
            <p:nvPr/>
          </p:nvSpPr>
          <p:spPr>
            <a:xfrm>
              <a:off x="0" y="100041"/>
              <a:ext cx="4713540" cy="2813526"/>
            </a:xfrm>
            <a:prstGeom prst="rect">
              <a:avLst/>
            </a:prstGeom>
          </p:spPr>
          <p:txBody>
            <a:bodyPr lIns="0" tIns="0" rIns="0" bIns="0" rtlCol="0" anchor="t">
              <a:spAutoFit/>
            </a:bodyPr>
            <a:lstStyle/>
            <a:p>
              <a:pPr marL="523223" lvl="1" indent="-261612" algn="l">
                <a:lnSpc>
                  <a:spcPts val="3392"/>
                </a:lnSpc>
                <a:buFont typeface="Arial"/>
                <a:buChar char="•"/>
              </a:pPr>
              <a:r>
                <a:rPr lang="en-US" sz="2423" b="1" dirty="0" err="1">
                  <a:solidFill>
                    <a:srgbClr val="000000"/>
                  </a:solidFill>
                  <a:latin typeface="Roboto Slab Bold"/>
                  <a:ea typeface="Roboto Slab Bold"/>
                  <a:cs typeface="Roboto Slab Bold"/>
                  <a:sym typeface="Roboto Slab Bold"/>
                </a:rPr>
                <a:t>Kết</a:t>
              </a:r>
              <a:r>
                <a:rPr lang="en-US" sz="2423" b="1" dirty="0">
                  <a:solidFill>
                    <a:srgbClr val="000000"/>
                  </a:solidFill>
                  <a:latin typeface="Roboto Slab Bold"/>
                  <a:ea typeface="Roboto Slab Bold"/>
                  <a:cs typeface="Roboto Slab Bold"/>
                  <a:sym typeface="Roboto Slab Bold"/>
                </a:rPr>
                <a:t> </a:t>
              </a:r>
              <a:r>
                <a:rPr lang="en-US" sz="2423" b="1" dirty="0" err="1">
                  <a:solidFill>
                    <a:srgbClr val="000000"/>
                  </a:solidFill>
                  <a:latin typeface="Roboto Slab Bold"/>
                  <a:ea typeface="Roboto Slab Bold"/>
                  <a:cs typeface="Roboto Slab Bold"/>
                  <a:sym typeface="Roboto Slab Bold"/>
                </a:rPr>
                <a:t>quả</a:t>
              </a:r>
              <a:r>
                <a:rPr lang="en-US" sz="2423" b="1" dirty="0">
                  <a:solidFill>
                    <a:srgbClr val="000000"/>
                  </a:solidFill>
                  <a:latin typeface="Roboto Slab Bold"/>
                  <a:ea typeface="Roboto Slab Bold"/>
                  <a:cs typeface="Roboto Slab Bold"/>
                  <a:sym typeface="Roboto Slab Bold"/>
                </a:rPr>
                <a:t> </a:t>
              </a:r>
              <a:r>
                <a:rPr lang="en-US" sz="2423" b="1" dirty="0" err="1">
                  <a:solidFill>
                    <a:srgbClr val="000000"/>
                  </a:solidFill>
                  <a:latin typeface="Roboto Slab Bold"/>
                  <a:ea typeface="Roboto Slab Bold"/>
                  <a:cs typeface="Roboto Slab Bold"/>
                  <a:sym typeface="Roboto Slab Bold"/>
                </a:rPr>
                <a:t>phân</a:t>
              </a:r>
              <a:r>
                <a:rPr lang="en-US" sz="2423" b="1" dirty="0">
                  <a:solidFill>
                    <a:srgbClr val="000000"/>
                  </a:solidFill>
                  <a:latin typeface="Roboto Slab Bold"/>
                  <a:ea typeface="Roboto Slab Bold"/>
                  <a:cs typeface="Roboto Slab Bold"/>
                  <a:sym typeface="Roboto Slab Bold"/>
                </a:rPr>
                <a:t> </a:t>
              </a:r>
              <a:r>
                <a:rPr lang="en-US" sz="2423" b="1" dirty="0" err="1">
                  <a:solidFill>
                    <a:srgbClr val="000000"/>
                  </a:solidFill>
                  <a:latin typeface="Roboto Slab Bold"/>
                  <a:ea typeface="Roboto Slab Bold"/>
                  <a:cs typeface="Roboto Slab Bold"/>
                  <a:sym typeface="Roboto Slab Bold"/>
                </a:rPr>
                <a:t>tích</a:t>
              </a:r>
              <a:r>
                <a:rPr lang="en-US" sz="2423" b="1" dirty="0">
                  <a:solidFill>
                    <a:srgbClr val="000000"/>
                  </a:solidFill>
                  <a:latin typeface="Roboto Slab Bold"/>
                  <a:ea typeface="Roboto Slab Bold"/>
                  <a:cs typeface="Roboto Slab Bold"/>
                  <a:sym typeface="Roboto Slab Bold"/>
                </a:rPr>
                <a:t> </a:t>
              </a:r>
              <a:r>
                <a:rPr lang="en-US" sz="2423" b="1" dirty="0" err="1">
                  <a:solidFill>
                    <a:srgbClr val="000000"/>
                  </a:solidFill>
                  <a:latin typeface="Roboto Slab Bold"/>
                  <a:ea typeface="Roboto Slab Bold"/>
                  <a:cs typeface="Roboto Slab Bold"/>
                  <a:sym typeface="Roboto Slab Bold"/>
                </a:rPr>
                <a:t>truy</a:t>
              </a:r>
              <a:r>
                <a:rPr lang="en-US" sz="2423" b="1" dirty="0">
                  <a:solidFill>
                    <a:srgbClr val="000000"/>
                  </a:solidFill>
                  <a:latin typeface="Roboto Slab Bold"/>
                  <a:ea typeface="Roboto Slab Bold"/>
                  <a:cs typeface="Roboto Slab Bold"/>
                  <a:sym typeface="Roboto Slab Bold"/>
                </a:rPr>
                <a:t> </a:t>
              </a:r>
              <a:r>
                <a:rPr lang="en-US" sz="2423" b="1" dirty="0" err="1">
                  <a:solidFill>
                    <a:srgbClr val="000000"/>
                  </a:solidFill>
                  <a:latin typeface="Roboto Slab Bold"/>
                  <a:ea typeface="Roboto Slab Bold"/>
                  <a:cs typeface="Roboto Slab Bold"/>
                  <a:sym typeface="Roboto Slab Bold"/>
                </a:rPr>
                <a:t>vấn</a:t>
              </a:r>
              <a:r>
                <a:rPr lang="en-US" sz="2423" b="1" dirty="0">
                  <a:solidFill>
                    <a:srgbClr val="000000"/>
                  </a:solidFill>
                  <a:latin typeface="Roboto Slab Bold"/>
                  <a:ea typeface="Roboto Slab Bold"/>
                  <a:cs typeface="Roboto Slab Bold"/>
                  <a:sym typeface="Roboto Slab Bold"/>
                </a:rPr>
                <a:t> </a:t>
              </a:r>
            </a:p>
            <a:p>
              <a:pPr marL="523223" lvl="1" indent="-261612" algn="l">
                <a:lnSpc>
                  <a:spcPts val="3392"/>
                </a:lnSpc>
                <a:buFont typeface="Arial"/>
                <a:buChar char="•"/>
              </a:pPr>
              <a:r>
                <a:rPr lang="en-US" sz="2423" b="1" dirty="0" err="1">
                  <a:solidFill>
                    <a:srgbClr val="000000"/>
                  </a:solidFill>
                  <a:latin typeface="Roboto Slab Bold"/>
                  <a:ea typeface="Roboto Slab Bold"/>
                  <a:cs typeface="Roboto Slab Bold"/>
                  <a:sym typeface="Roboto Slab Bold"/>
                </a:rPr>
                <a:t>Kết</a:t>
              </a:r>
              <a:r>
                <a:rPr lang="en-US" sz="2423" b="1" dirty="0">
                  <a:solidFill>
                    <a:srgbClr val="000000"/>
                  </a:solidFill>
                  <a:latin typeface="Roboto Slab Bold"/>
                  <a:ea typeface="Roboto Slab Bold"/>
                  <a:cs typeface="Roboto Slab Bold"/>
                  <a:sym typeface="Roboto Slab Bold"/>
                </a:rPr>
                <a:t> </a:t>
              </a:r>
              <a:r>
                <a:rPr lang="en-US" sz="2423" b="1" dirty="0" err="1">
                  <a:solidFill>
                    <a:srgbClr val="000000"/>
                  </a:solidFill>
                  <a:latin typeface="Roboto Slab Bold"/>
                  <a:ea typeface="Roboto Slab Bold"/>
                  <a:cs typeface="Roboto Slab Bold"/>
                  <a:sym typeface="Roboto Slab Bold"/>
                </a:rPr>
                <a:t>quả</a:t>
              </a:r>
              <a:r>
                <a:rPr lang="en-US" sz="2423" b="1" dirty="0">
                  <a:solidFill>
                    <a:srgbClr val="000000"/>
                  </a:solidFill>
                  <a:latin typeface="Roboto Slab Bold"/>
                  <a:ea typeface="Roboto Slab Bold"/>
                  <a:cs typeface="Roboto Slab Bold"/>
                  <a:sym typeface="Roboto Slab Bold"/>
                </a:rPr>
                <a:t> </a:t>
              </a:r>
              <a:r>
                <a:rPr lang="en-US" sz="2423" b="1" dirty="0" err="1">
                  <a:solidFill>
                    <a:srgbClr val="000000"/>
                  </a:solidFill>
                  <a:latin typeface="Roboto Slab Bold"/>
                  <a:ea typeface="Roboto Slab Bold"/>
                  <a:cs typeface="Roboto Slab Bold"/>
                  <a:sym typeface="Roboto Slab Bold"/>
                </a:rPr>
                <a:t>từ</a:t>
              </a:r>
              <a:r>
                <a:rPr lang="en-US" sz="2423" b="1" dirty="0">
                  <a:solidFill>
                    <a:srgbClr val="000000"/>
                  </a:solidFill>
                  <a:latin typeface="Roboto Slab Bold"/>
                  <a:ea typeface="Roboto Slab Bold"/>
                  <a:cs typeface="Roboto Slab Bold"/>
                  <a:sym typeface="Roboto Slab Bold"/>
                </a:rPr>
                <a:t> </a:t>
              </a:r>
              <a:r>
                <a:rPr lang="en-US" sz="2423" b="1" dirty="0" err="1">
                  <a:solidFill>
                    <a:srgbClr val="000000"/>
                  </a:solidFill>
                  <a:latin typeface="Roboto Slab Bold"/>
                  <a:ea typeface="Roboto Slab Bold"/>
                  <a:cs typeface="Roboto Slab Bold"/>
                  <a:sym typeface="Roboto Slab Bold"/>
                </a:rPr>
                <a:t>các</a:t>
              </a:r>
              <a:r>
                <a:rPr lang="en-US" sz="2423" b="1" dirty="0">
                  <a:solidFill>
                    <a:srgbClr val="000000"/>
                  </a:solidFill>
                  <a:latin typeface="Roboto Slab Bold"/>
                  <a:ea typeface="Roboto Slab Bold"/>
                  <a:cs typeface="Roboto Slab Bold"/>
                  <a:sym typeface="Roboto Slab Bold"/>
                </a:rPr>
                <a:t> </a:t>
              </a:r>
              <a:r>
                <a:rPr lang="en-US" sz="2423" b="1" dirty="0" err="1">
                  <a:solidFill>
                    <a:srgbClr val="000000"/>
                  </a:solidFill>
                  <a:latin typeface="Roboto Slab Bold"/>
                  <a:ea typeface="Roboto Slab Bold"/>
                  <a:cs typeface="Roboto Slab Bold"/>
                  <a:sym typeface="Roboto Slab Bold"/>
                </a:rPr>
                <a:t>công</a:t>
              </a:r>
              <a:r>
                <a:rPr lang="en-US" sz="2423" b="1" dirty="0">
                  <a:solidFill>
                    <a:srgbClr val="000000"/>
                  </a:solidFill>
                  <a:latin typeface="Roboto Slab Bold"/>
                  <a:ea typeface="Roboto Slab Bold"/>
                  <a:cs typeface="Roboto Slab Bold"/>
                  <a:sym typeface="Roboto Slab Bold"/>
                </a:rPr>
                <a:t> </a:t>
              </a:r>
              <a:r>
                <a:rPr lang="en-US" sz="2423" b="1" dirty="0" err="1">
                  <a:solidFill>
                    <a:srgbClr val="000000"/>
                  </a:solidFill>
                  <a:latin typeface="Roboto Slab Bold"/>
                  <a:ea typeface="Roboto Slab Bold"/>
                  <a:cs typeface="Roboto Slab Bold"/>
                  <a:sym typeface="Roboto Slab Bold"/>
                </a:rPr>
                <a:t>cụ</a:t>
              </a:r>
              <a:r>
                <a:rPr lang="en-US" sz="2423" b="1" dirty="0">
                  <a:solidFill>
                    <a:srgbClr val="000000"/>
                  </a:solidFill>
                  <a:latin typeface="Roboto Slab Bold"/>
                  <a:ea typeface="Roboto Slab Bold"/>
                  <a:cs typeface="Roboto Slab Bold"/>
                  <a:sym typeface="Roboto Slab Bold"/>
                </a:rPr>
                <a:t> </a:t>
              </a:r>
              <a:r>
                <a:rPr lang="en-US" sz="2423" b="1" dirty="0" err="1">
                  <a:solidFill>
                    <a:srgbClr val="000000"/>
                  </a:solidFill>
                  <a:latin typeface="Roboto Slab Bold"/>
                  <a:ea typeface="Roboto Slab Bold"/>
                  <a:cs typeface="Roboto Slab Bold"/>
                  <a:sym typeface="Roboto Slab Bold"/>
                </a:rPr>
                <a:t>nếu</a:t>
              </a:r>
              <a:r>
                <a:rPr lang="en-US" sz="2423" b="1" dirty="0">
                  <a:solidFill>
                    <a:srgbClr val="000000"/>
                  </a:solidFill>
                  <a:latin typeface="Roboto Slab Bold"/>
                  <a:ea typeface="Roboto Slab Bold"/>
                  <a:cs typeface="Roboto Slab Bold"/>
                  <a:sym typeface="Roboto Slab Bold"/>
                </a:rPr>
                <a:t> </a:t>
              </a:r>
              <a:r>
                <a:rPr lang="en-US" sz="2423" b="1" dirty="0" err="1">
                  <a:solidFill>
                    <a:srgbClr val="000000"/>
                  </a:solidFill>
                  <a:latin typeface="Roboto Slab Bold"/>
                  <a:ea typeface="Roboto Slab Bold"/>
                  <a:cs typeface="Roboto Slab Bold"/>
                  <a:sym typeface="Roboto Slab Bold"/>
                </a:rPr>
                <a:t>đã</a:t>
              </a:r>
              <a:r>
                <a:rPr lang="en-US" sz="2423" b="1" dirty="0">
                  <a:solidFill>
                    <a:srgbClr val="000000"/>
                  </a:solidFill>
                  <a:latin typeface="Roboto Slab Bold"/>
                  <a:ea typeface="Roboto Slab Bold"/>
                  <a:cs typeface="Roboto Slab Bold"/>
                  <a:sym typeface="Roboto Slab Bold"/>
                </a:rPr>
                <a:t> </a:t>
              </a:r>
              <a:r>
                <a:rPr lang="en-US" sz="2423" b="1" dirty="0" err="1">
                  <a:solidFill>
                    <a:srgbClr val="000000"/>
                  </a:solidFill>
                  <a:latin typeface="Roboto Slab Bold"/>
                  <a:ea typeface="Roboto Slab Bold"/>
                  <a:cs typeface="Roboto Slab Bold"/>
                  <a:sym typeface="Roboto Slab Bold"/>
                </a:rPr>
                <a:t>có</a:t>
              </a:r>
              <a:endParaRPr lang="en-US" sz="2423" b="1" dirty="0">
                <a:solidFill>
                  <a:srgbClr val="000000"/>
                </a:solidFill>
                <a:latin typeface="Roboto Slab Bold"/>
                <a:ea typeface="Roboto Slab Bold"/>
                <a:cs typeface="Roboto Slab Bold"/>
                <a:sym typeface="Roboto Slab Bold"/>
              </a:endParaRPr>
            </a:p>
            <a:p>
              <a:pPr marL="523223" lvl="1" indent="-261612" algn="l">
                <a:lnSpc>
                  <a:spcPts val="3392"/>
                </a:lnSpc>
                <a:buFont typeface="Arial"/>
                <a:buChar char="•"/>
              </a:pPr>
              <a:r>
                <a:rPr lang="en-US" sz="2423" b="1" dirty="0" err="1">
                  <a:solidFill>
                    <a:srgbClr val="000000"/>
                  </a:solidFill>
                  <a:latin typeface="Roboto Slab Bold"/>
                  <a:ea typeface="Roboto Slab Bold"/>
                  <a:cs typeface="Roboto Slab Bold"/>
                  <a:sym typeface="Roboto Slab Bold"/>
                </a:rPr>
                <a:t>Lịch</a:t>
              </a:r>
              <a:r>
                <a:rPr lang="en-US" sz="2423" b="1" dirty="0">
                  <a:solidFill>
                    <a:srgbClr val="000000"/>
                  </a:solidFill>
                  <a:latin typeface="Roboto Slab Bold"/>
                  <a:ea typeface="Roboto Slab Bold"/>
                  <a:cs typeface="Roboto Slab Bold"/>
                  <a:sym typeface="Roboto Slab Bold"/>
                </a:rPr>
                <a:t> </a:t>
              </a:r>
              <a:r>
                <a:rPr lang="en-US" sz="2423" b="1" dirty="0" err="1">
                  <a:solidFill>
                    <a:srgbClr val="000000"/>
                  </a:solidFill>
                  <a:latin typeface="Roboto Slab Bold"/>
                  <a:ea typeface="Roboto Slab Bold"/>
                  <a:cs typeface="Roboto Slab Bold"/>
                  <a:sym typeface="Roboto Slab Bold"/>
                </a:rPr>
                <a:t>sử</a:t>
              </a:r>
              <a:r>
                <a:rPr lang="en-US" sz="2423" b="1" dirty="0">
                  <a:solidFill>
                    <a:srgbClr val="000000"/>
                  </a:solidFill>
                  <a:latin typeface="Roboto Slab Bold"/>
                  <a:ea typeface="Roboto Slab Bold"/>
                  <a:cs typeface="Roboto Slab Bold"/>
                  <a:sym typeface="Roboto Slab Bold"/>
                </a:rPr>
                <a:t> </a:t>
              </a:r>
              <a:r>
                <a:rPr lang="en-US" sz="2423" b="1" dirty="0" err="1">
                  <a:solidFill>
                    <a:srgbClr val="000000"/>
                  </a:solidFill>
                  <a:latin typeface="Roboto Slab Bold"/>
                  <a:ea typeface="Roboto Slab Bold"/>
                  <a:cs typeface="Roboto Slab Bold"/>
                  <a:sym typeface="Roboto Slab Bold"/>
                </a:rPr>
                <a:t>hội</a:t>
              </a:r>
              <a:r>
                <a:rPr lang="en-US" sz="2423" b="1" dirty="0">
                  <a:solidFill>
                    <a:srgbClr val="000000"/>
                  </a:solidFill>
                  <a:latin typeface="Roboto Slab Bold"/>
                  <a:ea typeface="Roboto Slab Bold"/>
                  <a:cs typeface="Roboto Slab Bold"/>
                  <a:sym typeface="Roboto Slab Bold"/>
                </a:rPr>
                <a:t> </a:t>
              </a:r>
              <a:r>
                <a:rPr lang="en-US" sz="2423" b="1" dirty="0" err="1">
                  <a:solidFill>
                    <a:srgbClr val="000000"/>
                  </a:solidFill>
                  <a:latin typeface="Roboto Slab Bold"/>
                  <a:ea typeface="Roboto Slab Bold"/>
                  <a:cs typeface="Roboto Slab Bold"/>
                  <a:sym typeface="Roboto Slab Bold"/>
                </a:rPr>
                <a:t>thoại</a:t>
              </a:r>
              <a:endParaRPr lang="en-US" sz="2423" b="1" dirty="0">
                <a:solidFill>
                  <a:srgbClr val="000000"/>
                </a:solidFill>
                <a:latin typeface="Roboto Slab Bold"/>
                <a:ea typeface="Roboto Slab Bold"/>
                <a:cs typeface="Roboto Slab Bold"/>
                <a:sym typeface="Roboto Slab Bold"/>
              </a:endParaRPr>
            </a:p>
          </p:txBody>
        </p:sp>
        <p:sp>
          <p:nvSpPr>
            <p:cNvPr id="18" name="AutoShape 18"/>
            <p:cNvSpPr/>
            <p:nvPr/>
          </p:nvSpPr>
          <p:spPr>
            <a:xfrm>
              <a:off x="4713540" y="1498742"/>
              <a:ext cx="2664244" cy="27112"/>
            </a:xfrm>
            <a:prstGeom prst="line">
              <a:avLst/>
            </a:prstGeom>
            <a:ln w="50800" cap="flat">
              <a:solidFill>
                <a:srgbClr val="0C0C6B"/>
              </a:solidFill>
              <a:prstDash val="solid"/>
              <a:headEnd type="none" w="sm" len="sm"/>
              <a:tailEnd type="arrow" w="med" len="sm"/>
            </a:ln>
          </p:spPr>
          <p:txBody>
            <a:bodyPr/>
            <a:lstStyle/>
            <a:p>
              <a:endParaRPr lang="en-VN"/>
            </a:p>
          </p:txBody>
        </p:sp>
        <p:sp>
          <p:nvSpPr>
            <p:cNvPr id="19" name="AutoShape 19"/>
            <p:cNvSpPr/>
            <p:nvPr/>
          </p:nvSpPr>
          <p:spPr>
            <a:xfrm flipV="1">
              <a:off x="8846264" y="1498742"/>
              <a:ext cx="2922111" cy="27112"/>
            </a:xfrm>
            <a:prstGeom prst="line">
              <a:avLst/>
            </a:prstGeom>
            <a:ln w="50800" cap="flat">
              <a:solidFill>
                <a:srgbClr val="0C0C6B"/>
              </a:solidFill>
              <a:prstDash val="solid"/>
              <a:headEnd type="none" w="sm" len="sm"/>
              <a:tailEnd type="arrow" w="med" len="sm"/>
            </a:ln>
          </p:spPr>
          <p:txBody>
            <a:bodyPr/>
            <a:lstStyle/>
            <a:p>
              <a:endParaRPr lang="en-VN"/>
            </a:p>
          </p:txBody>
        </p:sp>
        <p:sp>
          <p:nvSpPr>
            <p:cNvPr id="20" name="TextBox 20"/>
            <p:cNvSpPr txBox="1"/>
            <p:nvPr/>
          </p:nvSpPr>
          <p:spPr>
            <a:xfrm>
              <a:off x="6151271" y="27314"/>
              <a:ext cx="4049764" cy="516005"/>
            </a:xfrm>
            <a:prstGeom prst="rect">
              <a:avLst/>
            </a:prstGeom>
          </p:spPr>
          <p:txBody>
            <a:bodyPr lIns="0" tIns="0" rIns="0" bIns="0" rtlCol="0" anchor="t">
              <a:spAutoFit/>
            </a:bodyPr>
            <a:lstStyle/>
            <a:p>
              <a:pPr algn="ctr">
                <a:lnSpc>
                  <a:spcPts val="3357"/>
                </a:lnSpc>
                <a:spcBef>
                  <a:spcPct val="0"/>
                </a:spcBef>
              </a:pPr>
              <a:r>
                <a:rPr lang="en-US" sz="2397" b="1" i="1">
                  <a:solidFill>
                    <a:srgbClr val="000000"/>
                  </a:solidFill>
                  <a:latin typeface="Roboto Slab Bold"/>
                  <a:ea typeface="Roboto Slab Bold"/>
                  <a:cs typeface="Roboto Slab Bold"/>
                  <a:sym typeface="Roboto Slab Bold"/>
                </a:rPr>
                <a:t>PROMT</a:t>
              </a:r>
            </a:p>
          </p:txBody>
        </p:sp>
        <p:sp>
          <p:nvSpPr>
            <p:cNvPr id="21" name="TextBox 21"/>
            <p:cNvSpPr txBox="1"/>
            <p:nvPr/>
          </p:nvSpPr>
          <p:spPr>
            <a:xfrm>
              <a:off x="10603575" y="-57150"/>
              <a:ext cx="3830101" cy="665884"/>
            </a:xfrm>
            <a:prstGeom prst="rect">
              <a:avLst/>
            </a:prstGeom>
          </p:spPr>
          <p:txBody>
            <a:bodyPr lIns="0" tIns="0" rIns="0" bIns="0" rtlCol="0" anchor="t">
              <a:spAutoFit/>
            </a:bodyPr>
            <a:lstStyle/>
            <a:p>
              <a:pPr algn="ctr">
                <a:lnSpc>
                  <a:spcPts val="4232"/>
                </a:lnSpc>
                <a:spcBef>
                  <a:spcPct val="0"/>
                </a:spcBef>
              </a:pPr>
              <a:r>
                <a:rPr lang="en-US" sz="3023" b="1">
                  <a:solidFill>
                    <a:srgbClr val="000000"/>
                  </a:solidFill>
                  <a:latin typeface="Roboto Slab Bold"/>
                  <a:ea typeface="Roboto Slab Bold"/>
                  <a:cs typeface="Roboto Slab Bold"/>
                  <a:sym typeface="Roboto Slab Bold"/>
                </a:rPr>
                <a:t>LLMs</a:t>
              </a:r>
            </a:p>
          </p:txBody>
        </p:sp>
        <p:grpSp>
          <p:nvGrpSpPr>
            <p:cNvPr id="22" name="Group 22"/>
            <p:cNvGrpSpPr/>
            <p:nvPr/>
          </p:nvGrpSpPr>
          <p:grpSpPr>
            <a:xfrm>
              <a:off x="10483827" y="3916569"/>
              <a:ext cx="4069598" cy="895606"/>
              <a:chOff x="0" y="0"/>
              <a:chExt cx="832947" cy="183309"/>
            </a:xfrm>
          </p:grpSpPr>
          <p:sp>
            <p:nvSpPr>
              <p:cNvPr id="23" name="Freeform 23"/>
              <p:cNvSpPr/>
              <p:nvPr/>
            </p:nvSpPr>
            <p:spPr>
              <a:xfrm>
                <a:off x="0" y="0"/>
                <a:ext cx="832947" cy="183309"/>
              </a:xfrm>
              <a:custGeom>
                <a:avLst/>
                <a:gdLst/>
                <a:ahLst/>
                <a:cxnLst/>
                <a:rect l="l" t="t" r="r" b="b"/>
                <a:pathLst>
                  <a:path w="832947" h="183309">
                    <a:moveTo>
                      <a:pt x="71022" y="0"/>
                    </a:moveTo>
                    <a:lnTo>
                      <a:pt x="761925" y="0"/>
                    </a:lnTo>
                    <a:cubicBezTo>
                      <a:pt x="801149" y="0"/>
                      <a:pt x="832947" y="31798"/>
                      <a:pt x="832947" y="71022"/>
                    </a:cubicBezTo>
                    <a:lnTo>
                      <a:pt x="832947" y="112286"/>
                    </a:lnTo>
                    <a:cubicBezTo>
                      <a:pt x="832947" y="151511"/>
                      <a:pt x="801149" y="183309"/>
                      <a:pt x="761925" y="183309"/>
                    </a:cubicBezTo>
                    <a:lnTo>
                      <a:pt x="71022" y="183309"/>
                    </a:lnTo>
                    <a:cubicBezTo>
                      <a:pt x="31798" y="183309"/>
                      <a:pt x="0" y="151511"/>
                      <a:pt x="0" y="112286"/>
                    </a:cubicBezTo>
                    <a:lnTo>
                      <a:pt x="0" y="71022"/>
                    </a:lnTo>
                    <a:cubicBezTo>
                      <a:pt x="0" y="31798"/>
                      <a:pt x="31798" y="0"/>
                      <a:pt x="71022" y="0"/>
                    </a:cubicBezTo>
                    <a:close/>
                  </a:path>
                </a:pathLst>
              </a:custGeom>
              <a:solidFill>
                <a:srgbClr val="0D1D4B"/>
              </a:solidFill>
            </p:spPr>
            <p:txBody>
              <a:bodyPr/>
              <a:lstStyle/>
              <a:p>
                <a:endParaRPr lang="en-VN"/>
              </a:p>
            </p:txBody>
          </p:sp>
          <p:sp>
            <p:nvSpPr>
              <p:cNvPr id="24" name="TextBox 24"/>
              <p:cNvSpPr txBox="1"/>
              <p:nvPr/>
            </p:nvSpPr>
            <p:spPr>
              <a:xfrm>
                <a:off x="0" y="-38100"/>
                <a:ext cx="832947" cy="221409"/>
              </a:xfrm>
              <a:prstGeom prst="rect">
                <a:avLst/>
              </a:prstGeom>
            </p:spPr>
            <p:txBody>
              <a:bodyPr lIns="50800" tIns="50800" rIns="50800" bIns="50800" rtlCol="0" anchor="ctr"/>
              <a:lstStyle/>
              <a:p>
                <a:pPr algn="ctr">
                  <a:lnSpc>
                    <a:spcPts val="2940"/>
                  </a:lnSpc>
                </a:pPr>
                <a:r>
                  <a:rPr lang="en-US" sz="2100" b="1" spc="50">
                    <a:solidFill>
                      <a:srgbClr val="FFFFFF"/>
                    </a:solidFill>
                    <a:latin typeface="Roboto Slab Bold"/>
                    <a:ea typeface="Roboto Slab Bold"/>
                    <a:cs typeface="Roboto Slab Bold"/>
                    <a:sym typeface="Roboto Slab Bold"/>
                  </a:rPr>
                  <a:t>Node Verifier</a:t>
                </a:r>
              </a:p>
            </p:txBody>
          </p:sp>
        </p:grpSp>
        <p:sp>
          <p:nvSpPr>
            <p:cNvPr id="25" name="AutoShape 25"/>
            <p:cNvSpPr/>
            <p:nvPr/>
          </p:nvSpPr>
          <p:spPr>
            <a:xfrm>
              <a:off x="13268876" y="1091782"/>
              <a:ext cx="3298156" cy="0"/>
            </a:xfrm>
            <a:prstGeom prst="line">
              <a:avLst/>
            </a:prstGeom>
            <a:ln w="50800" cap="flat">
              <a:solidFill>
                <a:srgbClr val="0C0C6B"/>
              </a:solidFill>
              <a:prstDash val="solid"/>
              <a:headEnd type="arrow" w="med" len="sm"/>
              <a:tailEnd type="arrow" w="med" len="sm"/>
            </a:ln>
          </p:spPr>
          <p:txBody>
            <a:bodyPr/>
            <a:lstStyle/>
            <a:p>
              <a:endParaRPr lang="en-VN"/>
            </a:p>
          </p:txBody>
        </p:sp>
        <p:sp>
          <p:nvSpPr>
            <p:cNvPr id="26" name="AutoShape 26"/>
            <p:cNvSpPr/>
            <p:nvPr/>
          </p:nvSpPr>
          <p:spPr>
            <a:xfrm>
              <a:off x="12518626" y="2275198"/>
              <a:ext cx="0" cy="1641371"/>
            </a:xfrm>
            <a:prstGeom prst="line">
              <a:avLst/>
            </a:prstGeom>
            <a:ln w="50800" cap="flat">
              <a:solidFill>
                <a:srgbClr val="0C0C6B"/>
              </a:solidFill>
              <a:prstDash val="solid"/>
              <a:headEnd type="none" w="sm" len="sm"/>
              <a:tailEnd type="arrow" w="med" len="sm"/>
            </a:ln>
          </p:spPr>
          <p:txBody>
            <a:bodyPr/>
            <a:lstStyle/>
            <a:p>
              <a:endParaRPr lang="en-VN"/>
            </a:p>
          </p:txBody>
        </p:sp>
        <p:sp>
          <p:nvSpPr>
            <p:cNvPr id="27" name="Freeform 27"/>
            <p:cNvSpPr/>
            <p:nvPr/>
          </p:nvSpPr>
          <p:spPr>
            <a:xfrm>
              <a:off x="16567032" y="256524"/>
              <a:ext cx="1689522" cy="1670515"/>
            </a:xfrm>
            <a:custGeom>
              <a:avLst/>
              <a:gdLst/>
              <a:ahLst/>
              <a:cxnLst/>
              <a:rect l="l" t="t" r="r" b="b"/>
              <a:pathLst>
                <a:path w="1689522" h="1670515">
                  <a:moveTo>
                    <a:pt x="0" y="0"/>
                  </a:moveTo>
                  <a:lnTo>
                    <a:pt x="1689523" y="0"/>
                  </a:lnTo>
                  <a:lnTo>
                    <a:pt x="1689523" y="1670515"/>
                  </a:lnTo>
                  <a:lnTo>
                    <a:pt x="0" y="1670515"/>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VN"/>
            </a:p>
          </p:txBody>
        </p:sp>
        <p:sp>
          <p:nvSpPr>
            <p:cNvPr id="28" name="TextBox 28"/>
            <p:cNvSpPr txBox="1"/>
            <p:nvPr/>
          </p:nvSpPr>
          <p:spPr>
            <a:xfrm>
              <a:off x="12640903" y="2657045"/>
              <a:ext cx="2671420" cy="436844"/>
            </a:xfrm>
            <a:prstGeom prst="rect">
              <a:avLst/>
            </a:prstGeom>
          </p:spPr>
          <p:txBody>
            <a:bodyPr lIns="0" tIns="0" rIns="0" bIns="0" rtlCol="0" anchor="t">
              <a:spAutoFit/>
            </a:bodyPr>
            <a:lstStyle/>
            <a:p>
              <a:pPr algn="l">
                <a:lnSpc>
                  <a:spcPts val="2880"/>
                </a:lnSpc>
              </a:pPr>
              <a:r>
                <a:rPr lang="en-US" sz="1800" b="1">
                  <a:solidFill>
                    <a:srgbClr val="0C1D4B"/>
                  </a:solidFill>
                  <a:latin typeface="Roboto Slab Bold"/>
                  <a:ea typeface="Roboto Slab Bold"/>
                  <a:cs typeface="Roboto Slab Bold"/>
                  <a:sym typeface="Roboto Slab Bold"/>
                </a:rPr>
                <a:t>Enough evidence</a:t>
              </a:r>
            </a:p>
          </p:txBody>
        </p:sp>
      </p:grpSp>
      <p:sp>
        <p:nvSpPr>
          <p:cNvPr id="29" name="RestoredLabel Call tools"/>
          <p:cNvSpPr txBox="1"/>
          <p:nvPr/>
        </p:nvSpPr>
        <p:spPr>
          <a:xfrm>
            <a:off x="12355540" y="6682487"/>
            <a:ext cx="1040348" cy="284693"/>
          </a:xfrm>
          <a:prstGeom prst="rect">
            <a:avLst/>
          </a:prstGeom>
          <a:noFill/>
          <a:ln>
            <a:noFill/>
          </a:ln>
        </p:spPr>
        <p:txBody>
          <a:bodyPr wrap="none" lIns="0" tIns="0" rIns="0" bIns="0" rtlCol="0" anchor="t">
            <a:spAutoFit/>
          </a:bodyPr>
          <a:lstStyle/>
          <a:p>
            <a:pPr algn="ctr"/>
            <a:r>
              <a:rPr lang="en-US" sz="1850" b="1" dirty="0">
                <a:solidFill>
                  <a:srgbClr val="0C1D4B"/>
                </a:solidFill>
                <a:latin typeface="Roboto Slab" pitchFamily="2" charset="0"/>
                <a:ea typeface="Roboto Slab" pitchFamily="2" charset="0"/>
                <a:cs typeface="Roboto Slab" pitchFamily="2" charset="0"/>
              </a:rPr>
              <a:t>Call tools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grpId="0" nodeType="withEffect">
                            <p:stCondLst>
                              <p:cond delay="180"/>
                            </p:stCondLst>
                            <p:childTnLst>
                              <p:set>
                                <p:cBhvr>
                                  <p:cTn id="5" dur="1" fill="hold">
                                    <p:stCondLst>
                                      <p:cond delay="0"/>
                                    </p:stCondLst>
                                  </p:cTn>
                                  <p:tgtEl>
                                    <p:spTgt spid="12"/>
                                  </p:tgtEl>
                                  <p:attrNameLst>
                                    <p:attrName>style.visibility</p:attrName>
                                  </p:attrNameLst>
                                </p:cBhvr>
                                <p:to>
                                  <p:strVal val="visible"/>
                                </p:to>
                              </p:set>
                              <p:animEffect transition="in" filter="wipe(left)">
                                <p:cBhvr>
                                  <p:cTn id="6" dur="860"/>
                                  <p:tgtEl>
                                    <p:spTgt spid="12"/>
                                  </p:tgtEl>
                                </p:cBhvr>
                              </p:animEffect>
                            </p:childTnLst>
                          </p:cTn>
                        </p:par>
                        <p:par>
                          <p:cTn id="7" presetID="10" presetClass="entr" presetSubtype="0" fill="hold" grpId="0" nodeType="withEffect">
                            <p:stCondLst>
                              <p:cond delay="350"/>
                            </p:stCondLst>
                            <p:childTnLst>
                              <p:set>
                                <p:cBhvr>
                                  <p:cTn id="8" dur="1" fill="hold">
                                    <p:stCondLst>
                                      <p:cond delay="0"/>
                                    </p:stCondLst>
                                  </p:cTn>
                                  <p:tgtEl>
                                    <p:spTgt spid="13"/>
                                  </p:tgtEl>
                                  <p:attrNameLst>
                                    <p:attrName>style.visibility</p:attrName>
                                  </p:attrNameLst>
                                </p:cBhvr>
                                <p:to>
                                  <p:strVal val="visible"/>
                                </p:to>
                              </p:set>
                              <p:animEffect transition="in" filter="wipe(left)">
                                <p:cBhvr>
                                  <p:cTn id="9" dur="860"/>
                                  <p:tgtEl>
                                    <p:spTgt spid="13"/>
                                  </p:tgtEl>
                                </p:cBhvr>
                              </p:animEffect>
                            </p:childTnLst>
                          </p:cTn>
                        </p:par>
                        <p:par>
                          <p:cTn id="10" presetID="10" presetClass="entr" presetSubtype="0" fill="hold" grpId="0" nodeType="withEffect">
                            <p:stCondLst>
                              <p:cond delay="520"/>
                            </p:stCondLst>
                            <p:childTnLst>
                              <p:set>
                                <p:cBhvr>
                                  <p:cTn id="11" dur="1" fill="hold">
                                    <p:stCondLst>
                                      <p:cond delay="0"/>
                                    </p:stCondLst>
                                  </p:cTn>
                                  <p:tgtEl>
                                    <p:spTgt spid="14"/>
                                  </p:tgtEl>
                                  <p:attrNameLst>
                                    <p:attrName>style.visibility</p:attrName>
                                  </p:attrNameLst>
                                </p:cBhvr>
                                <p:to>
                                  <p:strVal val="visible"/>
                                </p:to>
                              </p:set>
                              <p:animEffect transition="in" filter="wipe(left)">
                                <p:cBhvr>
                                  <p:cTn id="12" dur="860"/>
                                  <p:tgtEl>
                                    <p:spTgt spid="14"/>
                                  </p:tgtEl>
                                </p:cBhvr>
                              </p:animEffect>
                            </p:childTnLst>
                          </p:cTn>
                        </p:par>
                        <p:par>
                          <p:cTn id="13" presetID="10" presetClass="entr" presetSubtype="0" fill="hold" grpId="0" nodeType="withEffect">
                            <p:stCondLst>
                              <p:cond delay="690"/>
                            </p:stCondLst>
                            <p:childTnLst>
                              <p:set>
                                <p:cBhvr>
                                  <p:cTn id="14" dur="1" fill="hold">
                                    <p:stCondLst>
                                      <p:cond delay="0"/>
                                    </p:stCondLst>
                                  </p:cTn>
                                  <p:tgtEl>
                                    <p:spTgt spid="29"/>
                                  </p:tgtEl>
                                  <p:attrNameLst>
                                    <p:attrName>style.visibility</p:attrName>
                                  </p:attrNameLst>
                                </p:cBhvr>
                                <p:to>
                                  <p:strVal val="visible"/>
                                </p:to>
                              </p:set>
                              <p:animEffect transition="in" filter="wipe(left)">
                                <p:cBhvr>
                                  <p:cTn id="15" dur="860"/>
                                  <p:tgtEl>
                                    <p:spTgt spid="29"/>
                                  </p:tgtEl>
                                </p:cBhvr>
                              </p:animEffect>
                            </p:childTnLst>
                          </p:cTn>
                        </p:par>
                      </p:childTnLst>
                    </p:cTn>
                  </p:par>
                </p:childTnLst>
              </p:cTn>
            </p:seq>
          </p:childTnLst>
        </p:cTn>
      </p:par>
    </p:tnLst>
    <p:bldLst>
      <p:bldP spid="12" grpId="0"/>
      <p:bldP spid="13" grpId="0"/>
      <p:bldP spid="14" grpId="0"/>
      <p:bldP spid="29"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10800000">
            <a:off x="17259300" y="-233820"/>
            <a:ext cx="1940843" cy="970417"/>
            <a:chOff x="0" y="0"/>
            <a:chExt cx="2587790" cy="1293889"/>
          </a:xfrm>
        </p:grpSpPr>
        <p:sp>
          <p:nvSpPr>
            <p:cNvPr id="3" name="Freeform 3"/>
            <p:cNvSpPr/>
            <p:nvPr/>
          </p:nvSpPr>
          <p:spPr>
            <a:xfrm>
              <a:off x="0" y="0"/>
              <a:ext cx="2587752" cy="1293876"/>
            </a:xfrm>
            <a:custGeom>
              <a:avLst/>
              <a:gdLst/>
              <a:ahLst/>
              <a:cxnLst/>
              <a:rect l="l" t="t" r="r" b="b"/>
              <a:pathLst>
                <a:path w="2587752" h="1293876">
                  <a:moveTo>
                    <a:pt x="0" y="0"/>
                  </a:moveTo>
                  <a:lnTo>
                    <a:pt x="2587752" y="0"/>
                  </a:lnTo>
                  <a:lnTo>
                    <a:pt x="2587752" y="1293876"/>
                  </a:lnTo>
                  <a:lnTo>
                    <a:pt x="0" y="1293876"/>
                  </a:lnTo>
                  <a:lnTo>
                    <a:pt x="0" y="0"/>
                  </a:lnTo>
                  <a:close/>
                </a:path>
              </a:pathLst>
            </a:custGeom>
            <a:blipFill>
              <a:blip r:embed="rId2"/>
              <a:stretch>
                <a:fillRect r="-1"/>
              </a:stretch>
            </a:blipFill>
          </p:spPr>
          <p:txBody>
            <a:bodyPr/>
            <a:lstStyle/>
            <a:p>
              <a:endParaRPr lang="en-VN"/>
            </a:p>
          </p:txBody>
        </p:sp>
      </p:grpSp>
      <p:grpSp>
        <p:nvGrpSpPr>
          <p:cNvPr id="4" name="Group 4"/>
          <p:cNvGrpSpPr/>
          <p:nvPr/>
        </p:nvGrpSpPr>
        <p:grpSpPr>
          <a:xfrm>
            <a:off x="-912143" y="9429369"/>
            <a:ext cx="1940843" cy="970417"/>
            <a:chOff x="0" y="0"/>
            <a:chExt cx="2587790" cy="1293889"/>
          </a:xfrm>
        </p:grpSpPr>
        <p:sp>
          <p:nvSpPr>
            <p:cNvPr id="5" name="Freeform 5"/>
            <p:cNvSpPr/>
            <p:nvPr/>
          </p:nvSpPr>
          <p:spPr>
            <a:xfrm>
              <a:off x="0" y="0"/>
              <a:ext cx="2587752" cy="1293876"/>
            </a:xfrm>
            <a:custGeom>
              <a:avLst/>
              <a:gdLst/>
              <a:ahLst/>
              <a:cxnLst/>
              <a:rect l="l" t="t" r="r" b="b"/>
              <a:pathLst>
                <a:path w="2587752" h="1293876">
                  <a:moveTo>
                    <a:pt x="0" y="0"/>
                  </a:moveTo>
                  <a:lnTo>
                    <a:pt x="2587752" y="0"/>
                  </a:lnTo>
                  <a:lnTo>
                    <a:pt x="2587752" y="1293876"/>
                  </a:lnTo>
                  <a:lnTo>
                    <a:pt x="0" y="1293876"/>
                  </a:lnTo>
                  <a:lnTo>
                    <a:pt x="0" y="0"/>
                  </a:lnTo>
                  <a:close/>
                </a:path>
              </a:pathLst>
            </a:custGeom>
            <a:blipFill>
              <a:blip r:embed="rId2"/>
              <a:stretch>
                <a:fillRect r="-1"/>
              </a:stretch>
            </a:blipFill>
          </p:spPr>
          <p:txBody>
            <a:bodyPr/>
            <a:lstStyle/>
            <a:p>
              <a:endParaRPr lang="en-VN"/>
            </a:p>
          </p:txBody>
        </p:sp>
      </p:grpSp>
      <p:grpSp>
        <p:nvGrpSpPr>
          <p:cNvPr id="6" name="Group 6"/>
          <p:cNvGrpSpPr/>
          <p:nvPr/>
        </p:nvGrpSpPr>
        <p:grpSpPr>
          <a:xfrm>
            <a:off x="-3127839" y="9986436"/>
            <a:ext cx="22035035" cy="2837612"/>
            <a:chOff x="0" y="0"/>
            <a:chExt cx="5803466" cy="747355"/>
          </a:xfrm>
        </p:grpSpPr>
        <p:sp>
          <p:nvSpPr>
            <p:cNvPr id="7" name="Freeform 7"/>
            <p:cNvSpPr/>
            <p:nvPr/>
          </p:nvSpPr>
          <p:spPr>
            <a:xfrm>
              <a:off x="0" y="0"/>
              <a:ext cx="5803466" cy="747355"/>
            </a:xfrm>
            <a:custGeom>
              <a:avLst/>
              <a:gdLst/>
              <a:ahLst/>
              <a:cxnLst/>
              <a:rect l="l" t="t" r="r" b="b"/>
              <a:pathLst>
                <a:path w="5803466" h="747355">
                  <a:moveTo>
                    <a:pt x="0" y="0"/>
                  </a:moveTo>
                  <a:lnTo>
                    <a:pt x="5803466" y="0"/>
                  </a:lnTo>
                  <a:lnTo>
                    <a:pt x="5803466" y="747355"/>
                  </a:lnTo>
                  <a:lnTo>
                    <a:pt x="0" y="747355"/>
                  </a:lnTo>
                  <a:close/>
                </a:path>
              </a:pathLst>
            </a:custGeom>
            <a:solidFill>
              <a:srgbClr val="3C4F75"/>
            </a:solidFill>
          </p:spPr>
          <p:txBody>
            <a:bodyPr/>
            <a:lstStyle/>
            <a:p>
              <a:endParaRPr lang="en-VN"/>
            </a:p>
          </p:txBody>
        </p:sp>
        <p:sp>
          <p:nvSpPr>
            <p:cNvPr id="8" name="TextBox 8"/>
            <p:cNvSpPr txBox="1"/>
            <p:nvPr/>
          </p:nvSpPr>
          <p:spPr>
            <a:xfrm>
              <a:off x="0" y="-47625"/>
              <a:ext cx="5803466" cy="794980"/>
            </a:xfrm>
            <a:prstGeom prst="rect">
              <a:avLst/>
            </a:prstGeom>
          </p:spPr>
          <p:txBody>
            <a:bodyPr lIns="50800" tIns="50800" rIns="50800" bIns="50800" rtlCol="0" anchor="ctr"/>
            <a:lstStyle/>
            <a:p>
              <a:pPr algn="ctr">
                <a:lnSpc>
                  <a:spcPts val="2940"/>
                </a:lnSpc>
              </a:pPr>
              <a:endParaRPr/>
            </a:p>
          </p:txBody>
        </p:sp>
      </p:grpSp>
      <p:sp>
        <p:nvSpPr>
          <p:cNvPr id="9" name="Freeform 9"/>
          <p:cNvSpPr/>
          <p:nvPr/>
        </p:nvSpPr>
        <p:spPr>
          <a:xfrm>
            <a:off x="1028700" y="251389"/>
            <a:ext cx="551704" cy="584433"/>
          </a:xfrm>
          <a:custGeom>
            <a:avLst/>
            <a:gdLst/>
            <a:ahLst/>
            <a:cxnLst/>
            <a:rect l="l" t="t" r="r" b="b"/>
            <a:pathLst>
              <a:path w="551704" h="584433">
                <a:moveTo>
                  <a:pt x="0" y="0"/>
                </a:moveTo>
                <a:lnTo>
                  <a:pt x="551704" y="0"/>
                </a:lnTo>
                <a:lnTo>
                  <a:pt x="551704" y="584432"/>
                </a:lnTo>
                <a:lnTo>
                  <a:pt x="0" y="584432"/>
                </a:lnTo>
                <a:lnTo>
                  <a:pt x="0" y="0"/>
                </a:lnTo>
                <a:close/>
              </a:path>
            </a:pathLst>
          </a:custGeom>
          <a:blipFill>
            <a:blip r:embed="rId3"/>
            <a:stretch>
              <a:fillRect/>
            </a:stretch>
          </a:blipFill>
        </p:spPr>
        <p:txBody>
          <a:bodyPr/>
          <a:lstStyle/>
          <a:p>
            <a:endParaRPr lang="en-VN"/>
          </a:p>
        </p:txBody>
      </p:sp>
      <p:sp>
        <p:nvSpPr>
          <p:cNvPr id="10" name="TextBox 10"/>
          <p:cNvSpPr txBox="1"/>
          <p:nvPr/>
        </p:nvSpPr>
        <p:spPr>
          <a:xfrm>
            <a:off x="1028700" y="1095375"/>
            <a:ext cx="12497555" cy="534618"/>
          </a:xfrm>
          <a:prstGeom prst="rect">
            <a:avLst/>
          </a:prstGeom>
        </p:spPr>
        <p:txBody>
          <a:bodyPr lIns="0" tIns="0" rIns="0" bIns="0" rtlCol="0" anchor="t">
            <a:spAutoFit/>
          </a:bodyPr>
          <a:lstStyle/>
          <a:p>
            <a:pPr algn="just">
              <a:lnSpc>
                <a:spcPts val="4039"/>
              </a:lnSpc>
            </a:pPr>
            <a:r>
              <a:rPr lang="en-US" sz="3999" b="1">
                <a:solidFill>
                  <a:srgbClr val="0C1D4B"/>
                </a:solidFill>
                <a:latin typeface="Roboto Slab Bold"/>
                <a:ea typeface="Roboto Slab Bold"/>
                <a:cs typeface="Roboto Slab Bold"/>
                <a:sym typeface="Roboto Slab Bold"/>
              </a:rPr>
              <a:t>3.4. Xây dựng các node trong hệ thống</a:t>
            </a:r>
          </a:p>
        </p:txBody>
      </p:sp>
      <p:sp>
        <p:nvSpPr>
          <p:cNvPr id="11" name="TextBox 11"/>
          <p:cNvSpPr txBox="1"/>
          <p:nvPr/>
        </p:nvSpPr>
        <p:spPr>
          <a:xfrm>
            <a:off x="1687249" y="346410"/>
            <a:ext cx="3954904" cy="356289"/>
          </a:xfrm>
          <a:prstGeom prst="rect">
            <a:avLst/>
          </a:prstGeom>
        </p:spPr>
        <p:txBody>
          <a:bodyPr lIns="0" tIns="0" rIns="0" bIns="0" rtlCol="0" anchor="t">
            <a:spAutoFit/>
          </a:bodyPr>
          <a:lstStyle/>
          <a:p>
            <a:pPr algn="l">
              <a:lnSpc>
                <a:spcPts val="2940"/>
              </a:lnSpc>
            </a:pPr>
            <a:r>
              <a:rPr lang="en-US" sz="2100" b="1">
                <a:solidFill>
                  <a:srgbClr val="2C2C2C"/>
                </a:solidFill>
                <a:latin typeface="Roboto Slab Bold"/>
                <a:ea typeface="Roboto Slab Bold"/>
                <a:cs typeface="Roboto Slab Bold"/>
                <a:sym typeface="Roboto Slab Bold"/>
              </a:rPr>
              <a:t>HỌC VIỆN KỸ THUẬT MẬT MÃ</a:t>
            </a:r>
          </a:p>
        </p:txBody>
      </p:sp>
      <p:sp>
        <p:nvSpPr>
          <p:cNvPr id="12" name="TextBox 12"/>
          <p:cNvSpPr txBox="1"/>
          <p:nvPr/>
        </p:nvSpPr>
        <p:spPr>
          <a:xfrm>
            <a:off x="1028700" y="1725243"/>
            <a:ext cx="10081822" cy="685800"/>
          </a:xfrm>
          <a:prstGeom prst="rect">
            <a:avLst/>
          </a:prstGeom>
        </p:spPr>
        <p:txBody>
          <a:bodyPr lIns="0" tIns="0" rIns="0" bIns="0" rtlCol="0" anchor="t">
            <a:spAutoFit/>
          </a:bodyPr>
          <a:lstStyle/>
          <a:p>
            <a:pPr algn="just">
              <a:lnSpc>
                <a:spcPts val="6000"/>
              </a:lnSpc>
            </a:pPr>
            <a:r>
              <a:rPr lang="en-US" sz="3000" b="1">
                <a:solidFill>
                  <a:srgbClr val="0C1D4B"/>
                </a:solidFill>
                <a:latin typeface="Roboto Slab Bold"/>
                <a:ea typeface="Roboto Slab Bold"/>
                <a:cs typeface="Roboto Slab Bold"/>
                <a:sym typeface="Roboto Slab Bold"/>
              </a:rPr>
              <a:t>Node Verifier</a:t>
            </a:r>
          </a:p>
        </p:txBody>
      </p:sp>
      <p:sp>
        <p:nvSpPr>
          <p:cNvPr id="13" name="TextBox 13"/>
          <p:cNvSpPr txBox="1"/>
          <p:nvPr/>
        </p:nvSpPr>
        <p:spPr>
          <a:xfrm>
            <a:off x="1028700" y="2496768"/>
            <a:ext cx="16230600" cy="1648622"/>
          </a:xfrm>
          <a:prstGeom prst="rect">
            <a:avLst/>
          </a:prstGeom>
        </p:spPr>
        <p:txBody>
          <a:bodyPr lIns="0" tIns="0" rIns="0" bIns="0" rtlCol="0" anchor="t">
            <a:spAutoFit/>
          </a:bodyPr>
          <a:lstStyle/>
          <a:p>
            <a:pPr marL="604519" lvl="1" indent="-302260" algn="l">
              <a:lnSpc>
                <a:spcPts val="4479"/>
              </a:lnSpc>
              <a:buFont typeface="Arial"/>
              <a:buChar char="•"/>
            </a:pPr>
            <a:r>
              <a:rPr lang="en-US" sz="2799">
                <a:solidFill>
                  <a:srgbClr val="0C1D4B"/>
                </a:solidFill>
                <a:latin typeface="Roboto Slab"/>
                <a:ea typeface="Roboto Slab"/>
                <a:cs typeface="Roboto Slab"/>
                <a:sym typeface="Roboto Slab"/>
              </a:rPr>
              <a:t>Nhiệm vụ: kiểm tra lại câu trả lời cuối cùng trước khi phản hồi cho người dùng</a:t>
            </a:r>
          </a:p>
          <a:p>
            <a:pPr marL="604519" lvl="1" indent="-302260" algn="l">
              <a:lnSpc>
                <a:spcPts val="4479"/>
              </a:lnSpc>
              <a:buFont typeface="Arial"/>
              <a:buChar char="•"/>
            </a:pPr>
            <a:r>
              <a:rPr lang="en-US" sz="2799">
                <a:solidFill>
                  <a:srgbClr val="0C1D4B"/>
                </a:solidFill>
                <a:latin typeface="Roboto Slab"/>
                <a:ea typeface="Roboto Slab"/>
                <a:cs typeface="Roboto Slab"/>
                <a:sym typeface="Roboto Slab"/>
              </a:rPr>
              <a:t>PROMPT: “Kiểm tra câu trả lời pháp luật có bịa đặt không dựa trên dữ liệu đã thu thập được...”</a:t>
            </a:r>
          </a:p>
        </p:txBody>
      </p:sp>
      <p:grpSp>
        <p:nvGrpSpPr>
          <p:cNvPr id="14" name="Group 14"/>
          <p:cNvGrpSpPr/>
          <p:nvPr/>
        </p:nvGrpSpPr>
        <p:grpSpPr>
          <a:xfrm>
            <a:off x="1028700" y="5576253"/>
            <a:ext cx="15894478" cy="1736216"/>
            <a:chOff x="0" y="0"/>
            <a:chExt cx="21192638" cy="2314955"/>
          </a:xfrm>
        </p:grpSpPr>
        <p:sp>
          <p:nvSpPr>
            <p:cNvPr id="15" name="Freeform 15"/>
            <p:cNvSpPr/>
            <p:nvPr/>
          </p:nvSpPr>
          <p:spPr>
            <a:xfrm>
              <a:off x="7377784" y="804463"/>
              <a:ext cx="1468480" cy="1442782"/>
            </a:xfrm>
            <a:custGeom>
              <a:avLst/>
              <a:gdLst/>
              <a:ahLst/>
              <a:cxnLst/>
              <a:rect l="l" t="t" r="r" b="b"/>
              <a:pathLst>
                <a:path w="1468480" h="1442782">
                  <a:moveTo>
                    <a:pt x="0" y="0"/>
                  </a:moveTo>
                  <a:lnTo>
                    <a:pt x="1468480" y="0"/>
                  </a:lnTo>
                  <a:lnTo>
                    <a:pt x="1468480" y="1442782"/>
                  </a:lnTo>
                  <a:lnTo>
                    <a:pt x="0" y="1442782"/>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VN"/>
            </a:p>
          </p:txBody>
        </p:sp>
        <p:sp>
          <p:nvSpPr>
            <p:cNvPr id="16" name="Freeform 16"/>
            <p:cNvSpPr/>
            <p:nvPr/>
          </p:nvSpPr>
          <p:spPr>
            <a:xfrm>
              <a:off x="11768375" y="722286"/>
              <a:ext cx="1500501" cy="1552911"/>
            </a:xfrm>
            <a:custGeom>
              <a:avLst/>
              <a:gdLst/>
              <a:ahLst/>
              <a:cxnLst/>
              <a:rect l="l" t="t" r="r" b="b"/>
              <a:pathLst>
                <a:path w="1500501" h="1552911">
                  <a:moveTo>
                    <a:pt x="0" y="0"/>
                  </a:moveTo>
                  <a:lnTo>
                    <a:pt x="1500501" y="0"/>
                  </a:lnTo>
                  <a:lnTo>
                    <a:pt x="1500501" y="1552912"/>
                  </a:lnTo>
                  <a:lnTo>
                    <a:pt x="0" y="155291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VN"/>
            </a:p>
          </p:txBody>
        </p:sp>
        <p:sp>
          <p:nvSpPr>
            <p:cNvPr id="17" name="TextBox 17"/>
            <p:cNvSpPr txBox="1"/>
            <p:nvPr/>
          </p:nvSpPr>
          <p:spPr>
            <a:xfrm>
              <a:off x="0" y="644429"/>
              <a:ext cx="4713540" cy="1670526"/>
            </a:xfrm>
            <a:prstGeom prst="rect">
              <a:avLst/>
            </a:prstGeom>
          </p:spPr>
          <p:txBody>
            <a:bodyPr lIns="0" tIns="0" rIns="0" bIns="0" rtlCol="0" anchor="t">
              <a:spAutoFit/>
            </a:bodyPr>
            <a:lstStyle/>
            <a:p>
              <a:pPr algn="l">
                <a:lnSpc>
                  <a:spcPts val="3392"/>
                </a:lnSpc>
              </a:pPr>
              <a:r>
                <a:rPr lang="en-US" sz="2423" b="1">
                  <a:solidFill>
                    <a:srgbClr val="000000"/>
                  </a:solidFill>
                  <a:latin typeface="Roboto Slab Bold"/>
                  <a:ea typeface="Roboto Slab Bold"/>
                  <a:cs typeface="Roboto Slab Bold"/>
                  <a:sym typeface="Roboto Slab Bold"/>
                </a:rPr>
                <a:t>Câu trả lời của Agent và toàn bộ kết quả công cụ đã sử dụng</a:t>
              </a:r>
            </a:p>
          </p:txBody>
        </p:sp>
        <p:sp>
          <p:nvSpPr>
            <p:cNvPr id="18" name="AutoShape 18"/>
            <p:cNvSpPr/>
            <p:nvPr/>
          </p:nvSpPr>
          <p:spPr>
            <a:xfrm>
              <a:off x="4713540" y="1498742"/>
              <a:ext cx="2664244" cy="27112"/>
            </a:xfrm>
            <a:prstGeom prst="line">
              <a:avLst/>
            </a:prstGeom>
            <a:ln w="50800" cap="flat">
              <a:solidFill>
                <a:srgbClr val="0C0C6B"/>
              </a:solidFill>
              <a:prstDash val="solid"/>
              <a:headEnd type="none" w="sm" len="sm"/>
              <a:tailEnd type="arrow" w="med" len="sm"/>
            </a:ln>
          </p:spPr>
          <p:txBody>
            <a:bodyPr/>
            <a:lstStyle/>
            <a:p>
              <a:endParaRPr lang="en-VN"/>
            </a:p>
          </p:txBody>
        </p:sp>
        <p:sp>
          <p:nvSpPr>
            <p:cNvPr id="19" name="AutoShape 19"/>
            <p:cNvSpPr/>
            <p:nvPr/>
          </p:nvSpPr>
          <p:spPr>
            <a:xfrm flipV="1">
              <a:off x="8846264" y="1498742"/>
              <a:ext cx="2922111" cy="27112"/>
            </a:xfrm>
            <a:prstGeom prst="line">
              <a:avLst/>
            </a:prstGeom>
            <a:ln w="50800" cap="flat">
              <a:solidFill>
                <a:srgbClr val="0C0C6B"/>
              </a:solidFill>
              <a:prstDash val="solid"/>
              <a:headEnd type="none" w="sm" len="sm"/>
              <a:tailEnd type="arrow" w="med" len="sm"/>
            </a:ln>
          </p:spPr>
          <p:txBody>
            <a:bodyPr/>
            <a:lstStyle/>
            <a:p>
              <a:endParaRPr lang="en-VN"/>
            </a:p>
          </p:txBody>
        </p:sp>
        <p:sp>
          <p:nvSpPr>
            <p:cNvPr id="20" name="AutoShape 20"/>
            <p:cNvSpPr/>
            <p:nvPr/>
          </p:nvSpPr>
          <p:spPr>
            <a:xfrm>
              <a:off x="13268876" y="1498742"/>
              <a:ext cx="3781873" cy="27112"/>
            </a:xfrm>
            <a:prstGeom prst="line">
              <a:avLst/>
            </a:prstGeom>
            <a:ln w="50800" cap="flat">
              <a:solidFill>
                <a:srgbClr val="0C0C6B"/>
              </a:solidFill>
              <a:prstDash val="solid"/>
              <a:headEnd type="none" w="sm" len="sm"/>
              <a:tailEnd type="arrow" w="med" len="sm"/>
            </a:ln>
          </p:spPr>
          <p:txBody>
            <a:bodyPr/>
            <a:lstStyle/>
            <a:p>
              <a:endParaRPr lang="en-VN"/>
            </a:p>
          </p:txBody>
        </p:sp>
        <p:sp>
          <p:nvSpPr>
            <p:cNvPr id="21" name="TextBox 21"/>
            <p:cNvSpPr txBox="1"/>
            <p:nvPr/>
          </p:nvSpPr>
          <p:spPr>
            <a:xfrm>
              <a:off x="6151271" y="27314"/>
              <a:ext cx="4049764" cy="516005"/>
            </a:xfrm>
            <a:prstGeom prst="rect">
              <a:avLst/>
            </a:prstGeom>
          </p:spPr>
          <p:txBody>
            <a:bodyPr lIns="0" tIns="0" rIns="0" bIns="0" rtlCol="0" anchor="t">
              <a:spAutoFit/>
            </a:bodyPr>
            <a:lstStyle/>
            <a:p>
              <a:pPr algn="ctr">
                <a:lnSpc>
                  <a:spcPts val="3357"/>
                </a:lnSpc>
                <a:spcBef>
                  <a:spcPct val="0"/>
                </a:spcBef>
              </a:pPr>
              <a:r>
                <a:rPr lang="en-US" sz="2397" b="1" i="1">
                  <a:solidFill>
                    <a:srgbClr val="000000"/>
                  </a:solidFill>
                  <a:latin typeface="Roboto Slab Bold"/>
                  <a:ea typeface="Roboto Slab Bold"/>
                  <a:cs typeface="Roboto Slab Bold"/>
                  <a:sym typeface="Roboto Slab Bold"/>
                </a:rPr>
                <a:t>PROMT</a:t>
              </a:r>
            </a:p>
          </p:txBody>
        </p:sp>
        <p:sp>
          <p:nvSpPr>
            <p:cNvPr id="22" name="TextBox 22"/>
            <p:cNvSpPr txBox="1"/>
            <p:nvPr/>
          </p:nvSpPr>
          <p:spPr>
            <a:xfrm>
              <a:off x="10603575" y="-57150"/>
              <a:ext cx="3830101" cy="665884"/>
            </a:xfrm>
            <a:prstGeom prst="rect">
              <a:avLst/>
            </a:prstGeom>
          </p:spPr>
          <p:txBody>
            <a:bodyPr lIns="0" tIns="0" rIns="0" bIns="0" rtlCol="0" anchor="t">
              <a:spAutoFit/>
            </a:bodyPr>
            <a:lstStyle/>
            <a:p>
              <a:pPr algn="ctr">
                <a:lnSpc>
                  <a:spcPts val="4232"/>
                </a:lnSpc>
                <a:spcBef>
                  <a:spcPct val="0"/>
                </a:spcBef>
              </a:pPr>
              <a:r>
                <a:rPr lang="en-US" sz="3023" b="1">
                  <a:solidFill>
                    <a:srgbClr val="000000"/>
                  </a:solidFill>
                  <a:latin typeface="Roboto Slab Bold"/>
                  <a:ea typeface="Roboto Slab Bold"/>
                  <a:cs typeface="Roboto Slab Bold"/>
                  <a:sym typeface="Roboto Slab Bold"/>
                </a:rPr>
                <a:t>LLMs</a:t>
              </a:r>
            </a:p>
          </p:txBody>
        </p:sp>
        <p:grpSp>
          <p:nvGrpSpPr>
            <p:cNvPr id="23" name="Group 23"/>
            <p:cNvGrpSpPr/>
            <p:nvPr/>
          </p:nvGrpSpPr>
          <p:grpSpPr>
            <a:xfrm>
              <a:off x="17050749" y="1061854"/>
              <a:ext cx="4141889" cy="928000"/>
              <a:chOff x="0" y="0"/>
              <a:chExt cx="818151" cy="183309"/>
            </a:xfrm>
          </p:grpSpPr>
          <p:sp>
            <p:nvSpPr>
              <p:cNvPr id="24" name="Freeform 24"/>
              <p:cNvSpPr/>
              <p:nvPr/>
            </p:nvSpPr>
            <p:spPr>
              <a:xfrm>
                <a:off x="0" y="0"/>
                <a:ext cx="818151" cy="183309"/>
              </a:xfrm>
              <a:custGeom>
                <a:avLst/>
                <a:gdLst/>
                <a:ahLst/>
                <a:cxnLst/>
                <a:rect l="l" t="t" r="r" b="b"/>
                <a:pathLst>
                  <a:path w="818151" h="183309">
                    <a:moveTo>
                      <a:pt x="69783" y="0"/>
                    </a:moveTo>
                    <a:lnTo>
                      <a:pt x="748368" y="0"/>
                    </a:lnTo>
                    <a:cubicBezTo>
                      <a:pt x="786908" y="0"/>
                      <a:pt x="818151" y="31243"/>
                      <a:pt x="818151" y="69783"/>
                    </a:cubicBezTo>
                    <a:lnTo>
                      <a:pt x="818151" y="113526"/>
                    </a:lnTo>
                    <a:cubicBezTo>
                      <a:pt x="818151" y="132033"/>
                      <a:pt x="810799" y="149783"/>
                      <a:pt x="797712" y="162870"/>
                    </a:cubicBezTo>
                    <a:cubicBezTo>
                      <a:pt x="784625" y="175956"/>
                      <a:pt x="766876" y="183309"/>
                      <a:pt x="748368" y="183309"/>
                    </a:cubicBezTo>
                    <a:lnTo>
                      <a:pt x="69783" y="183309"/>
                    </a:lnTo>
                    <a:cubicBezTo>
                      <a:pt x="51275" y="183309"/>
                      <a:pt x="33526" y="175956"/>
                      <a:pt x="20439" y="162870"/>
                    </a:cubicBezTo>
                    <a:cubicBezTo>
                      <a:pt x="7352" y="149783"/>
                      <a:pt x="0" y="132033"/>
                      <a:pt x="0" y="113526"/>
                    </a:cubicBezTo>
                    <a:lnTo>
                      <a:pt x="0" y="69783"/>
                    </a:lnTo>
                    <a:cubicBezTo>
                      <a:pt x="0" y="51275"/>
                      <a:pt x="7352" y="33526"/>
                      <a:pt x="20439" y="20439"/>
                    </a:cubicBezTo>
                    <a:cubicBezTo>
                      <a:pt x="33526" y="7352"/>
                      <a:pt x="51275" y="0"/>
                      <a:pt x="69783" y="0"/>
                    </a:cubicBezTo>
                    <a:close/>
                  </a:path>
                </a:pathLst>
              </a:custGeom>
              <a:solidFill>
                <a:srgbClr val="0D1D4B"/>
              </a:solidFill>
            </p:spPr>
            <p:txBody>
              <a:bodyPr/>
              <a:lstStyle/>
              <a:p>
                <a:endParaRPr lang="en-VN"/>
              </a:p>
            </p:txBody>
          </p:sp>
          <p:sp>
            <p:nvSpPr>
              <p:cNvPr id="25" name="TextBox 25"/>
              <p:cNvSpPr txBox="1"/>
              <p:nvPr/>
            </p:nvSpPr>
            <p:spPr>
              <a:xfrm>
                <a:off x="0" y="-38100"/>
                <a:ext cx="818151" cy="221409"/>
              </a:xfrm>
              <a:prstGeom prst="rect">
                <a:avLst/>
              </a:prstGeom>
            </p:spPr>
            <p:txBody>
              <a:bodyPr lIns="50800" tIns="50800" rIns="50800" bIns="50800" rtlCol="0" anchor="ctr"/>
              <a:lstStyle/>
              <a:p>
                <a:pPr algn="ctr">
                  <a:lnSpc>
                    <a:spcPts val="2940"/>
                  </a:lnSpc>
                </a:pPr>
                <a:r>
                  <a:rPr lang="en-US" sz="2100" b="1" spc="50">
                    <a:solidFill>
                      <a:srgbClr val="FFFFFF"/>
                    </a:solidFill>
                    <a:latin typeface="Roboto Slab Bold"/>
                    <a:ea typeface="Roboto Slab Bold"/>
                    <a:cs typeface="Roboto Slab Bold"/>
                    <a:sym typeface="Roboto Slab Bold"/>
                  </a:rPr>
                  <a:t>END</a:t>
                </a:r>
              </a:p>
            </p:txBody>
          </p:sp>
        </p:grpSp>
        <p:sp>
          <p:nvSpPr>
            <p:cNvPr id="26" name="TextBox 26"/>
            <p:cNvSpPr txBox="1"/>
            <p:nvPr/>
          </p:nvSpPr>
          <p:spPr>
            <a:xfrm>
              <a:off x="13733667" y="-16800"/>
              <a:ext cx="2671420" cy="1401972"/>
            </a:xfrm>
            <a:prstGeom prst="rect">
              <a:avLst/>
            </a:prstGeom>
          </p:spPr>
          <p:txBody>
            <a:bodyPr lIns="0" tIns="0" rIns="0" bIns="0" rtlCol="0" anchor="t">
              <a:spAutoFit/>
            </a:bodyPr>
            <a:lstStyle/>
            <a:p>
              <a:pPr algn="ctr">
                <a:lnSpc>
                  <a:spcPts val="2880"/>
                </a:lnSpc>
              </a:pPr>
              <a:r>
                <a:rPr lang="en-US" sz="1800">
                  <a:solidFill>
                    <a:srgbClr val="0C1D4B"/>
                  </a:solidFill>
                  <a:latin typeface="Roboto Slab"/>
                  <a:ea typeface="Roboto Slab"/>
                  <a:cs typeface="Roboto Slab"/>
                  <a:sym typeface="Roboto Slab"/>
                </a:rPr>
                <a:t>Tự sửa đổi và cập nhật nội dung sai sót</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grpId="0" nodeType="withEffect">
                            <p:stCondLst>
                              <p:cond delay="180"/>
                            </p:stCondLst>
                            <p:childTnLst>
                              <p:set>
                                <p:cBhvr>
                                  <p:cTn id="5" dur="1" fill="hold">
                                    <p:stCondLst>
                                      <p:cond delay="0"/>
                                    </p:stCondLst>
                                  </p:cTn>
                                  <p:tgtEl>
                                    <p:spTgt spid="12"/>
                                  </p:tgtEl>
                                  <p:attrNameLst>
                                    <p:attrName>style.visibility</p:attrName>
                                  </p:attrNameLst>
                                </p:cBhvr>
                                <p:to>
                                  <p:strVal val="visible"/>
                                </p:to>
                              </p:set>
                              <p:animEffect transition="in" filter="wipe(left)">
                                <p:cBhvr>
                                  <p:cTn id="6" dur="860"/>
                                  <p:tgtEl>
                                    <p:spTgt spid="12"/>
                                  </p:tgtEl>
                                </p:cBhvr>
                              </p:animEffect>
                            </p:childTnLst>
                          </p:cTn>
                        </p:par>
                        <p:par>
                          <p:cTn id="7" presetID="10" presetClass="entr" presetSubtype="0" fill="hold" grpId="0" nodeType="withEffect">
                            <p:stCondLst>
                              <p:cond delay="350"/>
                            </p:stCondLst>
                            <p:childTnLst>
                              <p:set>
                                <p:cBhvr>
                                  <p:cTn id="8" dur="1" fill="hold">
                                    <p:stCondLst>
                                      <p:cond delay="0"/>
                                    </p:stCondLst>
                                  </p:cTn>
                                  <p:tgtEl>
                                    <p:spTgt spid="13"/>
                                  </p:tgtEl>
                                  <p:attrNameLst>
                                    <p:attrName>style.visibility</p:attrName>
                                  </p:attrNameLst>
                                </p:cBhvr>
                                <p:to>
                                  <p:strVal val="visible"/>
                                </p:to>
                              </p:set>
                              <p:animEffect transition="in" filter="wipe(left)">
                                <p:cBhvr>
                                  <p:cTn id="9" dur="860"/>
                                  <p:tgtEl>
                                    <p:spTgt spid="13"/>
                                  </p:tgtEl>
                                </p:cBhvr>
                              </p:animEffect>
                            </p:childTnLst>
                          </p:cTn>
                        </p:par>
                        <p:par>
                          <p:cTn id="10" presetID="10" presetClass="entr" presetSubtype="0" fill="hold" grpId="0" nodeType="withEffect">
                            <p:stCondLst>
                              <p:cond delay="520"/>
                            </p:stCondLst>
                            <p:childTnLst>
                              <p:set>
                                <p:cBhvr>
                                  <p:cTn id="11" dur="1" fill="hold">
                                    <p:stCondLst>
                                      <p:cond delay="0"/>
                                    </p:stCondLst>
                                  </p:cTn>
                                  <p:tgtEl>
                                    <p:spTgt spid="14"/>
                                  </p:tgtEl>
                                  <p:attrNameLst>
                                    <p:attrName>style.visibility</p:attrName>
                                  </p:attrNameLst>
                                </p:cBhvr>
                                <p:to>
                                  <p:strVal val="visible"/>
                                </p:to>
                              </p:set>
                              <p:animEffect transition="in" filter="wipe(left)">
                                <p:cBhvr>
                                  <p:cTn id="12" dur="860"/>
                                  <p:tgtEl>
                                    <p:spTgt spid="14"/>
                                  </p:tgtEl>
                                </p:cBhvr>
                              </p:animEffect>
                            </p:childTnLst>
                          </p:cTn>
                        </p:par>
                      </p:childTnLst>
                    </p:cTn>
                  </p:par>
                </p:childTnLst>
              </p:cTn>
            </p:seq>
          </p:childTnLst>
        </p:cTn>
      </p:par>
    </p:tnLst>
    <p:bldLst>
      <p:bldP spid="12" grpId="0"/>
      <p:bldP spid="13" grpId="0"/>
      <p:bldP spid="14"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10800000">
            <a:off x="17259300" y="-233820"/>
            <a:ext cx="1940843" cy="970417"/>
            <a:chOff x="0" y="0"/>
            <a:chExt cx="2587790" cy="1293889"/>
          </a:xfrm>
        </p:grpSpPr>
        <p:sp>
          <p:nvSpPr>
            <p:cNvPr id="3" name="Freeform 3"/>
            <p:cNvSpPr/>
            <p:nvPr/>
          </p:nvSpPr>
          <p:spPr>
            <a:xfrm>
              <a:off x="0" y="0"/>
              <a:ext cx="2587752" cy="1293876"/>
            </a:xfrm>
            <a:custGeom>
              <a:avLst/>
              <a:gdLst/>
              <a:ahLst/>
              <a:cxnLst/>
              <a:rect l="l" t="t" r="r" b="b"/>
              <a:pathLst>
                <a:path w="2587752" h="1293876">
                  <a:moveTo>
                    <a:pt x="0" y="0"/>
                  </a:moveTo>
                  <a:lnTo>
                    <a:pt x="2587752" y="0"/>
                  </a:lnTo>
                  <a:lnTo>
                    <a:pt x="2587752" y="1293876"/>
                  </a:lnTo>
                  <a:lnTo>
                    <a:pt x="0" y="1293876"/>
                  </a:lnTo>
                  <a:lnTo>
                    <a:pt x="0" y="0"/>
                  </a:lnTo>
                  <a:close/>
                </a:path>
              </a:pathLst>
            </a:custGeom>
            <a:blipFill>
              <a:blip r:embed="rId2"/>
              <a:stretch>
                <a:fillRect r="-1"/>
              </a:stretch>
            </a:blipFill>
          </p:spPr>
          <p:txBody>
            <a:bodyPr/>
            <a:lstStyle/>
            <a:p>
              <a:endParaRPr lang="en-VN"/>
            </a:p>
          </p:txBody>
        </p:sp>
      </p:grpSp>
      <p:grpSp>
        <p:nvGrpSpPr>
          <p:cNvPr id="4" name="Group 4"/>
          <p:cNvGrpSpPr/>
          <p:nvPr/>
        </p:nvGrpSpPr>
        <p:grpSpPr>
          <a:xfrm>
            <a:off x="-912143" y="9429369"/>
            <a:ext cx="1940843" cy="970417"/>
            <a:chOff x="0" y="0"/>
            <a:chExt cx="2587790" cy="1293889"/>
          </a:xfrm>
        </p:grpSpPr>
        <p:sp>
          <p:nvSpPr>
            <p:cNvPr id="5" name="Freeform 5"/>
            <p:cNvSpPr/>
            <p:nvPr/>
          </p:nvSpPr>
          <p:spPr>
            <a:xfrm>
              <a:off x="0" y="0"/>
              <a:ext cx="2587752" cy="1293876"/>
            </a:xfrm>
            <a:custGeom>
              <a:avLst/>
              <a:gdLst/>
              <a:ahLst/>
              <a:cxnLst/>
              <a:rect l="l" t="t" r="r" b="b"/>
              <a:pathLst>
                <a:path w="2587752" h="1293876">
                  <a:moveTo>
                    <a:pt x="0" y="0"/>
                  </a:moveTo>
                  <a:lnTo>
                    <a:pt x="2587752" y="0"/>
                  </a:lnTo>
                  <a:lnTo>
                    <a:pt x="2587752" y="1293876"/>
                  </a:lnTo>
                  <a:lnTo>
                    <a:pt x="0" y="1293876"/>
                  </a:lnTo>
                  <a:lnTo>
                    <a:pt x="0" y="0"/>
                  </a:lnTo>
                  <a:close/>
                </a:path>
              </a:pathLst>
            </a:custGeom>
            <a:blipFill>
              <a:blip r:embed="rId2"/>
              <a:stretch>
                <a:fillRect r="-1"/>
              </a:stretch>
            </a:blipFill>
          </p:spPr>
          <p:txBody>
            <a:bodyPr/>
            <a:lstStyle/>
            <a:p>
              <a:endParaRPr lang="en-VN"/>
            </a:p>
          </p:txBody>
        </p:sp>
      </p:grpSp>
      <p:grpSp>
        <p:nvGrpSpPr>
          <p:cNvPr id="6" name="Group 6"/>
          <p:cNvGrpSpPr/>
          <p:nvPr/>
        </p:nvGrpSpPr>
        <p:grpSpPr>
          <a:xfrm>
            <a:off x="-3127839" y="9986436"/>
            <a:ext cx="22035035" cy="2837612"/>
            <a:chOff x="0" y="0"/>
            <a:chExt cx="5803466" cy="747355"/>
          </a:xfrm>
        </p:grpSpPr>
        <p:sp>
          <p:nvSpPr>
            <p:cNvPr id="7" name="Freeform 7"/>
            <p:cNvSpPr/>
            <p:nvPr/>
          </p:nvSpPr>
          <p:spPr>
            <a:xfrm>
              <a:off x="0" y="0"/>
              <a:ext cx="5803466" cy="747355"/>
            </a:xfrm>
            <a:custGeom>
              <a:avLst/>
              <a:gdLst/>
              <a:ahLst/>
              <a:cxnLst/>
              <a:rect l="l" t="t" r="r" b="b"/>
              <a:pathLst>
                <a:path w="5803466" h="747355">
                  <a:moveTo>
                    <a:pt x="0" y="0"/>
                  </a:moveTo>
                  <a:lnTo>
                    <a:pt x="5803466" y="0"/>
                  </a:lnTo>
                  <a:lnTo>
                    <a:pt x="5803466" y="747355"/>
                  </a:lnTo>
                  <a:lnTo>
                    <a:pt x="0" y="747355"/>
                  </a:lnTo>
                  <a:close/>
                </a:path>
              </a:pathLst>
            </a:custGeom>
            <a:solidFill>
              <a:srgbClr val="3C4F75"/>
            </a:solidFill>
          </p:spPr>
          <p:txBody>
            <a:bodyPr/>
            <a:lstStyle/>
            <a:p>
              <a:endParaRPr lang="en-VN"/>
            </a:p>
          </p:txBody>
        </p:sp>
        <p:sp>
          <p:nvSpPr>
            <p:cNvPr id="8" name="TextBox 8"/>
            <p:cNvSpPr txBox="1"/>
            <p:nvPr/>
          </p:nvSpPr>
          <p:spPr>
            <a:xfrm>
              <a:off x="0" y="-47625"/>
              <a:ext cx="5803466" cy="794980"/>
            </a:xfrm>
            <a:prstGeom prst="rect">
              <a:avLst/>
            </a:prstGeom>
          </p:spPr>
          <p:txBody>
            <a:bodyPr lIns="50800" tIns="50800" rIns="50800" bIns="50800" rtlCol="0" anchor="ctr"/>
            <a:lstStyle/>
            <a:p>
              <a:pPr algn="ctr">
                <a:lnSpc>
                  <a:spcPts val="2940"/>
                </a:lnSpc>
              </a:pPr>
              <a:endParaRPr/>
            </a:p>
          </p:txBody>
        </p:sp>
      </p:grpSp>
      <p:sp>
        <p:nvSpPr>
          <p:cNvPr id="9" name="Freeform 9"/>
          <p:cNvSpPr/>
          <p:nvPr/>
        </p:nvSpPr>
        <p:spPr>
          <a:xfrm>
            <a:off x="1028700" y="251389"/>
            <a:ext cx="551704" cy="584433"/>
          </a:xfrm>
          <a:custGeom>
            <a:avLst/>
            <a:gdLst/>
            <a:ahLst/>
            <a:cxnLst/>
            <a:rect l="l" t="t" r="r" b="b"/>
            <a:pathLst>
              <a:path w="551704" h="584433">
                <a:moveTo>
                  <a:pt x="0" y="0"/>
                </a:moveTo>
                <a:lnTo>
                  <a:pt x="551704" y="0"/>
                </a:lnTo>
                <a:lnTo>
                  <a:pt x="551704" y="584432"/>
                </a:lnTo>
                <a:lnTo>
                  <a:pt x="0" y="584432"/>
                </a:lnTo>
                <a:lnTo>
                  <a:pt x="0" y="0"/>
                </a:lnTo>
                <a:close/>
              </a:path>
            </a:pathLst>
          </a:custGeom>
          <a:blipFill>
            <a:blip r:embed="rId3"/>
            <a:stretch>
              <a:fillRect/>
            </a:stretch>
          </a:blipFill>
        </p:spPr>
        <p:txBody>
          <a:bodyPr/>
          <a:lstStyle/>
          <a:p>
            <a:endParaRPr lang="en-VN"/>
          </a:p>
        </p:txBody>
      </p:sp>
      <p:sp>
        <p:nvSpPr>
          <p:cNvPr id="10" name="TextBox 10"/>
          <p:cNvSpPr txBox="1"/>
          <p:nvPr/>
        </p:nvSpPr>
        <p:spPr>
          <a:xfrm>
            <a:off x="1028700" y="1095375"/>
            <a:ext cx="13311475" cy="534618"/>
          </a:xfrm>
          <a:prstGeom prst="rect">
            <a:avLst/>
          </a:prstGeom>
        </p:spPr>
        <p:txBody>
          <a:bodyPr lIns="0" tIns="0" rIns="0" bIns="0" rtlCol="0" anchor="t">
            <a:spAutoFit/>
          </a:bodyPr>
          <a:lstStyle/>
          <a:p>
            <a:pPr algn="just">
              <a:lnSpc>
                <a:spcPts val="4039"/>
              </a:lnSpc>
            </a:pPr>
            <a:r>
              <a:rPr lang="en-US" sz="3999" b="1">
                <a:solidFill>
                  <a:srgbClr val="0C1D4B"/>
                </a:solidFill>
                <a:latin typeface="Roboto Slab Bold"/>
                <a:ea typeface="Roboto Slab Bold"/>
                <a:cs typeface="Roboto Slab Bold"/>
                <a:sym typeface="Roboto Slab Bold"/>
              </a:rPr>
              <a:t>3.5. Xây dựng hệ thống truy vấn pháp luật nội bộ - RAG</a:t>
            </a:r>
          </a:p>
        </p:txBody>
      </p:sp>
      <p:sp>
        <p:nvSpPr>
          <p:cNvPr id="11" name="TextBox 11"/>
          <p:cNvSpPr txBox="1"/>
          <p:nvPr/>
        </p:nvSpPr>
        <p:spPr>
          <a:xfrm>
            <a:off x="1687249" y="346410"/>
            <a:ext cx="3954904" cy="356289"/>
          </a:xfrm>
          <a:prstGeom prst="rect">
            <a:avLst/>
          </a:prstGeom>
        </p:spPr>
        <p:txBody>
          <a:bodyPr lIns="0" tIns="0" rIns="0" bIns="0" rtlCol="0" anchor="t">
            <a:spAutoFit/>
          </a:bodyPr>
          <a:lstStyle/>
          <a:p>
            <a:pPr algn="l">
              <a:lnSpc>
                <a:spcPts val="2940"/>
              </a:lnSpc>
            </a:pPr>
            <a:r>
              <a:rPr lang="en-US" sz="2100" b="1">
                <a:solidFill>
                  <a:srgbClr val="2C2C2C"/>
                </a:solidFill>
                <a:latin typeface="Roboto Slab Bold"/>
                <a:ea typeface="Roboto Slab Bold"/>
                <a:cs typeface="Roboto Slab Bold"/>
                <a:sym typeface="Roboto Slab Bold"/>
              </a:rPr>
              <a:t>HỌC VIỆN KỸ THUẬT MẬT MÃ</a:t>
            </a:r>
          </a:p>
        </p:txBody>
      </p:sp>
      <p:sp>
        <p:nvSpPr>
          <p:cNvPr id="12" name="TextBox 12"/>
          <p:cNvSpPr txBox="1"/>
          <p:nvPr/>
        </p:nvSpPr>
        <p:spPr>
          <a:xfrm>
            <a:off x="1028700" y="1725243"/>
            <a:ext cx="10081822" cy="685800"/>
          </a:xfrm>
          <a:prstGeom prst="rect">
            <a:avLst/>
          </a:prstGeom>
        </p:spPr>
        <p:txBody>
          <a:bodyPr lIns="0" tIns="0" rIns="0" bIns="0" rtlCol="0" anchor="t">
            <a:spAutoFit/>
          </a:bodyPr>
          <a:lstStyle/>
          <a:p>
            <a:pPr algn="just">
              <a:lnSpc>
                <a:spcPts val="6000"/>
              </a:lnSpc>
            </a:pPr>
            <a:r>
              <a:rPr lang="en-US" sz="3000" b="1">
                <a:solidFill>
                  <a:srgbClr val="0C1D4B"/>
                </a:solidFill>
                <a:latin typeface="Roboto Slab Bold"/>
                <a:ea typeface="Roboto Slab Bold"/>
                <a:cs typeface="Roboto Slab Bold"/>
                <a:sym typeface="Roboto Slab Bold"/>
              </a:rPr>
              <a:t>Xây dựng dữ liệu pháp luật</a:t>
            </a:r>
          </a:p>
        </p:txBody>
      </p:sp>
      <p:sp>
        <p:nvSpPr>
          <p:cNvPr id="13" name="TextBox 13"/>
          <p:cNvSpPr txBox="1"/>
          <p:nvPr/>
        </p:nvSpPr>
        <p:spPr>
          <a:xfrm>
            <a:off x="1028700" y="2496768"/>
            <a:ext cx="16230600" cy="2829685"/>
          </a:xfrm>
          <a:prstGeom prst="rect">
            <a:avLst/>
          </a:prstGeom>
        </p:spPr>
        <p:txBody>
          <a:bodyPr lIns="0" tIns="0" rIns="0" bIns="0" rtlCol="0" anchor="t">
            <a:spAutoFit/>
          </a:bodyPr>
          <a:lstStyle/>
          <a:p>
            <a:pPr marL="604519" lvl="1" indent="-302260" algn="l">
              <a:lnSpc>
                <a:spcPts val="4479"/>
              </a:lnSpc>
              <a:buFont typeface="Arial"/>
              <a:buChar char="•"/>
            </a:pPr>
            <a:r>
              <a:rPr lang="en-US" sz="2799" dirty="0" err="1">
                <a:solidFill>
                  <a:srgbClr val="0C1D4B"/>
                </a:solidFill>
                <a:latin typeface="Roboto Slab"/>
                <a:ea typeface="Roboto Slab"/>
                <a:cs typeface="Roboto Slab"/>
                <a:sym typeface="Roboto Slab"/>
              </a:rPr>
              <a:t>Dữ</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liệu</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pháp</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luật</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được</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chuẩn</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hóa</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theo</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đơn</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vị</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điều</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luật</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thay</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vì</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lưu</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toàn</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bộ</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văn</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bản</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thành</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một</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khối</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lớn</a:t>
            </a:r>
            <a:endParaRPr lang="en-US" sz="2799" dirty="0">
              <a:solidFill>
                <a:srgbClr val="0C1D4B"/>
              </a:solidFill>
              <a:latin typeface="Roboto Slab"/>
              <a:ea typeface="Roboto Slab"/>
              <a:cs typeface="Roboto Slab"/>
              <a:sym typeface="Roboto Slab"/>
            </a:endParaRPr>
          </a:p>
          <a:p>
            <a:pPr marL="604519" lvl="1" indent="-302260" algn="l">
              <a:lnSpc>
                <a:spcPts val="4479"/>
              </a:lnSpc>
              <a:buFont typeface="Arial"/>
              <a:buChar char="•"/>
            </a:pPr>
            <a:r>
              <a:rPr lang="en-US" sz="2799" dirty="0" err="1">
                <a:solidFill>
                  <a:srgbClr val="0C1D4B"/>
                </a:solidFill>
                <a:latin typeface="Roboto Slab"/>
                <a:ea typeface="Roboto Slab"/>
                <a:cs typeface="Roboto Slab"/>
                <a:sym typeface="Roboto Slab"/>
              </a:rPr>
              <a:t>Việc</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chuẩn</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hoá</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này</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rất</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quan</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trọng</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vì</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văn</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bản</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pháp</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luật</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có</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cấu</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trúc</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đặc</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thù</a:t>
            </a:r>
            <a:endParaRPr lang="en-US" sz="2799" dirty="0">
              <a:solidFill>
                <a:srgbClr val="0C1D4B"/>
              </a:solidFill>
              <a:latin typeface="Roboto Slab"/>
              <a:ea typeface="Roboto Slab"/>
              <a:cs typeface="Roboto Slab"/>
              <a:sym typeface="Roboto Slab"/>
            </a:endParaRPr>
          </a:p>
          <a:p>
            <a:pPr marL="604519" lvl="1" indent="-302260" algn="l">
              <a:lnSpc>
                <a:spcPts val="4479"/>
              </a:lnSpc>
              <a:buFont typeface="Arial"/>
              <a:buChar char="•"/>
            </a:pPr>
            <a:r>
              <a:rPr lang="en-US" sz="2799" dirty="0" err="1">
                <a:solidFill>
                  <a:srgbClr val="0C1D4B"/>
                </a:solidFill>
                <a:latin typeface="Roboto Slab"/>
                <a:ea typeface="Roboto Slab"/>
                <a:cs typeface="Roboto Slab"/>
                <a:sym typeface="Roboto Slab"/>
              </a:rPr>
              <a:t>Mỗi</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điều</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luật</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gồm</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các</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thông</a:t>
            </a:r>
            <a:r>
              <a:rPr lang="en-US" sz="2799" dirty="0">
                <a:solidFill>
                  <a:srgbClr val="0C1D4B"/>
                </a:solidFill>
                <a:latin typeface="Roboto Slab"/>
                <a:ea typeface="Roboto Slab"/>
                <a:cs typeface="Roboto Slab"/>
                <a:sym typeface="Roboto Slab"/>
              </a:rPr>
              <a:t> tin </a:t>
            </a:r>
            <a:r>
              <a:rPr lang="en-US" sz="2799" dirty="0" err="1">
                <a:solidFill>
                  <a:srgbClr val="0C1D4B"/>
                </a:solidFill>
                <a:latin typeface="Roboto Slab"/>
                <a:ea typeface="Roboto Slab"/>
                <a:cs typeface="Roboto Slab"/>
                <a:sym typeface="Roboto Slab"/>
              </a:rPr>
              <a:t>chính</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law_id</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article_id</a:t>
            </a:r>
            <a:r>
              <a:rPr lang="en-US" sz="2799" dirty="0">
                <a:solidFill>
                  <a:srgbClr val="0C1D4B"/>
                </a:solidFill>
                <a:latin typeface="Roboto Slab"/>
                <a:ea typeface="Roboto Slab"/>
                <a:cs typeface="Roboto Slab"/>
                <a:sym typeface="Roboto Slab"/>
              </a:rPr>
              <a:t>, title, text, year, topics, keywords, summary</a:t>
            </a:r>
          </a:p>
        </p:txBody>
      </p:sp>
      <p:grpSp>
        <p:nvGrpSpPr>
          <p:cNvPr id="14" name="Group 14"/>
          <p:cNvGrpSpPr/>
          <p:nvPr/>
        </p:nvGrpSpPr>
        <p:grpSpPr>
          <a:xfrm>
            <a:off x="1028671" y="5205189"/>
            <a:ext cx="16769608" cy="4467298"/>
            <a:chOff x="0" y="0"/>
            <a:chExt cx="22359478" cy="5956398"/>
          </a:xfrm>
        </p:grpSpPr>
        <p:grpSp>
          <p:nvGrpSpPr>
            <p:cNvPr id="15" name="Group 15"/>
            <p:cNvGrpSpPr/>
            <p:nvPr/>
          </p:nvGrpSpPr>
          <p:grpSpPr>
            <a:xfrm>
              <a:off x="0" y="2233656"/>
              <a:ext cx="4333698" cy="2530487"/>
              <a:chOff x="0" y="0"/>
              <a:chExt cx="856039" cy="499849"/>
            </a:xfrm>
          </p:grpSpPr>
          <p:sp>
            <p:nvSpPr>
              <p:cNvPr id="16" name="Freeform 16"/>
              <p:cNvSpPr/>
              <p:nvPr/>
            </p:nvSpPr>
            <p:spPr>
              <a:xfrm>
                <a:off x="0" y="0"/>
                <a:ext cx="856039" cy="499849"/>
              </a:xfrm>
              <a:custGeom>
                <a:avLst/>
                <a:gdLst/>
                <a:ahLst/>
                <a:cxnLst/>
                <a:rect l="l" t="t" r="r" b="b"/>
                <a:pathLst>
                  <a:path w="856039" h="499849">
                    <a:moveTo>
                      <a:pt x="66694" y="0"/>
                    </a:moveTo>
                    <a:lnTo>
                      <a:pt x="789345" y="0"/>
                    </a:lnTo>
                    <a:cubicBezTo>
                      <a:pt x="826179" y="0"/>
                      <a:pt x="856039" y="29860"/>
                      <a:pt x="856039" y="66694"/>
                    </a:cubicBezTo>
                    <a:lnTo>
                      <a:pt x="856039" y="433155"/>
                    </a:lnTo>
                    <a:cubicBezTo>
                      <a:pt x="856039" y="469989"/>
                      <a:pt x="826179" y="499849"/>
                      <a:pt x="789345" y="499849"/>
                    </a:cubicBezTo>
                    <a:lnTo>
                      <a:pt x="66694" y="499849"/>
                    </a:lnTo>
                    <a:cubicBezTo>
                      <a:pt x="29860" y="499849"/>
                      <a:pt x="0" y="469989"/>
                      <a:pt x="0" y="433155"/>
                    </a:cubicBezTo>
                    <a:lnTo>
                      <a:pt x="0" y="66694"/>
                    </a:lnTo>
                    <a:cubicBezTo>
                      <a:pt x="0" y="29860"/>
                      <a:pt x="29860" y="0"/>
                      <a:pt x="66694" y="0"/>
                    </a:cubicBezTo>
                    <a:close/>
                  </a:path>
                </a:pathLst>
              </a:custGeom>
              <a:ln w="19050" cap="rnd">
                <a:solidFill>
                  <a:srgbClr val="000000"/>
                </a:solidFill>
                <a:prstDash val="solid"/>
                <a:round/>
              </a:ln>
            </p:spPr>
            <p:txBody>
              <a:bodyPr/>
              <a:lstStyle/>
              <a:p>
                <a:endParaRPr lang="en-VN"/>
              </a:p>
            </p:txBody>
          </p:sp>
          <p:sp>
            <p:nvSpPr>
              <p:cNvPr id="17" name="TextBox 17"/>
              <p:cNvSpPr txBox="1"/>
              <p:nvPr/>
            </p:nvSpPr>
            <p:spPr>
              <a:xfrm>
                <a:off x="0" y="-19050"/>
                <a:ext cx="856039" cy="518899"/>
              </a:xfrm>
              <a:prstGeom prst="rect">
                <a:avLst/>
              </a:prstGeom>
            </p:spPr>
            <p:txBody>
              <a:bodyPr lIns="50800" tIns="50800" rIns="50800" bIns="50800" rtlCol="0" anchor="ctr"/>
              <a:lstStyle/>
              <a:p>
                <a:pPr algn="l">
                  <a:lnSpc>
                    <a:spcPts val="1679"/>
                  </a:lnSpc>
                </a:pPr>
                <a:r>
                  <a:rPr lang="en-US" sz="1200" spc="28">
                    <a:solidFill>
                      <a:srgbClr val="0C1D4B"/>
                    </a:solidFill>
                    <a:latin typeface="IBM Plex Mono"/>
                    <a:ea typeface="IBM Plex Mono"/>
                    <a:cs typeface="IBM Plex Mono"/>
                    <a:sym typeface="IBM Plex Mono"/>
                  </a:rPr>
                  <a:t>{</a:t>
                </a:r>
              </a:p>
              <a:p>
                <a:pPr algn="l">
                  <a:lnSpc>
                    <a:spcPts val="1679"/>
                  </a:lnSpc>
                </a:pPr>
                <a:r>
                  <a:rPr lang="en-US" sz="1200" spc="28">
                    <a:solidFill>
                      <a:srgbClr val="0C1D4B"/>
                    </a:solidFill>
                    <a:latin typeface="IBM Plex Mono"/>
                    <a:ea typeface="IBM Plex Mono"/>
                    <a:cs typeface="IBM Plex Mono"/>
                    <a:sym typeface="IBM Plex Mono"/>
                  </a:rPr>
                  <a:t> "law_id": "100/2015/QH13",</a:t>
                </a:r>
              </a:p>
              <a:p>
                <a:pPr algn="l">
                  <a:lnSpc>
                    <a:spcPts val="1679"/>
                  </a:lnSpc>
                </a:pPr>
                <a:r>
                  <a:rPr lang="en-US" sz="1200" spc="28">
                    <a:solidFill>
                      <a:srgbClr val="0C1D4B"/>
                    </a:solidFill>
                    <a:latin typeface="IBM Plex Mono"/>
                    <a:ea typeface="IBM Plex Mono"/>
                    <a:cs typeface="IBM Plex Mono"/>
                    <a:sym typeface="IBM Plex Mono"/>
                  </a:rPr>
                  <a:t> "article": "Điều 173. Tội trộm cắp tài sản",</a:t>
                </a:r>
              </a:p>
              <a:p>
                <a:pPr algn="l">
                  <a:lnSpc>
                    <a:spcPts val="1679"/>
                  </a:lnSpc>
                </a:pPr>
                <a:r>
                  <a:rPr lang="en-US" sz="1200" spc="28">
                    <a:solidFill>
                      <a:srgbClr val="0C1D4B"/>
                    </a:solidFill>
                    <a:latin typeface="IBM Plex Mono"/>
                    <a:ea typeface="IBM Plex Mono"/>
                    <a:cs typeface="IBM Plex Mono"/>
                    <a:sym typeface="IBM Plex Mono"/>
                  </a:rPr>
                  <a:t> "content": "Người nào trộm cắp tài sản của người khác..."</a:t>
                </a:r>
              </a:p>
              <a:p>
                <a:pPr algn="l">
                  <a:lnSpc>
                    <a:spcPts val="1679"/>
                  </a:lnSpc>
                </a:pPr>
                <a:r>
                  <a:rPr lang="en-US" sz="1200" spc="28">
                    <a:solidFill>
                      <a:srgbClr val="0C1D4B"/>
                    </a:solidFill>
                    <a:latin typeface="IBM Plex Mono"/>
                    <a:ea typeface="IBM Plex Mono"/>
                    <a:cs typeface="IBM Plex Mono"/>
                    <a:sym typeface="IBM Plex Mono"/>
                  </a:rPr>
                  <a:t>}</a:t>
                </a:r>
              </a:p>
            </p:txBody>
          </p:sp>
        </p:grpSp>
        <p:grpSp>
          <p:nvGrpSpPr>
            <p:cNvPr id="18" name="Group 18"/>
            <p:cNvGrpSpPr/>
            <p:nvPr/>
          </p:nvGrpSpPr>
          <p:grpSpPr>
            <a:xfrm>
              <a:off x="10504313" y="1041400"/>
              <a:ext cx="4596946" cy="4914998"/>
              <a:chOff x="0" y="0"/>
              <a:chExt cx="908039" cy="970864"/>
            </a:xfrm>
          </p:grpSpPr>
          <p:sp>
            <p:nvSpPr>
              <p:cNvPr id="19" name="Freeform 19"/>
              <p:cNvSpPr/>
              <p:nvPr/>
            </p:nvSpPr>
            <p:spPr>
              <a:xfrm>
                <a:off x="0" y="0"/>
                <a:ext cx="908039" cy="970864"/>
              </a:xfrm>
              <a:custGeom>
                <a:avLst/>
                <a:gdLst/>
                <a:ahLst/>
                <a:cxnLst/>
                <a:rect l="l" t="t" r="r" b="b"/>
                <a:pathLst>
                  <a:path w="908039" h="970864">
                    <a:moveTo>
                      <a:pt x="62875" y="0"/>
                    </a:moveTo>
                    <a:lnTo>
                      <a:pt x="845164" y="0"/>
                    </a:lnTo>
                    <a:cubicBezTo>
                      <a:pt x="879889" y="0"/>
                      <a:pt x="908039" y="28150"/>
                      <a:pt x="908039" y="62875"/>
                    </a:cubicBezTo>
                    <a:lnTo>
                      <a:pt x="908039" y="907989"/>
                    </a:lnTo>
                    <a:cubicBezTo>
                      <a:pt x="908039" y="942714"/>
                      <a:pt x="879889" y="970864"/>
                      <a:pt x="845164" y="970864"/>
                    </a:cubicBezTo>
                    <a:lnTo>
                      <a:pt x="62875" y="970864"/>
                    </a:lnTo>
                    <a:cubicBezTo>
                      <a:pt x="28150" y="970864"/>
                      <a:pt x="0" y="942714"/>
                      <a:pt x="0" y="907989"/>
                    </a:cubicBezTo>
                    <a:lnTo>
                      <a:pt x="0" y="62875"/>
                    </a:lnTo>
                    <a:cubicBezTo>
                      <a:pt x="0" y="28150"/>
                      <a:pt x="28150" y="0"/>
                      <a:pt x="62875" y="0"/>
                    </a:cubicBezTo>
                    <a:close/>
                  </a:path>
                </a:pathLst>
              </a:custGeom>
              <a:ln w="19050" cap="rnd">
                <a:solidFill>
                  <a:srgbClr val="000000"/>
                </a:solidFill>
                <a:prstDash val="solid"/>
                <a:round/>
              </a:ln>
            </p:spPr>
            <p:txBody>
              <a:bodyPr/>
              <a:lstStyle/>
              <a:p>
                <a:endParaRPr lang="en-VN"/>
              </a:p>
            </p:txBody>
          </p:sp>
          <p:sp>
            <p:nvSpPr>
              <p:cNvPr id="20" name="TextBox 20"/>
              <p:cNvSpPr txBox="1"/>
              <p:nvPr/>
            </p:nvSpPr>
            <p:spPr>
              <a:xfrm>
                <a:off x="0" y="-19050"/>
                <a:ext cx="908039" cy="989914"/>
              </a:xfrm>
              <a:prstGeom prst="rect">
                <a:avLst/>
              </a:prstGeom>
            </p:spPr>
            <p:txBody>
              <a:bodyPr lIns="50800" tIns="50800" rIns="50800" bIns="50800" rtlCol="0" anchor="ctr"/>
              <a:lstStyle/>
              <a:p>
                <a:pPr algn="l">
                  <a:lnSpc>
                    <a:spcPts val="1679"/>
                  </a:lnSpc>
                </a:pPr>
                <a:r>
                  <a:rPr lang="en-US" sz="1200" spc="28">
                    <a:solidFill>
                      <a:srgbClr val="0C1D4B"/>
                    </a:solidFill>
                    <a:latin typeface="IBM Plex Mono"/>
                    <a:ea typeface="IBM Plex Mono"/>
                    <a:cs typeface="IBM Plex Mono"/>
                    <a:sym typeface="IBM Plex Mono"/>
                  </a:rPr>
                  <a:t>{</a:t>
                </a:r>
              </a:p>
              <a:p>
                <a:pPr algn="l">
                  <a:lnSpc>
                    <a:spcPts val="1679"/>
                  </a:lnSpc>
                </a:pPr>
                <a:r>
                  <a:rPr lang="en-US" sz="1200" spc="28">
                    <a:solidFill>
                      <a:srgbClr val="0C1D4B"/>
                    </a:solidFill>
                    <a:latin typeface="IBM Plex Mono"/>
                    <a:ea typeface="IBM Plex Mono"/>
                    <a:cs typeface="IBM Plex Mono"/>
                    <a:sym typeface="IBM Plex Mono"/>
                  </a:rPr>
                  <a:t> "law_id": "100/2015/QH13",</a:t>
                </a:r>
              </a:p>
              <a:p>
                <a:pPr algn="l">
                  <a:lnSpc>
                    <a:spcPts val="1679"/>
                  </a:lnSpc>
                </a:pPr>
                <a:r>
                  <a:rPr lang="en-US" sz="1200" spc="28">
                    <a:solidFill>
                      <a:srgbClr val="0C1D4B"/>
                    </a:solidFill>
                    <a:latin typeface="IBM Plex Mono"/>
                    <a:ea typeface="IBM Plex Mono"/>
                    <a:cs typeface="IBM Plex Mono"/>
                    <a:sym typeface="IBM Plex Mono"/>
                  </a:rPr>
                  <a:t> "article_id": "173",</a:t>
                </a:r>
              </a:p>
              <a:p>
                <a:pPr algn="l">
                  <a:lnSpc>
                    <a:spcPts val="1679"/>
                  </a:lnSpc>
                </a:pPr>
                <a:r>
                  <a:rPr lang="en-US" sz="1200" spc="28">
                    <a:solidFill>
                      <a:srgbClr val="0C1D4B"/>
                    </a:solidFill>
                    <a:latin typeface="IBM Plex Mono"/>
                    <a:ea typeface="IBM Plex Mono"/>
                    <a:cs typeface="IBM Plex Mono"/>
                    <a:sym typeface="IBM Plex Mono"/>
                  </a:rPr>
                  <a:t> "title": "Điều 173. Tội trộm cắp tài sản",</a:t>
                </a:r>
              </a:p>
              <a:p>
                <a:pPr algn="l">
                  <a:lnSpc>
                    <a:spcPts val="1679"/>
                  </a:lnSpc>
                </a:pPr>
                <a:r>
                  <a:rPr lang="en-US" sz="1200" spc="28">
                    <a:solidFill>
                      <a:srgbClr val="0C1D4B"/>
                    </a:solidFill>
                    <a:latin typeface="IBM Plex Mono"/>
                    <a:ea typeface="IBM Plex Mono"/>
                    <a:cs typeface="IBM Plex Mono"/>
                    <a:sym typeface="IBM Plex Mono"/>
                  </a:rPr>
                  <a:t> "text": "Người nào trộm cắp tài sản của người khác...",</a:t>
                </a:r>
              </a:p>
              <a:p>
                <a:pPr algn="l">
                  <a:lnSpc>
                    <a:spcPts val="1679"/>
                  </a:lnSpc>
                </a:pPr>
                <a:r>
                  <a:rPr lang="en-US" sz="1200" spc="28">
                    <a:solidFill>
                      <a:srgbClr val="0C1D4B"/>
                    </a:solidFill>
                    <a:latin typeface="IBM Plex Mono"/>
                    <a:ea typeface="IBM Plex Mono"/>
                    <a:cs typeface="IBM Plex Mono"/>
                    <a:sym typeface="IBM Plex Mono"/>
                  </a:rPr>
                  <a:t> "metadata": {</a:t>
                </a:r>
              </a:p>
              <a:p>
                <a:pPr algn="l">
                  <a:lnSpc>
                    <a:spcPts val="1679"/>
                  </a:lnSpc>
                </a:pPr>
                <a:r>
                  <a:rPr lang="en-US" sz="1200" spc="28">
                    <a:solidFill>
                      <a:srgbClr val="0C1D4B"/>
                    </a:solidFill>
                    <a:latin typeface="IBM Plex Mono"/>
                    <a:ea typeface="IBM Plex Mono"/>
                    <a:cs typeface="IBM Plex Mono"/>
                    <a:sym typeface="IBM Plex Mono"/>
                  </a:rPr>
                  <a:t> "year": "2015",</a:t>
                </a:r>
              </a:p>
              <a:p>
                <a:pPr algn="l">
                  <a:lnSpc>
                    <a:spcPts val="1679"/>
                  </a:lnSpc>
                </a:pPr>
                <a:r>
                  <a:rPr lang="en-US" sz="1200" spc="28">
                    <a:solidFill>
                      <a:srgbClr val="0C1D4B"/>
                    </a:solidFill>
                    <a:latin typeface="IBM Plex Mono"/>
                    <a:ea typeface="IBM Plex Mono"/>
                    <a:cs typeface="IBM Plex Mono"/>
                    <a:sym typeface="IBM Plex Mono"/>
                  </a:rPr>
                  <a:t> "topics": ["Hình sự"],</a:t>
                </a:r>
              </a:p>
              <a:p>
                <a:pPr algn="l">
                  <a:lnSpc>
                    <a:spcPts val="1679"/>
                  </a:lnSpc>
                </a:pPr>
                <a:r>
                  <a:rPr lang="en-US" sz="1200" spc="28">
                    <a:solidFill>
                      <a:srgbClr val="0C1D4B"/>
                    </a:solidFill>
                    <a:latin typeface="IBM Plex Mono"/>
                    <a:ea typeface="IBM Plex Mono"/>
                    <a:cs typeface="IBM Plex Mono"/>
                    <a:sym typeface="IBM Plex Mono"/>
                  </a:rPr>
                  <a:t> "keywords": ["trộm cắp tài sản", "khung hình phạt"],</a:t>
                </a:r>
              </a:p>
              <a:p>
                <a:pPr algn="l">
                  <a:lnSpc>
                    <a:spcPts val="1679"/>
                  </a:lnSpc>
                </a:pPr>
                <a:r>
                  <a:rPr lang="en-US" sz="1200" spc="28">
                    <a:solidFill>
                      <a:srgbClr val="0C1D4B"/>
                    </a:solidFill>
                    <a:latin typeface="IBM Plex Mono"/>
                    <a:ea typeface="IBM Plex Mono"/>
                    <a:cs typeface="IBM Plex Mono"/>
                    <a:sym typeface="IBM Plex Mono"/>
                  </a:rPr>
                  <a:t> "summary": "Quy định về tội trộm cắp tài sản."</a:t>
                </a:r>
              </a:p>
              <a:p>
                <a:pPr algn="l">
                  <a:lnSpc>
                    <a:spcPts val="1679"/>
                  </a:lnSpc>
                </a:pPr>
                <a:r>
                  <a:rPr lang="en-US" sz="1200" spc="28">
                    <a:solidFill>
                      <a:srgbClr val="0C1D4B"/>
                    </a:solidFill>
                    <a:latin typeface="IBM Plex Mono"/>
                    <a:ea typeface="IBM Plex Mono"/>
                    <a:cs typeface="IBM Plex Mono"/>
                    <a:sym typeface="IBM Plex Mono"/>
                  </a:rPr>
                  <a:t> }</a:t>
                </a:r>
              </a:p>
              <a:p>
                <a:pPr algn="l">
                  <a:lnSpc>
                    <a:spcPts val="1679"/>
                  </a:lnSpc>
                </a:pPr>
                <a:r>
                  <a:rPr lang="en-US" sz="1200" spc="28">
                    <a:solidFill>
                      <a:srgbClr val="0C1D4B"/>
                    </a:solidFill>
                    <a:latin typeface="IBM Plex Mono"/>
                    <a:ea typeface="IBM Plex Mono"/>
                    <a:cs typeface="IBM Plex Mono"/>
                    <a:sym typeface="IBM Plex Mono"/>
                  </a:rPr>
                  <a:t>}</a:t>
                </a:r>
              </a:p>
            </p:txBody>
          </p:sp>
        </p:grpSp>
        <p:sp>
          <p:nvSpPr>
            <p:cNvPr id="21" name="AutoShape 21"/>
            <p:cNvSpPr/>
            <p:nvPr/>
          </p:nvSpPr>
          <p:spPr>
            <a:xfrm flipV="1">
              <a:off x="4333698" y="3498899"/>
              <a:ext cx="1212404" cy="0"/>
            </a:xfrm>
            <a:prstGeom prst="line">
              <a:avLst/>
            </a:prstGeom>
            <a:ln w="50800" cap="flat">
              <a:solidFill>
                <a:srgbClr val="0C0C6B"/>
              </a:solidFill>
              <a:prstDash val="solid"/>
              <a:headEnd type="none" w="sm" len="sm"/>
              <a:tailEnd type="arrow" w="med" len="sm"/>
            </a:ln>
          </p:spPr>
          <p:txBody>
            <a:bodyPr/>
            <a:lstStyle/>
            <a:p>
              <a:endParaRPr lang="en-VN"/>
            </a:p>
          </p:txBody>
        </p:sp>
        <p:sp>
          <p:nvSpPr>
            <p:cNvPr id="22" name="Freeform 22"/>
            <p:cNvSpPr/>
            <p:nvPr/>
          </p:nvSpPr>
          <p:spPr>
            <a:xfrm>
              <a:off x="5633212" y="3058777"/>
              <a:ext cx="1500501" cy="1552911"/>
            </a:xfrm>
            <a:custGeom>
              <a:avLst/>
              <a:gdLst/>
              <a:ahLst/>
              <a:cxnLst/>
              <a:rect l="l" t="t" r="r" b="b"/>
              <a:pathLst>
                <a:path w="1500501" h="1552911">
                  <a:moveTo>
                    <a:pt x="0" y="0"/>
                  </a:moveTo>
                  <a:lnTo>
                    <a:pt x="1500500" y="0"/>
                  </a:lnTo>
                  <a:lnTo>
                    <a:pt x="1500500" y="1552911"/>
                  </a:lnTo>
                  <a:lnTo>
                    <a:pt x="0" y="1552911"/>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VN"/>
            </a:p>
          </p:txBody>
        </p:sp>
        <p:sp>
          <p:nvSpPr>
            <p:cNvPr id="23" name="TextBox 23"/>
            <p:cNvSpPr txBox="1"/>
            <p:nvPr/>
          </p:nvSpPr>
          <p:spPr>
            <a:xfrm>
              <a:off x="5546102" y="2328960"/>
              <a:ext cx="1674719" cy="665884"/>
            </a:xfrm>
            <a:prstGeom prst="rect">
              <a:avLst/>
            </a:prstGeom>
          </p:spPr>
          <p:txBody>
            <a:bodyPr lIns="0" tIns="0" rIns="0" bIns="0" rtlCol="0" anchor="t">
              <a:spAutoFit/>
            </a:bodyPr>
            <a:lstStyle/>
            <a:p>
              <a:pPr algn="ctr">
                <a:lnSpc>
                  <a:spcPts val="4232"/>
                </a:lnSpc>
                <a:spcBef>
                  <a:spcPct val="0"/>
                </a:spcBef>
              </a:pPr>
              <a:r>
                <a:rPr lang="en-US" sz="3023" b="1">
                  <a:solidFill>
                    <a:srgbClr val="000000"/>
                  </a:solidFill>
                  <a:latin typeface="Roboto Slab Bold"/>
                  <a:ea typeface="Roboto Slab Bold"/>
                  <a:cs typeface="Roboto Slab Bold"/>
                  <a:sym typeface="Roboto Slab Bold"/>
                </a:rPr>
                <a:t>LLMs</a:t>
              </a:r>
            </a:p>
          </p:txBody>
        </p:sp>
        <p:sp>
          <p:nvSpPr>
            <p:cNvPr id="24" name="AutoShape 24"/>
            <p:cNvSpPr/>
            <p:nvPr/>
          </p:nvSpPr>
          <p:spPr>
            <a:xfrm flipV="1">
              <a:off x="7220822" y="3498899"/>
              <a:ext cx="3283491" cy="0"/>
            </a:xfrm>
            <a:prstGeom prst="line">
              <a:avLst/>
            </a:prstGeom>
            <a:ln w="50800" cap="flat">
              <a:solidFill>
                <a:srgbClr val="0C0C6B"/>
              </a:solidFill>
              <a:prstDash val="solid"/>
              <a:headEnd type="none" w="sm" len="sm"/>
              <a:tailEnd type="arrow" w="med" len="sm"/>
            </a:ln>
          </p:spPr>
          <p:txBody>
            <a:bodyPr/>
            <a:lstStyle/>
            <a:p>
              <a:endParaRPr lang="en-VN"/>
            </a:p>
          </p:txBody>
        </p:sp>
        <p:sp>
          <p:nvSpPr>
            <p:cNvPr id="25" name="TextBox 25"/>
            <p:cNvSpPr txBox="1"/>
            <p:nvPr/>
          </p:nvSpPr>
          <p:spPr>
            <a:xfrm>
              <a:off x="7528093" y="1997097"/>
              <a:ext cx="2671420" cy="1401972"/>
            </a:xfrm>
            <a:prstGeom prst="rect">
              <a:avLst/>
            </a:prstGeom>
          </p:spPr>
          <p:txBody>
            <a:bodyPr lIns="0" tIns="0" rIns="0" bIns="0" rtlCol="0" anchor="t">
              <a:spAutoFit/>
            </a:bodyPr>
            <a:lstStyle/>
            <a:p>
              <a:pPr marL="388620" lvl="1" indent="-194310" algn="l">
                <a:lnSpc>
                  <a:spcPts val="2880"/>
                </a:lnSpc>
                <a:buFont typeface="Arial"/>
                <a:buChar char="•"/>
              </a:pPr>
              <a:r>
                <a:rPr lang="en-US" sz="1800">
                  <a:solidFill>
                    <a:srgbClr val="0C1D4B"/>
                  </a:solidFill>
                  <a:latin typeface="Roboto Slab"/>
                  <a:ea typeface="Roboto Slab"/>
                  <a:cs typeface="Roboto Slab"/>
                  <a:sym typeface="Roboto Slab"/>
                </a:rPr>
                <a:t>Làm sạch dữ liệu</a:t>
              </a:r>
            </a:p>
            <a:p>
              <a:pPr marL="388620" lvl="1" indent="-194310" algn="l">
                <a:lnSpc>
                  <a:spcPts val="2880"/>
                </a:lnSpc>
                <a:buFont typeface="Arial"/>
                <a:buChar char="•"/>
              </a:pPr>
              <a:r>
                <a:rPr lang="en-US" sz="1800">
                  <a:solidFill>
                    <a:srgbClr val="0C1D4B"/>
                  </a:solidFill>
                  <a:latin typeface="Roboto Slab"/>
                  <a:ea typeface="Roboto Slab"/>
                  <a:cs typeface="Roboto Slab"/>
                  <a:sym typeface="Roboto Slab"/>
                </a:rPr>
                <a:t>Gắn metadata</a:t>
              </a:r>
            </a:p>
          </p:txBody>
        </p:sp>
        <p:grpSp>
          <p:nvGrpSpPr>
            <p:cNvPr id="26" name="Group 26"/>
            <p:cNvGrpSpPr/>
            <p:nvPr/>
          </p:nvGrpSpPr>
          <p:grpSpPr>
            <a:xfrm>
              <a:off x="18217589" y="2272183"/>
              <a:ext cx="4141889" cy="928000"/>
              <a:chOff x="0" y="0"/>
              <a:chExt cx="818151" cy="183309"/>
            </a:xfrm>
          </p:grpSpPr>
          <p:sp>
            <p:nvSpPr>
              <p:cNvPr id="27" name="Freeform 27"/>
              <p:cNvSpPr/>
              <p:nvPr/>
            </p:nvSpPr>
            <p:spPr>
              <a:xfrm>
                <a:off x="0" y="0"/>
                <a:ext cx="818151" cy="183309"/>
              </a:xfrm>
              <a:custGeom>
                <a:avLst/>
                <a:gdLst/>
                <a:ahLst/>
                <a:cxnLst/>
                <a:rect l="l" t="t" r="r" b="b"/>
                <a:pathLst>
                  <a:path w="818151" h="183309">
                    <a:moveTo>
                      <a:pt x="69783" y="0"/>
                    </a:moveTo>
                    <a:lnTo>
                      <a:pt x="748368" y="0"/>
                    </a:lnTo>
                    <a:cubicBezTo>
                      <a:pt x="786908" y="0"/>
                      <a:pt x="818151" y="31243"/>
                      <a:pt x="818151" y="69783"/>
                    </a:cubicBezTo>
                    <a:lnTo>
                      <a:pt x="818151" y="113526"/>
                    </a:lnTo>
                    <a:cubicBezTo>
                      <a:pt x="818151" y="132033"/>
                      <a:pt x="810799" y="149783"/>
                      <a:pt x="797712" y="162870"/>
                    </a:cubicBezTo>
                    <a:cubicBezTo>
                      <a:pt x="784625" y="175956"/>
                      <a:pt x="766876" y="183309"/>
                      <a:pt x="748368" y="183309"/>
                    </a:cubicBezTo>
                    <a:lnTo>
                      <a:pt x="69783" y="183309"/>
                    </a:lnTo>
                    <a:cubicBezTo>
                      <a:pt x="51275" y="183309"/>
                      <a:pt x="33526" y="175956"/>
                      <a:pt x="20439" y="162870"/>
                    </a:cubicBezTo>
                    <a:cubicBezTo>
                      <a:pt x="7352" y="149783"/>
                      <a:pt x="0" y="132033"/>
                      <a:pt x="0" y="113526"/>
                    </a:cubicBezTo>
                    <a:lnTo>
                      <a:pt x="0" y="69783"/>
                    </a:lnTo>
                    <a:cubicBezTo>
                      <a:pt x="0" y="51275"/>
                      <a:pt x="7352" y="33526"/>
                      <a:pt x="20439" y="20439"/>
                    </a:cubicBezTo>
                    <a:cubicBezTo>
                      <a:pt x="33526" y="7352"/>
                      <a:pt x="51275" y="0"/>
                      <a:pt x="69783" y="0"/>
                    </a:cubicBezTo>
                    <a:close/>
                  </a:path>
                </a:pathLst>
              </a:custGeom>
              <a:solidFill>
                <a:srgbClr val="0D1D4B"/>
              </a:solidFill>
            </p:spPr>
            <p:txBody>
              <a:bodyPr/>
              <a:lstStyle/>
              <a:p>
                <a:endParaRPr lang="en-VN"/>
              </a:p>
            </p:txBody>
          </p:sp>
          <p:sp>
            <p:nvSpPr>
              <p:cNvPr id="28" name="TextBox 28"/>
              <p:cNvSpPr txBox="1"/>
              <p:nvPr/>
            </p:nvSpPr>
            <p:spPr>
              <a:xfrm>
                <a:off x="0" y="-38100"/>
                <a:ext cx="818151" cy="221409"/>
              </a:xfrm>
              <a:prstGeom prst="rect">
                <a:avLst/>
              </a:prstGeom>
            </p:spPr>
            <p:txBody>
              <a:bodyPr lIns="50800" tIns="50800" rIns="50800" bIns="50800" rtlCol="0" anchor="ctr"/>
              <a:lstStyle/>
              <a:p>
                <a:pPr algn="ctr">
                  <a:lnSpc>
                    <a:spcPts val="2940"/>
                  </a:lnSpc>
                </a:pPr>
                <a:r>
                  <a:rPr lang="en-US" sz="2100" b="1" spc="50">
                    <a:solidFill>
                      <a:srgbClr val="FFFFFF"/>
                    </a:solidFill>
                    <a:latin typeface="Roboto Slab Bold"/>
                    <a:ea typeface="Roboto Slab Bold"/>
                    <a:cs typeface="Roboto Slab Bold"/>
                    <a:sym typeface="Roboto Slab Bold"/>
                  </a:rPr>
                  <a:t>ChromaDB</a:t>
                </a:r>
              </a:p>
            </p:txBody>
          </p:sp>
        </p:grpSp>
        <p:sp>
          <p:nvSpPr>
            <p:cNvPr id="29" name="AutoShape 29"/>
            <p:cNvSpPr/>
            <p:nvPr/>
          </p:nvSpPr>
          <p:spPr>
            <a:xfrm flipV="1">
              <a:off x="15101259" y="2736183"/>
              <a:ext cx="3116330" cy="762716"/>
            </a:xfrm>
            <a:prstGeom prst="line">
              <a:avLst/>
            </a:prstGeom>
            <a:ln w="50800" cap="flat">
              <a:solidFill>
                <a:srgbClr val="0C0C6B"/>
              </a:solidFill>
              <a:prstDash val="solid"/>
              <a:headEnd type="none" w="sm" len="sm"/>
              <a:tailEnd type="arrow" w="med" len="sm"/>
            </a:ln>
          </p:spPr>
          <p:txBody>
            <a:bodyPr/>
            <a:lstStyle/>
            <a:p>
              <a:endParaRPr lang="en-VN"/>
            </a:p>
          </p:txBody>
        </p:sp>
        <p:sp>
          <p:nvSpPr>
            <p:cNvPr id="30" name="TextBox 30"/>
            <p:cNvSpPr txBox="1"/>
            <p:nvPr/>
          </p:nvSpPr>
          <p:spPr>
            <a:xfrm rot="-860574">
              <a:off x="15314276" y="2127951"/>
              <a:ext cx="2671420" cy="919408"/>
            </a:xfrm>
            <a:prstGeom prst="rect">
              <a:avLst/>
            </a:prstGeom>
          </p:spPr>
          <p:txBody>
            <a:bodyPr lIns="0" tIns="0" rIns="0" bIns="0" rtlCol="0" anchor="t">
              <a:spAutoFit/>
            </a:bodyPr>
            <a:lstStyle/>
            <a:p>
              <a:pPr marL="388620" lvl="1" indent="-194310" algn="l">
                <a:lnSpc>
                  <a:spcPts val="2880"/>
                </a:lnSpc>
                <a:buFont typeface="Arial"/>
                <a:buChar char="•"/>
              </a:pPr>
              <a:r>
                <a:rPr lang="en-US" sz="1800">
                  <a:solidFill>
                    <a:srgbClr val="0C1D4B"/>
                  </a:solidFill>
                  <a:latin typeface="Roboto Slab"/>
                  <a:ea typeface="Roboto Slab"/>
                  <a:cs typeface="Roboto Slab"/>
                  <a:sym typeface="Roboto Slab"/>
                </a:rPr>
                <a:t>Chunking </a:t>
              </a:r>
            </a:p>
            <a:p>
              <a:pPr marL="388620" lvl="1" indent="-194310" algn="l">
                <a:lnSpc>
                  <a:spcPts val="2880"/>
                </a:lnSpc>
                <a:buFont typeface="Arial"/>
                <a:buChar char="•"/>
              </a:pPr>
              <a:r>
                <a:rPr lang="en-US" sz="1800">
                  <a:solidFill>
                    <a:srgbClr val="0C1D4B"/>
                  </a:solidFill>
                  <a:latin typeface="Roboto Slab"/>
                  <a:ea typeface="Roboto Slab"/>
                  <a:cs typeface="Roboto Slab"/>
                  <a:sym typeface="Roboto Slab"/>
                </a:rPr>
                <a:t>Vector hoá </a:t>
              </a:r>
            </a:p>
          </p:txBody>
        </p:sp>
        <p:sp>
          <p:nvSpPr>
            <p:cNvPr id="31" name="TextBox 31"/>
            <p:cNvSpPr txBox="1"/>
            <p:nvPr/>
          </p:nvSpPr>
          <p:spPr>
            <a:xfrm>
              <a:off x="1320998" y="1636453"/>
              <a:ext cx="1691701" cy="436844"/>
            </a:xfrm>
            <a:prstGeom prst="rect">
              <a:avLst/>
            </a:prstGeom>
          </p:spPr>
          <p:txBody>
            <a:bodyPr lIns="0" tIns="0" rIns="0" bIns="0" rtlCol="0" anchor="t">
              <a:spAutoFit/>
            </a:bodyPr>
            <a:lstStyle/>
            <a:p>
              <a:pPr algn="ctr">
                <a:lnSpc>
                  <a:spcPts val="2880"/>
                </a:lnSpc>
              </a:pPr>
              <a:r>
                <a:rPr lang="en-US" sz="1800">
                  <a:solidFill>
                    <a:srgbClr val="0C1D4B"/>
                  </a:solidFill>
                  <a:latin typeface="Roboto Slab"/>
                  <a:ea typeface="Roboto Slab"/>
                  <a:cs typeface="Roboto Slab"/>
                  <a:sym typeface="Roboto Slab"/>
                </a:rPr>
                <a:t>Dữ liệu thô</a:t>
              </a:r>
            </a:p>
          </p:txBody>
        </p:sp>
        <p:sp>
          <p:nvSpPr>
            <p:cNvPr id="32" name="TextBox 32"/>
            <p:cNvSpPr txBox="1"/>
            <p:nvPr/>
          </p:nvSpPr>
          <p:spPr>
            <a:xfrm>
              <a:off x="11127942" y="-76200"/>
              <a:ext cx="3349687" cy="919408"/>
            </a:xfrm>
            <a:prstGeom prst="rect">
              <a:avLst/>
            </a:prstGeom>
          </p:spPr>
          <p:txBody>
            <a:bodyPr lIns="0" tIns="0" rIns="0" bIns="0" rtlCol="0" anchor="t">
              <a:spAutoFit/>
            </a:bodyPr>
            <a:lstStyle/>
            <a:p>
              <a:pPr algn="ctr">
                <a:lnSpc>
                  <a:spcPts val="2880"/>
                </a:lnSpc>
              </a:pPr>
              <a:r>
                <a:rPr lang="en-US" sz="1800">
                  <a:solidFill>
                    <a:srgbClr val="0C1D4B"/>
                  </a:solidFill>
                  <a:latin typeface="Roboto Slab"/>
                  <a:ea typeface="Roboto Slab"/>
                  <a:cs typeface="Roboto Slab"/>
                  <a:sym typeface="Roboto Slab"/>
                </a:rPr>
                <a:t>Dữ liệu sau khi làm sạch và gắn metadata</a:t>
              </a:r>
            </a:p>
          </p:txBody>
        </p:sp>
        <p:grpSp>
          <p:nvGrpSpPr>
            <p:cNvPr id="33" name="Group 33"/>
            <p:cNvGrpSpPr/>
            <p:nvPr/>
          </p:nvGrpSpPr>
          <p:grpSpPr>
            <a:xfrm>
              <a:off x="18217589" y="3917271"/>
              <a:ext cx="4141889" cy="928000"/>
              <a:chOff x="0" y="0"/>
              <a:chExt cx="818151" cy="183309"/>
            </a:xfrm>
          </p:grpSpPr>
          <p:sp>
            <p:nvSpPr>
              <p:cNvPr id="34" name="Freeform 34"/>
              <p:cNvSpPr/>
              <p:nvPr/>
            </p:nvSpPr>
            <p:spPr>
              <a:xfrm>
                <a:off x="0" y="0"/>
                <a:ext cx="818151" cy="183309"/>
              </a:xfrm>
              <a:custGeom>
                <a:avLst/>
                <a:gdLst/>
                <a:ahLst/>
                <a:cxnLst/>
                <a:rect l="l" t="t" r="r" b="b"/>
                <a:pathLst>
                  <a:path w="818151" h="183309">
                    <a:moveTo>
                      <a:pt x="69783" y="0"/>
                    </a:moveTo>
                    <a:lnTo>
                      <a:pt x="748368" y="0"/>
                    </a:lnTo>
                    <a:cubicBezTo>
                      <a:pt x="786908" y="0"/>
                      <a:pt x="818151" y="31243"/>
                      <a:pt x="818151" y="69783"/>
                    </a:cubicBezTo>
                    <a:lnTo>
                      <a:pt x="818151" y="113526"/>
                    </a:lnTo>
                    <a:cubicBezTo>
                      <a:pt x="818151" y="132033"/>
                      <a:pt x="810799" y="149783"/>
                      <a:pt x="797712" y="162870"/>
                    </a:cubicBezTo>
                    <a:cubicBezTo>
                      <a:pt x="784625" y="175956"/>
                      <a:pt x="766876" y="183309"/>
                      <a:pt x="748368" y="183309"/>
                    </a:cubicBezTo>
                    <a:lnTo>
                      <a:pt x="69783" y="183309"/>
                    </a:lnTo>
                    <a:cubicBezTo>
                      <a:pt x="51275" y="183309"/>
                      <a:pt x="33526" y="175956"/>
                      <a:pt x="20439" y="162870"/>
                    </a:cubicBezTo>
                    <a:cubicBezTo>
                      <a:pt x="7352" y="149783"/>
                      <a:pt x="0" y="132033"/>
                      <a:pt x="0" y="113526"/>
                    </a:cubicBezTo>
                    <a:lnTo>
                      <a:pt x="0" y="69783"/>
                    </a:lnTo>
                    <a:cubicBezTo>
                      <a:pt x="0" y="51275"/>
                      <a:pt x="7352" y="33526"/>
                      <a:pt x="20439" y="20439"/>
                    </a:cubicBezTo>
                    <a:cubicBezTo>
                      <a:pt x="33526" y="7352"/>
                      <a:pt x="51275" y="0"/>
                      <a:pt x="69783" y="0"/>
                    </a:cubicBezTo>
                    <a:close/>
                  </a:path>
                </a:pathLst>
              </a:custGeom>
              <a:solidFill>
                <a:srgbClr val="0D1D4B"/>
              </a:solidFill>
            </p:spPr>
            <p:txBody>
              <a:bodyPr/>
              <a:lstStyle/>
              <a:p>
                <a:endParaRPr lang="en-VN"/>
              </a:p>
            </p:txBody>
          </p:sp>
          <p:sp>
            <p:nvSpPr>
              <p:cNvPr id="35" name="TextBox 35"/>
              <p:cNvSpPr txBox="1"/>
              <p:nvPr/>
            </p:nvSpPr>
            <p:spPr>
              <a:xfrm>
                <a:off x="0" y="-38100"/>
                <a:ext cx="818151" cy="221409"/>
              </a:xfrm>
              <a:prstGeom prst="rect">
                <a:avLst/>
              </a:prstGeom>
            </p:spPr>
            <p:txBody>
              <a:bodyPr lIns="50800" tIns="50800" rIns="50800" bIns="50800" rtlCol="0" anchor="ctr"/>
              <a:lstStyle/>
              <a:p>
                <a:pPr algn="ctr">
                  <a:lnSpc>
                    <a:spcPts val="2940"/>
                  </a:lnSpc>
                </a:pPr>
                <a:r>
                  <a:rPr lang="en-US" sz="2100" b="1" spc="50">
                    <a:solidFill>
                      <a:srgbClr val="FFFFFF"/>
                    </a:solidFill>
                    <a:latin typeface="Roboto Slab Bold"/>
                    <a:ea typeface="Roboto Slab Bold"/>
                    <a:cs typeface="Roboto Slab Bold"/>
                    <a:sym typeface="Roboto Slab Bold"/>
                  </a:rPr>
                  <a:t>MongoDB</a:t>
                </a:r>
              </a:p>
            </p:txBody>
          </p:sp>
        </p:grpSp>
        <p:sp>
          <p:nvSpPr>
            <p:cNvPr id="36" name="AutoShape 36"/>
            <p:cNvSpPr/>
            <p:nvPr/>
          </p:nvSpPr>
          <p:spPr>
            <a:xfrm>
              <a:off x="15101259" y="3498899"/>
              <a:ext cx="3116330" cy="882372"/>
            </a:xfrm>
            <a:prstGeom prst="line">
              <a:avLst/>
            </a:prstGeom>
            <a:ln w="50800" cap="flat">
              <a:solidFill>
                <a:srgbClr val="0C0C6B"/>
              </a:solidFill>
              <a:prstDash val="solid"/>
              <a:headEnd type="none" w="sm" len="sm"/>
              <a:tailEnd type="arrow" w="med" len="sm"/>
            </a:ln>
          </p:spPr>
          <p:txBody>
            <a:bodyPr/>
            <a:lstStyle/>
            <a:p>
              <a:endParaRPr lang="en-VN"/>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grpId="0" nodeType="withEffect">
                            <p:stCondLst>
                              <p:cond delay="180"/>
                            </p:stCondLst>
                            <p:childTnLst>
                              <p:set>
                                <p:cBhvr>
                                  <p:cTn id="5" dur="1" fill="hold">
                                    <p:stCondLst>
                                      <p:cond delay="0"/>
                                    </p:stCondLst>
                                  </p:cTn>
                                  <p:tgtEl>
                                    <p:spTgt spid="10"/>
                                  </p:tgtEl>
                                  <p:attrNameLst>
                                    <p:attrName>style.visibility</p:attrName>
                                  </p:attrNameLst>
                                </p:cBhvr>
                                <p:to>
                                  <p:strVal val="visible"/>
                                </p:to>
                              </p:set>
                              <p:animEffect transition="in" filter="wipe(left)">
                                <p:cBhvr>
                                  <p:cTn id="6" dur="860"/>
                                  <p:tgtEl>
                                    <p:spTgt spid="10"/>
                                  </p:tgtEl>
                                </p:cBhvr>
                              </p:animEffect>
                            </p:childTnLst>
                          </p:cTn>
                        </p:par>
                        <p:par>
                          <p:cTn id="7" presetID="10" presetClass="entr" presetSubtype="0" fill="hold" grpId="0" nodeType="withEffect">
                            <p:stCondLst>
                              <p:cond delay="350"/>
                            </p:stCondLst>
                            <p:childTnLst>
                              <p:set>
                                <p:cBhvr>
                                  <p:cTn id="8" dur="1" fill="hold">
                                    <p:stCondLst>
                                      <p:cond delay="0"/>
                                    </p:stCondLst>
                                  </p:cTn>
                                  <p:tgtEl>
                                    <p:spTgt spid="12"/>
                                  </p:tgtEl>
                                  <p:attrNameLst>
                                    <p:attrName>style.visibility</p:attrName>
                                  </p:attrNameLst>
                                </p:cBhvr>
                                <p:to>
                                  <p:strVal val="visible"/>
                                </p:to>
                              </p:set>
                              <p:animEffect transition="in" filter="wipe(left)">
                                <p:cBhvr>
                                  <p:cTn id="9" dur="860"/>
                                  <p:tgtEl>
                                    <p:spTgt spid="12"/>
                                  </p:tgtEl>
                                </p:cBhvr>
                              </p:animEffect>
                            </p:childTnLst>
                          </p:cTn>
                        </p:par>
                        <p:par>
                          <p:cTn id="10" presetID="10" presetClass="entr" presetSubtype="0" fill="hold" grpId="0" nodeType="withEffect">
                            <p:stCondLst>
                              <p:cond delay="520"/>
                            </p:stCondLst>
                            <p:childTnLst>
                              <p:set>
                                <p:cBhvr>
                                  <p:cTn id="11" dur="1" fill="hold">
                                    <p:stCondLst>
                                      <p:cond delay="0"/>
                                    </p:stCondLst>
                                  </p:cTn>
                                  <p:tgtEl>
                                    <p:spTgt spid="13"/>
                                  </p:tgtEl>
                                  <p:attrNameLst>
                                    <p:attrName>style.visibility</p:attrName>
                                  </p:attrNameLst>
                                </p:cBhvr>
                                <p:to>
                                  <p:strVal val="visible"/>
                                </p:to>
                              </p:set>
                              <p:animEffect transition="in" filter="wipe(left)">
                                <p:cBhvr>
                                  <p:cTn id="12" dur="860"/>
                                  <p:tgtEl>
                                    <p:spTgt spid="13"/>
                                  </p:tgtEl>
                                </p:cBhvr>
                              </p:animEffect>
                            </p:childTnLst>
                          </p:cTn>
                        </p:par>
                        <p:par>
                          <p:cTn id="13" presetID="10" presetClass="entr" presetSubtype="0" fill="hold" grpId="0" nodeType="withEffect">
                            <p:stCondLst>
                              <p:cond delay="690"/>
                            </p:stCondLst>
                            <p:childTnLst>
                              <p:set>
                                <p:cBhvr>
                                  <p:cTn id="14" dur="1" fill="hold">
                                    <p:stCondLst>
                                      <p:cond delay="0"/>
                                    </p:stCondLst>
                                  </p:cTn>
                                  <p:tgtEl>
                                    <p:spTgt spid="14"/>
                                  </p:tgtEl>
                                  <p:attrNameLst>
                                    <p:attrName>style.visibility</p:attrName>
                                  </p:attrNameLst>
                                </p:cBhvr>
                                <p:to>
                                  <p:strVal val="visible"/>
                                </p:to>
                              </p:set>
                              <p:animEffect transition="in" filter="wipe(left)">
                                <p:cBhvr>
                                  <p:cTn id="15" dur="860"/>
                                  <p:tgtEl>
                                    <p:spTgt spid="14"/>
                                  </p:tgtEl>
                                </p:cBhvr>
                              </p:animEffect>
                            </p:childTnLst>
                          </p:cTn>
                        </p:par>
                      </p:childTnLst>
                    </p:cTn>
                  </p:par>
                </p:childTnLst>
              </p:cTn>
            </p:seq>
          </p:childTnLst>
        </p:cTn>
      </p:par>
    </p:tnLst>
    <p:bldLst>
      <p:bldP spid="10" grpId="0"/>
      <p:bldP spid="12" grpId="0"/>
      <p:bldP spid="13" grpId="0"/>
      <p:bldP spid="14"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10800000">
            <a:off x="17259300" y="-233820"/>
            <a:ext cx="1940843" cy="970417"/>
            <a:chOff x="0" y="0"/>
            <a:chExt cx="2587790" cy="1293889"/>
          </a:xfrm>
        </p:grpSpPr>
        <p:sp>
          <p:nvSpPr>
            <p:cNvPr id="3" name="Freeform 3"/>
            <p:cNvSpPr/>
            <p:nvPr/>
          </p:nvSpPr>
          <p:spPr>
            <a:xfrm>
              <a:off x="0" y="0"/>
              <a:ext cx="2587752" cy="1293876"/>
            </a:xfrm>
            <a:custGeom>
              <a:avLst/>
              <a:gdLst/>
              <a:ahLst/>
              <a:cxnLst/>
              <a:rect l="l" t="t" r="r" b="b"/>
              <a:pathLst>
                <a:path w="2587752" h="1293876">
                  <a:moveTo>
                    <a:pt x="0" y="0"/>
                  </a:moveTo>
                  <a:lnTo>
                    <a:pt x="2587752" y="0"/>
                  </a:lnTo>
                  <a:lnTo>
                    <a:pt x="2587752" y="1293876"/>
                  </a:lnTo>
                  <a:lnTo>
                    <a:pt x="0" y="1293876"/>
                  </a:lnTo>
                  <a:lnTo>
                    <a:pt x="0" y="0"/>
                  </a:lnTo>
                  <a:close/>
                </a:path>
              </a:pathLst>
            </a:custGeom>
            <a:blipFill>
              <a:blip r:embed="rId2"/>
              <a:stretch>
                <a:fillRect r="-1"/>
              </a:stretch>
            </a:blipFill>
          </p:spPr>
          <p:txBody>
            <a:bodyPr/>
            <a:lstStyle/>
            <a:p>
              <a:endParaRPr lang="en-VN"/>
            </a:p>
          </p:txBody>
        </p:sp>
      </p:grpSp>
      <p:grpSp>
        <p:nvGrpSpPr>
          <p:cNvPr id="4" name="Group 4"/>
          <p:cNvGrpSpPr/>
          <p:nvPr/>
        </p:nvGrpSpPr>
        <p:grpSpPr>
          <a:xfrm>
            <a:off x="-912143" y="9429369"/>
            <a:ext cx="1940843" cy="970417"/>
            <a:chOff x="0" y="0"/>
            <a:chExt cx="2587790" cy="1293889"/>
          </a:xfrm>
        </p:grpSpPr>
        <p:sp>
          <p:nvSpPr>
            <p:cNvPr id="5" name="Freeform 5"/>
            <p:cNvSpPr/>
            <p:nvPr/>
          </p:nvSpPr>
          <p:spPr>
            <a:xfrm>
              <a:off x="0" y="0"/>
              <a:ext cx="2587752" cy="1293876"/>
            </a:xfrm>
            <a:custGeom>
              <a:avLst/>
              <a:gdLst/>
              <a:ahLst/>
              <a:cxnLst/>
              <a:rect l="l" t="t" r="r" b="b"/>
              <a:pathLst>
                <a:path w="2587752" h="1293876">
                  <a:moveTo>
                    <a:pt x="0" y="0"/>
                  </a:moveTo>
                  <a:lnTo>
                    <a:pt x="2587752" y="0"/>
                  </a:lnTo>
                  <a:lnTo>
                    <a:pt x="2587752" y="1293876"/>
                  </a:lnTo>
                  <a:lnTo>
                    <a:pt x="0" y="1293876"/>
                  </a:lnTo>
                  <a:lnTo>
                    <a:pt x="0" y="0"/>
                  </a:lnTo>
                  <a:close/>
                </a:path>
              </a:pathLst>
            </a:custGeom>
            <a:blipFill>
              <a:blip r:embed="rId2"/>
              <a:stretch>
                <a:fillRect r="-1"/>
              </a:stretch>
            </a:blipFill>
          </p:spPr>
          <p:txBody>
            <a:bodyPr/>
            <a:lstStyle/>
            <a:p>
              <a:endParaRPr lang="en-VN"/>
            </a:p>
          </p:txBody>
        </p:sp>
      </p:grpSp>
      <p:grpSp>
        <p:nvGrpSpPr>
          <p:cNvPr id="6" name="Group 6"/>
          <p:cNvGrpSpPr/>
          <p:nvPr/>
        </p:nvGrpSpPr>
        <p:grpSpPr>
          <a:xfrm>
            <a:off x="-3127839" y="9986436"/>
            <a:ext cx="22035035" cy="2837612"/>
            <a:chOff x="0" y="0"/>
            <a:chExt cx="5803466" cy="747355"/>
          </a:xfrm>
        </p:grpSpPr>
        <p:sp>
          <p:nvSpPr>
            <p:cNvPr id="7" name="Freeform 7"/>
            <p:cNvSpPr/>
            <p:nvPr/>
          </p:nvSpPr>
          <p:spPr>
            <a:xfrm>
              <a:off x="0" y="0"/>
              <a:ext cx="5803466" cy="747355"/>
            </a:xfrm>
            <a:custGeom>
              <a:avLst/>
              <a:gdLst/>
              <a:ahLst/>
              <a:cxnLst/>
              <a:rect l="l" t="t" r="r" b="b"/>
              <a:pathLst>
                <a:path w="5803466" h="747355">
                  <a:moveTo>
                    <a:pt x="0" y="0"/>
                  </a:moveTo>
                  <a:lnTo>
                    <a:pt x="5803466" y="0"/>
                  </a:lnTo>
                  <a:lnTo>
                    <a:pt x="5803466" y="747355"/>
                  </a:lnTo>
                  <a:lnTo>
                    <a:pt x="0" y="747355"/>
                  </a:lnTo>
                  <a:close/>
                </a:path>
              </a:pathLst>
            </a:custGeom>
            <a:solidFill>
              <a:srgbClr val="3C4F75"/>
            </a:solidFill>
          </p:spPr>
          <p:txBody>
            <a:bodyPr/>
            <a:lstStyle/>
            <a:p>
              <a:endParaRPr lang="en-VN"/>
            </a:p>
          </p:txBody>
        </p:sp>
        <p:sp>
          <p:nvSpPr>
            <p:cNvPr id="8" name="TextBox 8"/>
            <p:cNvSpPr txBox="1"/>
            <p:nvPr/>
          </p:nvSpPr>
          <p:spPr>
            <a:xfrm>
              <a:off x="0" y="-47625"/>
              <a:ext cx="5803466" cy="794980"/>
            </a:xfrm>
            <a:prstGeom prst="rect">
              <a:avLst/>
            </a:prstGeom>
          </p:spPr>
          <p:txBody>
            <a:bodyPr lIns="50800" tIns="50800" rIns="50800" bIns="50800" rtlCol="0" anchor="ctr"/>
            <a:lstStyle/>
            <a:p>
              <a:pPr algn="ctr">
                <a:lnSpc>
                  <a:spcPts val="2940"/>
                </a:lnSpc>
              </a:pPr>
              <a:endParaRPr/>
            </a:p>
          </p:txBody>
        </p:sp>
      </p:grpSp>
      <p:sp>
        <p:nvSpPr>
          <p:cNvPr id="9" name="Freeform 9"/>
          <p:cNvSpPr/>
          <p:nvPr/>
        </p:nvSpPr>
        <p:spPr>
          <a:xfrm>
            <a:off x="1028700" y="251389"/>
            <a:ext cx="551704" cy="584433"/>
          </a:xfrm>
          <a:custGeom>
            <a:avLst/>
            <a:gdLst/>
            <a:ahLst/>
            <a:cxnLst/>
            <a:rect l="l" t="t" r="r" b="b"/>
            <a:pathLst>
              <a:path w="551704" h="584433">
                <a:moveTo>
                  <a:pt x="0" y="0"/>
                </a:moveTo>
                <a:lnTo>
                  <a:pt x="551704" y="0"/>
                </a:lnTo>
                <a:lnTo>
                  <a:pt x="551704" y="584432"/>
                </a:lnTo>
                <a:lnTo>
                  <a:pt x="0" y="584432"/>
                </a:lnTo>
                <a:lnTo>
                  <a:pt x="0" y="0"/>
                </a:lnTo>
                <a:close/>
              </a:path>
            </a:pathLst>
          </a:custGeom>
          <a:blipFill>
            <a:blip r:embed="rId3"/>
            <a:stretch>
              <a:fillRect/>
            </a:stretch>
          </a:blipFill>
        </p:spPr>
        <p:txBody>
          <a:bodyPr/>
          <a:lstStyle/>
          <a:p>
            <a:endParaRPr lang="en-VN"/>
          </a:p>
        </p:txBody>
      </p:sp>
      <p:sp>
        <p:nvSpPr>
          <p:cNvPr id="10" name="TextBox 10"/>
          <p:cNvSpPr txBox="1"/>
          <p:nvPr/>
        </p:nvSpPr>
        <p:spPr>
          <a:xfrm>
            <a:off x="1028700" y="1095375"/>
            <a:ext cx="13311475" cy="534618"/>
          </a:xfrm>
          <a:prstGeom prst="rect">
            <a:avLst/>
          </a:prstGeom>
        </p:spPr>
        <p:txBody>
          <a:bodyPr lIns="0" tIns="0" rIns="0" bIns="0" rtlCol="0" anchor="t">
            <a:spAutoFit/>
          </a:bodyPr>
          <a:lstStyle/>
          <a:p>
            <a:pPr algn="just">
              <a:lnSpc>
                <a:spcPts val="4039"/>
              </a:lnSpc>
            </a:pPr>
            <a:r>
              <a:rPr lang="en-US" sz="3999" b="1">
                <a:solidFill>
                  <a:srgbClr val="0C1D4B"/>
                </a:solidFill>
                <a:latin typeface="Roboto Slab Bold"/>
                <a:ea typeface="Roboto Slab Bold"/>
                <a:cs typeface="Roboto Slab Bold"/>
                <a:sym typeface="Roboto Slab Bold"/>
              </a:rPr>
              <a:t>3.5. Xây dựng hệ thống truy vấn pháp luật nội bộ - RAG</a:t>
            </a:r>
          </a:p>
        </p:txBody>
      </p:sp>
      <p:sp>
        <p:nvSpPr>
          <p:cNvPr id="11" name="TextBox 11"/>
          <p:cNvSpPr txBox="1"/>
          <p:nvPr/>
        </p:nvSpPr>
        <p:spPr>
          <a:xfrm>
            <a:off x="1687249" y="346410"/>
            <a:ext cx="3954904" cy="356289"/>
          </a:xfrm>
          <a:prstGeom prst="rect">
            <a:avLst/>
          </a:prstGeom>
        </p:spPr>
        <p:txBody>
          <a:bodyPr lIns="0" tIns="0" rIns="0" bIns="0" rtlCol="0" anchor="t">
            <a:spAutoFit/>
          </a:bodyPr>
          <a:lstStyle/>
          <a:p>
            <a:pPr algn="l">
              <a:lnSpc>
                <a:spcPts val="2940"/>
              </a:lnSpc>
            </a:pPr>
            <a:r>
              <a:rPr lang="en-US" sz="2100" b="1">
                <a:solidFill>
                  <a:srgbClr val="2C2C2C"/>
                </a:solidFill>
                <a:latin typeface="Roboto Slab Bold"/>
                <a:ea typeface="Roboto Slab Bold"/>
                <a:cs typeface="Roboto Slab Bold"/>
                <a:sym typeface="Roboto Slab Bold"/>
              </a:rPr>
              <a:t>HỌC VIỆN KỸ THUẬT MẬT MÃ</a:t>
            </a:r>
          </a:p>
        </p:txBody>
      </p:sp>
      <p:sp>
        <p:nvSpPr>
          <p:cNvPr id="12" name="TextBox 12"/>
          <p:cNvSpPr txBox="1"/>
          <p:nvPr/>
        </p:nvSpPr>
        <p:spPr>
          <a:xfrm>
            <a:off x="1028700" y="1725243"/>
            <a:ext cx="10081822" cy="685800"/>
          </a:xfrm>
          <a:prstGeom prst="rect">
            <a:avLst/>
          </a:prstGeom>
        </p:spPr>
        <p:txBody>
          <a:bodyPr lIns="0" tIns="0" rIns="0" bIns="0" rtlCol="0" anchor="t">
            <a:spAutoFit/>
          </a:bodyPr>
          <a:lstStyle/>
          <a:p>
            <a:pPr algn="just">
              <a:lnSpc>
                <a:spcPts val="6000"/>
              </a:lnSpc>
            </a:pPr>
            <a:r>
              <a:rPr lang="en-US" sz="3000" b="1">
                <a:solidFill>
                  <a:srgbClr val="0C1D4B"/>
                </a:solidFill>
                <a:latin typeface="Roboto Slab Bold"/>
                <a:ea typeface="Roboto Slab Bold"/>
                <a:cs typeface="Roboto Slab Bold"/>
                <a:sym typeface="Roboto Slab Bold"/>
              </a:rPr>
              <a:t>Chunking, Embedding và lưu trữ ChromaDB</a:t>
            </a:r>
          </a:p>
        </p:txBody>
      </p:sp>
      <p:sp>
        <p:nvSpPr>
          <p:cNvPr id="13" name="TextBox 13"/>
          <p:cNvSpPr txBox="1"/>
          <p:nvPr/>
        </p:nvSpPr>
        <p:spPr>
          <a:xfrm>
            <a:off x="1028700" y="2515818"/>
            <a:ext cx="13822752" cy="1906688"/>
          </a:xfrm>
          <a:prstGeom prst="rect">
            <a:avLst/>
          </a:prstGeom>
        </p:spPr>
        <p:txBody>
          <a:bodyPr lIns="0" tIns="0" rIns="0" bIns="0" rtlCol="0" anchor="t">
            <a:spAutoFit/>
          </a:bodyPr>
          <a:lstStyle/>
          <a:p>
            <a:pPr marL="518162" lvl="1" indent="-259081" algn="l">
              <a:lnSpc>
                <a:spcPts val="3840"/>
              </a:lnSpc>
              <a:buFont typeface="Arial"/>
              <a:buChar char="•"/>
            </a:pPr>
            <a:r>
              <a:rPr lang="en-US" sz="2400" dirty="0" err="1">
                <a:solidFill>
                  <a:srgbClr val="0C1D4B"/>
                </a:solidFill>
                <a:latin typeface="Roboto Slab"/>
                <a:ea typeface="Roboto Slab"/>
                <a:cs typeface="Roboto Slab"/>
                <a:sym typeface="Roboto Slab"/>
              </a:rPr>
              <a:t>Chiến</a:t>
            </a:r>
            <a:r>
              <a:rPr lang="en-US" sz="2400" dirty="0">
                <a:solidFill>
                  <a:srgbClr val="0C1D4B"/>
                </a:solidFill>
                <a:latin typeface="Roboto Slab"/>
                <a:ea typeface="Roboto Slab"/>
                <a:cs typeface="Roboto Slab"/>
                <a:sym typeface="Roboto Slab"/>
              </a:rPr>
              <a:t> </a:t>
            </a:r>
            <a:r>
              <a:rPr lang="en-US" sz="2400" dirty="0" err="1">
                <a:solidFill>
                  <a:srgbClr val="0C1D4B"/>
                </a:solidFill>
                <a:latin typeface="Roboto Slab"/>
                <a:ea typeface="Roboto Slab"/>
                <a:cs typeface="Roboto Slab"/>
                <a:sym typeface="Roboto Slab"/>
              </a:rPr>
              <a:t>thuật</a:t>
            </a:r>
            <a:r>
              <a:rPr lang="en-US" sz="2400" dirty="0">
                <a:solidFill>
                  <a:srgbClr val="0C1D4B"/>
                </a:solidFill>
                <a:latin typeface="Roboto Slab"/>
                <a:ea typeface="Roboto Slab"/>
                <a:cs typeface="Roboto Slab"/>
                <a:sym typeface="Roboto Slab"/>
              </a:rPr>
              <a:t> chunking lai: </a:t>
            </a:r>
            <a:r>
              <a:rPr lang="en-US" sz="2400" dirty="0" err="1">
                <a:solidFill>
                  <a:srgbClr val="0C1D4B"/>
                </a:solidFill>
                <a:latin typeface="Roboto Slab"/>
                <a:ea typeface="Roboto Slab"/>
                <a:cs typeface="Roboto Slab"/>
                <a:sym typeface="Roboto Slab"/>
              </a:rPr>
              <a:t>điều</a:t>
            </a:r>
            <a:r>
              <a:rPr lang="en-US" sz="2400" dirty="0">
                <a:solidFill>
                  <a:srgbClr val="0C1D4B"/>
                </a:solidFill>
                <a:latin typeface="Roboto Slab"/>
                <a:ea typeface="Roboto Slab"/>
                <a:cs typeface="Roboto Slab"/>
                <a:sym typeface="Roboto Slab"/>
              </a:rPr>
              <a:t> </a:t>
            </a:r>
            <a:r>
              <a:rPr lang="en-US" sz="2400" dirty="0" err="1">
                <a:solidFill>
                  <a:srgbClr val="0C1D4B"/>
                </a:solidFill>
                <a:latin typeface="Roboto Slab"/>
                <a:ea typeface="Roboto Slab"/>
                <a:cs typeface="Roboto Slab"/>
                <a:sym typeface="Roboto Slab"/>
              </a:rPr>
              <a:t>luật</a:t>
            </a:r>
            <a:r>
              <a:rPr lang="en-US" sz="2400" dirty="0">
                <a:solidFill>
                  <a:srgbClr val="0C1D4B"/>
                </a:solidFill>
                <a:latin typeface="Roboto Slab"/>
                <a:ea typeface="Roboto Slab"/>
                <a:cs typeface="Roboto Slab"/>
                <a:sym typeface="Roboto Slab"/>
              </a:rPr>
              <a:t> </a:t>
            </a:r>
            <a:r>
              <a:rPr lang="en-US" sz="2400" dirty="0" err="1">
                <a:solidFill>
                  <a:srgbClr val="0C1D4B"/>
                </a:solidFill>
                <a:latin typeface="Roboto Slab"/>
                <a:ea typeface="Roboto Slab"/>
                <a:cs typeface="Roboto Slab"/>
                <a:sym typeface="Roboto Slab"/>
              </a:rPr>
              <a:t>ngắn</a:t>
            </a:r>
            <a:r>
              <a:rPr lang="en-US" sz="2400" dirty="0">
                <a:solidFill>
                  <a:srgbClr val="0C1D4B"/>
                </a:solidFill>
                <a:latin typeface="Roboto Slab"/>
                <a:ea typeface="Roboto Slab"/>
                <a:cs typeface="Roboto Slab"/>
                <a:sym typeface="Roboto Slab"/>
              </a:rPr>
              <a:t> </a:t>
            </a:r>
            <a:r>
              <a:rPr lang="en-US" sz="2400" dirty="0" err="1">
                <a:solidFill>
                  <a:srgbClr val="0C1D4B"/>
                </a:solidFill>
                <a:latin typeface="Roboto Slab"/>
                <a:ea typeface="Roboto Slab"/>
                <a:cs typeface="Roboto Slab"/>
                <a:sym typeface="Roboto Slab"/>
              </a:rPr>
              <a:t>được</a:t>
            </a:r>
            <a:r>
              <a:rPr lang="en-US" sz="2400" dirty="0">
                <a:solidFill>
                  <a:srgbClr val="0C1D4B"/>
                </a:solidFill>
                <a:latin typeface="Roboto Slab"/>
                <a:ea typeface="Roboto Slab"/>
                <a:cs typeface="Roboto Slab"/>
                <a:sym typeface="Roboto Slab"/>
              </a:rPr>
              <a:t> </a:t>
            </a:r>
            <a:r>
              <a:rPr lang="en-US" sz="2400" dirty="0" err="1">
                <a:solidFill>
                  <a:srgbClr val="0C1D4B"/>
                </a:solidFill>
                <a:latin typeface="Roboto Slab"/>
                <a:ea typeface="Roboto Slab"/>
                <a:cs typeface="Roboto Slab"/>
                <a:sym typeface="Roboto Slab"/>
              </a:rPr>
              <a:t>giữ</a:t>
            </a:r>
            <a:r>
              <a:rPr lang="en-US" sz="2400" dirty="0">
                <a:solidFill>
                  <a:srgbClr val="0C1D4B"/>
                </a:solidFill>
                <a:latin typeface="Roboto Slab"/>
                <a:ea typeface="Roboto Slab"/>
                <a:cs typeface="Roboto Slab"/>
                <a:sym typeface="Roboto Slab"/>
              </a:rPr>
              <a:t> </a:t>
            </a:r>
            <a:r>
              <a:rPr lang="en-US" sz="2400" dirty="0" err="1">
                <a:solidFill>
                  <a:srgbClr val="0C1D4B"/>
                </a:solidFill>
                <a:latin typeface="Roboto Slab"/>
                <a:ea typeface="Roboto Slab"/>
                <a:cs typeface="Roboto Slab"/>
                <a:sym typeface="Roboto Slab"/>
              </a:rPr>
              <a:t>nguyên</a:t>
            </a:r>
            <a:r>
              <a:rPr lang="en-US" sz="2400" dirty="0">
                <a:solidFill>
                  <a:srgbClr val="0C1D4B"/>
                </a:solidFill>
                <a:latin typeface="Roboto Slab"/>
                <a:ea typeface="Roboto Slab"/>
                <a:cs typeface="Roboto Slab"/>
                <a:sym typeface="Roboto Slab"/>
              </a:rPr>
              <a:t>, </a:t>
            </a:r>
            <a:r>
              <a:rPr lang="en-US" sz="2400" dirty="0" err="1">
                <a:solidFill>
                  <a:srgbClr val="0C1D4B"/>
                </a:solidFill>
                <a:latin typeface="Roboto Slab"/>
                <a:ea typeface="Roboto Slab"/>
                <a:cs typeface="Roboto Slab"/>
                <a:sym typeface="Roboto Slab"/>
              </a:rPr>
              <a:t>điều</a:t>
            </a:r>
            <a:r>
              <a:rPr lang="en-US" sz="2400" dirty="0">
                <a:solidFill>
                  <a:srgbClr val="0C1D4B"/>
                </a:solidFill>
                <a:latin typeface="Roboto Slab"/>
                <a:ea typeface="Roboto Slab"/>
                <a:cs typeface="Roboto Slab"/>
                <a:sym typeface="Roboto Slab"/>
              </a:rPr>
              <a:t> </a:t>
            </a:r>
            <a:r>
              <a:rPr lang="en-US" sz="2400" dirty="0" err="1">
                <a:solidFill>
                  <a:srgbClr val="0C1D4B"/>
                </a:solidFill>
                <a:latin typeface="Roboto Slab"/>
                <a:ea typeface="Roboto Slab"/>
                <a:cs typeface="Roboto Slab"/>
                <a:sym typeface="Roboto Slab"/>
              </a:rPr>
              <a:t>luật</a:t>
            </a:r>
            <a:r>
              <a:rPr lang="en-US" sz="2400" dirty="0">
                <a:solidFill>
                  <a:srgbClr val="0C1D4B"/>
                </a:solidFill>
                <a:latin typeface="Roboto Slab"/>
                <a:ea typeface="Roboto Slab"/>
                <a:cs typeface="Roboto Slab"/>
                <a:sym typeface="Roboto Slab"/>
              </a:rPr>
              <a:t> </a:t>
            </a:r>
            <a:r>
              <a:rPr lang="en-US" sz="2400" dirty="0" err="1">
                <a:solidFill>
                  <a:srgbClr val="0C1D4B"/>
                </a:solidFill>
                <a:latin typeface="Roboto Slab"/>
                <a:ea typeface="Roboto Slab"/>
                <a:cs typeface="Roboto Slab"/>
                <a:sym typeface="Roboto Slab"/>
              </a:rPr>
              <a:t>dài</a:t>
            </a:r>
            <a:r>
              <a:rPr lang="en-US" sz="2400" dirty="0">
                <a:solidFill>
                  <a:srgbClr val="0C1D4B"/>
                </a:solidFill>
                <a:latin typeface="Roboto Slab"/>
                <a:ea typeface="Roboto Slab"/>
                <a:cs typeface="Roboto Slab"/>
                <a:sym typeface="Roboto Slab"/>
              </a:rPr>
              <a:t> </a:t>
            </a:r>
            <a:r>
              <a:rPr lang="en-US" sz="2400" dirty="0" err="1">
                <a:solidFill>
                  <a:srgbClr val="0C1D4B"/>
                </a:solidFill>
                <a:latin typeface="Roboto Slab"/>
                <a:ea typeface="Roboto Slab"/>
                <a:cs typeface="Roboto Slab"/>
                <a:sym typeface="Roboto Slab"/>
              </a:rPr>
              <a:t>mới</a:t>
            </a:r>
            <a:r>
              <a:rPr lang="en-US" sz="2400" dirty="0">
                <a:solidFill>
                  <a:srgbClr val="0C1D4B"/>
                </a:solidFill>
                <a:latin typeface="Roboto Slab"/>
                <a:ea typeface="Roboto Slab"/>
                <a:cs typeface="Roboto Slab"/>
                <a:sym typeface="Roboto Slab"/>
              </a:rPr>
              <a:t> </a:t>
            </a:r>
            <a:r>
              <a:rPr lang="en-US" sz="2400" dirty="0" err="1">
                <a:solidFill>
                  <a:srgbClr val="0C1D4B"/>
                </a:solidFill>
                <a:latin typeface="Roboto Slab"/>
                <a:ea typeface="Roboto Slab"/>
                <a:cs typeface="Roboto Slab"/>
                <a:sym typeface="Roboto Slab"/>
              </a:rPr>
              <a:t>được</a:t>
            </a:r>
            <a:r>
              <a:rPr lang="en-US" sz="2400" dirty="0">
                <a:solidFill>
                  <a:srgbClr val="0C1D4B"/>
                </a:solidFill>
                <a:latin typeface="Roboto Slab"/>
                <a:ea typeface="Roboto Slab"/>
                <a:cs typeface="Roboto Slab"/>
                <a:sym typeface="Roboto Slab"/>
              </a:rPr>
              <a:t> chia </a:t>
            </a:r>
            <a:r>
              <a:rPr lang="en-US" sz="2400" dirty="0" err="1">
                <a:solidFill>
                  <a:srgbClr val="0C1D4B"/>
                </a:solidFill>
                <a:latin typeface="Roboto Slab"/>
                <a:ea typeface="Roboto Slab"/>
                <a:cs typeface="Roboto Slab"/>
                <a:sym typeface="Roboto Slab"/>
              </a:rPr>
              <a:t>nhỏ</a:t>
            </a:r>
            <a:endParaRPr lang="en-US" sz="2400" dirty="0">
              <a:solidFill>
                <a:srgbClr val="0C1D4B"/>
              </a:solidFill>
              <a:latin typeface="Roboto Slab"/>
              <a:ea typeface="Roboto Slab"/>
              <a:cs typeface="Roboto Slab"/>
              <a:sym typeface="Roboto Slab"/>
            </a:endParaRPr>
          </a:p>
          <a:p>
            <a:pPr marL="518162" lvl="1" indent="-259081" algn="l">
              <a:lnSpc>
                <a:spcPts val="3840"/>
              </a:lnSpc>
              <a:buFont typeface="Arial"/>
              <a:buChar char="•"/>
            </a:pPr>
            <a:r>
              <a:rPr lang="en-US" sz="2400" dirty="0" err="1">
                <a:solidFill>
                  <a:srgbClr val="0C1D4B"/>
                </a:solidFill>
                <a:latin typeface="Roboto Slab"/>
                <a:ea typeface="Roboto Slab"/>
                <a:cs typeface="Roboto Slab"/>
                <a:sym typeface="Roboto Slab"/>
              </a:rPr>
              <a:t>Ngưỡng</a:t>
            </a:r>
            <a:r>
              <a:rPr lang="en-US" sz="2400" dirty="0">
                <a:solidFill>
                  <a:srgbClr val="0C1D4B"/>
                </a:solidFill>
                <a:latin typeface="Roboto Slab"/>
                <a:ea typeface="Roboto Slab"/>
                <a:cs typeface="Roboto Slab"/>
                <a:sym typeface="Roboto Slab"/>
              </a:rPr>
              <a:t> chia </a:t>
            </a:r>
            <a:r>
              <a:rPr lang="en-US" sz="2400" dirty="0" err="1">
                <a:solidFill>
                  <a:srgbClr val="0C1D4B"/>
                </a:solidFill>
                <a:latin typeface="Roboto Slab"/>
                <a:ea typeface="Roboto Slab"/>
                <a:cs typeface="Roboto Slab"/>
                <a:sym typeface="Roboto Slab"/>
              </a:rPr>
              <a:t>được</a:t>
            </a:r>
            <a:r>
              <a:rPr lang="en-US" sz="2400" dirty="0">
                <a:solidFill>
                  <a:srgbClr val="0C1D4B"/>
                </a:solidFill>
                <a:latin typeface="Roboto Slab"/>
                <a:ea typeface="Roboto Slab"/>
                <a:cs typeface="Roboto Slab"/>
                <a:sym typeface="Roboto Slab"/>
              </a:rPr>
              <a:t> </a:t>
            </a:r>
            <a:r>
              <a:rPr lang="en-US" sz="2400" dirty="0" err="1">
                <a:solidFill>
                  <a:srgbClr val="0C1D4B"/>
                </a:solidFill>
                <a:latin typeface="Roboto Slab"/>
                <a:ea typeface="Roboto Slab"/>
                <a:cs typeface="Roboto Slab"/>
                <a:sym typeface="Roboto Slab"/>
              </a:rPr>
              <a:t>cấu</a:t>
            </a:r>
            <a:r>
              <a:rPr lang="en-US" sz="2400" dirty="0">
                <a:solidFill>
                  <a:srgbClr val="0C1D4B"/>
                </a:solidFill>
                <a:latin typeface="Roboto Slab"/>
                <a:ea typeface="Roboto Slab"/>
                <a:cs typeface="Roboto Slab"/>
                <a:sym typeface="Roboto Slab"/>
              </a:rPr>
              <a:t> </a:t>
            </a:r>
            <a:r>
              <a:rPr lang="en-US" sz="2400" dirty="0" err="1">
                <a:solidFill>
                  <a:srgbClr val="0C1D4B"/>
                </a:solidFill>
                <a:latin typeface="Roboto Slab"/>
                <a:ea typeface="Roboto Slab"/>
                <a:cs typeface="Roboto Slab"/>
                <a:sym typeface="Roboto Slab"/>
              </a:rPr>
              <a:t>hình</a:t>
            </a:r>
            <a:r>
              <a:rPr lang="en-US" sz="2400" dirty="0">
                <a:solidFill>
                  <a:srgbClr val="0C1D4B"/>
                </a:solidFill>
                <a:latin typeface="Roboto Slab"/>
                <a:ea typeface="Roboto Slab"/>
                <a:cs typeface="Roboto Slab"/>
                <a:sym typeface="Roboto Slab"/>
              </a:rPr>
              <a:t> </a:t>
            </a:r>
            <a:r>
              <a:rPr lang="en-US" sz="2400" dirty="0" err="1">
                <a:solidFill>
                  <a:srgbClr val="0C1D4B"/>
                </a:solidFill>
                <a:latin typeface="Roboto Slab"/>
                <a:ea typeface="Roboto Slab"/>
                <a:cs typeface="Roboto Slab"/>
                <a:sym typeface="Roboto Slab"/>
              </a:rPr>
              <a:t>tối</a:t>
            </a:r>
            <a:r>
              <a:rPr lang="en-US" sz="2400" dirty="0">
                <a:solidFill>
                  <a:srgbClr val="0C1D4B"/>
                </a:solidFill>
                <a:latin typeface="Roboto Slab"/>
                <a:ea typeface="Roboto Slab"/>
                <a:cs typeface="Roboto Slab"/>
                <a:sym typeface="Roboto Slab"/>
              </a:rPr>
              <a:t> </a:t>
            </a:r>
            <a:r>
              <a:rPr lang="en-US" sz="2400" dirty="0" err="1">
                <a:solidFill>
                  <a:srgbClr val="0C1D4B"/>
                </a:solidFill>
                <a:latin typeface="Roboto Slab"/>
                <a:ea typeface="Roboto Slab"/>
                <a:cs typeface="Roboto Slab"/>
                <a:sym typeface="Roboto Slab"/>
              </a:rPr>
              <a:t>đa</a:t>
            </a:r>
            <a:r>
              <a:rPr lang="en-US" sz="2400" dirty="0">
                <a:solidFill>
                  <a:srgbClr val="0C1D4B"/>
                </a:solidFill>
                <a:latin typeface="Roboto Slab"/>
                <a:ea typeface="Roboto Slab"/>
                <a:cs typeface="Roboto Slab"/>
                <a:sym typeface="Roboto Slab"/>
              </a:rPr>
              <a:t> 1000 </a:t>
            </a:r>
            <a:r>
              <a:rPr lang="en-US" sz="2400" dirty="0" err="1">
                <a:solidFill>
                  <a:srgbClr val="0C1D4B"/>
                </a:solidFill>
                <a:latin typeface="Roboto Slab"/>
                <a:ea typeface="Roboto Slab"/>
                <a:cs typeface="Roboto Slab"/>
                <a:sym typeface="Roboto Slab"/>
              </a:rPr>
              <a:t>từ</a:t>
            </a:r>
            <a:r>
              <a:rPr lang="en-US" sz="2400" dirty="0">
                <a:solidFill>
                  <a:srgbClr val="0C1D4B"/>
                </a:solidFill>
                <a:latin typeface="Roboto Slab"/>
                <a:ea typeface="Roboto Slab"/>
                <a:cs typeface="Roboto Slab"/>
                <a:sym typeface="Roboto Slab"/>
              </a:rPr>
              <a:t> </a:t>
            </a:r>
            <a:r>
              <a:rPr lang="en-US" sz="2400" dirty="0" err="1">
                <a:solidFill>
                  <a:srgbClr val="0C1D4B"/>
                </a:solidFill>
                <a:latin typeface="Roboto Slab"/>
                <a:ea typeface="Roboto Slab"/>
                <a:cs typeface="Roboto Slab"/>
                <a:sym typeface="Roboto Slab"/>
              </a:rPr>
              <a:t>với</a:t>
            </a:r>
            <a:r>
              <a:rPr lang="en-US" sz="2400" dirty="0">
                <a:solidFill>
                  <a:srgbClr val="0C1D4B"/>
                </a:solidFill>
                <a:latin typeface="Roboto Slab"/>
                <a:ea typeface="Roboto Slab"/>
                <a:cs typeface="Roboto Slab"/>
                <a:sym typeface="Roboto Slab"/>
              </a:rPr>
              <a:t> overlap 150 </a:t>
            </a:r>
            <a:r>
              <a:rPr lang="en-US" sz="2400" dirty="0" err="1">
                <a:solidFill>
                  <a:srgbClr val="0C1D4B"/>
                </a:solidFill>
                <a:latin typeface="Roboto Slab"/>
                <a:ea typeface="Roboto Slab"/>
                <a:cs typeface="Roboto Slab"/>
                <a:sym typeface="Roboto Slab"/>
              </a:rPr>
              <a:t>từ</a:t>
            </a:r>
            <a:endParaRPr lang="en-US" sz="2400" dirty="0">
              <a:solidFill>
                <a:srgbClr val="0C1D4B"/>
              </a:solidFill>
              <a:latin typeface="Roboto Slab"/>
              <a:ea typeface="Roboto Slab"/>
              <a:cs typeface="Roboto Slab"/>
              <a:sym typeface="Roboto Slab"/>
            </a:endParaRPr>
          </a:p>
          <a:p>
            <a:pPr marL="518162" lvl="1" indent="-259081" algn="l">
              <a:lnSpc>
                <a:spcPts val="3840"/>
              </a:lnSpc>
              <a:buFont typeface="Arial"/>
              <a:buChar char="•"/>
            </a:pPr>
            <a:r>
              <a:rPr lang="en-US" sz="2400" dirty="0">
                <a:solidFill>
                  <a:srgbClr val="0C1D4B"/>
                </a:solidFill>
                <a:latin typeface="Roboto Slab"/>
                <a:ea typeface="Roboto Slab"/>
                <a:cs typeface="Roboto Slab"/>
                <a:sym typeface="Roboto Slab"/>
              </a:rPr>
              <a:t>Embedding </a:t>
            </a:r>
            <a:r>
              <a:rPr lang="en-US" sz="2400" dirty="0" err="1">
                <a:solidFill>
                  <a:srgbClr val="0C1D4B"/>
                </a:solidFill>
                <a:latin typeface="Roboto Slab"/>
                <a:ea typeface="Roboto Slab"/>
                <a:cs typeface="Roboto Slab"/>
                <a:sym typeface="Roboto Slab"/>
              </a:rPr>
              <a:t>dùng</a:t>
            </a:r>
            <a:r>
              <a:rPr lang="en-US" sz="2400" dirty="0">
                <a:solidFill>
                  <a:srgbClr val="0C1D4B"/>
                </a:solidFill>
                <a:latin typeface="Roboto Slab"/>
                <a:ea typeface="Roboto Slab"/>
                <a:cs typeface="Roboto Slab"/>
                <a:sym typeface="Roboto Slab"/>
              </a:rPr>
              <a:t> </a:t>
            </a:r>
            <a:r>
              <a:rPr lang="en-US" sz="2400" dirty="0" err="1">
                <a:solidFill>
                  <a:srgbClr val="0C1D4B"/>
                </a:solidFill>
                <a:latin typeface="Roboto Slab"/>
                <a:ea typeface="Roboto Slab"/>
                <a:cs typeface="Roboto Slab"/>
                <a:sym typeface="Roboto Slab"/>
              </a:rPr>
              <a:t>để</a:t>
            </a:r>
            <a:r>
              <a:rPr lang="en-US" sz="2400" dirty="0">
                <a:solidFill>
                  <a:srgbClr val="0C1D4B"/>
                </a:solidFill>
                <a:latin typeface="Roboto Slab"/>
                <a:ea typeface="Roboto Slab"/>
                <a:cs typeface="Roboto Slab"/>
                <a:sym typeface="Roboto Slab"/>
              </a:rPr>
              <a:t> </a:t>
            </a:r>
            <a:r>
              <a:rPr lang="en-US" sz="2400" dirty="0" err="1">
                <a:solidFill>
                  <a:srgbClr val="0C1D4B"/>
                </a:solidFill>
                <a:latin typeface="Roboto Slab"/>
                <a:ea typeface="Roboto Slab"/>
                <a:cs typeface="Roboto Slab"/>
                <a:sym typeface="Roboto Slab"/>
              </a:rPr>
              <a:t>tìm</a:t>
            </a:r>
            <a:r>
              <a:rPr lang="en-US" sz="2400" dirty="0">
                <a:solidFill>
                  <a:srgbClr val="0C1D4B"/>
                </a:solidFill>
                <a:latin typeface="Roboto Slab"/>
                <a:ea typeface="Roboto Slab"/>
                <a:cs typeface="Roboto Slab"/>
                <a:sym typeface="Roboto Slab"/>
              </a:rPr>
              <a:t> </a:t>
            </a:r>
            <a:r>
              <a:rPr lang="en-US" sz="2400" dirty="0" err="1">
                <a:solidFill>
                  <a:srgbClr val="0C1D4B"/>
                </a:solidFill>
                <a:latin typeface="Roboto Slab"/>
                <a:ea typeface="Roboto Slab"/>
                <a:cs typeface="Roboto Slab"/>
                <a:sym typeface="Roboto Slab"/>
              </a:rPr>
              <a:t>kiếm</a:t>
            </a:r>
            <a:r>
              <a:rPr lang="en-US" sz="2400" dirty="0">
                <a:solidFill>
                  <a:srgbClr val="0C1D4B"/>
                </a:solidFill>
                <a:latin typeface="Roboto Slab"/>
                <a:ea typeface="Roboto Slab"/>
                <a:cs typeface="Roboto Slab"/>
                <a:sym typeface="Roboto Slab"/>
              </a:rPr>
              <a:t> </a:t>
            </a:r>
            <a:r>
              <a:rPr lang="en-US" sz="2400" dirty="0" err="1">
                <a:solidFill>
                  <a:srgbClr val="0C1D4B"/>
                </a:solidFill>
                <a:latin typeface="Roboto Slab"/>
                <a:ea typeface="Roboto Slab"/>
                <a:cs typeface="Roboto Slab"/>
                <a:sym typeface="Roboto Slab"/>
              </a:rPr>
              <a:t>tương</a:t>
            </a:r>
            <a:r>
              <a:rPr lang="en-US" sz="2400" dirty="0">
                <a:solidFill>
                  <a:srgbClr val="0C1D4B"/>
                </a:solidFill>
                <a:latin typeface="Roboto Slab"/>
                <a:ea typeface="Roboto Slab"/>
                <a:cs typeface="Roboto Slab"/>
                <a:sym typeface="Roboto Slab"/>
              </a:rPr>
              <a:t> </a:t>
            </a:r>
            <a:r>
              <a:rPr lang="en-US" sz="2400" dirty="0" err="1">
                <a:solidFill>
                  <a:srgbClr val="0C1D4B"/>
                </a:solidFill>
                <a:latin typeface="Roboto Slab"/>
                <a:ea typeface="Roboto Slab"/>
                <a:cs typeface="Roboto Slab"/>
                <a:sym typeface="Roboto Slab"/>
              </a:rPr>
              <a:t>đồng</a:t>
            </a:r>
            <a:r>
              <a:rPr lang="en-US" sz="2400" dirty="0">
                <a:solidFill>
                  <a:srgbClr val="0C1D4B"/>
                </a:solidFill>
                <a:latin typeface="Roboto Slab"/>
                <a:ea typeface="Roboto Slab"/>
                <a:cs typeface="Roboto Slab"/>
                <a:sym typeface="Roboto Slab"/>
              </a:rPr>
              <a:t> </a:t>
            </a:r>
            <a:r>
              <a:rPr lang="en-US" sz="2400" dirty="0" err="1">
                <a:solidFill>
                  <a:srgbClr val="0C1D4B"/>
                </a:solidFill>
                <a:latin typeface="Roboto Slab"/>
                <a:ea typeface="Roboto Slab"/>
                <a:cs typeface="Roboto Slab"/>
                <a:sym typeface="Roboto Slab"/>
              </a:rPr>
              <a:t>ngữ</a:t>
            </a:r>
            <a:r>
              <a:rPr lang="en-US" sz="2400" dirty="0">
                <a:solidFill>
                  <a:srgbClr val="0C1D4B"/>
                </a:solidFill>
                <a:latin typeface="Roboto Slab"/>
                <a:ea typeface="Roboto Slab"/>
                <a:cs typeface="Roboto Slab"/>
                <a:sym typeface="Roboto Slab"/>
              </a:rPr>
              <a:t> </a:t>
            </a:r>
            <a:r>
              <a:rPr lang="en-US" sz="2400" dirty="0" err="1">
                <a:solidFill>
                  <a:srgbClr val="0C1D4B"/>
                </a:solidFill>
                <a:latin typeface="Roboto Slab"/>
                <a:ea typeface="Roboto Slab"/>
                <a:cs typeface="Roboto Slab"/>
                <a:sym typeface="Roboto Slab"/>
              </a:rPr>
              <a:t>nghĩa</a:t>
            </a:r>
            <a:endParaRPr lang="en-US" sz="2400" dirty="0">
              <a:solidFill>
                <a:srgbClr val="0C1D4B"/>
              </a:solidFill>
              <a:latin typeface="Roboto Slab"/>
              <a:ea typeface="Roboto Slab"/>
              <a:cs typeface="Roboto Slab"/>
              <a:sym typeface="Roboto Slab"/>
            </a:endParaRPr>
          </a:p>
          <a:p>
            <a:pPr marL="518162" lvl="1" indent="-259081" algn="l">
              <a:lnSpc>
                <a:spcPts val="3840"/>
              </a:lnSpc>
              <a:buFont typeface="Arial"/>
              <a:buChar char="•"/>
            </a:pPr>
            <a:r>
              <a:rPr lang="en-US" sz="2400" dirty="0">
                <a:solidFill>
                  <a:srgbClr val="0C1D4B"/>
                </a:solidFill>
                <a:latin typeface="Roboto Slab"/>
                <a:ea typeface="Roboto Slab"/>
                <a:cs typeface="Roboto Slab"/>
                <a:sym typeface="Roboto Slab"/>
              </a:rPr>
              <a:t>Document </a:t>
            </a:r>
            <a:r>
              <a:rPr lang="en-US" sz="2400" dirty="0" err="1">
                <a:solidFill>
                  <a:srgbClr val="0C1D4B"/>
                </a:solidFill>
                <a:latin typeface="Roboto Slab"/>
                <a:ea typeface="Roboto Slab"/>
                <a:cs typeface="Roboto Slab"/>
                <a:sym typeface="Roboto Slab"/>
              </a:rPr>
              <a:t>và</a:t>
            </a:r>
            <a:r>
              <a:rPr lang="en-US" sz="2400" dirty="0">
                <a:solidFill>
                  <a:srgbClr val="0C1D4B"/>
                </a:solidFill>
                <a:latin typeface="Roboto Slab"/>
                <a:ea typeface="Roboto Slab"/>
                <a:cs typeface="Roboto Slab"/>
                <a:sym typeface="Roboto Slab"/>
              </a:rPr>
              <a:t> metadata </a:t>
            </a:r>
            <a:r>
              <a:rPr lang="en-US" sz="2400" dirty="0" err="1">
                <a:solidFill>
                  <a:srgbClr val="0C1D4B"/>
                </a:solidFill>
                <a:latin typeface="Roboto Slab"/>
                <a:ea typeface="Roboto Slab"/>
                <a:cs typeface="Roboto Slab"/>
                <a:sym typeface="Roboto Slab"/>
              </a:rPr>
              <a:t>được</a:t>
            </a:r>
            <a:r>
              <a:rPr lang="en-US" sz="2400" dirty="0">
                <a:solidFill>
                  <a:srgbClr val="0C1D4B"/>
                </a:solidFill>
                <a:latin typeface="Roboto Slab"/>
                <a:ea typeface="Roboto Slab"/>
                <a:cs typeface="Roboto Slab"/>
                <a:sym typeface="Roboto Slab"/>
              </a:rPr>
              <a:t> </a:t>
            </a:r>
            <a:r>
              <a:rPr lang="en-US" sz="2400" dirty="0" err="1">
                <a:solidFill>
                  <a:srgbClr val="0C1D4B"/>
                </a:solidFill>
                <a:latin typeface="Roboto Slab"/>
                <a:ea typeface="Roboto Slab"/>
                <a:cs typeface="Roboto Slab"/>
                <a:sym typeface="Roboto Slab"/>
              </a:rPr>
              <a:t>trả</a:t>
            </a:r>
            <a:r>
              <a:rPr lang="en-US" sz="2400" dirty="0">
                <a:solidFill>
                  <a:srgbClr val="0C1D4B"/>
                </a:solidFill>
                <a:latin typeface="Roboto Slab"/>
                <a:ea typeface="Roboto Slab"/>
                <a:cs typeface="Roboto Slab"/>
                <a:sym typeface="Roboto Slab"/>
              </a:rPr>
              <a:t> </a:t>
            </a:r>
            <a:r>
              <a:rPr lang="en-US" sz="2400" dirty="0" err="1">
                <a:solidFill>
                  <a:srgbClr val="0C1D4B"/>
                </a:solidFill>
                <a:latin typeface="Roboto Slab"/>
                <a:ea typeface="Roboto Slab"/>
                <a:cs typeface="Roboto Slab"/>
                <a:sym typeface="Roboto Slab"/>
              </a:rPr>
              <a:t>về</a:t>
            </a:r>
            <a:r>
              <a:rPr lang="en-US" sz="2400" dirty="0">
                <a:solidFill>
                  <a:srgbClr val="0C1D4B"/>
                </a:solidFill>
                <a:latin typeface="Roboto Slab"/>
                <a:ea typeface="Roboto Slab"/>
                <a:cs typeface="Roboto Slab"/>
                <a:sym typeface="Roboto Slab"/>
              </a:rPr>
              <a:t> </a:t>
            </a:r>
            <a:r>
              <a:rPr lang="en-US" sz="2400" dirty="0" err="1">
                <a:solidFill>
                  <a:srgbClr val="0C1D4B"/>
                </a:solidFill>
                <a:latin typeface="Roboto Slab"/>
                <a:ea typeface="Roboto Slab"/>
                <a:cs typeface="Roboto Slab"/>
                <a:sym typeface="Roboto Slab"/>
              </a:rPr>
              <a:t>làm</a:t>
            </a:r>
            <a:r>
              <a:rPr lang="en-US" sz="2400" dirty="0">
                <a:solidFill>
                  <a:srgbClr val="0C1D4B"/>
                </a:solidFill>
                <a:latin typeface="Roboto Slab"/>
                <a:ea typeface="Roboto Slab"/>
                <a:cs typeface="Roboto Slab"/>
                <a:sym typeface="Roboto Slab"/>
              </a:rPr>
              <a:t> context </a:t>
            </a:r>
            <a:r>
              <a:rPr lang="en-US" sz="2400" dirty="0" err="1">
                <a:solidFill>
                  <a:srgbClr val="0C1D4B"/>
                </a:solidFill>
                <a:latin typeface="Roboto Slab"/>
                <a:ea typeface="Roboto Slab"/>
                <a:cs typeface="Roboto Slab"/>
                <a:sym typeface="Roboto Slab"/>
              </a:rPr>
              <a:t>pháp</a:t>
            </a:r>
            <a:r>
              <a:rPr lang="en-US" sz="2400" dirty="0">
                <a:solidFill>
                  <a:srgbClr val="0C1D4B"/>
                </a:solidFill>
                <a:latin typeface="Roboto Slab"/>
                <a:ea typeface="Roboto Slab"/>
                <a:cs typeface="Roboto Slab"/>
                <a:sym typeface="Roboto Slab"/>
              </a:rPr>
              <a:t> </a:t>
            </a:r>
            <a:r>
              <a:rPr lang="en-US" sz="2400" dirty="0" err="1">
                <a:solidFill>
                  <a:srgbClr val="0C1D4B"/>
                </a:solidFill>
                <a:latin typeface="Roboto Slab"/>
                <a:ea typeface="Roboto Slab"/>
                <a:cs typeface="Roboto Slab"/>
                <a:sym typeface="Roboto Slab"/>
              </a:rPr>
              <a:t>lý</a:t>
            </a:r>
            <a:r>
              <a:rPr lang="en-US" sz="2400" dirty="0">
                <a:solidFill>
                  <a:srgbClr val="0C1D4B"/>
                </a:solidFill>
                <a:latin typeface="Roboto Slab"/>
                <a:ea typeface="Roboto Slab"/>
                <a:cs typeface="Roboto Slab"/>
                <a:sym typeface="Roboto Slab"/>
              </a:rPr>
              <a:t> </a:t>
            </a:r>
            <a:r>
              <a:rPr lang="en-US" sz="2400" dirty="0" err="1">
                <a:solidFill>
                  <a:srgbClr val="0C1D4B"/>
                </a:solidFill>
                <a:latin typeface="Roboto Slab"/>
                <a:ea typeface="Roboto Slab"/>
                <a:cs typeface="Roboto Slab"/>
                <a:sym typeface="Roboto Slab"/>
              </a:rPr>
              <a:t>cho</a:t>
            </a:r>
            <a:r>
              <a:rPr lang="en-US" sz="2400" dirty="0">
                <a:solidFill>
                  <a:srgbClr val="0C1D4B"/>
                </a:solidFill>
                <a:latin typeface="Roboto Slab"/>
                <a:ea typeface="Roboto Slab"/>
                <a:cs typeface="Roboto Slab"/>
                <a:sym typeface="Roboto Slab"/>
              </a:rPr>
              <a:t> Agent</a:t>
            </a:r>
          </a:p>
        </p:txBody>
      </p:sp>
      <p:grpSp>
        <p:nvGrpSpPr>
          <p:cNvPr id="14" name="Group 14"/>
          <p:cNvGrpSpPr/>
          <p:nvPr/>
        </p:nvGrpSpPr>
        <p:grpSpPr>
          <a:xfrm>
            <a:off x="-912143" y="9429369"/>
            <a:ext cx="1940843" cy="970417"/>
            <a:chOff x="0" y="0"/>
            <a:chExt cx="2587790" cy="1293889"/>
          </a:xfrm>
        </p:grpSpPr>
        <p:sp>
          <p:nvSpPr>
            <p:cNvPr id="15" name="Freeform 15"/>
            <p:cNvSpPr/>
            <p:nvPr/>
          </p:nvSpPr>
          <p:spPr>
            <a:xfrm>
              <a:off x="0" y="0"/>
              <a:ext cx="2587752" cy="1293876"/>
            </a:xfrm>
            <a:custGeom>
              <a:avLst/>
              <a:gdLst/>
              <a:ahLst/>
              <a:cxnLst/>
              <a:rect l="l" t="t" r="r" b="b"/>
              <a:pathLst>
                <a:path w="2587752" h="1293876">
                  <a:moveTo>
                    <a:pt x="0" y="0"/>
                  </a:moveTo>
                  <a:lnTo>
                    <a:pt x="2587752" y="0"/>
                  </a:lnTo>
                  <a:lnTo>
                    <a:pt x="2587752" y="1293876"/>
                  </a:lnTo>
                  <a:lnTo>
                    <a:pt x="0" y="1293876"/>
                  </a:lnTo>
                  <a:lnTo>
                    <a:pt x="0" y="0"/>
                  </a:lnTo>
                  <a:close/>
                </a:path>
              </a:pathLst>
            </a:custGeom>
            <a:blipFill>
              <a:blip r:embed="rId2"/>
              <a:stretch>
                <a:fillRect r="-1"/>
              </a:stretch>
            </a:blipFill>
          </p:spPr>
          <p:txBody>
            <a:bodyPr/>
            <a:lstStyle/>
            <a:p>
              <a:endParaRPr lang="en-VN"/>
            </a:p>
          </p:txBody>
        </p:sp>
      </p:grpSp>
      <p:grpSp>
        <p:nvGrpSpPr>
          <p:cNvPr id="16" name="Group 16"/>
          <p:cNvGrpSpPr/>
          <p:nvPr/>
        </p:nvGrpSpPr>
        <p:grpSpPr>
          <a:xfrm>
            <a:off x="1290150" y="4606260"/>
            <a:ext cx="15707699" cy="5196422"/>
            <a:chOff x="0" y="0"/>
            <a:chExt cx="20943599" cy="6928562"/>
          </a:xfrm>
        </p:grpSpPr>
        <p:grpSp>
          <p:nvGrpSpPr>
            <p:cNvPr id="17" name="Group 17"/>
            <p:cNvGrpSpPr/>
            <p:nvPr/>
          </p:nvGrpSpPr>
          <p:grpSpPr>
            <a:xfrm>
              <a:off x="0" y="1463004"/>
              <a:ext cx="4596946" cy="4914998"/>
              <a:chOff x="0" y="0"/>
              <a:chExt cx="908039" cy="970864"/>
            </a:xfrm>
          </p:grpSpPr>
          <p:sp>
            <p:nvSpPr>
              <p:cNvPr id="18" name="Freeform 18"/>
              <p:cNvSpPr/>
              <p:nvPr/>
            </p:nvSpPr>
            <p:spPr>
              <a:xfrm>
                <a:off x="0" y="0"/>
                <a:ext cx="908039" cy="970864"/>
              </a:xfrm>
              <a:custGeom>
                <a:avLst/>
                <a:gdLst/>
                <a:ahLst/>
                <a:cxnLst/>
                <a:rect l="l" t="t" r="r" b="b"/>
                <a:pathLst>
                  <a:path w="908039" h="970864">
                    <a:moveTo>
                      <a:pt x="62875" y="0"/>
                    </a:moveTo>
                    <a:lnTo>
                      <a:pt x="845164" y="0"/>
                    </a:lnTo>
                    <a:cubicBezTo>
                      <a:pt x="879889" y="0"/>
                      <a:pt x="908039" y="28150"/>
                      <a:pt x="908039" y="62875"/>
                    </a:cubicBezTo>
                    <a:lnTo>
                      <a:pt x="908039" y="907989"/>
                    </a:lnTo>
                    <a:cubicBezTo>
                      <a:pt x="908039" y="942714"/>
                      <a:pt x="879889" y="970864"/>
                      <a:pt x="845164" y="970864"/>
                    </a:cubicBezTo>
                    <a:lnTo>
                      <a:pt x="62875" y="970864"/>
                    </a:lnTo>
                    <a:cubicBezTo>
                      <a:pt x="28150" y="970864"/>
                      <a:pt x="0" y="942714"/>
                      <a:pt x="0" y="907989"/>
                    </a:cubicBezTo>
                    <a:lnTo>
                      <a:pt x="0" y="62875"/>
                    </a:lnTo>
                    <a:cubicBezTo>
                      <a:pt x="0" y="28150"/>
                      <a:pt x="28150" y="0"/>
                      <a:pt x="62875" y="0"/>
                    </a:cubicBezTo>
                    <a:close/>
                  </a:path>
                </a:pathLst>
              </a:custGeom>
              <a:ln w="19050" cap="rnd">
                <a:solidFill>
                  <a:srgbClr val="000000"/>
                </a:solidFill>
                <a:prstDash val="solid"/>
                <a:round/>
              </a:ln>
            </p:spPr>
            <p:txBody>
              <a:bodyPr/>
              <a:lstStyle/>
              <a:p>
                <a:endParaRPr lang="en-VN"/>
              </a:p>
            </p:txBody>
          </p:sp>
          <p:sp>
            <p:nvSpPr>
              <p:cNvPr id="19" name="TextBox 19"/>
              <p:cNvSpPr txBox="1"/>
              <p:nvPr/>
            </p:nvSpPr>
            <p:spPr>
              <a:xfrm>
                <a:off x="0" y="-19050"/>
                <a:ext cx="908039" cy="989914"/>
              </a:xfrm>
              <a:prstGeom prst="rect">
                <a:avLst/>
              </a:prstGeom>
            </p:spPr>
            <p:txBody>
              <a:bodyPr lIns="50800" tIns="50800" rIns="50800" bIns="50800" rtlCol="0" anchor="ctr"/>
              <a:lstStyle/>
              <a:p>
                <a:pPr algn="l">
                  <a:lnSpc>
                    <a:spcPts val="1679"/>
                  </a:lnSpc>
                </a:pPr>
                <a:r>
                  <a:rPr lang="en-US" sz="1200" spc="28">
                    <a:solidFill>
                      <a:srgbClr val="0C1D4B"/>
                    </a:solidFill>
                    <a:latin typeface="IBM Plex Mono"/>
                    <a:ea typeface="IBM Plex Mono"/>
                    <a:cs typeface="IBM Plex Mono"/>
                    <a:sym typeface="IBM Plex Mono"/>
                  </a:rPr>
                  <a:t>{</a:t>
                </a:r>
              </a:p>
              <a:p>
                <a:pPr algn="l">
                  <a:lnSpc>
                    <a:spcPts val="1679"/>
                  </a:lnSpc>
                </a:pPr>
                <a:r>
                  <a:rPr lang="en-US" sz="1200" spc="28">
                    <a:solidFill>
                      <a:srgbClr val="0C1D4B"/>
                    </a:solidFill>
                    <a:latin typeface="IBM Plex Mono"/>
                    <a:ea typeface="IBM Plex Mono"/>
                    <a:cs typeface="IBM Plex Mono"/>
                    <a:sym typeface="IBM Plex Mono"/>
                  </a:rPr>
                  <a:t> "law_id": "100/2015/QH13",</a:t>
                </a:r>
              </a:p>
              <a:p>
                <a:pPr algn="l">
                  <a:lnSpc>
                    <a:spcPts val="1679"/>
                  </a:lnSpc>
                </a:pPr>
                <a:r>
                  <a:rPr lang="en-US" sz="1200" spc="28">
                    <a:solidFill>
                      <a:srgbClr val="0C1D4B"/>
                    </a:solidFill>
                    <a:latin typeface="IBM Plex Mono"/>
                    <a:ea typeface="IBM Plex Mono"/>
                    <a:cs typeface="IBM Plex Mono"/>
                    <a:sym typeface="IBM Plex Mono"/>
                  </a:rPr>
                  <a:t> "article_id": "173",</a:t>
                </a:r>
              </a:p>
              <a:p>
                <a:pPr algn="l">
                  <a:lnSpc>
                    <a:spcPts val="1679"/>
                  </a:lnSpc>
                </a:pPr>
                <a:r>
                  <a:rPr lang="en-US" sz="1200" spc="28">
                    <a:solidFill>
                      <a:srgbClr val="0C1D4B"/>
                    </a:solidFill>
                    <a:latin typeface="IBM Plex Mono"/>
                    <a:ea typeface="IBM Plex Mono"/>
                    <a:cs typeface="IBM Plex Mono"/>
                    <a:sym typeface="IBM Plex Mono"/>
                  </a:rPr>
                  <a:t> "title": "Điều 173. Tội trộm cắp tài sản",</a:t>
                </a:r>
              </a:p>
              <a:p>
                <a:pPr algn="l">
                  <a:lnSpc>
                    <a:spcPts val="1679"/>
                  </a:lnSpc>
                </a:pPr>
                <a:r>
                  <a:rPr lang="en-US" sz="1200" spc="28">
                    <a:solidFill>
                      <a:srgbClr val="0C1D4B"/>
                    </a:solidFill>
                    <a:latin typeface="IBM Plex Mono"/>
                    <a:ea typeface="IBM Plex Mono"/>
                    <a:cs typeface="IBM Plex Mono"/>
                    <a:sym typeface="IBM Plex Mono"/>
                  </a:rPr>
                  <a:t> "text": "Người nào trộm cắp tài sản của người khác...",</a:t>
                </a:r>
              </a:p>
              <a:p>
                <a:pPr algn="l">
                  <a:lnSpc>
                    <a:spcPts val="1679"/>
                  </a:lnSpc>
                </a:pPr>
                <a:r>
                  <a:rPr lang="en-US" sz="1200" spc="28">
                    <a:solidFill>
                      <a:srgbClr val="0C1D4B"/>
                    </a:solidFill>
                    <a:latin typeface="IBM Plex Mono"/>
                    <a:ea typeface="IBM Plex Mono"/>
                    <a:cs typeface="IBM Plex Mono"/>
                    <a:sym typeface="IBM Plex Mono"/>
                  </a:rPr>
                  <a:t> "metadata": {</a:t>
                </a:r>
              </a:p>
              <a:p>
                <a:pPr algn="l">
                  <a:lnSpc>
                    <a:spcPts val="1679"/>
                  </a:lnSpc>
                </a:pPr>
                <a:r>
                  <a:rPr lang="en-US" sz="1200" spc="28">
                    <a:solidFill>
                      <a:srgbClr val="0C1D4B"/>
                    </a:solidFill>
                    <a:latin typeface="IBM Plex Mono"/>
                    <a:ea typeface="IBM Plex Mono"/>
                    <a:cs typeface="IBM Plex Mono"/>
                    <a:sym typeface="IBM Plex Mono"/>
                  </a:rPr>
                  <a:t> "year": "2015",</a:t>
                </a:r>
              </a:p>
              <a:p>
                <a:pPr algn="l">
                  <a:lnSpc>
                    <a:spcPts val="1679"/>
                  </a:lnSpc>
                </a:pPr>
                <a:r>
                  <a:rPr lang="en-US" sz="1200" spc="28">
                    <a:solidFill>
                      <a:srgbClr val="0C1D4B"/>
                    </a:solidFill>
                    <a:latin typeface="IBM Plex Mono"/>
                    <a:ea typeface="IBM Plex Mono"/>
                    <a:cs typeface="IBM Plex Mono"/>
                    <a:sym typeface="IBM Plex Mono"/>
                  </a:rPr>
                  <a:t> "topics": ["Hình sự"],</a:t>
                </a:r>
              </a:p>
              <a:p>
                <a:pPr algn="l">
                  <a:lnSpc>
                    <a:spcPts val="1679"/>
                  </a:lnSpc>
                </a:pPr>
                <a:r>
                  <a:rPr lang="en-US" sz="1200" spc="28">
                    <a:solidFill>
                      <a:srgbClr val="0C1D4B"/>
                    </a:solidFill>
                    <a:latin typeface="IBM Plex Mono"/>
                    <a:ea typeface="IBM Plex Mono"/>
                    <a:cs typeface="IBM Plex Mono"/>
                    <a:sym typeface="IBM Plex Mono"/>
                  </a:rPr>
                  <a:t> "keywords": ["trộm cắp tài sản", "khung hình phạt"],</a:t>
                </a:r>
              </a:p>
              <a:p>
                <a:pPr algn="l">
                  <a:lnSpc>
                    <a:spcPts val="1679"/>
                  </a:lnSpc>
                </a:pPr>
                <a:r>
                  <a:rPr lang="en-US" sz="1200" spc="28">
                    <a:solidFill>
                      <a:srgbClr val="0C1D4B"/>
                    </a:solidFill>
                    <a:latin typeface="IBM Plex Mono"/>
                    <a:ea typeface="IBM Plex Mono"/>
                    <a:cs typeface="IBM Plex Mono"/>
                    <a:sym typeface="IBM Plex Mono"/>
                  </a:rPr>
                  <a:t> "summary": "Quy định về tội trộm cắp tài sản."</a:t>
                </a:r>
              </a:p>
              <a:p>
                <a:pPr algn="l">
                  <a:lnSpc>
                    <a:spcPts val="1679"/>
                  </a:lnSpc>
                </a:pPr>
                <a:r>
                  <a:rPr lang="en-US" sz="1200" spc="28">
                    <a:solidFill>
                      <a:srgbClr val="0C1D4B"/>
                    </a:solidFill>
                    <a:latin typeface="IBM Plex Mono"/>
                    <a:ea typeface="IBM Plex Mono"/>
                    <a:cs typeface="IBM Plex Mono"/>
                    <a:sym typeface="IBM Plex Mono"/>
                  </a:rPr>
                  <a:t> }</a:t>
                </a:r>
              </a:p>
              <a:p>
                <a:pPr algn="l">
                  <a:lnSpc>
                    <a:spcPts val="1679"/>
                  </a:lnSpc>
                </a:pPr>
                <a:r>
                  <a:rPr lang="en-US" sz="1200" spc="28">
                    <a:solidFill>
                      <a:srgbClr val="0C1D4B"/>
                    </a:solidFill>
                    <a:latin typeface="IBM Plex Mono"/>
                    <a:ea typeface="IBM Plex Mono"/>
                    <a:cs typeface="IBM Plex Mono"/>
                    <a:sym typeface="IBM Plex Mono"/>
                  </a:rPr>
                  <a:t>}</a:t>
                </a:r>
              </a:p>
            </p:txBody>
          </p:sp>
        </p:grpSp>
        <p:sp>
          <p:nvSpPr>
            <p:cNvPr id="20" name="TextBox 20"/>
            <p:cNvSpPr txBox="1"/>
            <p:nvPr/>
          </p:nvSpPr>
          <p:spPr>
            <a:xfrm>
              <a:off x="623629" y="345404"/>
              <a:ext cx="3349687" cy="919408"/>
            </a:xfrm>
            <a:prstGeom prst="rect">
              <a:avLst/>
            </a:prstGeom>
          </p:spPr>
          <p:txBody>
            <a:bodyPr lIns="0" tIns="0" rIns="0" bIns="0" rtlCol="0" anchor="t">
              <a:spAutoFit/>
            </a:bodyPr>
            <a:lstStyle/>
            <a:p>
              <a:pPr algn="ctr">
                <a:lnSpc>
                  <a:spcPts val="2880"/>
                </a:lnSpc>
              </a:pPr>
              <a:r>
                <a:rPr lang="en-US" sz="1800">
                  <a:solidFill>
                    <a:srgbClr val="0C1D4B"/>
                  </a:solidFill>
                  <a:latin typeface="Roboto Slab"/>
                  <a:ea typeface="Roboto Slab"/>
                  <a:cs typeface="Roboto Slab"/>
                  <a:sym typeface="Roboto Slab"/>
                </a:rPr>
                <a:t>Dữ liệu sau khi làm sạch và gắn metadata</a:t>
              </a:r>
            </a:p>
          </p:txBody>
        </p:sp>
        <p:sp>
          <p:nvSpPr>
            <p:cNvPr id="21" name="AutoShape 21"/>
            <p:cNvSpPr/>
            <p:nvPr/>
          </p:nvSpPr>
          <p:spPr>
            <a:xfrm>
              <a:off x="4596946" y="3920503"/>
              <a:ext cx="3024838" cy="0"/>
            </a:xfrm>
            <a:prstGeom prst="line">
              <a:avLst/>
            </a:prstGeom>
            <a:ln w="50800" cap="flat">
              <a:solidFill>
                <a:srgbClr val="0C0C6B"/>
              </a:solidFill>
              <a:prstDash val="solid"/>
              <a:headEnd type="none" w="sm" len="sm"/>
              <a:tailEnd type="arrow" w="med" len="sm"/>
            </a:ln>
          </p:spPr>
          <p:txBody>
            <a:bodyPr/>
            <a:lstStyle/>
            <a:p>
              <a:endParaRPr lang="en-VN"/>
            </a:p>
          </p:txBody>
        </p:sp>
        <p:grpSp>
          <p:nvGrpSpPr>
            <p:cNvPr id="22" name="Group 22"/>
            <p:cNvGrpSpPr/>
            <p:nvPr/>
          </p:nvGrpSpPr>
          <p:grpSpPr>
            <a:xfrm>
              <a:off x="7621784" y="2874129"/>
              <a:ext cx="3056661" cy="2092748"/>
              <a:chOff x="0" y="0"/>
              <a:chExt cx="603785" cy="413382"/>
            </a:xfrm>
          </p:grpSpPr>
          <p:sp>
            <p:nvSpPr>
              <p:cNvPr id="23" name="Freeform 23"/>
              <p:cNvSpPr/>
              <p:nvPr/>
            </p:nvSpPr>
            <p:spPr>
              <a:xfrm>
                <a:off x="0" y="0"/>
                <a:ext cx="603785" cy="413382"/>
              </a:xfrm>
              <a:custGeom>
                <a:avLst/>
                <a:gdLst/>
                <a:ahLst/>
                <a:cxnLst/>
                <a:rect l="l" t="t" r="r" b="b"/>
                <a:pathLst>
                  <a:path w="603785" h="413382">
                    <a:moveTo>
                      <a:pt x="94558" y="0"/>
                    </a:moveTo>
                    <a:lnTo>
                      <a:pt x="509227" y="0"/>
                    </a:lnTo>
                    <a:cubicBezTo>
                      <a:pt x="561450" y="0"/>
                      <a:pt x="603785" y="42335"/>
                      <a:pt x="603785" y="94558"/>
                    </a:cubicBezTo>
                    <a:lnTo>
                      <a:pt x="603785" y="318824"/>
                    </a:lnTo>
                    <a:cubicBezTo>
                      <a:pt x="603785" y="371047"/>
                      <a:pt x="561450" y="413382"/>
                      <a:pt x="509227" y="413382"/>
                    </a:cubicBezTo>
                    <a:lnTo>
                      <a:pt x="94558" y="413382"/>
                    </a:lnTo>
                    <a:cubicBezTo>
                      <a:pt x="42335" y="413382"/>
                      <a:pt x="0" y="371047"/>
                      <a:pt x="0" y="318824"/>
                    </a:cubicBezTo>
                    <a:lnTo>
                      <a:pt x="0" y="94558"/>
                    </a:lnTo>
                    <a:cubicBezTo>
                      <a:pt x="0" y="42335"/>
                      <a:pt x="42335" y="0"/>
                      <a:pt x="94558" y="0"/>
                    </a:cubicBezTo>
                    <a:close/>
                  </a:path>
                </a:pathLst>
              </a:custGeom>
              <a:solidFill>
                <a:srgbClr val="0D1D4B"/>
              </a:solidFill>
            </p:spPr>
            <p:txBody>
              <a:bodyPr/>
              <a:lstStyle/>
              <a:p>
                <a:endParaRPr lang="en-VN"/>
              </a:p>
            </p:txBody>
          </p:sp>
          <p:sp>
            <p:nvSpPr>
              <p:cNvPr id="24" name="TextBox 24"/>
              <p:cNvSpPr txBox="1"/>
              <p:nvPr/>
            </p:nvSpPr>
            <p:spPr>
              <a:xfrm>
                <a:off x="0" y="-38100"/>
                <a:ext cx="603785" cy="451482"/>
              </a:xfrm>
              <a:prstGeom prst="rect">
                <a:avLst/>
              </a:prstGeom>
            </p:spPr>
            <p:txBody>
              <a:bodyPr lIns="50800" tIns="50800" rIns="50800" bIns="50800" rtlCol="0" anchor="ctr"/>
              <a:lstStyle/>
              <a:p>
                <a:pPr algn="ctr">
                  <a:lnSpc>
                    <a:spcPts val="2940"/>
                  </a:lnSpc>
                </a:pPr>
                <a:r>
                  <a:rPr lang="en-US" sz="2100" b="1" spc="50">
                    <a:solidFill>
                      <a:srgbClr val="FFFFFF"/>
                    </a:solidFill>
                    <a:latin typeface="Roboto Slab Bold"/>
                    <a:ea typeface="Roboto Slab Bold"/>
                    <a:cs typeface="Roboto Slab Bold"/>
                    <a:sym typeface="Roboto Slab Bold"/>
                  </a:rPr>
                  <a:t>Chunk 0</a:t>
                </a:r>
              </a:p>
              <a:p>
                <a:pPr algn="ctr">
                  <a:lnSpc>
                    <a:spcPts val="2940"/>
                  </a:lnSpc>
                </a:pPr>
                <a:r>
                  <a:rPr lang="en-US" sz="2100" b="1" spc="50">
                    <a:solidFill>
                      <a:srgbClr val="FFFFFF"/>
                    </a:solidFill>
                    <a:latin typeface="Roboto Slab Bold"/>
                    <a:ea typeface="Roboto Slab Bold"/>
                    <a:cs typeface="Roboto Slab Bold"/>
                    <a:sym typeface="Roboto Slab Bold"/>
                  </a:rPr>
                  <a:t>Chung 1</a:t>
                </a:r>
              </a:p>
              <a:p>
                <a:pPr algn="ctr">
                  <a:lnSpc>
                    <a:spcPts val="2940"/>
                  </a:lnSpc>
                </a:pPr>
                <a:r>
                  <a:rPr lang="en-US" sz="2100" b="1" spc="50">
                    <a:solidFill>
                      <a:srgbClr val="FFFFFF"/>
                    </a:solidFill>
                    <a:latin typeface="Roboto Slab Bold"/>
                    <a:ea typeface="Roboto Slab Bold"/>
                    <a:cs typeface="Roboto Slab Bold"/>
                    <a:sym typeface="Roboto Slab Bold"/>
                  </a:rPr>
                  <a:t>...</a:t>
                </a:r>
              </a:p>
            </p:txBody>
          </p:sp>
        </p:grpSp>
        <p:sp>
          <p:nvSpPr>
            <p:cNvPr id="25" name="AutoShape 25"/>
            <p:cNvSpPr/>
            <p:nvPr/>
          </p:nvSpPr>
          <p:spPr>
            <a:xfrm flipV="1">
              <a:off x="10678445" y="3920503"/>
              <a:ext cx="4266456" cy="0"/>
            </a:xfrm>
            <a:prstGeom prst="line">
              <a:avLst/>
            </a:prstGeom>
            <a:ln w="50800" cap="flat">
              <a:solidFill>
                <a:srgbClr val="0C0C6B"/>
              </a:solidFill>
              <a:prstDash val="solid"/>
              <a:headEnd type="none" w="sm" len="sm"/>
              <a:tailEnd type="arrow" w="med" len="sm"/>
            </a:ln>
          </p:spPr>
          <p:txBody>
            <a:bodyPr/>
            <a:lstStyle/>
            <a:p>
              <a:endParaRPr lang="en-VN"/>
            </a:p>
          </p:txBody>
        </p:sp>
        <p:grpSp>
          <p:nvGrpSpPr>
            <p:cNvPr id="26" name="Group 26"/>
            <p:cNvGrpSpPr/>
            <p:nvPr/>
          </p:nvGrpSpPr>
          <p:grpSpPr>
            <a:xfrm>
              <a:off x="14944901" y="912443"/>
              <a:ext cx="5998698" cy="6016119"/>
              <a:chOff x="0" y="0"/>
              <a:chExt cx="1184928" cy="1188369"/>
            </a:xfrm>
          </p:grpSpPr>
          <p:sp>
            <p:nvSpPr>
              <p:cNvPr id="27" name="Freeform 27"/>
              <p:cNvSpPr/>
              <p:nvPr/>
            </p:nvSpPr>
            <p:spPr>
              <a:xfrm>
                <a:off x="0" y="0"/>
                <a:ext cx="1184928" cy="1188369"/>
              </a:xfrm>
              <a:custGeom>
                <a:avLst/>
                <a:gdLst/>
                <a:ahLst/>
                <a:cxnLst/>
                <a:rect l="l" t="t" r="r" b="b"/>
                <a:pathLst>
                  <a:path w="1184928" h="1188369">
                    <a:moveTo>
                      <a:pt x="48182" y="0"/>
                    </a:moveTo>
                    <a:lnTo>
                      <a:pt x="1136746" y="0"/>
                    </a:lnTo>
                    <a:cubicBezTo>
                      <a:pt x="1149524" y="0"/>
                      <a:pt x="1161780" y="5076"/>
                      <a:pt x="1170816" y="14112"/>
                    </a:cubicBezTo>
                    <a:cubicBezTo>
                      <a:pt x="1179852" y="23148"/>
                      <a:pt x="1184928" y="35404"/>
                      <a:pt x="1184928" y="48182"/>
                    </a:cubicBezTo>
                    <a:lnTo>
                      <a:pt x="1184928" y="1140187"/>
                    </a:lnTo>
                    <a:cubicBezTo>
                      <a:pt x="1184928" y="1152966"/>
                      <a:pt x="1179852" y="1165221"/>
                      <a:pt x="1170816" y="1174257"/>
                    </a:cubicBezTo>
                    <a:cubicBezTo>
                      <a:pt x="1161780" y="1183293"/>
                      <a:pt x="1149524" y="1188369"/>
                      <a:pt x="1136746" y="1188369"/>
                    </a:cubicBezTo>
                    <a:lnTo>
                      <a:pt x="48182" y="1188369"/>
                    </a:lnTo>
                    <a:cubicBezTo>
                      <a:pt x="35404" y="1188369"/>
                      <a:pt x="23148" y="1183293"/>
                      <a:pt x="14112" y="1174257"/>
                    </a:cubicBezTo>
                    <a:cubicBezTo>
                      <a:pt x="5076" y="1165221"/>
                      <a:pt x="0" y="1152966"/>
                      <a:pt x="0" y="1140187"/>
                    </a:cubicBezTo>
                    <a:lnTo>
                      <a:pt x="0" y="48182"/>
                    </a:lnTo>
                    <a:cubicBezTo>
                      <a:pt x="0" y="35404"/>
                      <a:pt x="5076" y="23148"/>
                      <a:pt x="14112" y="14112"/>
                    </a:cubicBezTo>
                    <a:cubicBezTo>
                      <a:pt x="23148" y="5076"/>
                      <a:pt x="35404" y="0"/>
                      <a:pt x="48182" y="0"/>
                    </a:cubicBezTo>
                    <a:close/>
                  </a:path>
                </a:pathLst>
              </a:custGeom>
              <a:ln w="19050" cap="rnd">
                <a:solidFill>
                  <a:srgbClr val="000000"/>
                </a:solidFill>
                <a:prstDash val="solid"/>
                <a:round/>
              </a:ln>
            </p:spPr>
            <p:txBody>
              <a:bodyPr/>
              <a:lstStyle/>
              <a:p>
                <a:endParaRPr lang="en-VN"/>
              </a:p>
            </p:txBody>
          </p:sp>
          <p:sp>
            <p:nvSpPr>
              <p:cNvPr id="28" name="TextBox 28"/>
              <p:cNvSpPr txBox="1"/>
              <p:nvPr/>
            </p:nvSpPr>
            <p:spPr>
              <a:xfrm>
                <a:off x="0" y="-19050"/>
                <a:ext cx="1184928" cy="1207419"/>
              </a:xfrm>
              <a:prstGeom prst="rect">
                <a:avLst/>
              </a:prstGeom>
            </p:spPr>
            <p:txBody>
              <a:bodyPr lIns="50800" tIns="50800" rIns="50800" bIns="50800" rtlCol="0" anchor="ctr"/>
              <a:lstStyle/>
              <a:p>
                <a:pPr algn="l">
                  <a:lnSpc>
                    <a:spcPts val="1679"/>
                  </a:lnSpc>
                </a:pPr>
                <a:r>
                  <a:rPr lang="en-US" sz="1200" spc="28">
                    <a:solidFill>
                      <a:srgbClr val="0C1D4B"/>
                    </a:solidFill>
                    <a:latin typeface="IBM Plex Mono"/>
                    <a:ea typeface="IBM Plex Mono"/>
                    <a:cs typeface="IBM Plex Mono"/>
                    <a:sym typeface="IBM Plex Mono"/>
                  </a:rPr>
                  <a:t>{</a:t>
                </a:r>
              </a:p>
              <a:p>
                <a:pPr algn="l">
                  <a:lnSpc>
                    <a:spcPts val="1679"/>
                  </a:lnSpc>
                </a:pPr>
                <a:r>
                  <a:rPr lang="en-US" sz="1200" spc="28">
                    <a:solidFill>
                      <a:srgbClr val="0C1D4B"/>
                    </a:solidFill>
                    <a:latin typeface="IBM Plex Mono"/>
                    <a:ea typeface="IBM Plex Mono"/>
                    <a:cs typeface="IBM Plex Mono"/>
                    <a:sym typeface="IBM Plex Mono"/>
                  </a:rPr>
                  <a:t>  "id": "100/2015/QH13_173_chunk0",</a:t>
                </a:r>
              </a:p>
              <a:p>
                <a:pPr algn="l">
                  <a:lnSpc>
                    <a:spcPts val="1679"/>
                  </a:lnSpc>
                </a:pPr>
                <a:endParaRPr lang="en-US" sz="1200" spc="28">
                  <a:solidFill>
                    <a:srgbClr val="0C1D4B"/>
                  </a:solidFill>
                  <a:latin typeface="IBM Plex Mono"/>
                  <a:ea typeface="IBM Plex Mono"/>
                  <a:cs typeface="IBM Plex Mono"/>
                  <a:sym typeface="IBM Plex Mono"/>
                </a:endParaRPr>
              </a:p>
              <a:p>
                <a:pPr algn="l">
                  <a:lnSpc>
                    <a:spcPts val="1679"/>
                  </a:lnSpc>
                </a:pPr>
                <a:r>
                  <a:rPr lang="en-US" sz="1200" spc="28">
                    <a:solidFill>
                      <a:srgbClr val="0C1D4B"/>
                    </a:solidFill>
                    <a:latin typeface="IBM Plex Mono"/>
                    <a:ea typeface="IBM Plex Mono"/>
                    <a:cs typeface="IBM Plex Mono"/>
                    <a:sym typeface="IBM Plex Mono"/>
                  </a:rPr>
                  <a:t>  "document": "Điều 173. Tội trộm cắp tài sản\n\nNgười nào trộm cắp tài sản...",</a:t>
                </a:r>
              </a:p>
              <a:p>
                <a:pPr algn="l">
                  <a:lnSpc>
                    <a:spcPts val="1679"/>
                  </a:lnSpc>
                </a:pPr>
                <a:r>
                  <a:rPr lang="en-US" sz="1200" spc="28">
                    <a:solidFill>
                      <a:srgbClr val="0C1D4B"/>
                    </a:solidFill>
                    <a:latin typeface="IBM Plex Mono"/>
                    <a:ea typeface="IBM Plex Mono"/>
                    <a:cs typeface="IBM Plex Mono"/>
                    <a:sym typeface="IBM Plex Mono"/>
                  </a:rPr>
                  <a:t>  "embedding": [0.12, -0.04, 0.31, "..."],</a:t>
                </a:r>
              </a:p>
              <a:p>
                <a:pPr algn="l">
                  <a:lnSpc>
                    <a:spcPts val="1679"/>
                  </a:lnSpc>
                </a:pPr>
                <a:r>
                  <a:rPr lang="en-US" sz="1200" spc="28">
                    <a:solidFill>
                      <a:srgbClr val="0C1D4B"/>
                    </a:solidFill>
                    <a:latin typeface="IBM Plex Mono"/>
                    <a:ea typeface="IBM Plex Mono"/>
                    <a:cs typeface="IBM Plex Mono"/>
                    <a:sym typeface="IBM Plex Mono"/>
                  </a:rPr>
                  <a:t>  "metadata": {</a:t>
                </a:r>
              </a:p>
              <a:p>
                <a:pPr algn="l">
                  <a:lnSpc>
                    <a:spcPts val="1679"/>
                  </a:lnSpc>
                </a:pPr>
                <a:r>
                  <a:rPr lang="en-US" sz="1200" spc="28">
                    <a:solidFill>
                      <a:srgbClr val="0C1D4B"/>
                    </a:solidFill>
                    <a:latin typeface="IBM Plex Mono"/>
                    <a:ea typeface="IBM Plex Mono"/>
                    <a:cs typeface="IBM Plex Mono"/>
                    <a:sym typeface="IBM Plex Mono"/>
                  </a:rPr>
                  <a:t>    "law_id": "100/2015/QH13",</a:t>
                </a:r>
              </a:p>
              <a:p>
                <a:pPr algn="l">
                  <a:lnSpc>
                    <a:spcPts val="1679"/>
                  </a:lnSpc>
                </a:pPr>
                <a:r>
                  <a:rPr lang="en-US" sz="1200" spc="28">
                    <a:solidFill>
                      <a:srgbClr val="0C1D4B"/>
                    </a:solidFill>
                    <a:latin typeface="IBM Plex Mono"/>
                    <a:ea typeface="IBM Plex Mono"/>
                    <a:cs typeface="IBM Plex Mono"/>
                    <a:sym typeface="IBM Plex Mono"/>
                  </a:rPr>
                  <a:t>    "article_id": "173",</a:t>
                </a:r>
              </a:p>
              <a:p>
                <a:pPr algn="l">
                  <a:lnSpc>
                    <a:spcPts val="1679"/>
                  </a:lnSpc>
                </a:pPr>
                <a:r>
                  <a:rPr lang="en-US" sz="1200" spc="28">
                    <a:solidFill>
                      <a:srgbClr val="0C1D4B"/>
                    </a:solidFill>
                    <a:latin typeface="IBM Plex Mono"/>
                    <a:ea typeface="IBM Plex Mono"/>
                    <a:cs typeface="IBM Plex Mono"/>
                    <a:sym typeface="IBM Plex Mono"/>
                  </a:rPr>
                  <a:t>    "title": "Điều 173. Tội trộm cắp tài sản",</a:t>
                </a:r>
              </a:p>
              <a:p>
                <a:pPr algn="l">
                  <a:lnSpc>
                    <a:spcPts val="1679"/>
                  </a:lnSpc>
                </a:pPr>
                <a:r>
                  <a:rPr lang="en-US" sz="1200" spc="28">
                    <a:solidFill>
                      <a:srgbClr val="0C1D4B"/>
                    </a:solidFill>
                    <a:latin typeface="IBM Plex Mono"/>
                    <a:ea typeface="IBM Plex Mono"/>
                    <a:cs typeface="IBM Plex Mono"/>
                    <a:sym typeface="IBM Plex Mono"/>
                  </a:rPr>
                  <a:t>    "chunk_index": 0,</a:t>
                </a:r>
              </a:p>
              <a:p>
                <a:pPr algn="l">
                  <a:lnSpc>
                    <a:spcPts val="1679"/>
                  </a:lnSpc>
                </a:pPr>
                <a:r>
                  <a:rPr lang="en-US" sz="1200" spc="28">
                    <a:solidFill>
                      <a:srgbClr val="0C1D4B"/>
                    </a:solidFill>
                    <a:latin typeface="IBM Plex Mono"/>
                    <a:ea typeface="IBM Plex Mono"/>
                    <a:cs typeface="IBM Plex Mono"/>
                    <a:sym typeface="IBM Plex Mono"/>
                  </a:rPr>
                  <a:t>    "total_chunks": 1,</a:t>
                </a:r>
              </a:p>
              <a:p>
                <a:pPr algn="l">
                  <a:lnSpc>
                    <a:spcPts val="1679"/>
                  </a:lnSpc>
                </a:pPr>
                <a:r>
                  <a:rPr lang="en-US" sz="1200" spc="28">
                    <a:solidFill>
                      <a:srgbClr val="0C1D4B"/>
                    </a:solidFill>
                    <a:latin typeface="IBM Plex Mono"/>
                    <a:ea typeface="IBM Plex Mono"/>
                    <a:cs typeface="IBM Plex Mono"/>
                    <a:sym typeface="IBM Plex Mono"/>
                  </a:rPr>
                  <a:t>    "year": "2015",</a:t>
                </a:r>
              </a:p>
              <a:p>
                <a:pPr algn="l">
                  <a:lnSpc>
                    <a:spcPts val="1679"/>
                  </a:lnSpc>
                </a:pPr>
                <a:r>
                  <a:rPr lang="en-US" sz="1200" spc="28">
                    <a:solidFill>
                      <a:srgbClr val="0C1D4B"/>
                    </a:solidFill>
                    <a:latin typeface="IBM Plex Mono"/>
                    <a:ea typeface="IBM Plex Mono"/>
                    <a:cs typeface="IBM Plex Mono"/>
                    <a:sym typeface="IBM Plex Mono"/>
                  </a:rPr>
                  <a:t>    "topics": "[\"Hình sự\"]",</a:t>
                </a:r>
              </a:p>
              <a:p>
                <a:pPr algn="l">
                  <a:lnSpc>
                    <a:spcPts val="1679"/>
                  </a:lnSpc>
                </a:pPr>
                <a:r>
                  <a:rPr lang="en-US" sz="1200" spc="28">
                    <a:solidFill>
                      <a:srgbClr val="0C1D4B"/>
                    </a:solidFill>
                    <a:latin typeface="IBM Plex Mono"/>
                    <a:ea typeface="IBM Plex Mono"/>
                    <a:cs typeface="IBM Plex Mono"/>
                    <a:sym typeface="IBM Plex Mono"/>
                  </a:rPr>
                  <a:t>    "keywords": "[\"trộm cắp tài sản\", \"khung hình phạt\"]",</a:t>
                </a:r>
              </a:p>
              <a:p>
                <a:pPr algn="l">
                  <a:lnSpc>
                    <a:spcPts val="1679"/>
                  </a:lnSpc>
                </a:pPr>
                <a:r>
                  <a:rPr lang="en-US" sz="1200" spc="28">
                    <a:solidFill>
                      <a:srgbClr val="0C1D4B"/>
                    </a:solidFill>
                    <a:latin typeface="IBM Plex Mono"/>
                    <a:ea typeface="IBM Plex Mono"/>
                    <a:cs typeface="IBM Plex Mono"/>
                    <a:sym typeface="IBM Plex Mono"/>
                  </a:rPr>
                  <a:t>    "summary": "Quy định về tội trộm cắp tài sản."</a:t>
                </a:r>
              </a:p>
              <a:p>
                <a:pPr algn="l">
                  <a:lnSpc>
                    <a:spcPts val="1679"/>
                  </a:lnSpc>
                </a:pPr>
                <a:r>
                  <a:rPr lang="en-US" sz="1200" spc="28">
                    <a:solidFill>
                      <a:srgbClr val="0C1D4B"/>
                    </a:solidFill>
                    <a:latin typeface="IBM Plex Mono"/>
                    <a:ea typeface="IBM Plex Mono"/>
                    <a:cs typeface="IBM Plex Mono"/>
                    <a:sym typeface="IBM Plex Mono"/>
                  </a:rPr>
                  <a:t>  }</a:t>
                </a:r>
              </a:p>
              <a:p>
                <a:pPr algn="l">
                  <a:lnSpc>
                    <a:spcPts val="1679"/>
                  </a:lnSpc>
                </a:pPr>
                <a:r>
                  <a:rPr lang="en-US" sz="1200" spc="28">
                    <a:solidFill>
                      <a:srgbClr val="0C1D4B"/>
                    </a:solidFill>
                    <a:latin typeface="IBM Plex Mono"/>
                    <a:ea typeface="IBM Plex Mono"/>
                    <a:cs typeface="IBM Plex Mono"/>
                    <a:sym typeface="IBM Plex Mono"/>
                  </a:rPr>
                  <a:t>}</a:t>
                </a:r>
              </a:p>
            </p:txBody>
          </p:sp>
        </p:grpSp>
        <p:sp>
          <p:nvSpPr>
            <p:cNvPr id="29" name="TextBox 29"/>
            <p:cNvSpPr txBox="1"/>
            <p:nvPr/>
          </p:nvSpPr>
          <p:spPr>
            <a:xfrm>
              <a:off x="16269407" y="-76200"/>
              <a:ext cx="3349687" cy="919408"/>
            </a:xfrm>
            <a:prstGeom prst="rect">
              <a:avLst/>
            </a:prstGeom>
          </p:spPr>
          <p:txBody>
            <a:bodyPr lIns="0" tIns="0" rIns="0" bIns="0" rtlCol="0" anchor="t">
              <a:spAutoFit/>
            </a:bodyPr>
            <a:lstStyle/>
            <a:p>
              <a:pPr algn="ctr">
                <a:lnSpc>
                  <a:spcPts val="2880"/>
                </a:lnSpc>
              </a:pPr>
              <a:r>
                <a:rPr lang="en-US" sz="1800">
                  <a:solidFill>
                    <a:srgbClr val="0C1D4B"/>
                  </a:solidFill>
                  <a:latin typeface="Roboto Slab"/>
                  <a:ea typeface="Roboto Slab"/>
                  <a:cs typeface="Roboto Slab"/>
                  <a:sym typeface="Roboto Slab"/>
                </a:rPr>
                <a:t>Dữ liệu lưu trữ trong ChromaDB</a:t>
              </a:r>
            </a:p>
          </p:txBody>
        </p:sp>
      </p:grpSp>
      <p:sp>
        <p:nvSpPr>
          <p:cNvPr id="30" name="RestoredLabel Chunking"/>
          <p:cNvSpPr txBox="1"/>
          <p:nvPr/>
        </p:nvSpPr>
        <p:spPr>
          <a:xfrm>
            <a:off x="5325549" y="7209497"/>
            <a:ext cx="1093248" cy="276999"/>
          </a:xfrm>
          <a:prstGeom prst="rect">
            <a:avLst/>
          </a:prstGeom>
          <a:noFill/>
          <a:ln>
            <a:noFill/>
          </a:ln>
        </p:spPr>
        <p:txBody>
          <a:bodyPr wrap="none" lIns="0" tIns="0" rIns="0" bIns="0" rtlCol="0" anchor="t">
            <a:spAutoFit/>
          </a:bodyPr>
          <a:lstStyle/>
          <a:p>
            <a:pPr algn="ctr"/>
            <a:r>
              <a:rPr lang="vi-VN" sz="1800" b="1" dirty="0">
                <a:solidFill>
                  <a:srgbClr val="0C1D4B"/>
                </a:solidFill>
                <a:latin typeface="Roboto Slab" pitchFamily="2" charset="0"/>
                <a:ea typeface="Roboto Slab" pitchFamily="2" charset="0"/>
                <a:cs typeface="Roboto Slab" pitchFamily="2" charset="0"/>
              </a:rPr>
              <a:t>Chunking</a:t>
            </a:r>
          </a:p>
        </p:txBody>
      </p:sp>
      <p:sp>
        <p:nvSpPr>
          <p:cNvPr id="31" name="RestoredLabel Vector hoa"/>
          <p:cNvSpPr txBox="1"/>
          <p:nvPr/>
        </p:nvSpPr>
        <p:spPr>
          <a:xfrm>
            <a:off x="9610884" y="6972300"/>
            <a:ext cx="2471831" cy="507831"/>
          </a:xfrm>
          <a:prstGeom prst="rect">
            <a:avLst/>
          </a:prstGeom>
          <a:noFill/>
          <a:ln>
            <a:noFill/>
          </a:ln>
        </p:spPr>
        <p:txBody>
          <a:bodyPr wrap="none" lIns="0" tIns="0" rIns="0" bIns="0" rtlCol="0" anchor="t">
            <a:spAutoFit/>
          </a:bodyPr>
          <a:lstStyle/>
          <a:p>
            <a:pPr algn="ctr"/>
            <a:r>
              <a:rPr lang="vi-VN" sz="1650" b="1" dirty="0">
                <a:solidFill>
                  <a:srgbClr val="0C1D4B"/>
                </a:solidFill>
                <a:latin typeface="Roboto Slab" pitchFamily="2" charset="0"/>
                <a:ea typeface="Roboto Slab" pitchFamily="2" charset="0"/>
                <a:cs typeface="Roboto Slab" pitchFamily="2" charset="0"/>
              </a:rPr>
              <a:t>Vector hóa</a:t>
            </a:r>
            <a:br>
              <a:rPr dirty="0">
                <a:latin typeface="Roboto Slab" pitchFamily="2" charset="0"/>
                <a:ea typeface="Roboto Slab" pitchFamily="2" charset="0"/>
                <a:cs typeface="Roboto Slab" pitchFamily="2" charset="0"/>
              </a:rPr>
            </a:br>
            <a:r>
              <a:rPr lang="vi-VN" sz="1650" b="1" dirty="0">
                <a:solidFill>
                  <a:srgbClr val="0C1D4B"/>
                </a:solidFill>
                <a:latin typeface="Roboto Slab" pitchFamily="2" charset="0"/>
                <a:ea typeface="Roboto Slab" pitchFamily="2" charset="0"/>
                <a:cs typeface="Roboto Slab" pitchFamily="2" charset="0"/>
              </a:rPr>
              <a:t>(vietnamese-bi-encoder)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grpId="0" nodeType="withEffect">
                            <p:stCondLst>
                              <p:cond delay="180"/>
                            </p:stCondLst>
                            <p:childTnLst>
                              <p:set>
                                <p:cBhvr>
                                  <p:cTn id="5" dur="1" fill="hold">
                                    <p:stCondLst>
                                      <p:cond delay="0"/>
                                    </p:stCondLst>
                                  </p:cTn>
                                  <p:tgtEl>
                                    <p:spTgt spid="12"/>
                                  </p:tgtEl>
                                  <p:attrNameLst>
                                    <p:attrName>style.visibility</p:attrName>
                                  </p:attrNameLst>
                                </p:cBhvr>
                                <p:to>
                                  <p:strVal val="visible"/>
                                </p:to>
                              </p:set>
                              <p:animEffect transition="in" filter="wipe(left)">
                                <p:cBhvr>
                                  <p:cTn id="6" dur="860"/>
                                  <p:tgtEl>
                                    <p:spTgt spid="12"/>
                                  </p:tgtEl>
                                </p:cBhvr>
                              </p:animEffect>
                            </p:childTnLst>
                          </p:cTn>
                        </p:par>
                        <p:par>
                          <p:cTn id="7" presetID="10" presetClass="entr" presetSubtype="0" fill="hold" grpId="0" nodeType="withEffect">
                            <p:stCondLst>
                              <p:cond delay="350"/>
                            </p:stCondLst>
                            <p:childTnLst>
                              <p:set>
                                <p:cBhvr>
                                  <p:cTn id="8" dur="1" fill="hold">
                                    <p:stCondLst>
                                      <p:cond delay="0"/>
                                    </p:stCondLst>
                                  </p:cTn>
                                  <p:tgtEl>
                                    <p:spTgt spid="13"/>
                                  </p:tgtEl>
                                  <p:attrNameLst>
                                    <p:attrName>style.visibility</p:attrName>
                                  </p:attrNameLst>
                                </p:cBhvr>
                                <p:to>
                                  <p:strVal val="visible"/>
                                </p:to>
                              </p:set>
                              <p:animEffect transition="in" filter="wipe(left)">
                                <p:cBhvr>
                                  <p:cTn id="9" dur="860"/>
                                  <p:tgtEl>
                                    <p:spTgt spid="13"/>
                                  </p:tgtEl>
                                </p:cBhvr>
                              </p:animEffect>
                            </p:childTnLst>
                          </p:cTn>
                        </p:par>
                        <p:par>
                          <p:cTn id="10" presetID="10" presetClass="entr" presetSubtype="0" fill="hold" grpId="0" nodeType="withEffect">
                            <p:stCondLst>
                              <p:cond delay="520"/>
                            </p:stCondLst>
                            <p:childTnLst>
                              <p:set>
                                <p:cBhvr>
                                  <p:cTn id="11" dur="1" fill="hold">
                                    <p:stCondLst>
                                      <p:cond delay="0"/>
                                    </p:stCondLst>
                                  </p:cTn>
                                  <p:tgtEl>
                                    <p:spTgt spid="16"/>
                                  </p:tgtEl>
                                  <p:attrNameLst>
                                    <p:attrName>style.visibility</p:attrName>
                                  </p:attrNameLst>
                                </p:cBhvr>
                                <p:to>
                                  <p:strVal val="visible"/>
                                </p:to>
                              </p:set>
                              <p:animEffect transition="in" filter="wipe(left)">
                                <p:cBhvr>
                                  <p:cTn id="12" dur="860"/>
                                  <p:tgtEl>
                                    <p:spTgt spid="16"/>
                                  </p:tgtEl>
                                </p:cBhvr>
                              </p:animEffect>
                            </p:childTnLst>
                          </p:cTn>
                        </p:par>
                        <p:par>
                          <p:cTn id="13" presetID="10" presetClass="entr" presetSubtype="0" fill="hold" grpId="0" nodeType="withEffect">
                            <p:stCondLst>
                              <p:cond delay="690"/>
                            </p:stCondLst>
                            <p:childTnLst>
                              <p:set>
                                <p:cBhvr>
                                  <p:cTn id="14" dur="1" fill="hold">
                                    <p:stCondLst>
                                      <p:cond delay="0"/>
                                    </p:stCondLst>
                                  </p:cTn>
                                  <p:tgtEl>
                                    <p:spTgt spid="31"/>
                                  </p:tgtEl>
                                  <p:attrNameLst>
                                    <p:attrName>style.visibility</p:attrName>
                                  </p:attrNameLst>
                                </p:cBhvr>
                                <p:to>
                                  <p:strVal val="visible"/>
                                </p:to>
                              </p:set>
                              <p:animEffect transition="in" filter="wipe(left)">
                                <p:cBhvr>
                                  <p:cTn id="15" dur="860"/>
                                  <p:tgtEl>
                                    <p:spTgt spid="31"/>
                                  </p:tgtEl>
                                </p:cBhvr>
                              </p:animEffect>
                            </p:childTnLst>
                          </p:cTn>
                        </p:par>
                        <p:par>
                          <p:cTn id="16" presetID="10" presetClass="entr" presetSubtype="0" fill="hold" grpId="0" nodeType="withEffect">
                            <p:stCondLst>
                              <p:cond delay="860"/>
                            </p:stCondLst>
                            <p:childTnLst>
                              <p:set>
                                <p:cBhvr>
                                  <p:cTn id="17" dur="1" fill="hold">
                                    <p:stCondLst>
                                      <p:cond delay="0"/>
                                    </p:stCondLst>
                                  </p:cTn>
                                  <p:tgtEl>
                                    <p:spTgt spid="30"/>
                                  </p:tgtEl>
                                  <p:attrNameLst>
                                    <p:attrName>style.visibility</p:attrName>
                                  </p:attrNameLst>
                                </p:cBhvr>
                                <p:to>
                                  <p:strVal val="visible"/>
                                </p:to>
                              </p:set>
                              <p:animEffect transition="in" filter="wipe(left)">
                                <p:cBhvr>
                                  <p:cTn id="18" dur="860"/>
                                  <p:tgtEl>
                                    <p:spTgt spid="30"/>
                                  </p:tgtEl>
                                </p:cBhvr>
                              </p:animEffect>
                            </p:childTnLst>
                          </p:cTn>
                        </p:par>
                      </p:childTnLst>
                    </p:cTn>
                  </p:par>
                </p:childTnLst>
              </p:cTn>
            </p:seq>
          </p:childTnLst>
        </p:cTn>
      </p:par>
    </p:tnLst>
    <p:bldLst>
      <p:bldP spid="12" grpId="0"/>
      <p:bldP spid="13" grpId="0"/>
      <p:bldP spid="16" grpId="0"/>
      <p:bldP spid="30" grpId="0"/>
      <p:bldP spid="31"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10800000">
            <a:off x="17259300" y="-233820"/>
            <a:ext cx="1940843" cy="970417"/>
            <a:chOff x="0" y="0"/>
            <a:chExt cx="2587790" cy="1293889"/>
          </a:xfrm>
        </p:grpSpPr>
        <p:sp>
          <p:nvSpPr>
            <p:cNvPr id="3" name="Freeform 3"/>
            <p:cNvSpPr/>
            <p:nvPr/>
          </p:nvSpPr>
          <p:spPr>
            <a:xfrm>
              <a:off x="0" y="0"/>
              <a:ext cx="2587752" cy="1293876"/>
            </a:xfrm>
            <a:custGeom>
              <a:avLst/>
              <a:gdLst/>
              <a:ahLst/>
              <a:cxnLst/>
              <a:rect l="l" t="t" r="r" b="b"/>
              <a:pathLst>
                <a:path w="2587752" h="1293876">
                  <a:moveTo>
                    <a:pt x="0" y="0"/>
                  </a:moveTo>
                  <a:lnTo>
                    <a:pt x="2587752" y="0"/>
                  </a:lnTo>
                  <a:lnTo>
                    <a:pt x="2587752" y="1293876"/>
                  </a:lnTo>
                  <a:lnTo>
                    <a:pt x="0" y="1293876"/>
                  </a:lnTo>
                  <a:lnTo>
                    <a:pt x="0" y="0"/>
                  </a:lnTo>
                  <a:close/>
                </a:path>
              </a:pathLst>
            </a:custGeom>
            <a:blipFill>
              <a:blip r:embed="rId2"/>
              <a:stretch>
                <a:fillRect r="-1"/>
              </a:stretch>
            </a:blipFill>
          </p:spPr>
          <p:txBody>
            <a:bodyPr/>
            <a:lstStyle/>
            <a:p>
              <a:endParaRPr lang="en-VN"/>
            </a:p>
          </p:txBody>
        </p:sp>
      </p:grpSp>
      <p:grpSp>
        <p:nvGrpSpPr>
          <p:cNvPr id="4" name="Group 4"/>
          <p:cNvGrpSpPr/>
          <p:nvPr/>
        </p:nvGrpSpPr>
        <p:grpSpPr>
          <a:xfrm>
            <a:off x="-912143" y="9429369"/>
            <a:ext cx="1940843" cy="970417"/>
            <a:chOff x="0" y="0"/>
            <a:chExt cx="2587790" cy="1293889"/>
          </a:xfrm>
        </p:grpSpPr>
        <p:sp>
          <p:nvSpPr>
            <p:cNvPr id="5" name="Freeform 5"/>
            <p:cNvSpPr/>
            <p:nvPr/>
          </p:nvSpPr>
          <p:spPr>
            <a:xfrm>
              <a:off x="0" y="0"/>
              <a:ext cx="2587752" cy="1293876"/>
            </a:xfrm>
            <a:custGeom>
              <a:avLst/>
              <a:gdLst/>
              <a:ahLst/>
              <a:cxnLst/>
              <a:rect l="l" t="t" r="r" b="b"/>
              <a:pathLst>
                <a:path w="2587752" h="1293876">
                  <a:moveTo>
                    <a:pt x="0" y="0"/>
                  </a:moveTo>
                  <a:lnTo>
                    <a:pt x="2587752" y="0"/>
                  </a:lnTo>
                  <a:lnTo>
                    <a:pt x="2587752" y="1293876"/>
                  </a:lnTo>
                  <a:lnTo>
                    <a:pt x="0" y="1293876"/>
                  </a:lnTo>
                  <a:lnTo>
                    <a:pt x="0" y="0"/>
                  </a:lnTo>
                  <a:close/>
                </a:path>
              </a:pathLst>
            </a:custGeom>
            <a:blipFill>
              <a:blip r:embed="rId2"/>
              <a:stretch>
                <a:fillRect r="-1"/>
              </a:stretch>
            </a:blipFill>
          </p:spPr>
          <p:txBody>
            <a:bodyPr/>
            <a:lstStyle/>
            <a:p>
              <a:endParaRPr lang="en-VN"/>
            </a:p>
          </p:txBody>
        </p:sp>
      </p:grpSp>
      <p:grpSp>
        <p:nvGrpSpPr>
          <p:cNvPr id="6" name="Group 6"/>
          <p:cNvGrpSpPr/>
          <p:nvPr/>
        </p:nvGrpSpPr>
        <p:grpSpPr>
          <a:xfrm>
            <a:off x="-3127839" y="9986436"/>
            <a:ext cx="22035035" cy="2837612"/>
            <a:chOff x="0" y="0"/>
            <a:chExt cx="5803466" cy="747355"/>
          </a:xfrm>
        </p:grpSpPr>
        <p:sp>
          <p:nvSpPr>
            <p:cNvPr id="7" name="Freeform 7"/>
            <p:cNvSpPr/>
            <p:nvPr/>
          </p:nvSpPr>
          <p:spPr>
            <a:xfrm>
              <a:off x="0" y="0"/>
              <a:ext cx="5803466" cy="747355"/>
            </a:xfrm>
            <a:custGeom>
              <a:avLst/>
              <a:gdLst/>
              <a:ahLst/>
              <a:cxnLst/>
              <a:rect l="l" t="t" r="r" b="b"/>
              <a:pathLst>
                <a:path w="5803466" h="747355">
                  <a:moveTo>
                    <a:pt x="0" y="0"/>
                  </a:moveTo>
                  <a:lnTo>
                    <a:pt x="5803466" y="0"/>
                  </a:lnTo>
                  <a:lnTo>
                    <a:pt x="5803466" y="747355"/>
                  </a:lnTo>
                  <a:lnTo>
                    <a:pt x="0" y="747355"/>
                  </a:lnTo>
                  <a:close/>
                </a:path>
              </a:pathLst>
            </a:custGeom>
            <a:solidFill>
              <a:srgbClr val="3C4F75"/>
            </a:solidFill>
          </p:spPr>
          <p:txBody>
            <a:bodyPr/>
            <a:lstStyle/>
            <a:p>
              <a:endParaRPr lang="en-VN"/>
            </a:p>
          </p:txBody>
        </p:sp>
        <p:sp>
          <p:nvSpPr>
            <p:cNvPr id="8" name="TextBox 8"/>
            <p:cNvSpPr txBox="1"/>
            <p:nvPr/>
          </p:nvSpPr>
          <p:spPr>
            <a:xfrm>
              <a:off x="0" y="-47625"/>
              <a:ext cx="5803466" cy="794980"/>
            </a:xfrm>
            <a:prstGeom prst="rect">
              <a:avLst/>
            </a:prstGeom>
          </p:spPr>
          <p:txBody>
            <a:bodyPr lIns="50800" tIns="50800" rIns="50800" bIns="50800" rtlCol="0" anchor="ctr"/>
            <a:lstStyle/>
            <a:p>
              <a:pPr algn="ctr">
                <a:lnSpc>
                  <a:spcPts val="2940"/>
                </a:lnSpc>
              </a:pPr>
              <a:endParaRPr/>
            </a:p>
          </p:txBody>
        </p:sp>
      </p:grpSp>
      <p:sp>
        <p:nvSpPr>
          <p:cNvPr id="9" name="Freeform 9"/>
          <p:cNvSpPr/>
          <p:nvPr/>
        </p:nvSpPr>
        <p:spPr>
          <a:xfrm>
            <a:off x="1028700" y="251389"/>
            <a:ext cx="551704" cy="584433"/>
          </a:xfrm>
          <a:custGeom>
            <a:avLst/>
            <a:gdLst/>
            <a:ahLst/>
            <a:cxnLst/>
            <a:rect l="l" t="t" r="r" b="b"/>
            <a:pathLst>
              <a:path w="551704" h="584433">
                <a:moveTo>
                  <a:pt x="0" y="0"/>
                </a:moveTo>
                <a:lnTo>
                  <a:pt x="551704" y="0"/>
                </a:lnTo>
                <a:lnTo>
                  <a:pt x="551704" y="584432"/>
                </a:lnTo>
                <a:lnTo>
                  <a:pt x="0" y="584432"/>
                </a:lnTo>
                <a:lnTo>
                  <a:pt x="0" y="0"/>
                </a:lnTo>
                <a:close/>
              </a:path>
            </a:pathLst>
          </a:custGeom>
          <a:blipFill>
            <a:blip r:embed="rId3"/>
            <a:stretch>
              <a:fillRect/>
            </a:stretch>
          </a:blipFill>
        </p:spPr>
        <p:txBody>
          <a:bodyPr/>
          <a:lstStyle/>
          <a:p>
            <a:endParaRPr lang="en-VN"/>
          </a:p>
        </p:txBody>
      </p:sp>
      <p:sp>
        <p:nvSpPr>
          <p:cNvPr id="10" name="TextBox 10"/>
          <p:cNvSpPr txBox="1"/>
          <p:nvPr/>
        </p:nvSpPr>
        <p:spPr>
          <a:xfrm>
            <a:off x="1028700" y="1095375"/>
            <a:ext cx="13311475" cy="534618"/>
          </a:xfrm>
          <a:prstGeom prst="rect">
            <a:avLst/>
          </a:prstGeom>
        </p:spPr>
        <p:txBody>
          <a:bodyPr lIns="0" tIns="0" rIns="0" bIns="0" rtlCol="0" anchor="t">
            <a:spAutoFit/>
          </a:bodyPr>
          <a:lstStyle/>
          <a:p>
            <a:pPr algn="just">
              <a:lnSpc>
                <a:spcPts val="4039"/>
              </a:lnSpc>
            </a:pPr>
            <a:r>
              <a:rPr lang="en-US" sz="3999" b="1">
                <a:solidFill>
                  <a:srgbClr val="0C1D4B"/>
                </a:solidFill>
                <a:latin typeface="Roboto Slab Bold"/>
                <a:ea typeface="Roboto Slab Bold"/>
                <a:cs typeface="Roboto Slab Bold"/>
                <a:sym typeface="Roboto Slab Bold"/>
              </a:rPr>
              <a:t>3.5. Xây dựng hệ thống truy vấn pháp luật nội bộ - RAG</a:t>
            </a:r>
          </a:p>
        </p:txBody>
      </p:sp>
      <p:sp>
        <p:nvSpPr>
          <p:cNvPr id="11" name="TextBox 11"/>
          <p:cNvSpPr txBox="1"/>
          <p:nvPr/>
        </p:nvSpPr>
        <p:spPr>
          <a:xfrm>
            <a:off x="1687249" y="346410"/>
            <a:ext cx="3954904" cy="356289"/>
          </a:xfrm>
          <a:prstGeom prst="rect">
            <a:avLst/>
          </a:prstGeom>
        </p:spPr>
        <p:txBody>
          <a:bodyPr lIns="0" tIns="0" rIns="0" bIns="0" rtlCol="0" anchor="t">
            <a:spAutoFit/>
          </a:bodyPr>
          <a:lstStyle/>
          <a:p>
            <a:pPr algn="l">
              <a:lnSpc>
                <a:spcPts val="2940"/>
              </a:lnSpc>
            </a:pPr>
            <a:r>
              <a:rPr lang="en-US" sz="2100" b="1">
                <a:solidFill>
                  <a:srgbClr val="2C2C2C"/>
                </a:solidFill>
                <a:latin typeface="Roboto Slab Bold"/>
                <a:ea typeface="Roboto Slab Bold"/>
                <a:cs typeface="Roboto Slab Bold"/>
                <a:sym typeface="Roboto Slab Bold"/>
              </a:rPr>
              <a:t>HỌC VIỆN KỸ THUẬT MẬT MÃ</a:t>
            </a:r>
          </a:p>
        </p:txBody>
      </p:sp>
      <p:sp>
        <p:nvSpPr>
          <p:cNvPr id="12" name="TextBox 12"/>
          <p:cNvSpPr txBox="1"/>
          <p:nvPr/>
        </p:nvSpPr>
        <p:spPr>
          <a:xfrm>
            <a:off x="1028700" y="1725243"/>
            <a:ext cx="10081822" cy="685800"/>
          </a:xfrm>
          <a:prstGeom prst="rect">
            <a:avLst/>
          </a:prstGeom>
        </p:spPr>
        <p:txBody>
          <a:bodyPr lIns="0" tIns="0" rIns="0" bIns="0" rtlCol="0" anchor="t">
            <a:spAutoFit/>
          </a:bodyPr>
          <a:lstStyle/>
          <a:p>
            <a:pPr algn="just">
              <a:lnSpc>
                <a:spcPts val="6000"/>
              </a:lnSpc>
            </a:pPr>
            <a:r>
              <a:rPr lang="en-US" sz="3000" b="1">
                <a:solidFill>
                  <a:srgbClr val="0C1D4B"/>
                </a:solidFill>
                <a:latin typeface="Roboto Slab Bold"/>
                <a:ea typeface="Roboto Slab Bold"/>
                <a:cs typeface="Roboto Slab Bold"/>
                <a:sym typeface="Roboto Slab Bold"/>
              </a:rPr>
              <a:t>Retrieve, Rerank và đóng gói Context</a:t>
            </a:r>
          </a:p>
        </p:txBody>
      </p:sp>
      <p:sp>
        <p:nvSpPr>
          <p:cNvPr id="13" name="TextBox 13"/>
          <p:cNvSpPr txBox="1"/>
          <p:nvPr/>
        </p:nvSpPr>
        <p:spPr>
          <a:xfrm>
            <a:off x="1028700" y="2515818"/>
            <a:ext cx="9493147" cy="3849572"/>
          </a:xfrm>
          <a:prstGeom prst="rect">
            <a:avLst/>
          </a:prstGeom>
        </p:spPr>
        <p:txBody>
          <a:bodyPr lIns="0" tIns="0" rIns="0" bIns="0" rtlCol="0" anchor="t">
            <a:spAutoFit/>
          </a:bodyPr>
          <a:lstStyle/>
          <a:p>
            <a:pPr marL="518162" lvl="1" indent="-259081" algn="l">
              <a:lnSpc>
                <a:spcPts val="3840"/>
              </a:lnSpc>
              <a:buFont typeface="Arial"/>
              <a:buChar char="•"/>
            </a:pPr>
            <a:r>
              <a:rPr lang="en-US" sz="2400">
                <a:solidFill>
                  <a:srgbClr val="0C1D4B"/>
                </a:solidFill>
                <a:latin typeface="Roboto Slab"/>
                <a:ea typeface="Roboto Slab"/>
                <a:cs typeface="Roboto Slab"/>
                <a:sym typeface="Roboto Slab"/>
              </a:rPr>
              <a:t>Sử dụng internal_search_query được tạo từ node Query_Analysis tối ưu cho truy hồi nội bộ</a:t>
            </a:r>
          </a:p>
          <a:p>
            <a:pPr marL="518162" lvl="1" indent="-259081" algn="l">
              <a:lnSpc>
                <a:spcPts val="3840"/>
              </a:lnSpc>
              <a:buFont typeface="Arial"/>
              <a:buChar char="•"/>
            </a:pPr>
            <a:r>
              <a:rPr lang="en-US" sz="2400">
                <a:solidFill>
                  <a:srgbClr val="0C1D4B"/>
                </a:solidFill>
                <a:latin typeface="Roboto Slab"/>
                <a:ea typeface="Roboto Slab"/>
                <a:cs typeface="Roboto Slab"/>
                <a:sym typeface="Roboto Slab"/>
              </a:rPr>
              <a:t>Hệ thống encode truy vấn thành vector và tìm kiếm trong ChromaDB bằng độ tương đồng vector</a:t>
            </a:r>
          </a:p>
          <a:p>
            <a:pPr marL="518162" lvl="1" indent="-259081" algn="l">
              <a:lnSpc>
                <a:spcPts val="3840"/>
              </a:lnSpc>
              <a:buFont typeface="Arial"/>
              <a:buChar char="•"/>
            </a:pPr>
            <a:r>
              <a:rPr lang="en-US" sz="2400">
                <a:solidFill>
                  <a:srgbClr val="0C1D4B"/>
                </a:solidFill>
                <a:latin typeface="Roboto Slab"/>
                <a:ea typeface="Roboto Slab"/>
                <a:cs typeface="Roboto Slab"/>
                <a:sym typeface="Roboto Slab"/>
              </a:rPr>
              <a:t>Cross-encoder rerank lại các candidate chunks bằng cách chấm điểm trực tiếp từng cặp query - chunk</a:t>
            </a:r>
          </a:p>
          <a:p>
            <a:pPr marL="518162" lvl="1" indent="-259081" algn="l">
              <a:lnSpc>
                <a:spcPts val="3840"/>
              </a:lnSpc>
              <a:buFont typeface="Arial"/>
              <a:buChar char="•"/>
            </a:pPr>
            <a:r>
              <a:rPr lang="en-US" sz="2400">
                <a:solidFill>
                  <a:srgbClr val="0C1D4B"/>
                </a:solidFill>
                <a:latin typeface="Roboto Slab"/>
                <a:ea typeface="Roboto Slab"/>
                <a:cs typeface="Roboto Slab"/>
                <a:sym typeface="Roboto Slab"/>
              </a:rPr>
              <a:t>Kết quả sau đó được kiểm tra xung đột luật cũ - luật mới</a:t>
            </a:r>
          </a:p>
          <a:p>
            <a:pPr marL="518162" lvl="1" indent="-259081" algn="l">
              <a:lnSpc>
                <a:spcPts val="3840"/>
              </a:lnSpc>
              <a:buFont typeface="Arial"/>
              <a:buChar char="•"/>
            </a:pPr>
            <a:r>
              <a:rPr lang="en-US" sz="2400">
                <a:solidFill>
                  <a:srgbClr val="0C1D4B"/>
                </a:solidFill>
                <a:latin typeface="Roboto Slab"/>
                <a:ea typeface="Roboto Slab"/>
                <a:cs typeface="Roboto Slab"/>
                <a:sym typeface="Roboto Slab"/>
              </a:rPr>
              <a:t>Cuối cùng được đóng gói thành context pháp lý cho Agent</a:t>
            </a:r>
          </a:p>
        </p:txBody>
      </p:sp>
      <p:grpSp>
        <p:nvGrpSpPr>
          <p:cNvPr id="14" name="Group 14"/>
          <p:cNvGrpSpPr/>
          <p:nvPr/>
        </p:nvGrpSpPr>
        <p:grpSpPr>
          <a:xfrm>
            <a:off x="11281427" y="1981987"/>
            <a:ext cx="5456191" cy="6905305"/>
            <a:chOff x="0" y="0"/>
            <a:chExt cx="7274921" cy="9207073"/>
          </a:xfrm>
        </p:grpSpPr>
        <p:grpSp>
          <p:nvGrpSpPr>
            <p:cNvPr id="15" name="Group 15"/>
            <p:cNvGrpSpPr/>
            <p:nvPr/>
          </p:nvGrpSpPr>
          <p:grpSpPr>
            <a:xfrm>
              <a:off x="0" y="0"/>
              <a:ext cx="5251376" cy="1548488"/>
              <a:chOff x="0" y="0"/>
              <a:chExt cx="1037309" cy="305874"/>
            </a:xfrm>
          </p:grpSpPr>
          <p:sp>
            <p:nvSpPr>
              <p:cNvPr id="16" name="Freeform 16"/>
              <p:cNvSpPr/>
              <p:nvPr/>
            </p:nvSpPr>
            <p:spPr>
              <a:xfrm>
                <a:off x="0" y="0"/>
                <a:ext cx="1037309" cy="305874"/>
              </a:xfrm>
              <a:custGeom>
                <a:avLst/>
                <a:gdLst/>
                <a:ahLst/>
                <a:cxnLst/>
                <a:rect l="l" t="t" r="r" b="b"/>
                <a:pathLst>
                  <a:path w="1037309" h="305874">
                    <a:moveTo>
                      <a:pt x="55039" y="0"/>
                    </a:moveTo>
                    <a:lnTo>
                      <a:pt x="982270" y="0"/>
                    </a:lnTo>
                    <a:cubicBezTo>
                      <a:pt x="996867" y="0"/>
                      <a:pt x="1010866" y="5799"/>
                      <a:pt x="1021188" y="16121"/>
                    </a:cubicBezTo>
                    <a:cubicBezTo>
                      <a:pt x="1031510" y="26442"/>
                      <a:pt x="1037309" y="40442"/>
                      <a:pt x="1037309" y="55039"/>
                    </a:cubicBezTo>
                    <a:lnTo>
                      <a:pt x="1037309" y="250835"/>
                    </a:lnTo>
                    <a:cubicBezTo>
                      <a:pt x="1037309" y="281232"/>
                      <a:pt x="1012667" y="305874"/>
                      <a:pt x="982270" y="305874"/>
                    </a:cubicBezTo>
                    <a:lnTo>
                      <a:pt x="55039" y="305874"/>
                    </a:lnTo>
                    <a:cubicBezTo>
                      <a:pt x="24642" y="305874"/>
                      <a:pt x="0" y="281232"/>
                      <a:pt x="0" y="250835"/>
                    </a:cubicBezTo>
                    <a:lnTo>
                      <a:pt x="0" y="55039"/>
                    </a:lnTo>
                    <a:cubicBezTo>
                      <a:pt x="0" y="24642"/>
                      <a:pt x="24642" y="0"/>
                      <a:pt x="55039" y="0"/>
                    </a:cubicBezTo>
                    <a:close/>
                  </a:path>
                </a:pathLst>
              </a:custGeom>
              <a:ln w="19050" cap="rnd">
                <a:solidFill>
                  <a:srgbClr val="000000"/>
                </a:solidFill>
                <a:prstDash val="solid"/>
                <a:round/>
              </a:ln>
            </p:spPr>
            <p:txBody>
              <a:bodyPr/>
              <a:lstStyle/>
              <a:p>
                <a:endParaRPr lang="en-VN"/>
              </a:p>
            </p:txBody>
          </p:sp>
          <p:sp>
            <p:nvSpPr>
              <p:cNvPr id="17" name="TextBox 17"/>
              <p:cNvSpPr txBox="1"/>
              <p:nvPr/>
            </p:nvSpPr>
            <p:spPr>
              <a:xfrm>
                <a:off x="0" y="-38100"/>
                <a:ext cx="1037309" cy="343974"/>
              </a:xfrm>
              <a:prstGeom prst="rect">
                <a:avLst/>
              </a:prstGeom>
            </p:spPr>
            <p:txBody>
              <a:bodyPr lIns="50800" tIns="50800" rIns="50800" bIns="50800" rtlCol="0" anchor="ctr"/>
              <a:lstStyle/>
              <a:p>
                <a:pPr algn="ctr">
                  <a:lnSpc>
                    <a:spcPts val="2940"/>
                  </a:lnSpc>
                </a:pPr>
                <a:r>
                  <a:rPr lang="en-US" sz="2100" b="1" spc="50">
                    <a:solidFill>
                      <a:srgbClr val="0C1D4B"/>
                    </a:solidFill>
                    <a:latin typeface="Roboto Slab Bold"/>
                    <a:ea typeface="Roboto Slab Bold"/>
                    <a:cs typeface="Roboto Slab Bold"/>
                    <a:sym typeface="Roboto Slab Bold"/>
                  </a:rPr>
                  <a:t>internal_search_query</a:t>
                </a:r>
              </a:p>
              <a:p>
                <a:pPr algn="ctr">
                  <a:lnSpc>
                    <a:spcPts val="2380"/>
                  </a:lnSpc>
                </a:pPr>
                <a:r>
                  <a:rPr lang="en-US" sz="1700" b="1" spc="40">
                    <a:solidFill>
                      <a:srgbClr val="0C1D4B"/>
                    </a:solidFill>
                    <a:latin typeface="Roboto Slab Bold"/>
                    <a:ea typeface="Roboto Slab Bold"/>
                    <a:cs typeface="Roboto Slab Bold"/>
                    <a:sym typeface="Roboto Slab Bold"/>
                  </a:rPr>
                  <a:t>(“tội trộm cắp tài sản khung hình phạt”)</a:t>
                </a:r>
              </a:p>
            </p:txBody>
          </p:sp>
        </p:grpSp>
        <p:sp>
          <p:nvSpPr>
            <p:cNvPr id="18" name="AutoShape 18"/>
            <p:cNvSpPr/>
            <p:nvPr/>
          </p:nvSpPr>
          <p:spPr>
            <a:xfrm flipH="1">
              <a:off x="2625688" y="1548488"/>
              <a:ext cx="0" cy="1797321"/>
            </a:xfrm>
            <a:prstGeom prst="line">
              <a:avLst/>
            </a:prstGeom>
            <a:ln w="50800" cap="flat">
              <a:solidFill>
                <a:srgbClr val="0C0C6B"/>
              </a:solidFill>
              <a:prstDash val="solid"/>
              <a:headEnd type="none" w="sm" len="sm"/>
              <a:tailEnd type="arrow" w="med" len="sm"/>
            </a:ln>
          </p:spPr>
          <p:txBody>
            <a:bodyPr/>
            <a:lstStyle/>
            <a:p>
              <a:endParaRPr lang="en-VN"/>
            </a:p>
          </p:txBody>
        </p:sp>
        <p:grpSp>
          <p:nvGrpSpPr>
            <p:cNvPr id="19" name="Group 19"/>
            <p:cNvGrpSpPr/>
            <p:nvPr/>
          </p:nvGrpSpPr>
          <p:grpSpPr>
            <a:xfrm>
              <a:off x="833587" y="5451162"/>
              <a:ext cx="3584202" cy="1704987"/>
              <a:chOff x="0" y="0"/>
              <a:chExt cx="707991" cy="336788"/>
            </a:xfrm>
          </p:grpSpPr>
          <p:sp>
            <p:nvSpPr>
              <p:cNvPr id="20" name="Freeform 20"/>
              <p:cNvSpPr/>
              <p:nvPr/>
            </p:nvSpPr>
            <p:spPr>
              <a:xfrm>
                <a:off x="0" y="0"/>
                <a:ext cx="707991" cy="336788"/>
              </a:xfrm>
              <a:custGeom>
                <a:avLst/>
                <a:gdLst/>
                <a:ahLst/>
                <a:cxnLst/>
                <a:rect l="l" t="t" r="r" b="b"/>
                <a:pathLst>
                  <a:path w="707991" h="336788">
                    <a:moveTo>
                      <a:pt x="80640" y="0"/>
                    </a:moveTo>
                    <a:lnTo>
                      <a:pt x="627350" y="0"/>
                    </a:lnTo>
                    <a:cubicBezTo>
                      <a:pt x="671887" y="0"/>
                      <a:pt x="707991" y="36104"/>
                      <a:pt x="707991" y="80640"/>
                    </a:cubicBezTo>
                    <a:lnTo>
                      <a:pt x="707991" y="256147"/>
                    </a:lnTo>
                    <a:cubicBezTo>
                      <a:pt x="707991" y="300684"/>
                      <a:pt x="671887" y="336788"/>
                      <a:pt x="627350" y="336788"/>
                    </a:cubicBezTo>
                    <a:lnTo>
                      <a:pt x="80640" y="336788"/>
                    </a:lnTo>
                    <a:cubicBezTo>
                      <a:pt x="36104" y="336788"/>
                      <a:pt x="0" y="300684"/>
                      <a:pt x="0" y="256147"/>
                    </a:cubicBezTo>
                    <a:lnTo>
                      <a:pt x="0" y="80640"/>
                    </a:lnTo>
                    <a:cubicBezTo>
                      <a:pt x="0" y="36104"/>
                      <a:pt x="36104" y="0"/>
                      <a:pt x="80640" y="0"/>
                    </a:cubicBezTo>
                    <a:close/>
                  </a:path>
                </a:pathLst>
              </a:custGeom>
              <a:ln w="19050" cap="rnd">
                <a:solidFill>
                  <a:srgbClr val="000000"/>
                </a:solidFill>
                <a:prstDash val="solid"/>
                <a:round/>
              </a:ln>
            </p:spPr>
            <p:txBody>
              <a:bodyPr/>
              <a:lstStyle/>
              <a:p>
                <a:endParaRPr lang="en-VN"/>
              </a:p>
            </p:txBody>
          </p:sp>
          <p:sp>
            <p:nvSpPr>
              <p:cNvPr id="21" name="TextBox 21"/>
              <p:cNvSpPr txBox="1"/>
              <p:nvPr/>
            </p:nvSpPr>
            <p:spPr>
              <a:xfrm>
                <a:off x="0" y="-38100"/>
                <a:ext cx="707991" cy="374888"/>
              </a:xfrm>
              <a:prstGeom prst="rect">
                <a:avLst/>
              </a:prstGeom>
            </p:spPr>
            <p:txBody>
              <a:bodyPr lIns="50800" tIns="50800" rIns="50800" bIns="50800" rtlCol="0" anchor="ctr"/>
              <a:lstStyle/>
              <a:p>
                <a:pPr algn="ctr">
                  <a:lnSpc>
                    <a:spcPts val="2940"/>
                  </a:lnSpc>
                </a:pPr>
                <a:r>
                  <a:rPr lang="en-US" sz="2100" b="1" spc="50">
                    <a:solidFill>
                      <a:srgbClr val="0C1D4B"/>
                    </a:solidFill>
                    <a:latin typeface="Roboto Slab Bold"/>
                    <a:ea typeface="Roboto Slab Bold"/>
                    <a:cs typeface="Roboto Slab Bold"/>
                    <a:sym typeface="Roboto Slab Bold"/>
                  </a:rPr>
                  <a:t>Top 10 Documents</a:t>
                </a:r>
              </a:p>
            </p:txBody>
          </p:sp>
        </p:grpSp>
        <p:sp>
          <p:nvSpPr>
            <p:cNvPr id="22" name="AutoShape 22"/>
            <p:cNvSpPr/>
            <p:nvPr/>
          </p:nvSpPr>
          <p:spPr>
            <a:xfrm>
              <a:off x="2625688" y="4607918"/>
              <a:ext cx="0" cy="843244"/>
            </a:xfrm>
            <a:prstGeom prst="line">
              <a:avLst/>
            </a:prstGeom>
            <a:ln w="50800" cap="flat">
              <a:solidFill>
                <a:srgbClr val="0C0C6B"/>
              </a:solidFill>
              <a:prstDash val="solid"/>
              <a:headEnd type="none" w="sm" len="sm"/>
              <a:tailEnd type="arrow" w="med" len="sm"/>
            </a:ln>
          </p:spPr>
          <p:txBody>
            <a:bodyPr/>
            <a:lstStyle/>
            <a:p>
              <a:endParaRPr lang="en-VN"/>
            </a:p>
          </p:txBody>
        </p:sp>
        <p:sp>
          <p:nvSpPr>
            <p:cNvPr id="23" name="TextBox 23"/>
            <p:cNvSpPr txBox="1"/>
            <p:nvPr/>
          </p:nvSpPr>
          <p:spPr>
            <a:xfrm>
              <a:off x="2625688" y="1721574"/>
              <a:ext cx="4649233" cy="1401972"/>
            </a:xfrm>
            <a:prstGeom prst="rect">
              <a:avLst/>
            </a:prstGeom>
          </p:spPr>
          <p:txBody>
            <a:bodyPr lIns="0" tIns="0" rIns="0" bIns="0" rtlCol="0" anchor="t">
              <a:spAutoFit/>
            </a:bodyPr>
            <a:lstStyle/>
            <a:p>
              <a:pPr marL="388620" lvl="1" indent="-194310" algn="l">
                <a:lnSpc>
                  <a:spcPts val="2880"/>
                </a:lnSpc>
                <a:buFont typeface="Arial"/>
                <a:buChar char="•"/>
              </a:pPr>
              <a:r>
                <a:rPr lang="en-US" sz="1800">
                  <a:solidFill>
                    <a:srgbClr val="0C1D4B"/>
                  </a:solidFill>
                  <a:latin typeface="Roboto Slab"/>
                  <a:ea typeface="Roboto Slab"/>
                  <a:cs typeface="Roboto Slab"/>
                  <a:sym typeface="Roboto Slab"/>
                </a:rPr>
                <a:t>Encode query (vietnamese-bi-encoder)</a:t>
              </a:r>
            </a:p>
            <a:p>
              <a:pPr marL="388620" lvl="1" indent="-194310" algn="l">
                <a:lnSpc>
                  <a:spcPts val="2880"/>
                </a:lnSpc>
                <a:buFont typeface="Arial"/>
                <a:buChar char="•"/>
              </a:pPr>
              <a:r>
                <a:rPr lang="en-US" sz="1800">
                  <a:solidFill>
                    <a:srgbClr val="0C1D4B"/>
                  </a:solidFill>
                  <a:latin typeface="Roboto Slab"/>
                  <a:ea typeface="Roboto Slab"/>
                  <a:cs typeface="Roboto Slab"/>
                  <a:sym typeface="Roboto Slab"/>
                </a:rPr>
                <a:t>Vector search</a:t>
              </a:r>
            </a:p>
          </p:txBody>
        </p:sp>
        <p:sp>
          <p:nvSpPr>
            <p:cNvPr id="24" name="TextBox 24"/>
            <p:cNvSpPr txBox="1"/>
            <p:nvPr/>
          </p:nvSpPr>
          <p:spPr>
            <a:xfrm>
              <a:off x="2742945" y="4760318"/>
              <a:ext cx="3349687" cy="436844"/>
            </a:xfrm>
            <a:prstGeom prst="rect">
              <a:avLst/>
            </a:prstGeom>
          </p:spPr>
          <p:txBody>
            <a:bodyPr lIns="0" tIns="0" rIns="0" bIns="0" rtlCol="0" anchor="t">
              <a:spAutoFit/>
            </a:bodyPr>
            <a:lstStyle/>
            <a:p>
              <a:pPr algn="l">
                <a:lnSpc>
                  <a:spcPts val="2880"/>
                </a:lnSpc>
              </a:pPr>
              <a:r>
                <a:rPr lang="en-US" sz="1800">
                  <a:solidFill>
                    <a:srgbClr val="0C1D4B"/>
                  </a:solidFill>
                  <a:latin typeface="Roboto Slab"/>
                  <a:ea typeface="Roboto Slab"/>
                  <a:cs typeface="Roboto Slab"/>
                  <a:sym typeface="Roboto Slab"/>
                </a:rPr>
                <a:t>Cross-Encoder Rerank</a:t>
              </a:r>
            </a:p>
          </p:txBody>
        </p:sp>
        <p:sp>
          <p:nvSpPr>
            <p:cNvPr id="25" name="AutoShape 25"/>
            <p:cNvSpPr/>
            <p:nvPr/>
          </p:nvSpPr>
          <p:spPr>
            <a:xfrm>
              <a:off x="2625688" y="7156150"/>
              <a:ext cx="0" cy="1342137"/>
            </a:xfrm>
            <a:prstGeom prst="line">
              <a:avLst/>
            </a:prstGeom>
            <a:ln w="50800" cap="flat">
              <a:solidFill>
                <a:srgbClr val="0C0C6B"/>
              </a:solidFill>
              <a:prstDash val="solid"/>
              <a:headEnd type="none" w="sm" len="sm"/>
              <a:tailEnd type="arrow" w="med" len="sm"/>
            </a:ln>
          </p:spPr>
          <p:txBody>
            <a:bodyPr/>
            <a:lstStyle/>
            <a:p>
              <a:endParaRPr lang="en-VN"/>
            </a:p>
          </p:txBody>
        </p:sp>
        <p:grpSp>
          <p:nvGrpSpPr>
            <p:cNvPr id="26" name="Group 26"/>
            <p:cNvGrpSpPr/>
            <p:nvPr/>
          </p:nvGrpSpPr>
          <p:grpSpPr>
            <a:xfrm>
              <a:off x="685803" y="3345810"/>
              <a:ext cx="3879769" cy="1262109"/>
              <a:chOff x="0" y="0"/>
              <a:chExt cx="766374" cy="249305"/>
            </a:xfrm>
          </p:grpSpPr>
          <p:sp>
            <p:nvSpPr>
              <p:cNvPr id="27" name="Freeform 27"/>
              <p:cNvSpPr/>
              <p:nvPr/>
            </p:nvSpPr>
            <p:spPr>
              <a:xfrm>
                <a:off x="0" y="0"/>
                <a:ext cx="766374" cy="249305"/>
              </a:xfrm>
              <a:custGeom>
                <a:avLst/>
                <a:gdLst/>
                <a:ahLst/>
                <a:cxnLst/>
                <a:rect l="l" t="t" r="r" b="b"/>
                <a:pathLst>
                  <a:path w="766374" h="249305">
                    <a:moveTo>
                      <a:pt x="74497" y="0"/>
                    </a:moveTo>
                    <a:lnTo>
                      <a:pt x="691877" y="0"/>
                    </a:lnTo>
                    <a:cubicBezTo>
                      <a:pt x="711635" y="0"/>
                      <a:pt x="730583" y="7849"/>
                      <a:pt x="744554" y="21820"/>
                    </a:cubicBezTo>
                    <a:cubicBezTo>
                      <a:pt x="758525" y="35791"/>
                      <a:pt x="766374" y="54739"/>
                      <a:pt x="766374" y="74497"/>
                    </a:cubicBezTo>
                    <a:lnTo>
                      <a:pt x="766374" y="174808"/>
                    </a:lnTo>
                    <a:cubicBezTo>
                      <a:pt x="766374" y="194566"/>
                      <a:pt x="758525" y="213515"/>
                      <a:pt x="744554" y="227486"/>
                    </a:cubicBezTo>
                    <a:cubicBezTo>
                      <a:pt x="730583" y="241457"/>
                      <a:pt x="711635" y="249305"/>
                      <a:pt x="691877" y="249305"/>
                    </a:cubicBezTo>
                    <a:lnTo>
                      <a:pt x="74497" y="249305"/>
                    </a:lnTo>
                    <a:cubicBezTo>
                      <a:pt x="54739" y="249305"/>
                      <a:pt x="35791" y="241457"/>
                      <a:pt x="21820" y="227486"/>
                    </a:cubicBezTo>
                    <a:cubicBezTo>
                      <a:pt x="7849" y="213515"/>
                      <a:pt x="0" y="194566"/>
                      <a:pt x="0" y="174808"/>
                    </a:cubicBezTo>
                    <a:lnTo>
                      <a:pt x="0" y="74497"/>
                    </a:lnTo>
                    <a:cubicBezTo>
                      <a:pt x="0" y="54739"/>
                      <a:pt x="7849" y="35791"/>
                      <a:pt x="21820" y="21820"/>
                    </a:cubicBezTo>
                    <a:cubicBezTo>
                      <a:pt x="35791" y="7849"/>
                      <a:pt x="54739" y="0"/>
                      <a:pt x="74497" y="0"/>
                    </a:cubicBezTo>
                    <a:close/>
                  </a:path>
                </a:pathLst>
              </a:custGeom>
              <a:ln w="19050" cap="rnd">
                <a:solidFill>
                  <a:srgbClr val="000000"/>
                </a:solidFill>
                <a:prstDash val="solid"/>
                <a:round/>
              </a:ln>
            </p:spPr>
            <p:txBody>
              <a:bodyPr/>
              <a:lstStyle/>
              <a:p>
                <a:endParaRPr lang="en-VN"/>
              </a:p>
            </p:txBody>
          </p:sp>
          <p:sp>
            <p:nvSpPr>
              <p:cNvPr id="28" name="TextBox 28"/>
              <p:cNvSpPr txBox="1"/>
              <p:nvPr/>
            </p:nvSpPr>
            <p:spPr>
              <a:xfrm>
                <a:off x="0" y="-38100"/>
                <a:ext cx="766374" cy="287405"/>
              </a:xfrm>
              <a:prstGeom prst="rect">
                <a:avLst/>
              </a:prstGeom>
            </p:spPr>
            <p:txBody>
              <a:bodyPr lIns="50800" tIns="50800" rIns="50800" bIns="50800" rtlCol="0" anchor="ctr"/>
              <a:lstStyle/>
              <a:p>
                <a:pPr algn="ctr">
                  <a:lnSpc>
                    <a:spcPts val="2940"/>
                  </a:lnSpc>
                </a:pPr>
                <a:r>
                  <a:rPr lang="en-US" sz="2100" b="1" spc="50">
                    <a:solidFill>
                      <a:srgbClr val="0C1D4B"/>
                    </a:solidFill>
                    <a:latin typeface="Roboto Slab Bold"/>
                    <a:ea typeface="Roboto Slab Bold"/>
                    <a:cs typeface="Roboto Slab Bold"/>
                    <a:sym typeface="Roboto Slab Bold"/>
                  </a:rPr>
                  <a:t>Candidate chunks</a:t>
                </a:r>
              </a:p>
              <a:p>
                <a:pPr algn="ctr">
                  <a:lnSpc>
                    <a:spcPts val="2940"/>
                  </a:lnSpc>
                </a:pPr>
                <a:r>
                  <a:rPr lang="en-US" sz="2100" b="1" spc="50">
                    <a:solidFill>
                      <a:srgbClr val="0C1D4B"/>
                    </a:solidFill>
                    <a:latin typeface="Roboto Slab Bold"/>
                    <a:ea typeface="Roboto Slab Bold"/>
                    <a:cs typeface="Roboto Slab Bold"/>
                    <a:sym typeface="Roboto Slab Bold"/>
                  </a:rPr>
                  <a:t>top 60</a:t>
                </a:r>
              </a:p>
            </p:txBody>
          </p:sp>
        </p:grpSp>
        <p:grpSp>
          <p:nvGrpSpPr>
            <p:cNvPr id="29" name="Group 29"/>
            <p:cNvGrpSpPr/>
            <p:nvPr/>
          </p:nvGrpSpPr>
          <p:grpSpPr>
            <a:xfrm>
              <a:off x="1003316" y="8498287"/>
              <a:ext cx="3244744" cy="708786"/>
              <a:chOff x="0" y="0"/>
              <a:chExt cx="640937" cy="140007"/>
            </a:xfrm>
          </p:grpSpPr>
          <p:sp>
            <p:nvSpPr>
              <p:cNvPr id="30" name="Freeform 30"/>
              <p:cNvSpPr/>
              <p:nvPr/>
            </p:nvSpPr>
            <p:spPr>
              <a:xfrm>
                <a:off x="0" y="0"/>
                <a:ext cx="640937" cy="140007"/>
              </a:xfrm>
              <a:custGeom>
                <a:avLst/>
                <a:gdLst/>
                <a:ahLst/>
                <a:cxnLst/>
                <a:rect l="l" t="t" r="r" b="b"/>
                <a:pathLst>
                  <a:path w="640937" h="140007">
                    <a:moveTo>
                      <a:pt x="70004" y="0"/>
                    </a:moveTo>
                    <a:lnTo>
                      <a:pt x="570933" y="0"/>
                    </a:lnTo>
                    <a:cubicBezTo>
                      <a:pt x="609595" y="0"/>
                      <a:pt x="640937" y="31342"/>
                      <a:pt x="640937" y="70004"/>
                    </a:cubicBezTo>
                    <a:lnTo>
                      <a:pt x="640937" y="70004"/>
                    </a:lnTo>
                    <a:cubicBezTo>
                      <a:pt x="640937" y="88570"/>
                      <a:pt x="633562" y="106375"/>
                      <a:pt x="620433" y="119504"/>
                    </a:cubicBezTo>
                    <a:cubicBezTo>
                      <a:pt x="607305" y="132632"/>
                      <a:pt x="589500" y="140007"/>
                      <a:pt x="570933" y="140007"/>
                    </a:cubicBezTo>
                    <a:lnTo>
                      <a:pt x="70004" y="140007"/>
                    </a:lnTo>
                    <a:cubicBezTo>
                      <a:pt x="51437" y="140007"/>
                      <a:pt x="33632" y="132632"/>
                      <a:pt x="20504" y="119504"/>
                    </a:cubicBezTo>
                    <a:cubicBezTo>
                      <a:pt x="7375" y="106375"/>
                      <a:pt x="0" y="88570"/>
                      <a:pt x="0" y="70004"/>
                    </a:cubicBezTo>
                    <a:lnTo>
                      <a:pt x="0" y="70004"/>
                    </a:lnTo>
                    <a:cubicBezTo>
                      <a:pt x="0" y="51437"/>
                      <a:pt x="7375" y="33632"/>
                      <a:pt x="20504" y="20504"/>
                    </a:cubicBezTo>
                    <a:cubicBezTo>
                      <a:pt x="33632" y="7375"/>
                      <a:pt x="51437" y="0"/>
                      <a:pt x="70004" y="0"/>
                    </a:cubicBezTo>
                    <a:close/>
                  </a:path>
                </a:pathLst>
              </a:custGeom>
              <a:solidFill>
                <a:srgbClr val="0C1D4B"/>
              </a:solidFill>
              <a:ln cap="rnd">
                <a:noFill/>
                <a:prstDash val="solid"/>
                <a:round/>
              </a:ln>
            </p:spPr>
            <p:txBody>
              <a:bodyPr/>
              <a:lstStyle/>
              <a:p>
                <a:endParaRPr lang="en-VN"/>
              </a:p>
            </p:txBody>
          </p:sp>
          <p:sp>
            <p:nvSpPr>
              <p:cNvPr id="31" name="TextBox 31"/>
              <p:cNvSpPr txBox="1"/>
              <p:nvPr/>
            </p:nvSpPr>
            <p:spPr>
              <a:xfrm>
                <a:off x="0" y="-38100"/>
                <a:ext cx="640937" cy="178107"/>
              </a:xfrm>
              <a:prstGeom prst="rect">
                <a:avLst/>
              </a:prstGeom>
            </p:spPr>
            <p:txBody>
              <a:bodyPr lIns="50800" tIns="50800" rIns="50800" bIns="50800" rtlCol="0" anchor="ctr"/>
              <a:lstStyle/>
              <a:p>
                <a:pPr algn="ctr">
                  <a:lnSpc>
                    <a:spcPts val="2940"/>
                  </a:lnSpc>
                </a:pPr>
                <a:r>
                  <a:rPr lang="en-US" sz="2100" b="1" spc="50">
                    <a:solidFill>
                      <a:srgbClr val="FFFFFF"/>
                    </a:solidFill>
                    <a:latin typeface="Roboto Slab Bold"/>
                    <a:ea typeface="Roboto Slab Bold"/>
                    <a:cs typeface="Roboto Slab Bold"/>
                    <a:sym typeface="Roboto Slab Bold"/>
                  </a:rPr>
                  <a:t>Agent</a:t>
                </a:r>
              </a:p>
            </p:txBody>
          </p:sp>
        </p:grpSp>
        <p:sp>
          <p:nvSpPr>
            <p:cNvPr id="32" name="TextBox 32"/>
            <p:cNvSpPr txBox="1"/>
            <p:nvPr/>
          </p:nvSpPr>
          <p:spPr>
            <a:xfrm>
              <a:off x="2742945" y="7553443"/>
              <a:ext cx="3349687" cy="436844"/>
            </a:xfrm>
            <a:prstGeom prst="rect">
              <a:avLst/>
            </a:prstGeom>
          </p:spPr>
          <p:txBody>
            <a:bodyPr lIns="0" tIns="0" rIns="0" bIns="0" rtlCol="0" anchor="t">
              <a:spAutoFit/>
            </a:bodyPr>
            <a:lstStyle/>
            <a:p>
              <a:pPr algn="l">
                <a:lnSpc>
                  <a:spcPts val="2880"/>
                </a:lnSpc>
              </a:pPr>
              <a:r>
                <a:rPr lang="en-US" sz="1800">
                  <a:solidFill>
                    <a:srgbClr val="0C1D4B"/>
                  </a:solidFill>
                  <a:latin typeface="Roboto Slab"/>
                  <a:ea typeface="Roboto Slab"/>
                  <a:cs typeface="Roboto Slab"/>
                  <a:sym typeface="Roboto Slab"/>
                </a:rPr>
                <a:t>Formatted Context</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grpId="0" nodeType="withEffect">
                            <p:stCondLst>
                              <p:cond delay="180"/>
                            </p:stCondLst>
                            <p:childTnLst>
                              <p:set>
                                <p:cBhvr>
                                  <p:cTn id="5" dur="1" fill="hold">
                                    <p:stCondLst>
                                      <p:cond delay="0"/>
                                    </p:stCondLst>
                                  </p:cTn>
                                  <p:tgtEl>
                                    <p:spTgt spid="12"/>
                                  </p:tgtEl>
                                  <p:attrNameLst>
                                    <p:attrName>style.visibility</p:attrName>
                                  </p:attrNameLst>
                                </p:cBhvr>
                                <p:to>
                                  <p:strVal val="visible"/>
                                </p:to>
                              </p:set>
                              <p:animEffect transition="in" filter="wipe(left)">
                                <p:cBhvr>
                                  <p:cTn id="6" dur="860"/>
                                  <p:tgtEl>
                                    <p:spTgt spid="12"/>
                                  </p:tgtEl>
                                </p:cBhvr>
                              </p:animEffect>
                            </p:childTnLst>
                          </p:cTn>
                        </p:par>
                        <p:par>
                          <p:cTn id="7" presetID="10" presetClass="entr" presetSubtype="0" fill="hold" grpId="0" nodeType="withEffect">
                            <p:stCondLst>
                              <p:cond delay="350"/>
                            </p:stCondLst>
                            <p:childTnLst>
                              <p:set>
                                <p:cBhvr>
                                  <p:cTn id="8" dur="1" fill="hold">
                                    <p:stCondLst>
                                      <p:cond delay="0"/>
                                    </p:stCondLst>
                                  </p:cTn>
                                  <p:tgtEl>
                                    <p:spTgt spid="14"/>
                                  </p:tgtEl>
                                  <p:attrNameLst>
                                    <p:attrName>style.visibility</p:attrName>
                                  </p:attrNameLst>
                                </p:cBhvr>
                                <p:to>
                                  <p:strVal val="visible"/>
                                </p:to>
                              </p:set>
                              <p:animEffect transition="in" filter="wipe(left)">
                                <p:cBhvr>
                                  <p:cTn id="9" dur="860"/>
                                  <p:tgtEl>
                                    <p:spTgt spid="14"/>
                                  </p:tgtEl>
                                </p:cBhvr>
                              </p:animEffect>
                            </p:childTnLst>
                          </p:cTn>
                        </p:par>
                        <p:par>
                          <p:cTn id="10" presetID="10" presetClass="entr" presetSubtype="0" fill="hold" grpId="0" nodeType="withEffect">
                            <p:stCondLst>
                              <p:cond delay="520"/>
                            </p:stCondLst>
                            <p:childTnLst>
                              <p:set>
                                <p:cBhvr>
                                  <p:cTn id="11" dur="1" fill="hold">
                                    <p:stCondLst>
                                      <p:cond delay="0"/>
                                    </p:stCondLst>
                                  </p:cTn>
                                  <p:tgtEl>
                                    <p:spTgt spid="13"/>
                                  </p:tgtEl>
                                  <p:attrNameLst>
                                    <p:attrName>style.visibility</p:attrName>
                                  </p:attrNameLst>
                                </p:cBhvr>
                                <p:to>
                                  <p:strVal val="visible"/>
                                </p:to>
                              </p:set>
                              <p:animEffect transition="in" filter="wipe(left)">
                                <p:cBhvr>
                                  <p:cTn id="12" dur="860"/>
                                  <p:tgtEl>
                                    <p:spTgt spid="13"/>
                                  </p:tgtEl>
                                </p:cBhvr>
                              </p:animEffect>
                            </p:childTnLst>
                          </p:cTn>
                        </p:par>
                      </p:childTnLst>
                    </p:cTn>
                  </p:par>
                </p:childTnLst>
              </p:cTn>
            </p:seq>
          </p:childTnLst>
        </p:cTn>
      </p:par>
    </p:tnLst>
    <p:bldLst>
      <p:bldP spid="12" grpId="0"/>
      <p:bldP spid="13" grpId="0"/>
      <p:bldP spid="14"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10800000">
            <a:off x="17259300" y="-233820"/>
            <a:ext cx="1940843" cy="970417"/>
            <a:chOff x="0" y="0"/>
            <a:chExt cx="2587790" cy="1293889"/>
          </a:xfrm>
        </p:grpSpPr>
        <p:sp>
          <p:nvSpPr>
            <p:cNvPr id="3" name="Freeform 3"/>
            <p:cNvSpPr/>
            <p:nvPr/>
          </p:nvSpPr>
          <p:spPr>
            <a:xfrm>
              <a:off x="0" y="0"/>
              <a:ext cx="2587752" cy="1293876"/>
            </a:xfrm>
            <a:custGeom>
              <a:avLst/>
              <a:gdLst/>
              <a:ahLst/>
              <a:cxnLst/>
              <a:rect l="l" t="t" r="r" b="b"/>
              <a:pathLst>
                <a:path w="2587752" h="1293876">
                  <a:moveTo>
                    <a:pt x="0" y="0"/>
                  </a:moveTo>
                  <a:lnTo>
                    <a:pt x="2587752" y="0"/>
                  </a:lnTo>
                  <a:lnTo>
                    <a:pt x="2587752" y="1293876"/>
                  </a:lnTo>
                  <a:lnTo>
                    <a:pt x="0" y="1293876"/>
                  </a:lnTo>
                  <a:lnTo>
                    <a:pt x="0" y="0"/>
                  </a:lnTo>
                  <a:close/>
                </a:path>
              </a:pathLst>
            </a:custGeom>
            <a:blipFill>
              <a:blip r:embed="rId2"/>
              <a:stretch>
                <a:fillRect r="-1"/>
              </a:stretch>
            </a:blipFill>
          </p:spPr>
          <p:txBody>
            <a:bodyPr/>
            <a:lstStyle/>
            <a:p>
              <a:endParaRPr lang="en-VN"/>
            </a:p>
          </p:txBody>
        </p:sp>
      </p:grpSp>
      <p:grpSp>
        <p:nvGrpSpPr>
          <p:cNvPr id="4" name="Group 4"/>
          <p:cNvGrpSpPr/>
          <p:nvPr/>
        </p:nvGrpSpPr>
        <p:grpSpPr>
          <a:xfrm>
            <a:off x="-912143" y="9429369"/>
            <a:ext cx="1940843" cy="970417"/>
            <a:chOff x="0" y="0"/>
            <a:chExt cx="2587790" cy="1293889"/>
          </a:xfrm>
        </p:grpSpPr>
        <p:sp>
          <p:nvSpPr>
            <p:cNvPr id="5" name="Freeform 5"/>
            <p:cNvSpPr/>
            <p:nvPr/>
          </p:nvSpPr>
          <p:spPr>
            <a:xfrm>
              <a:off x="0" y="0"/>
              <a:ext cx="2587752" cy="1293876"/>
            </a:xfrm>
            <a:custGeom>
              <a:avLst/>
              <a:gdLst/>
              <a:ahLst/>
              <a:cxnLst/>
              <a:rect l="l" t="t" r="r" b="b"/>
              <a:pathLst>
                <a:path w="2587752" h="1293876">
                  <a:moveTo>
                    <a:pt x="0" y="0"/>
                  </a:moveTo>
                  <a:lnTo>
                    <a:pt x="2587752" y="0"/>
                  </a:lnTo>
                  <a:lnTo>
                    <a:pt x="2587752" y="1293876"/>
                  </a:lnTo>
                  <a:lnTo>
                    <a:pt x="0" y="1293876"/>
                  </a:lnTo>
                  <a:lnTo>
                    <a:pt x="0" y="0"/>
                  </a:lnTo>
                  <a:close/>
                </a:path>
              </a:pathLst>
            </a:custGeom>
            <a:blipFill>
              <a:blip r:embed="rId2"/>
              <a:stretch>
                <a:fillRect r="-1"/>
              </a:stretch>
            </a:blipFill>
          </p:spPr>
          <p:txBody>
            <a:bodyPr/>
            <a:lstStyle/>
            <a:p>
              <a:endParaRPr lang="en-VN"/>
            </a:p>
          </p:txBody>
        </p:sp>
      </p:grpSp>
      <p:grpSp>
        <p:nvGrpSpPr>
          <p:cNvPr id="6" name="Group 6"/>
          <p:cNvGrpSpPr/>
          <p:nvPr/>
        </p:nvGrpSpPr>
        <p:grpSpPr>
          <a:xfrm>
            <a:off x="-3127839" y="9986436"/>
            <a:ext cx="22035035" cy="2837612"/>
            <a:chOff x="0" y="0"/>
            <a:chExt cx="5803466" cy="747355"/>
          </a:xfrm>
        </p:grpSpPr>
        <p:sp>
          <p:nvSpPr>
            <p:cNvPr id="7" name="Freeform 7"/>
            <p:cNvSpPr/>
            <p:nvPr/>
          </p:nvSpPr>
          <p:spPr>
            <a:xfrm>
              <a:off x="0" y="0"/>
              <a:ext cx="5803466" cy="747355"/>
            </a:xfrm>
            <a:custGeom>
              <a:avLst/>
              <a:gdLst/>
              <a:ahLst/>
              <a:cxnLst/>
              <a:rect l="l" t="t" r="r" b="b"/>
              <a:pathLst>
                <a:path w="5803466" h="747355">
                  <a:moveTo>
                    <a:pt x="0" y="0"/>
                  </a:moveTo>
                  <a:lnTo>
                    <a:pt x="5803466" y="0"/>
                  </a:lnTo>
                  <a:lnTo>
                    <a:pt x="5803466" y="747355"/>
                  </a:lnTo>
                  <a:lnTo>
                    <a:pt x="0" y="747355"/>
                  </a:lnTo>
                  <a:close/>
                </a:path>
              </a:pathLst>
            </a:custGeom>
            <a:solidFill>
              <a:srgbClr val="3C4F75"/>
            </a:solidFill>
          </p:spPr>
          <p:txBody>
            <a:bodyPr/>
            <a:lstStyle/>
            <a:p>
              <a:endParaRPr lang="en-VN"/>
            </a:p>
          </p:txBody>
        </p:sp>
        <p:sp>
          <p:nvSpPr>
            <p:cNvPr id="8" name="TextBox 8"/>
            <p:cNvSpPr txBox="1"/>
            <p:nvPr/>
          </p:nvSpPr>
          <p:spPr>
            <a:xfrm>
              <a:off x="0" y="-47625"/>
              <a:ext cx="5803466" cy="794980"/>
            </a:xfrm>
            <a:prstGeom prst="rect">
              <a:avLst/>
            </a:prstGeom>
          </p:spPr>
          <p:txBody>
            <a:bodyPr lIns="50800" tIns="50800" rIns="50800" bIns="50800" rtlCol="0" anchor="ctr"/>
            <a:lstStyle/>
            <a:p>
              <a:pPr algn="ctr">
                <a:lnSpc>
                  <a:spcPts val="2940"/>
                </a:lnSpc>
              </a:pPr>
              <a:endParaRPr/>
            </a:p>
          </p:txBody>
        </p:sp>
      </p:grpSp>
      <p:sp>
        <p:nvSpPr>
          <p:cNvPr id="9" name="Freeform 9"/>
          <p:cNvSpPr/>
          <p:nvPr/>
        </p:nvSpPr>
        <p:spPr>
          <a:xfrm>
            <a:off x="1028700" y="251389"/>
            <a:ext cx="551704" cy="584433"/>
          </a:xfrm>
          <a:custGeom>
            <a:avLst/>
            <a:gdLst/>
            <a:ahLst/>
            <a:cxnLst/>
            <a:rect l="l" t="t" r="r" b="b"/>
            <a:pathLst>
              <a:path w="551704" h="584433">
                <a:moveTo>
                  <a:pt x="0" y="0"/>
                </a:moveTo>
                <a:lnTo>
                  <a:pt x="551704" y="0"/>
                </a:lnTo>
                <a:lnTo>
                  <a:pt x="551704" y="584432"/>
                </a:lnTo>
                <a:lnTo>
                  <a:pt x="0" y="584432"/>
                </a:lnTo>
                <a:lnTo>
                  <a:pt x="0" y="0"/>
                </a:lnTo>
                <a:close/>
              </a:path>
            </a:pathLst>
          </a:custGeom>
          <a:blipFill>
            <a:blip r:embed="rId3"/>
            <a:stretch>
              <a:fillRect/>
            </a:stretch>
          </a:blipFill>
        </p:spPr>
        <p:txBody>
          <a:bodyPr/>
          <a:lstStyle/>
          <a:p>
            <a:endParaRPr lang="en-VN"/>
          </a:p>
        </p:txBody>
      </p:sp>
      <p:sp>
        <p:nvSpPr>
          <p:cNvPr id="10" name="TextBox 10"/>
          <p:cNvSpPr txBox="1"/>
          <p:nvPr/>
        </p:nvSpPr>
        <p:spPr>
          <a:xfrm>
            <a:off x="1028700" y="1095375"/>
            <a:ext cx="11197543" cy="534618"/>
          </a:xfrm>
          <a:prstGeom prst="rect">
            <a:avLst/>
          </a:prstGeom>
        </p:spPr>
        <p:txBody>
          <a:bodyPr lIns="0" tIns="0" rIns="0" bIns="0" rtlCol="0" anchor="t">
            <a:spAutoFit/>
          </a:bodyPr>
          <a:lstStyle/>
          <a:p>
            <a:pPr algn="just">
              <a:lnSpc>
                <a:spcPts val="4039"/>
              </a:lnSpc>
            </a:pPr>
            <a:r>
              <a:rPr lang="en-US" sz="3999" b="1">
                <a:solidFill>
                  <a:srgbClr val="0C1D4B"/>
                </a:solidFill>
                <a:latin typeface="Roboto Slab Bold"/>
                <a:ea typeface="Roboto Slab Bold"/>
                <a:cs typeface="Roboto Slab Bold"/>
                <a:sym typeface="Roboto Slab Bold"/>
              </a:rPr>
              <a:t>3.6. Cập nhật văn bản pháp luật từ Web Admin</a:t>
            </a:r>
          </a:p>
        </p:txBody>
      </p:sp>
      <p:sp>
        <p:nvSpPr>
          <p:cNvPr id="11" name="TextBox 11"/>
          <p:cNvSpPr txBox="1"/>
          <p:nvPr/>
        </p:nvSpPr>
        <p:spPr>
          <a:xfrm>
            <a:off x="1687249" y="346410"/>
            <a:ext cx="3954904" cy="356289"/>
          </a:xfrm>
          <a:prstGeom prst="rect">
            <a:avLst/>
          </a:prstGeom>
        </p:spPr>
        <p:txBody>
          <a:bodyPr lIns="0" tIns="0" rIns="0" bIns="0" rtlCol="0" anchor="t">
            <a:spAutoFit/>
          </a:bodyPr>
          <a:lstStyle/>
          <a:p>
            <a:pPr algn="l">
              <a:lnSpc>
                <a:spcPts val="2940"/>
              </a:lnSpc>
            </a:pPr>
            <a:r>
              <a:rPr lang="en-US" sz="2100" b="1">
                <a:solidFill>
                  <a:srgbClr val="2C2C2C"/>
                </a:solidFill>
                <a:latin typeface="Roboto Slab Bold"/>
                <a:ea typeface="Roboto Slab Bold"/>
                <a:cs typeface="Roboto Slab Bold"/>
                <a:sym typeface="Roboto Slab Bold"/>
              </a:rPr>
              <a:t>HỌC VIỆN KỸ THUẬT MẬT MÃ</a:t>
            </a:r>
          </a:p>
        </p:txBody>
      </p:sp>
      <p:grpSp>
        <p:nvGrpSpPr>
          <p:cNvPr id="12" name="Group 12"/>
          <p:cNvGrpSpPr/>
          <p:nvPr/>
        </p:nvGrpSpPr>
        <p:grpSpPr>
          <a:xfrm>
            <a:off x="3328355" y="5380893"/>
            <a:ext cx="11631289" cy="2648006"/>
            <a:chOff x="0" y="0"/>
            <a:chExt cx="15508386" cy="3530675"/>
          </a:xfrm>
        </p:grpSpPr>
        <p:sp>
          <p:nvSpPr>
            <p:cNvPr id="13" name="AutoShape 13"/>
            <p:cNvSpPr/>
            <p:nvPr/>
          </p:nvSpPr>
          <p:spPr>
            <a:xfrm flipV="1">
              <a:off x="1671066" y="1984926"/>
              <a:ext cx="2046613" cy="17107"/>
            </a:xfrm>
            <a:prstGeom prst="line">
              <a:avLst/>
            </a:prstGeom>
            <a:ln w="50800" cap="flat">
              <a:solidFill>
                <a:srgbClr val="000000"/>
              </a:solidFill>
              <a:prstDash val="solid"/>
              <a:headEnd type="none" w="sm" len="sm"/>
              <a:tailEnd type="triangle" w="lg" len="med"/>
            </a:ln>
          </p:spPr>
          <p:txBody>
            <a:bodyPr/>
            <a:lstStyle/>
            <a:p>
              <a:endParaRPr lang="en-VN"/>
            </a:p>
          </p:txBody>
        </p:sp>
        <p:sp>
          <p:nvSpPr>
            <p:cNvPr id="14" name="AutoShape 14"/>
            <p:cNvSpPr/>
            <p:nvPr/>
          </p:nvSpPr>
          <p:spPr>
            <a:xfrm>
              <a:off x="5834374" y="1984926"/>
              <a:ext cx="3052901" cy="17107"/>
            </a:xfrm>
            <a:prstGeom prst="line">
              <a:avLst/>
            </a:prstGeom>
            <a:ln w="50800" cap="flat">
              <a:solidFill>
                <a:srgbClr val="000000"/>
              </a:solidFill>
              <a:prstDash val="solid"/>
              <a:headEnd type="none" w="sm" len="sm"/>
              <a:tailEnd type="triangle" w="lg" len="med"/>
            </a:ln>
          </p:spPr>
          <p:txBody>
            <a:bodyPr/>
            <a:lstStyle/>
            <a:p>
              <a:endParaRPr lang="en-VN"/>
            </a:p>
          </p:txBody>
        </p:sp>
        <p:sp>
          <p:nvSpPr>
            <p:cNvPr id="15" name="Freeform 15"/>
            <p:cNvSpPr/>
            <p:nvPr/>
          </p:nvSpPr>
          <p:spPr>
            <a:xfrm>
              <a:off x="510147" y="1286725"/>
              <a:ext cx="1139290" cy="1430615"/>
            </a:xfrm>
            <a:custGeom>
              <a:avLst/>
              <a:gdLst/>
              <a:ahLst/>
              <a:cxnLst/>
              <a:rect l="l" t="t" r="r" b="b"/>
              <a:pathLst>
                <a:path w="1139290" h="1430615">
                  <a:moveTo>
                    <a:pt x="0" y="0"/>
                  </a:moveTo>
                  <a:lnTo>
                    <a:pt x="1139290" y="0"/>
                  </a:lnTo>
                  <a:lnTo>
                    <a:pt x="1139290" y="1430615"/>
                  </a:lnTo>
                  <a:lnTo>
                    <a:pt x="0" y="1430615"/>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VN"/>
            </a:p>
          </p:txBody>
        </p:sp>
        <p:sp>
          <p:nvSpPr>
            <p:cNvPr id="16" name="Freeform 16"/>
            <p:cNvSpPr/>
            <p:nvPr/>
          </p:nvSpPr>
          <p:spPr>
            <a:xfrm>
              <a:off x="3717679" y="926578"/>
              <a:ext cx="2116695" cy="2116695"/>
            </a:xfrm>
            <a:custGeom>
              <a:avLst/>
              <a:gdLst/>
              <a:ahLst/>
              <a:cxnLst/>
              <a:rect l="l" t="t" r="r" b="b"/>
              <a:pathLst>
                <a:path w="2116695" h="2116695">
                  <a:moveTo>
                    <a:pt x="0" y="0"/>
                  </a:moveTo>
                  <a:lnTo>
                    <a:pt x="2116695" y="0"/>
                  </a:lnTo>
                  <a:lnTo>
                    <a:pt x="2116695" y="2116695"/>
                  </a:lnTo>
                  <a:lnTo>
                    <a:pt x="0" y="2116695"/>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VN"/>
            </a:p>
          </p:txBody>
        </p:sp>
        <p:sp>
          <p:nvSpPr>
            <p:cNvPr id="17" name="TextBox 17"/>
            <p:cNvSpPr txBox="1"/>
            <p:nvPr/>
          </p:nvSpPr>
          <p:spPr>
            <a:xfrm>
              <a:off x="0" y="2819576"/>
              <a:ext cx="2159584" cy="711099"/>
            </a:xfrm>
            <a:prstGeom prst="rect">
              <a:avLst/>
            </a:prstGeom>
          </p:spPr>
          <p:txBody>
            <a:bodyPr lIns="0" tIns="0" rIns="0" bIns="0" rtlCol="0" anchor="t">
              <a:spAutoFit/>
            </a:bodyPr>
            <a:lstStyle/>
            <a:p>
              <a:pPr algn="ctr">
                <a:lnSpc>
                  <a:spcPts val="2238"/>
                </a:lnSpc>
              </a:pPr>
              <a:r>
                <a:rPr lang="en-US" sz="1599" b="1">
                  <a:solidFill>
                    <a:srgbClr val="000000"/>
                  </a:solidFill>
                  <a:latin typeface="Roboto Slab Bold"/>
                  <a:ea typeface="Roboto Slab Bold"/>
                  <a:cs typeface="Roboto Slab Bold"/>
                  <a:sym typeface="Roboto Slab Bold"/>
                </a:rPr>
                <a:t>Văn bản pháp luật mới</a:t>
              </a:r>
            </a:p>
          </p:txBody>
        </p:sp>
        <p:sp>
          <p:nvSpPr>
            <p:cNvPr id="18" name="TextBox 18"/>
            <p:cNvSpPr txBox="1"/>
            <p:nvPr/>
          </p:nvSpPr>
          <p:spPr>
            <a:xfrm>
              <a:off x="9136323" y="2819576"/>
              <a:ext cx="711669" cy="342727"/>
            </a:xfrm>
            <a:prstGeom prst="rect">
              <a:avLst/>
            </a:prstGeom>
          </p:spPr>
          <p:txBody>
            <a:bodyPr lIns="0" tIns="0" rIns="0" bIns="0" rtlCol="0" anchor="t">
              <a:spAutoFit/>
            </a:bodyPr>
            <a:lstStyle/>
            <a:p>
              <a:pPr algn="ctr">
                <a:lnSpc>
                  <a:spcPts val="2238"/>
                </a:lnSpc>
              </a:pPr>
              <a:r>
                <a:rPr lang="en-US" sz="1599" b="1">
                  <a:solidFill>
                    <a:srgbClr val="000000"/>
                  </a:solidFill>
                  <a:latin typeface="Roboto Slab Bold"/>
                  <a:ea typeface="Roboto Slab Bold"/>
                  <a:cs typeface="Roboto Slab Bold"/>
                  <a:sym typeface="Roboto Slab Bold"/>
                </a:rPr>
                <a:t>LLMs</a:t>
              </a:r>
            </a:p>
          </p:txBody>
        </p:sp>
        <p:sp>
          <p:nvSpPr>
            <p:cNvPr id="19" name="TextBox 19"/>
            <p:cNvSpPr txBox="1"/>
            <p:nvPr/>
          </p:nvSpPr>
          <p:spPr>
            <a:xfrm>
              <a:off x="8254103" y="128501"/>
              <a:ext cx="2476109" cy="1079471"/>
            </a:xfrm>
            <a:prstGeom prst="rect">
              <a:avLst/>
            </a:prstGeom>
          </p:spPr>
          <p:txBody>
            <a:bodyPr lIns="0" tIns="0" rIns="0" bIns="0" rtlCol="0" anchor="t">
              <a:spAutoFit/>
            </a:bodyPr>
            <a:lstStyle/>
            <a:p>
              <a:pPr algn="ctr">
                <a:lnSpc>
                  <a:spcPts val="2238"/>
                </a:lnSpc>
              </a:pPr>
              <a:r>
                <a:rPr lang="en-US" sz="1599" b="1" dirty="0" err="1">
                  <a:solidFill>
                    <a:srgbClr val="000000"/>
                  </a:solidFill>
                  <a:latin typeface="Roboto Slab Bold"/>
                  <a:ea typeface="Roboto Slab Bold"/>
                  <a:cs typeface="Roboto Slab Bold"/>
                  <a:sym typeface="Roboto Slab Bold"/>
                </a:rPr>
                <a:t>Cấu</a:t>
              </a:r>
              <a:r>
                <a:rPr lang="en-US" sz="1599" b="1" dirty="0">
                  <a:solidFill>
                    <a:srgbClr val="000000"/>
                  </a:solidFill>
                  <a:latin typeface="Roboto Slab Bold"/>
                  <a:ea typeface="Roboto Slab Bold"/>
                  <a:cs typeface="Roboto Slab Bold"/>
                  <a:sym typeface="Roboto Slab Bold"/>
                </a:rPr>
                <a:t> </a:t>
              </a:r>
              <a:r>
                <a:rPr lang="en-US" sz="1599" b="1" dirty="0" err="1">
                  <a:solidFill>
                    <a:srgbClr val="000000"/>
                  </a:solidFill>
                  <a:latin typeface="Roboto Slab Bold"/>
                  <a:ea typeface="Roboto Slab Bold"/>
                  <a:cs typeface="Roboto Slab Bold"/>
                  <a:sym typeface="Roboto Slab Bold"/>
                </a:rPr>
                <a:t>trúc</a:t>
              </a:r>
              <a:r>
                <a:rPr lang="en-US" sz="1599" b="1" dirty="0">
                  <a:solidFill>
                    <a:srgbClr val="000000"/>
                  </a:solidFill>
                  <a:latin typeface="Roboto Slab Bold"/>
                  <a:ea typeface="Roboto Slab Bold"/>
                  <a:cs typeface="Roboto Slab Bold"/>
                  <a:sym typeface="Roboto Slab Bold"/>
                </a:rPr>
                <a:t>, </a:t>
              </a:r>
              <a:r>
                <a:rPr lang="en-US" sz="1599" b="1" dirty="0" err="1">
                  <a:solidFill>
                    <a:srgbClr val="000000"/>
                  </a:solidFill>
                  <a:latin typeface="Roboto Slab Bold"/>
                  <a:ea typeface="Roboto Slab Bold"/>
                  <a:cs typeface="Roboto Slab Bold"/>
                  <a:sym typeface="Roboto Slab Bold"/>
                </a:rPr>
                <a:t>làm</a:t>
              </a:r>
              <a:r>
                <a:rPr lang="en-US" sz="1599" b="1" dirty="0">
                  <a:solidFill>
                    <a:srgbClr val="000000"/>
                  </a:solidFill>
                  <a:latin typeface="Roboto Slab Bold"/>
                  <a:ea typeface="Roboto Slab Bold"/>
                  <a:cs typeface="Roboto Slab Bold"/>
                  <a:sym typeface="Roboto Slab Bold"/>
                </a:rPr>
                <a:t> </a:t>
              </a:r>
              <a:r>
                <a:rPr lang="en-US" sz="1599" b="1" dirty="0" err="1">
                  <a:solidFill>
                    <a:srgbClr val="000000"/>
                  </a:solidFill>
                  <a:latin typeface="Roboto Slab Bold"/>
                  <a:ea typeface="Roboto Slab Bold"/>
                  <a:cs typeface="Roboto Slab Bold"/>
                  <a:sym typeface="Roboto Slab Bold"/>
                </a:rPr>
                <a:t>sạch</a:t>
              </a:r>
              <a:r>
                <a:rPr lang="en-US" sz="1599" b="1" dirty="0">
                  <a:solidFill>
                    <a:srgbClr val="000000"/>
                  </a:solidFill>
                  <a:latin typeface="Roboto Slab Bold"/>
                  <a:ea typeface="Roboto Slab Bold"/>
                  <a:cs typeface="Roboto Slab Bold"/>
                  <a:sym typeface="Roboto Slab Bold"/>
                </a:rPr>
                <a:t> </a:t>
              </a:r>
              <a:r>
                <a:rPr lang="en-US" sz="1599" b="1" dirty="0" err="1">
                  <a:solidFill>
                    <a:srgbClr val="000000"/>
                  </a:solidFill>
                  <a:latin typeface="Roboto Slab Bold"/>
                  <a:ea typeface="Roboto Slab Bold"/>
                  <a:cs typeface="Roboto Slab Bold"/>
                  <a:sym typeface="Roboto Slab Bold"/>
                </a:rPr>
                <a:t>và</a:t>
              </a:r>
              <a:r>
                <a:rPr lang="en-US" sz="1599" b="1" dirty="0">
                  <a:solidFill>
                    <a:srgbClr val="000000"/>
                  </a:solidFill>
                  <a:latin typeface="Roboto Slab Bold"/>
                  <a:ea typeface="Roboto Slab Bold"/>
                  <a:cs typeface="Roboto Slab Bold"/>
                  <a:sym typeface="Roboto Slab Bold"/>
                </a:rPr>
                <a:t> </a:t>
              </a:r>
              <a:r>
                <a:rPr lang="en-US" sz="1599" b="1" dirty="0" err="1">
                  <a:solidFill>
                    <a:srgbClr val="000000"/>
                  </a:solidFill>
                  <a:latin typeface="Roboto Slab Bold"/>
                  <a:ea typeface="Roboto Slab Bold"/>
                  <a:cs typeface="Roboto Slab Bold"/>
                  <a:sym typeface="Roboto Slab Bold"/>
                </a:rPr>
                <a:t>gắn</a:t>
              </a:r>
              <a:r>
                <a:rPr lang="en-US" sz="1599" b="1" dirty="0">
                  <a:solidFill>
                    <a:srgbClr val="000000"/>
                  </a:solidFill>
                  <a:latin typeface="Roboto Slab Bold"/>
                  <a:ea typeface="Roboto Slab Bold"/>
                  <a:cs typeface="Roboto Slab Bold"/>
                  <a:sym typeface="Roboto Slab Bold"/>
                </a:rPr>
                <a:t> metadata </a:t>
              </a:r>
              <a:r>
                <a:rPr lang="en-US" sz="1599" b="1" dirty="0" err="1">
                  <a:solidFill>
                    <a:srgbClr val="000000"/>
                  </a:solidFill>
                  <a:latin typeface="Roboto Slab Bold"/>
                  <a:ea typeface="Roboto Slab Bold"/>
                  <a:cs typeface="Roboto Slab Bold"/>
                  <a:sym typeface="Roboto Slab Bold"/>
                </a:rPr>
                <a:t>cho</a:t>
              </a:r>
              <a:r>
                <a:rPr lang="en-US" sz="1599" b="1" dirty="0">
                  <a:solidFill>
                    <a:srgbClr val="000000"/>
                  </a:solidFill>
                  <a:latin typeface="Roboto Slab Bold"/>
                  <a:ea typeface="Roboto Slab Bold"/>
                  <a:cs typeface="Roboto Slab Bold"/>
                  <a:sym typeface="Roboto Slab Bold"/>
                </a:rPr>
                <a:t> </a:t>
              </a:r>
              <a:r>
                <a:rPr lang="en-US" sz="1599" b="1" dirty="0" err="1">
                  <a:solidFill>
                    <a:srgbClr val="000000"/>
                  </a:solidFill>
                  <a:latin typeface="Roboto Slab Bold"/>
                  <a:ea typeface="Roboto Slab Bold"/>
                  <a:cs typeface="Roboto Slab Bold"/>
                  <a:sym typeface="Roboto Slab Bold"/>
                </a:rPr>
                <a:t>dữ</a:t>
              </a:r>
              <a:r>
                <a:rPr lang="en-US" sz="1599" b="1" dirty="0">
                  <a:solidFill>
                    <a:srgbClr val="000000"/>
                  </a:solidFill>
                  <a:latin typeface="Roboto Slab Bold"/>
                  <a:ea typeface="Roboto Slab Bold"/>
                  <a:cs typeface="Roboto Slab Bold"/>
                  <a:sym typeface="Roboto Slab Bold"/>
                </a:rPr>
                <a:t> </a:t>
              </a:r>
              <a:r>
                <a:rPr lang="en-US" sz="1599" b="1" dirty="0" err="1">
                  <a:solidFill>
                    <a:srgbClr val="000000"/>
                  </a:solidFill>
                  <a:latin typeface="Roboto Slab Bold"/>
                  <a:ea typeface="Roboto Slab Bold"/>
                  <a:cs typeface="Roboto Slab Bold"/>
                  <a:sym typeface="Roboto Slab Bold"/>
                </a:rPr>
                <a:t>liệu</a:t>
              </a:r>
              <a:endParaRPr lang="en-US" sz="1599" b="1" dirty="0">
                <a:solidFill>
                  <a:srgbClr val="000000"/>
                </a:solidFill>
                <a:latin typeface="Roboto Slab Bold"/>
                <a:ea typeface="Roboto Slab Bold"/>
                <a:cs typeface="Roboto Slab Bold"/>
                <a:sym typeface="Roboto Slab Bold"/>
              </a:endParaRPr>
            </a:p>
          </p:txBody>
        </p:sp>
        <p:sp>
          <p:nvSpPr>
            <p:cNvPr id="20" name="Freeform 20"/>
            <p:cNvSpPr/>
            <p:nvPr/>
          </p:nvSpPr>
          <p:spPr>
            <a:xfrm>
              <a:off x="8887275" y="1376018"/>
              <a:ext cx="1209764" cy="1252030"/>
            </a:xfrm>
            <a:custGeom>
              <a:avLst/>
              <a:gdLst/>
              <a:ahLst/>
              <a:cxnLst/>
              <a:rect l="l" t="t" r="r" b="b"/>
              <a:pathLst>
                <a:path w="1209764" h="1252030">
                  <a:moveTo>
                    <a:pt x="0" y="0"/>
                  </a:moveTo>
                  <a:lnTo>
                    <a:pt x="1209764" y="0"/>
                  </a:lnTo>
                  <a:lnTo>
                    <a:pt x="1209764" y="1252029"/>
                  </a:lnTo>
                  <a:lnTo>
                    <a:pt x="0" y="1252029"/>
                  </a:lnTo>
                  <a:lnTo>
                    <a:pt x="0" y="0"/>
                  </a:lnTo>
                  <a:close/>
                </a:path>
              </a:pathLst>
            </a:custGeom>
            <a:blipFill>
              <a:blip>
                <a:extLst>
                  <a:ext uri="{96DAC541-7B7A-43D3-8B79-37D633B846F1}">
                    <asvg:svgBlip xmlns:asvg="http://schemas.microsoft.com/office/drawing/2016/SVG/main" r:embed="rId6"/>
                  </a:ext>
                </a:extLst>
              </a:blip>
              <a:stretch>
                <a:fillRect l="-178" r="-178"/>
              </a:stretch>
            </a:blipFill>
          </p:spPr>
          <p:txBody>
            <a:bodyPr/>
            <a:lstStyle/>
            <a:p>
              <a:endParaRPr lang="en-VN"/>
            </a:p>
          </p:txBody>
        </p:sp>
        <p:sp>
          <p:nvSpPr>
            <p:cNvPr id="21" name="TextBox 21"/>
            <p:cNvSpPr txBox="1"/>
            <p:nvPr/>
          </p:nvSpPr>
          <p:spPr>
            <a:xfrm>
              <a:off x="3696234" y="-28575"/>
              <a:ext cx="2159584" cy="711099"/>
            </a:xfrm>
            <a:prstGeom prst="rect">
              <a:avLst/>
            </a:prstGeom>
          </p:spPr>
          <p:txBody>
            <a:bodyPr lIns="0" tIns="0" rIns="0" bIns="0" rtlCol="0" anchor="t">
              <a:spAutoFit/>
            </a:bodyPr>
            <a:lstStyle/>
            <a:p>
              <a:pPr algn="ctr">
                <a:lnSpc>
                  <a:spcPts val="2238"/>
                </a:lnSpc>
              </a:pPr>
              <a:r>
                <a:rPr lang="en-US" sz="1599" b="1">
                  <a:solidFill>
                    <a:srgbClr val="000000"/>
                  </a:solidFill>
                  <a:latin typeface="Roboto Slab Bold"/>
                  <a:ea typeface="Roboto Slab Bold"/>
                  <a:cs typeface="Roboto Slab Bold"/>
                  <a:sym typeface="Roboto Slab Bold"/>
                </a:rPr>
                <a:t>OCR/Parse file PDF</a:t>
              </a:r>
            </a:p>
          </p:txBody>
        </p:sp>
        <p:sp>
          <p:nvSpPr>
            <p:cNvPr id="22" name="AutoShape 22"/>
            <p:cNvSpPr/>
            <p:nvPr/>
          </p:nvSpPr>
          <p:spPr>
            <a:xfrm>
              <a:off x="10097039" y="2002032"/>
              <a:ext cx="1269458" cy="15316"/>
            </a:xfrm>
            <a:prstGeom prst="line">
              <a:avLst/>
            </a:prstGeom>
            <a:ln w="50800" cap="flat">
              <a:solidFill>
                <a:srgbClr val="000000"/>
              </a:solidFill>
              <a:prstDash val="solid"/>
              <a:headEnd type="none" w="sm" len="sm"/>
              <a:tailEnd type="triangle" w="lg" len="med"/>
            </a:ln>
          </p:spPr>
          <p:txBody>
            <a:bodyPr/>
            <a:lstStyle/>
            <a:p>
              <a:endParaRPr lang="en-VN"/>
            </a:p>
          </p:txBody>
        </p:sp>
        <p:grpSp>
          <p:nvGrpSpPr>
            <p:cNvPr id="23" name="Group 23"/>
            <p:cNvGrpSpPr/>
            <p:nvPr/>
          </p:nvGrpSpPr>
          <p:grpSpPr>
            <a:xfrm>
              <a:off x="11366497" y="1406649"/>
              <a:ext cx="4141889" cy="1221398"/>
              <a:chOff x="0" y="0"/>
              <a:chExt cx="818151" cy="241264"/>
            </a:xfrm>
          </p:grpSpPr>
          <p:sp>
            <p:nvSpPr>
              <p:cNvPr id="24" name="Freeform 24"/>
              <p:cNvSpPr/>
              <p:nvPr/>
            </p:nvSpPr>
            <p:spPr>
              <a:xfrm>
                <a:off x="0" y="0"/>
                <a:ext cx="818151" cy="241264"/>
              </a:xfrm>
              <a:custGeom>
                <a:avLst/>
                <a:gdLst/>
                <a:ahLst/>
                <a:cxnLst/>
                <a:rect l="l" t="t" r="r" b="b"/>
                <a:pathLst>
                  <a:path w="818151" h="241264">
                    <a:moveTo>
                      <a:pt x="69783" y="0"/>
                    </a:moveTo>
                    <a:lnTo>
                      <a:pt x="748368" y="0"/>
                    </a:lnTo>
                    <a:cubicBezTo>
                      <a:pt x="786908" y="0"/>
                      <a:pt x="818151" y="31243"/>
                      <a:pt x="818151" y="69783"/>
                    </a:cubicBezTo>
                    <a:lnTo>
                      <a:pt x="818151" y="171481"/>
                    </a:lnTo>
                    <a:cubicBezTo>
                      <a:pt x="818151" y="189989"/>
                      <a:pt x="810799" y="207738"/>
                      <a:pt x="797712" y="220825"/>
                    </a:cubicBezTo>
                    <a:cubicBezTo>
                      <a:pt x="784625" y="233912"/>
                      <a:pt x="766876" y="241264"/>
                      <a:pt x="748368" y="241264"/>
                    </a:cubicBezTo>
                    <a:lnTo>
                      <a:pt x="69783" y="241264"/>
                    </a:lnTo>
                    <a:cubicBezTo>
                      <a:pt x="51275" y="241264"/>
                      <a:pt x="33526" y="233912"/>
                      <a:pt x="20439" y="220825"/>
                    </a:cubicBezTo>
                    <a:cubicBezTo>
                      <a:pt x="7352" y="207738"/>
                      <a:pt x="0" y="189989"/>
                      <a:pt x="0" y="171481"/>
                    </a:cubicBezTo>
                    <a:lnTo>
                      <a:pt x="0" y="69783"/>
                    </a:lnTo>
                    <a:cubicBezTo>
                      <a:pt x="0" y="51275"/>
                      <a:pt x="7352" y="33526"/>
                      <a:pt x="20439" y="20439"/>
                    </a:cubicBezTo>
                    <a:cubicBezTo>
                      <a:pt x="33526" y="7352"/>
                      <a:pt x="51275" y="0"/>
                      <a:pt x="69783" y="0"/>
                    </a:cubicBezTo>
                    <a:close/>
                  </a:path>
                </a:pathLst>
              </a:custGeom>
              <a:ln w="28575" cap="rnd">
                <a:solidFill>
                  <a:srgbClr val="000000"/>
                </a:solidFill>
                <a:prstDash val="solid"/>
                <a:round/>
              </a:ln>
            </p:spPr>
            <p:txBody>
              <a:bodyPr/>
              <a:lstStyle/>
              <a:p>
                <a:endParaRPr lang="en-VN"/>
              </a:p>
            </p:txBody>
          </p:sp>
          <p:sp>
            <p:nvSpPr>
              <p:cNvPr id="25" name="TextBox 25"/>
              <p:cNvSpPr txBox="1"/>
              <p:nvPr/>
            </p:nvSpPr>
            <p:spPr>
              <a:xfrm>
                <a:off x="0" y="-38100"/>
                <a:ext cx="818151" cy="279364"/>
              </a:xfrm>
              <a:prstGeom prst="rect">
                <a:avLst/>
              </a:prstGeom>
            </p:spPr>
            <p:txBody>
              <a:bodyPr lIns="50800" tIns="50800" rIns="50800" bIns="50800" rtlCol="0" anchor="ctr"/>
              <a:lstStyle/>
              <a:p>
                <a:pPr algn="ctr">
                  <a:lnSpc>
                    <a:spcPts val="2940"/>
                  </a:lnSpc>
                </a:pPr>
                <a:r>
                  <a:rPr lang="en-US" sz="2100" b="1" spc="50">
                    <a:solidFill>
                      <a:srgbClr val="000000"/>
                    </a:solidFill>
                    <a:latin typeface="Roboto Slab Bold"/>
                    <a:ea typeface="Roboto Slab Bold"/>
                    <a:cs typeface="Roboto Slab Bold"/>
                    <a:sym typeface="Roboto Slab Bold"/>
                  </a:rPr>
                  <a:t>Dữ liệu sau khi được xử lý</a:t>
                </a:r>
              </a:p>
            </p:txBody>
          </p:sp>
        </p:grpSp>
      </p:grpSp>
      <p:sp>
        <p:nvSpPr>
          <p:cNvPr id="26" name="TextBox 26"/>
          <p:cNvSpPr txBox="1"/>
          <p:nvPr/>
        </p:nvSpPr>
        <p:spPr>
          <a:xfrm>
            <a:off x="949843" y="1868118"/>
            <a:ext cx="12056408" cy="1906688"/>
          </a:xfrm>
          <a:prstGeom prst="rect">
            <a:avLst/>
          </a:prstGeom>
        </p:spPr>
        <p:txBody>
          <a:bodyPr lIns="0" tIns="0" rIns="0" bIns="0" rtlCol="0" anchor="t">
            <a:spAutoFit/>
          </a:bodyPr>
          <a:lstStyle/>
          <a:p>
            <a:pPr marL="518162" lvl="1" indent="-259081" algn="l">
              <a:lnSpc>
                <a:spcPts val="3840"/>
              </a:lnSpc>
              <a:buFont typeface="Arial"/>
              <a:buChar char="•"/>
            </a:pPr>
            <a:r>
              <a:rPr lang="en-US" sz="2400">
                <a:solidFill>
                  <a:srgbClr val="0C1D4B"/>
                </a:solidFill>
                <a:latin typeface="Roboto Slab"/>
                <a:ea typeface="Roboto Slab"/>
                <a:cs typeface="Roboto Slab"/>
                <a:sym typeface="Roboto Slab"/>
              </a:rPr>
              <a:t>Admin upload file PDF văn bản pháp luật mới</a:t>
            </a:r>
          </a:p>
          <a:p>
            <a:pPr marL="518162" lvl="1" indent="-259081" algn="l">
              <a:lnSpc>
                <a:spcPts val="3840"/>
              </a:lnSpc>
              <a:buFont typeface="Arial"/>
              <a:buChar char="•"/>
            </a:pPr>
            <a:r>
              <a:rPr lang="en-US" sz="2400">
                <a:solidFill>
                  <a:srgbClr val="0C1D4B"/>
                </a:solidFill>
                <a:latin typeface="Roboto Slab"/>
                <a:ea typeface="Roboto Slab"/>
                <a:cs typeface="Roboto Slab"/>
                <a:sym typeface="Roboto Slab"/>
              </a:rPr>
              <a:t>Hệ thống tạo task xử lý để theo dõi trạng thái cập nhật</a:t>
            </a:r>
          </a:p>
          <a:p>
            <a:pPr marL="518162" lvl="1" indent="-259081" algn="l">
              <a:lnSpc>
                <a:spcPts val="3840"/>
              </a:lnSpc>
              <a:buFont typeface="Arial"/>
              <a:buChar char="•"/>
            </a:pPr>
            <a:r>
              <a:rPr lang="en-US" sz="2400">
                <a:solidFill>
                  <a:srgbClr val="0C1D4B"/>
                </a:solidFill>
                <a:latin typeface="Roboto Slab"/>
                <a:ea typeface="Roboto Slab"/>
                <a:cs typeface="Roboto Slab"/>
                <a:sym typeface="Roboto Slab"/>
              </a:rPr>
              <a:t>PDF được trích xuất nội dung bằng OCR và chuẩn hóa thành dữ liệu chuẩn sau đó được xử lý đưa vào MongoDB và ChromaDB</a:t>
            </a:r>
          </a:p>
        </p:txBody>
      </p:sp>
      <p:sp>
        <p:nvSpPr>
          <p:cNvPr id="27" name="RestoredLabel Du lieu tho"/>
          <p:cNvSpPr txBox="1"/>
          <p:nvPr/>
        </p:nvSpPr>
        <p:spPr>
          <a:xfrm>
            <a:off x="8087008" y="6527620"/>
            <a:ext cx="1203856" cy="276999"/>
          </a:xfrm>
          <a:prstGeom prst="rect">
            <a:avLst/>
          </a:prstGeom>
          <a:noFill/>
          <a:ln>
            <a:noFill/>
          </a:ln>
        </p:spPr>
        <p:txBody>
          <a:bodyPr wrap="none" lIns="0" tIns="0" rIns="0" bIns="0" rtlCol="0" anchor="t">
            <a:spAutoFit/>
          </a:bodyPr>
          <a:lstStyle/>
          <a:p>
            <a:pPr algn="ctr"/>
            <a:r>
              <a:rPr lang="vi-VN" sz="1800" b="1" dirty="0">
                <a:latin typeface="Roboto Slab" pitchFamily="2" charset="0"/>
                <a:ea typeface="Roboto Slab" pitchFamily="2" charset="0"/>
                <a:cs typeface="Roboto Slab" pitchFamily="2" charset="0"/>
              </a:rPr>
              <a:t>Dữ liệu thô</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grpId="0" nodeType="withEffect">
                            <p:stCondLst>
                              <p:cond delay="180"/>
                            </p:stCondLst>
                            <p:childTnLst>
                              <p:set>
                                <p:cBhvr>
                                  <p:cTn id="5" dur="1" fill="hold">
                                    <p:stCondLst>
                                      <p:cond delay="0"/>
                                    </p:stCondLst>
                                  </p:cTn>
                                  <p:tgtEl>
                                    <p:spTgt spid="10"/>
                                  </p:tgtEl>
                                  <p:attrNameLst>
                                    <p:attrName>style.visibility</p:attrName>
                                  </p:attrNameLst>
                                </p:cBhvr>
                                <p:to>
                                  <p:strVal val="visible"/>
                                </p:to>
                              </p:set>
                              <p:animEffect transition="in" filter="wipe(left)">
                                <p:cBhvr>
                                  <p:cTn id="6" dur="860"/>
                                  <p:tgtEl>
                                    <p:spTgt spid="10"/>
                                  </p:tgtEl>
                                </p:cBhvr>
                              </p:animEffect>
                            </p:childTnLst>
                          </p:cTn>
                        </p:par>
                        <p:par>
                          <p:cTn id="7" presetID="10" presetClass="entr" presetSubtype="0" fill="hold" grpId="0" nodeType="withEffect">
                            <p:stCondLst>
                              <p:cond delay="350"/>
                            </p:stCondLst>
                            <p:childTnLst>
                              <p:set>
                                <p:cBhvr>
                                  <p:cTn id="8" dur="1" fill="hold">
                                    <p:stCondLst>
                                      <p:cond delay="0"/>
                                    </p:stCondLst>
                                  </p:cTn>
                                  <p:tgtEl>
                                    <p:spTgt spid="26"/>
                                  </p:tgtEl>
                                  <p:attrNameLst>
                                    <p:attrName>style.visibility</p:attrName>
                                  </p:attrNameLst>
                                </p:cBhvr>
                                <p:to>
                                  <p:strVal val="visible"/>
                                </p:to>
                              </p:set>
                              <p:animEffect transition="in" filter="wipe(left)">
                                <p:cBhvr>
                                  <p:cTn id="9" dur="860"/>
                                  <p:tgtEl>
                                    <p:spTgt spid="26"/>
                                  </p:tgtEl>
                                </p:cBhvr>
                              </p:animEffect>
                            </p:childTnLst>
                          </p:cTn>
                        </p:par>
                        <p:par>
                          <p:cTn id="10" presetID="10" presetClass="entr" presetSubtype="0" fill="hold" grpId="0" nodeType="withEffect">
                            <p:stCondLst>
                              <p:cond delay="520"/>
                            </p:stCondLst>
                            <p:childTnLst>
                              <p:set>
                                <p:cBhvr>
                                  <p:cTn id="11" dur="1" fill="hold">
                                    <p:stCondLst>
                                      <p:cond delay="0"/>
                                    </p:stCondLst>
                                  </p:cTn>
                                  <p:tgtEl>
                                    <p:spTgt spid="12"/>
                                  </p:tgtEl>
                                  <p:attrNameLst>
                                    <p:attrName>style.visibility</p:attrName>
                                  </p:attrNameLst>
                                </p:cBhvr>
                                <p:to>
                                  <p:strVal val="visible"/>
                                </p:to>
                              </p:set>
                              <p:animEffect transition="in" filter="wipe(left)">
                                <p:cBhvr>
                                  <p:cTn id="12" dur="860"/>
                                  <p:tgtEl>
                                    <p:spTgt spid="12"/>
                                  </p:tgtEl>
                                </p:cBhvr>
                              </p:animEffect>
                            </p:childTnLst>
                          </p:cTn>
                        </p:par>
                        <p:par>
                          <p:cTn id="13" presetID="10" presetClass="entr" presetSubtype="0" fill="hold" grpId="0" nodeType="withEffect">
                            <p:stCondLst>
                              <p:cond delay="690"/>
                            </p:stCondLst>
                            <p:childTnLst>
                              <p:set>
                                <p:cBhvr>
                                  <p:cTn id="14" dur="1" fill="hold">
                                    <p:stCondLst>
                                      <p:cond delay="0"/>
                                    </p:stCondLst>
                                  </p:cTn>
                                  <p:tgtEl>
                                    <p:spTgt spid="27"/>
                                  </p:tgtEl>
                                  <p:attrNameLst>
                                    <p:attrName>style.visibility</p:attrName>
                                  </p:attrNameLst>
                                </p:cBhvr>
                                <p:to>
                                  <p:strVal val="visible"/>
                                </p:to>
                              </p:set>
                              <p:animEffect transition="in" filter="wipe(left)">
                                <p:cBhvr>
                                  <p:cTn id="15" dur="860"/>
                                  <p:tgtEl>
                                    <p:spTgt spid="27"/>
                                  </p:tgtEl>
                                </p:cBhvr>
                              </p:animEffect>
                            </p:childTnLst>
                          </p:cTn>
                        </p:par>
                      </p:childTnLst>
                    </p:cTn>
                  </p:par>
                </p:childTnLst>
              </p:cTn>
            </p:seq>
          </p:childTnLst>
        </p:cTn>
      </p:par>
    </p:tnLst>
    <p:bldLst>
      <p:bldP spid="10" grpId="0"/>
      <p:bldP spid="12" grpId="0"/>
      <p:bldP spid="26" grpId="0"/>
      <p:bldP spid="27"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10800000">
            <a:off x="17259300" y="-233820"/>
            <a:ext cx="1940843" cy="970417"/>
            <a:chOff x="0" y="0"/>
            <a:chExt cx="2587790" cy="1293889"/>
          </a:xfrm>
        </p:grpSpPr>
        <p:sp>
          <p:nvSpPr>
            <p:cNvPr id="3" name="Freeform 3"/>
            <p:cNvSpPr/>
            <p:nvPr/>
          </p:nvSpPr>
          <p:spPr>
            <a:xfrm>
              <a:off x="0" y="0"/>
              <a:ext cx="2587752" cy="1293876"/>
            </a:xfrm>
            <a:custGeom>
              <a:avLst/>
              <a:gdLst/>
              <a:ahLst/>
              <a:cxnLst/>
              <a:rect l="l" t="t" r="r" b="b"/>
              <a:pathLst>
                <a:path w="2587752" h="1293876">
                  <a:moveTo>
                    <a:pt x="0" y="0"/>
                  </a:moveTo>
                  <a:lnTo>
                    <a:pt x="2587752" y="0"/>
                  </a:lnTo>
                  <a:lnTo>
                    <a:pt x="2587752" y="1293876"/>
                  </a:lnTo>
                  <a:lnTo>
                    <a:pt x="0" y="1293876"/>
                  </a:lnTo>
                  <a:lnTo>
                    <a:pt x="0" y="0"/>
                  </a:lnTo>
                  <a:close/>
                </a:path>
              </a:pathLst>
            </a:custGeom>
            <a:blipFill>
              <a:blip r:embed="rId2"/>
              <a:stretch>
                <a:fillRect r="-1"/>
              </a:stretch>
            </a:blipFill>
          </p:spPr>
          <p:txBody>
            <a:bodyPr/>
            <a:lstStyle/>
            <a:p>
              <a:endParaRPr lang="en-VN"/>
            </a:p>
          </p:txBody>
        </p:sp>
      </p:grpSp>
      <p:grpSp>
        <p:nvGrpSpPr>
          <p:cNvPr id="4" name="Group 4"/>
          <p:cNvGrpSpPr/>
          <p:nvPr/>
        </p:nvGrpSpPr>
        <p:grpSpPr>
          <a:xfrm>
            <a:off x="-912143" y="9429369"/>
            <a:ext cx="1940843" cy="970417"/>
            <a:chOff x="0" y="0"/>
            <a:chExt cx="2587790" cy="1293889"/>
          </a:xfrm>
        </p:grpSpPr>
        <p:sp>
          <p:nvSpPr>
            <p:cNvPr id="5" name="Freeform 5"/>
            <p:cNvSpPr/>
            <p:nvPr/>
          </p:nvSpPr>
          <p:spPr>
            <a:xfrm>
              <a:off x="0" y="0"/>
              <a:ext cx="2587752" cy="1293876"/>
            </a:xfrm>
            <a:custGeom>
              <a:avLst/>
              <a:gdLst/>
              <a:ahLst/>
              <a:cxnLst/>
              <a:rect l="l" t="t" r="r" b="b"/>
              <a:pathLst>
                <a:path w="2587752" h="1293876">
                  <a:moveTo>
                    <a:pt x="0" y="0"/>
                  </a:moveTo>
                  <a:lnTo>
                    <a:pt x="2587752" y="0"/>
                  </a:lnTo>
                  <a:lnTo>
                    <a:pt x="2587752" y="1293876"/>
                  </a:lnTo>
                  <a:lnTo>
                    <a:pt x="0" y="1293876"/>
                  </a:lnTo>
                  <a:lnTo>
                    <a:pt x="0" y="0"/>
                  </a:lnTo>
                  <a:close/>
                </a:path>
              </a:pathLst>
            </a:custGeom>
            <a:blipFill>
              <a:blip r:embed="rId2"/>
              <a:stretch>
                <a:fillRect r="-1"/>
              </a:stretch>
            </a:blipFill>
          </p:spPr>
          <p:txBody>
            <a:bodyPr/>
            <a:lstStyle/>
            <a:p>
              <a:endParaRPr lang="en-VN"/>
            </a:p>
          </p:txBody>
        </p:sp>
      </p:grpSp>
      <p:grpSp>
        <p:nvGrpSpPr>
          <p:cNvPr id="6" name="Group 6"/>
          <p:cNvGrpSpPr/>
          <p:nvPr/>
        </p:nvGrpSpPr>
        <p:grpSpPr>
          <a:xfrm>
            <a:off x="-3127839" y="9986436"/>
            <a:ext cx="22035035" cy="2837612"/>
            <a:chOff x="0" y="0"/>
            <a:chExt cx="5803466" cy="747355"/>
          </a:xfrm>
        </p:grpSpPr>
        <p:sp>
          <p:nvSpPr>
            <p:cNvPr id="7" name="Freeform 7"/>
            <p:cNvSpPr/>
            <p:nvPr/>
          </p:nvSpPr>
          <p:spPr>
            <a:xfrm>
              <a:off x="0" y="0"/>
              <a:ext cx="5803466" cy="747355"/>
            </a:xfrm>
            <a:custGeom>
              <a:avLst/>
              <a:gdLst/>
              <a:ahLst/>
              <a:cxnLst/>
              <a:rect l="l" t="t" r="r" b="b"/>
              <a:pathLst>
                <a:path w="5803466" h="747355">
                  <a:moveTo>
                    <a:pt x="0" y="0"/>
                  </a:moveTo>
                  <a:lnTo>
                    <a:pt x="5803466" y="0"/>
                  </a:lnTo>
                  <a:lnTo>
                    <a:pt x="5803466" y="747355"/>
                  </a:lnTo>
                  <a:lnTo>
                    <a:pt x="0" y="747355"/>
                  </a:lnTo>
                  <a:close/>
                </a:path>
              </a:pathLst>
            </a:custGeom>
            <a:solidFill>
              <a:srgbClr val="3C4F75"/>
            </a:solidFill>
          </p:spPr>
          <p:txBody>
            <a:bodyPr/>
            <a:lstStyle/>
            <a:p>
              <a:endParaRPr lang="en-VN"/>
            </a:p>
          </p:txBody>
        </p:sp>
        <p:sp>
          <p:nvSpPr>
            <p:cNvPr id="8" name="TextBox 8"/>
            <p:cNvSpPr txBox="1"/>
            <p:nvPr/>
          </p:nvSpPr>
          <p:spPr>
            <a:xfrm>
              <a:off x="0" y="-47625"/>
              <a:ext cx="5803466" cy="794980"/>
            </a:xfrm>
            <a:prstGeom prst="rect">
              <a:avLst/>
            </a:prstGeom>
          </p:spPr>
          <p:txBody>
            <a:bodyPr lIns="50800" tIns="50800" rIns="50800" bIns="50800" rtlCol="0" anchor="ctr"/>
            <a:lstStyle/>
            <a:p>
              <a:pPr algn="ctr">
                <a:lnSpc>
                  <a:spcPts val="2940"/>
                </a:lnSpc>
              </a:pPr>
              <a:endParaRPr/>
            </a:p>
          </p:txBody>
        </p:sp>
      </p:grpSp>
      <p:sp>
        <p:nvSpPr>
          <p:cNvPr id="9" name="Freeform 9"/>
          <p:cNvSpPr/>
          <p:nvPr/>
        </p:nvSpPr>
        <p:spPr>
          <a:xfrm>
            <a:off x="1028700" y="251389"/>
            <a:ext cx="551704" cy="584433"/>
          </a:xfrm>
          <a:custGeom>
            <a:avLst/>
            <a:gdLst/>
            <a:ahLst/>
            <a:cxnLst/>
            <a:rect l="l" t="t" r="r" b="b"/>
            <a:pathLst>
              <a:path w="551704" h="584433">
                <a:moveTo>
                  <a:pt x="0" y="0"/>
                </a:moveTo>
                <a:lnTo>
                  <a:pt x="551704" y="0"/>
                </a:lnTo>
                <a:lnTo>
                  <a:pt x="551704" y="584432"/>
                </a:lnTo>
                <a:lnTo>
                  <a:pt x="0" y="584432"/>
                </a:lnTo>
                <a:lnTo>
                  <a:pt x="0" y="0"/>
                </a:lnTo>
                <a:close/>
              </a:path>
            </a:pathLst>
          </a:custGeom>
          <a:blipFill>
            <a:blip r:embed="rId3"/>
            <a:stretch>
              <a:fillRect/>
            </a:stretch>
          </a:blipFill>
        </p:spPr>
        <p:txBody>
          <a:bodyPr/>
          <a:lstStyle/>
          <a:p>
            <a:endParaRPr lang="en-VN"/>
          </a:p>
        </p:txBody>
      </p:sp>
      <p:sp>
        <p:nvSpPr>
          <p:cNvPr id="10" name="TextBox 10"/>
          <p:cNvSpPr txBox="1"/>
          <p:nvPr/>
        </p:nvSpPr>
        <p:spPr>
          <a:xfrm>
            <a:off x="1028700" y="1095375"/>
            <a:ext cx="11197543" cy="534618"/>
          </a:xfrm>
          <a:prstGeom prst="rect">
            <a:avLst/>
          </a:prstGeom>
        </p:spPr>
        <p:txBody>
          <a:bodyPr lIns="0" tIns="0" rIns="0" bIns="0" rtlCol="0" anchor="t">
            <a:spAutoFit/>
          </a:bodyPr>
          <a:lstStyle/>
          <a:p>
            <a:pPr algn="just">
              <a:lnSpc>
                <a:spcPts val="4039"/>
              </a:lnSpc>
            </a:pPr>
            <a:r>
              <a:rPr lang="en-US" sz="3999" b="1">
                <a:solidFill>
                  <a:srgbClr val="0C1D4B"/>
                </a:solidFill>
                <a:latin typeface="Roboto Slab Bold"/>
                <a:ea typeface="Roboto Slab Bold"/>
                <a:cs typeface="Roboto Slab Bold"/>
                <a:sym typeface="Roboto Slab Bold"/>
              </a:rPr>
              <a:t>3.7. Mô hình tổng quan hệ thống</a:t>
            </a:r>
          </a:p>
        </p:txBody>
      </p:sp>
      <p:sp>
        <p:nvSpPr>
          <p:cNvPr id="11" name="TextBox 11"/>
          <p:cNvSpPr txBox="1"/>
          <p:nvPr/>
        </p:nvSpPr>
        <p:spPr>
          <a:xfrm>
            <a:off x="1687249" y="346410"/>
            <a:ext cx="3954904" cy="356289"/>
          </a:xfrm>
          <a:prstGeom prst="rect">
            <a:avLst/>
          </a:prstGeom>
        </p:spPr>
        <p:txBody>
          <a:bodyPr lIns="0" tIns="0" rIns="0" bIns="0" rtlCol="0" anchor="t">
            <a:spAutoFit/>
          </a:bodyPr>
          <a:lstStyle/>
          <a:p>
            <a:pPr algn="l">
              <a:lnSpc>
                <a:spcPts val="2940"/>
              </a:lnSpc>
            </a:pPr>
            <a:r>
              <a:rPr lang="en-US" sz="2100" b="1">
                <a:solidFill>
                  <a:srgbClr val="2C2C2C"/>
                </a:solidFill>
                <a:latin typeface="Roboto Slab Bold"/>
                <a:ea typeface="Roboto Slab Bold"/>
                <a:cs typeface="Roboto Slab Bold"/>
                <a:sym typeface="Roboto Slab Bold"/>
              </a:rPr>
              <a:t>HỌC VIỆN KỸ THUẬT MẬT MÃ</a:t>
            </a:r>
          </a:p>
        </p:txBody>
      </p:sp>
      <p:grpSp>
        <p:nvGrpSpPr>
          <p:cNvPr id="12" name="Group 12"/>
          <p:cNvGrpSpPr/>
          <p:nvPr/>
        </p:nvGrpSpPr>
        <p:grpSpPr>
          <a:xfrm>
            <a:off x="1687249" y="1629993"/>
            <a:ext cx="13868931" cy="7876660"/>
            <a:chOff x="0" y="0"/>
            <a:chExt cx="18491908" cy="10502212"/>
          </a:xfrm>
        </p:grpSpPr>
        <p:sp>
          <p:nvSpPr>
            <p:cNvPr id="13" name="Freeform 13"/>
            <p:cNvSpPr/>
            <p:nvPr/>
          </p:nvSpPr>
          <p:spPr>
            <a:xfrm>
              <a:off x="499293" y="4470125"/>
              <a:ext cx="1160998" cy="1917564"/>
            </a:xfrm>
            <a:custGeom>
              <a:avLst/>
              <a:gdLst/>
              <a:ahLst/>
              <a:cxnLst/>
              <a:rect l="l" t="t" r="r" b="b"/>
              <a:pathLst>
                <a:path w="1160998" h="1917564">
                  <a:moveTo>
                    <a:pt x="0" y="0"/>
                  </a:moveTo>
                  <a:lnTo>
                    <a:pt x="1160998" y="0"/>
                  </a:lnTo>
                  <a:lnTo>
                    <a:pt x="1160998" y="1917564"/>
                  </a:lnTo>
                  <a:lnTo>
                    <a:pt x="0" y="191756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VN"/>
            </a:p>
          </p:txBody>
        </p:sp>
        <p:sp>
          <p:nvSpPr>
            <p:cNvPr id="14" name="TextBox 14"/>
            <p:cNvSpPr txBox="1"/>
            <p:nvPr/>
          </p:nvSpPr>
          <p:spPr>
            <a:xfrm>
              <a:off x="0" y="6613114"/>
              <a:ext cx="2159584" cy="342727"/>
            </a:xfrm>
            <a:prstGeom prst="rect">
              <a:avLst/>
            </a:prstGeom>
          </p:spPr>
          <p:txBody>
            <a:bodyPr lIns="0" tIns="0" rIns="0" bIns="0" rtlCol="0" anchor="t">
              <a:spAutoFit/>
            </a:bodyPr>
            <a:lstStyle/>
            <a:p>
              <a:pPr algn="ctr">
                <a:lnSpc>
                  <a:spcPts val="2238"/>
                </a:lnSpc>
              </a:pPr>
              <a:r>
                <a:rPr lang="en-US" sz="1599" b="1">
                  <a:solidFill>
                    <a:srgbClr val="000000"/>
                  </a:solidFill>
                  <a:latin typeface="Roboto Slab Bold"/>
                  <a:ea typeface="Roboto Slab Bold"/>
                  <a:cs typeface="Roboto Slab Bold"/>
                  <a:sym typeface="Roboto Slab Bold"/>
                </a:rPr>
                <a:t>Mobile App</a:t>
              </a:r>
            </a:p>
          </p:txBody>
        </p:sp>
        <p:sp>
          <p:nvSpPr>
            <p:cNvPr id="15" name="Freeform 15"/>
            <p:cNvSpPr/>
            <p:nvPr/>
          </p:nvSpPr>
          <p:spPr>
            <a:xfrm>
              <a:off x="76285" y="1810686"/>
              <a:ext cx="2007014" cy="1784418"/>
            </a:xfrm>
            <a:custGeom>
              <a:avLst/>
              <a:gdLst/>
              <a:ahLst/>
              <a:cxnLst/>
              <a:rect l="l" t="t" r="r" b="b"/>
              <a:pathLst>
                <a:path w="2007014" h="1784418">
                  <a:moveTo>
                    <a:pt x="0" y="0"/>
                  </a:moveTo>
                  <a:lnTo>
                    <a:pt x="2007014" y="0"/>
                  </a:lnTo>
                  <a:lnTo>
                    <a:pt x="2007014" y="1784418"/>
                  </a:lnTo>
                  <a:lnTo>
                    <a:pt x="0" y="1784418"/>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VN"/>
            </a:p>
          </p:txBody>
        </p:sp>
        <p:sp>
          <p:nvSpPr>
            <p:cNvPr id="16" name="TextBox 16"/>
            <p:cNvSpPr txBox="1"/>
            <p:nvPr/>
          </p:nvSpPr>
          <p:spPr>
            <a:xfrm>
              <a:off x="0" y="3695598"/>
              <a:ext cx="2159584" cy="342727"/>
            </a:xfrm>
            <a:prstGeom prst="rect">
              <a:avLst/>
            </a:prstGeom>
          </p:spPr>
          <p:txBody>
            <a:bodyPr lIns="0" tIns="0" rIns="0" bIns="0" rtlCol="0" anchor="t">
              <a:spAutoFit/>
            </a:bodyPr>
            <a:lstStyle/>
            <a:p>
              <a:pPr algn="ctr">
                <a:lnSpc>
                  <a:spcPts val="2238"/>
                </a:lnSpc>
              </a:pPr>
              <a:r>
                <a:rPr lang="en-US" sz="1599" b="1">
                  <a:solidFill>
                    <a:srgbClr val="000000"/>
                  </a:solidFill>
                  <a:latin typeface="Roboto Slab Bold"/>
                  <a:ea typeface="Roboto Slab Bold"/>
                  <a:cs typeface="Roboto Slab Bold"/>
                  <a:sym typeface="Roboto Slab Bold"/>
                </a:rPr>
                <a:t>Admin Web</a:t>
              </a:r>
            </a:p>
          </p:txBody>
        </p:sp>
        <p:sp>
          <p:nvSpPr>
            <p:cNvPr id="17" name="Freeform 17"/>
            <p:cNvSpPr/>
            <p:nvPr/>
          </p:nvSpPr>
          <p:spPr>
            <a:xfrm>
              <a:off x="11484344" y="6230470"/>
              <a:ext cx="1822684" cy="2066961"/>
            </a:xfrm>
            <a:custGeom>
              <a:avLst/>
              <a:gdLst/>
              <a:ahLst/>
              <a:cxnLst/>
              <a:rect l="l" t="t" r="r" b="b"/>
              <a:pathLst>
                <a:path w="1822684" h="2066961">
                  <a:moveTo>
                    <a:pt x="0" y="0"/>
                  </a:moveTo>
                  <a:lnTo>
                    <a:pt x="1822684" y="0"/>
                  </a:lnTo>
                  <a:lnTo>
                    <a:pt x="1822684" y="2066962"/>
                  </a:lnTo>
                  <a:lnTo>
                    <a:pt x="0" y="2066962"/>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VN"/>
            </a:p>
          </p:txBody>
        </p:sp>
        <p:sp>
          <p:nvSpPr>
            <p:cNvPr id="18" name="TextBox 18"/>
            <p:cNvSpPr txBox="1"/>
            <p:nvPr/>
          </p:nvSpPr>
          <p:spPr>
            <a:xfrm>
              <a:off x="11067196" y="8435725"/>
              <a:ext cx="2656980" cy="711133"/>
            </a:xfrm>
            <a:prstGeom prst="rect">
              <a:avLst/>
            </a:prstGeom>
          </p:spPr>
          <p:txBody>
            <a:bodyPr lIns="0" tIns="0" rIns="0" bIns="0" rtlCol="0" anchor="t">
              <a:spAutoFit/>
            </a:bodyPr>
            <a:lstStyle/>
            <a:p>
              <a:pPr algn="ctr">
                <a:lnSpc>
                  <a:spcPts val="2238"/>
                </a:lnSpc>
              </a:pPr>
              <a:r>
                <a:rPr lang="en-US" sz="1599" b="1">
                  <a:solidFill>
                    <a:srgbClr val="000000"/>
                  </a:solidFill>
                  <a:latin typeface="Roboto Slab Bold"/>
                  <a:ea typeface="Roboto Slab Bold"/>
                  <a:cs typeface="Roboto Slab Bold"/>
                  <a:sym typeface="Roboto Slab Bold"/>
                </a:rPr>
                <a:t>Chatbot backend</a:t>
              </a:r>
            </a:p>
            <a:p>
              <a:pPr algn="ctr">
                <a:lnSpc>
                  <a:spcPts val="2238"/>
                </a:lnSpc>
              </a:pPr>
              <a:r>
                <a:rPr lang="en-US" sz="1599" b="1">
                  <a:solidFill>
                    <a:srgbClr val="000000"/>
                  </a:solidFill>
                  <a:latin typeface="Roboto Slab Bold"/>
                  <a:ea typeface="Roboto Slab Bold"/>
                  <a:cs typeface="Roboto Slab Bold"/>
                  <a:sym typeface="Roboto Slab Bold"/>
                </a:rPr>
                <a:t>(RAG Service)</a:t>
              </a:r>
            </a:p>
          </p:txBody>
        </p:sp>
        <p:sp>
          <p:nvSpPr>
            <p:cNvPr id="19" name="Freeform 19"/>
            <p:cNvSpPr/>
            <p:nvPr/>
          </p:nvSpPr>
          <p:spPr>
            <a:xfrm>
              <a:off x="6374013" y="3057170"/>
              <a:ext cx="1822684" cy="2066961"/>
            </a:xfrm>
            <a:custGeom>
              <a:avLst/>
              <a:gdLst/>
              <a:ahLst/>
              <a:cxnLst/>
              <a:rect l="l" t="t" r="r" b="b"/>
              <a:pathLst>
                <a:path w="1822684" h="2066961">
                  <a:moveTo>
                    <a:pt x="0" y="0"/>
                  </a:moveTo>
                  <a:lnTo>
                    <a:pt x="1822684" y="0"/>
                  </a:lnTo>
                  <a:lnTo>
                    <a:pt x="1822684" y="2066961"/>
                  </a:lnTo>
                  <a:lnTo>
                    <a:pt x="0" y="2066961"/>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VN"/>
            </a:p>
          </p:txBody>
        </p:sp>
        <p:sp>
          <p:nvSpPr>
            <p:cNvPr id="20" name="TextBox 20"/>
            <p:cNvSpPr txBox="1"/>
            <p:nvPr/>
          </p:nvSpPr>
          <p:spPr>
            <a:xfrm>
              <a:off x="5956865" y="5171947"/>
              <a:ext cx="2656980" cy="711133"/>
            </a:xfrm>
            <a:prstGeom prst="rect">
              <a:avLst/>
            </a:prstGeom>
          </p:spPr>
          <p:txBody>
            <a:bodyPr lIns="0" tIns="0" rIns="0" bIns="0" rtlCol="0" anchor="t">
              <a:spAutoFit/>
            </a:bodyPr>
            <a:lstStyle/>
            <a:p>
              <a:pPr algn="ctr">
                <a:lnSpc>
                  <a:spcPts val="2238"/>
                </a:lnSpc>
              </a:pPr>
              <a:r>
                <a:rPr lang="en-US" sz="1599" b="1">
                  <a:solidFill>
                    <a:srgbClr val="000000"/>
                  </a:solidFill>
                  <a:latin typeface="Roboto Slab Bold"/>
                  <a:ea typeface="Roboto Slab Bold"/>
                  <a:cs typeface="Roboto Slab Bold"/>
                  <a:sym typeface="Roboto Slab Bold"/>
                </a:rPr>
                <a:t>Backend</a:t>
              </a:r>
            </a:p>
            <a:p>
              <a:pPr algn="ctr">
                <a:lnSpc>
                  <a:spcPts val="2238"/>
                </a:lnSpc>
              </a:pPr>
              <a:r>
                <a:rPr lang="en-US" sz="1599" b="1">
                  <a:solidFill>
                    <a:srgbClr val="000000"/>
                  </a:solidFill>
                  <a:latin typeface="Roboto Slab Bold"/>
                  <a:ea typeface="Roboto Slab Bold"/>
                  <a:cs typeface="Roboto Slab Bold"/>
                  <a:sym typeface="Roboto Slab Bold"/>
                </a:rPr>
                <a:t>(Main Service)</a:t>
              </a:r>
            </a:p>
          </p:txBody>
        </p:sp>
        <p:sp>
          <p:nvSpPr>
            <p:cNvPr id="21" name="Freeform 21"/>
            <p:cNvSpPr/>
            <p:nvPr/>
          </p:nvSpPr>
          <p:spPr>
            <a:xfrm>
              <a:off x="11828809" y="3132695"/>
              <a:ext cx="1133754" cy="1382624"/>
            </a:xfrm>
            <a:custGeom>
              <a:avLst/>
              <a:gdLst/>
              <a:ahLst/>
              <a:cxnLst/>
              <a:rect l="l" t="t" r="r" b="b"/>
              <a:pathLst>
                <a:path w="1133754" h="1382624">
                  <a:moveTo>
                    <a:pt x="0" y="0"/>
                  </a:moveTo>
                  <a:lnTo>
                    <a:pt x="1133755" y="0"/>
                  </a:lnTo>
                  <a:lnTo>
                    <a:pt x="1133755" y="1382623"/>
                  </a:lnTo>
                  <a:lnTo>
                    <a:pt x="0" y="1382623"/>
                  </a:lnTo>
                  <a:lnTo>
                    <a:pt x="0" y="0"/>
                  </a:lnTo>
                  <a:close/>
                </a:path>
              </a:pathLst>
            </a:custGeom>
            <a:blipFill>
              <a:blip>
                <a:extLst>
                  <a:ext uri="{96DAC541-7B7A-43D3-8B79-37D633B846F1}">
                    <asvg:svgBlip xmlns:asvg="http://schemas.microsoft.com/office/drawing/2016/SVG/main" r:embed="rId7"/>
                  </a:ext>
                </a:extLst>
              </a:blip>
              <a:stretch>
                <a:fillRect l="-347" r="-346"/>
              </a:stretch>
            </a:blipFill>
          </p:spPr>
          <p:txBody>
            <a:bodyPr/>
            <a:lstStyle/>
            <a:p>
              <a:endParaRPr lang="en-VN"/>
            </a:p>
          </p:txBody>
        </p:sp>
        <p:sp>
          <p:nvSpPr>
            <p:cNvPr id="22" name="TextBox 22"/>
            <p:cNvSpPr txBox="1"/>
            <p:nvPr/>
          </p:nvSpPr>
          <p:spPr>
            <a:xfrm>
              <a:off x="11429075" y="4646514"/>
              <a:ext cx="1933223" cy="791909"/>
            </a:xfrm>
            <a:prstGeom prst="rect">
              <a:avLst/>
            </a:prstGeom>
          </p:spPr>
          <p:txBody>
            <a:bodyPr lIns="0" tIns="0" rIns="0" bIns="0" rtlCol="0" anchor="t">
              <a:spAutoFit/>
            </a:bodyPr>
            <a:lstStyle/>
            <a:p>
              <a:pPr algn="ctr">
                <a:lnSpc>
                  <a:spcPts val="2443"/>
                </a:lnSpc>
              </a:pPr>
              <a:r>
                <a:rPr lang="en-US" sz="1746" b="1" dirty="0">
                  <a:solidFill>
                    <a:srgbClr val="000000"/>
                  </a:solidFill>
                  <a:latin typeface="Roboto Slab Bold"/>
                  <a:ea typeface="Roboto Slab Bold"/>
                  <a:cs typeface="Roboto Slab Bold"/>
                  <a:sym typeface="Roboto Slab Bold"/>
                </a:rPr>
                <a:t>Database</a:t>
              </a:r>
            </a:p>
            <a:p>
              <a:pPr algn="ctr">
                <a:lnSpc>
                  <a:spcPts val="2443"/>
                </a:lnSpc>
              </a:pPr>
              <a:r>
                <a:rPr lang="en-US" sz="1746" b="1" dirty="0">
                  <a:solidFill>
                    <a:srgbClr val="000000"/>
                  </a:solidFill>
                  <a:latin typeface="Roboto Slab Bold"/>
                  <a:ea typeface="Roboto Slab Bold"/>
                  <a:cs typeface="Roboto Slab Bold"/>
                  <a:sym typeface="Roboto Slab Bold"/>
                </a:rPr>
                <a:t>(PostgreSQL)</a:t>
              </a:r>
            </a:p>
          </p:txBody>
        </p:sp>
        <p:sp>
          <p:nvSpPr>
            <p:cNvPr id="23" name="Freeform 23"/>
            <p:cNvSpPr/>
            <p:nvPr/>
          </p:nvSpPr>
          <p:spPr>
            <a:xfrm>
              <a:off x="16996101" y="4915220"/>
              <a:ext cx="1133754" cy="1382624"/>
            </a:xfrm>
            <a:custGeom>
              <a:avLst/>
              <a:gdLst/>
              <a:ahLst/>
              <a:cxnLst/>
              <a:rect l="l" t="t" r="r" b="b"/>
              <a:pathLst>
                <a:path w="1133754" h="1382624">
                  <a:moveTo>
                    <a:pt x="0" y="0"/>
                  </a:moveTo>
                  <a:lnTo>
                    <a:pt x="1133754" y="0"/>
                  </a:lnTo>
                  <a:lnTo>
                    <a:pt x="1133754" y="1382623"/>
                  </a:lnTo>
                  <a:lnTo>
                    <a:pt x="0" y="1382623"/>
                  </a:lnTo>
                  <a:lnTo>
                    <a:pt x="0" y="0"/>
                  </a:lnTo>
                  <a:close/>
                </a:path>
              </a:pathLst>
            </a:custGeom>
            <a:blipFill>
              <a:blip>
                <a:extLst>
                  <a:ext uri="{96DAC541-7B7A-43D3-8B79-37D633B846F1}">
                    <asvg:svgBlip xmlns:asvg="http://schemas.microsoft.com/office/drawing/2016/SVG/main" r:embed="rId7"/>
                  </a:ext>
                </a:extLst>
              </a:blip>
              <a:stretch>
                <a:fillRect l="-347" r="-346"/>
              </a:stretch>
            </a:blipFill>
          </p:spPr>
          <p:txBody>
            <a:bodyPr/>
            <a:lstStyle/>
            <a:p>
              <a:endParaRPr lang="en-VN"/>
            </a:p>
          </p:txBody>
        </p:sp>
        <p:sp>
          <p:nvSpPr>
            <p:cNvPr id="24" name="TextBox 24"/>
            <p:cNvSpPr txBox="1"/>
            <p:nvPr/>
          </p:nvSpPr>
          <p:spPr>
            <a:xfrm>
              <a:off x="16634048" y="6456143"/>
              <a:ext cx="1857860" cy="791909"/>
            </a:xfrm>
            <a:prstGeom prst="rect">
              <a:avLst/>
            </a:prstGeom>
          </p:spPr>
          <p:txBody>
            <a:bodyPr lIns="0" tIns="0" rIns="0" bIns="0" rtlCol="0" anchor="t">
              <a:spAutoFit/>
            </a:bodyPr>
            <a:lstStyle/>
            <a:p>
              <a:pPr algn="ctr">
                <a:lnSpc>
                  <a:spcPts val="2443"/>
                </a:lnSpc>
              </a:pPr>
              <a:r>
                <a:rPr lang="en-US" sz="1746" b="1">
                  <a:solidFill>
                    <a:srgbClr val="000000"/>
                  </a:solidFill>
                  <a:latin typeface="Roboto Slab Bold"/>
                  <a:ea typeface="Roboto Slab Bold"/>
                  <a:cs typeface="Roboto Slab Bold"/>
                  <a:sym typeface="Roboto Slab Bold"/>
                </a:rPr>
                <a:t>Database</a:t>
              </a:r>
            </a:p>
            <a:p>
              <a:pPr algn="ctr">
                <a:lnSpc>
                  <a:spcPts val="2443"/>
                </a:lnSpc>
              </a:pPr>
              <a:r>
                <a:rPr lang="en-US" sz="1746" b="1">
                  <a:solidFill>
                    <a:srgbClr val="000000"/>
                  </a:solidFill>
                  <a:latin typeface="Roboto Slab Bold"/>
                  <a:ea typeface="Roboto Slab Bold"/>
                  <a:cs typeface="Roboto Slab Bold"/>
                  <a:sym typeface="Roboto Slab Bold"/>
                </a:rPr>
                <a:t>(ChromaDB)</a:t>
              </a:r>
            </a:p>
          </p:txBody>
        </p:sp>
        <p:sp>
          <p:nvSpPr>
            <p:cNvPr id="25" name="Freeform 25"/>
            <p:cNvSpPr/>
            <p:nvPr/>
          </p:nvSpPr>
          <p:spPr>
            <a:xfrm>
              <a:off x="11828809" y="0"/>
              <a:ext cx="1133754" cy="1382624"/>
            </a:xfrm>
            <a:custGeom>
              <a:avLst/>
              <a:gdLst/>
              <a:ahLst/>
              <a:cxnLst/>
              <a:rect l="l" t="t" r="r" b="b"/>
              <a:pathLst>
                <a:path w="1133754" h="1382624">
                  <a:moveTo>
                    <a:pt x="0" y="0"/>
                  </a:moveTo>
                  <a:lnTo>
                    <a:pt x="1133755" y="0"/>
                  </a:lnTo>
                  <a:lnTo>
                    <a:pt x="1133755" y="1382624"/>
                  </a:lnTo>
                  <a:lnTo>
                    <a:pt x="0" y="1382624"/>
                  </a:lnTo>
                  <a:lnTo>
                    <a:pt x="0" y="0"/>
                  </a:lnTo>
                  <a:close/>
                </a:path>
              </a:pathLst>
            </a:custGeom>
            <a:blipFill>
              <a:blip>
                <a:extLst>
                  <a:ext uri="{96DAC541-7B7A-43D3-8B79-37D633B846F1}">
                    <asvg:svgBlip xmlns:asvg="http://schemas.microsoft.com/office/drawing/2016/SVG/main" r:embed="rId7"/>
                  </a:ext>
                </a:extLst>
              </a:blip>
              <a:stretch>
                <a:fillRect l="-347" r="-346"/>
              </a:stretch>
            </a:blipFill>
          </p:spPr>
          <p:txBody>
            <a:bodyPr/>
            <a:lstStyle/>
            <a:p>
              <a:endParaRPr lang="en-VN"/>
            </a:p>
          </p:txBody>
        </p:sp>
        <p:sp>
          <p:nvSpPr>
            <p:cNvPr id="26" name="TextBox 26"/>
            <p:cNvSpPr txBox="1"/>
            <p:nvPr/>
          </p:nvSpPr>
          <p:spPr>
            <a:xfrm>
              <a:off x="11564728" y="1548738"/>
              <a:ext cx="1661916" cy="791909"/>
            </a:xfrm>
            <a:prstGeom prst="rect">
              <a:avLst/>
            </a:prstGeom>
          </p:spPr>
          <p:txBody>
            <a:bodyPr lIns="0" tIns="0" rIns="0" bIns="0" rtlCol="0" anchor="t">
              <a:spAutoFit/>
            </a:bodyPr>
            <a:lstStyle/>
            <a:p>
              <a:pPr algn="ctr">
                <a:lnSpc>
                  <a:spcPts val="2443"/>
                </a:lnSpc>
              </a:pPr>
              <a:r>
                <a:rPr lang="en-US" sz="1746" b="1">
                  <a:solidFill>
                    <a:srgbClr val="000000"/>
                  </a:solidFill>
                  <a:latin typeface="Roboto Slab Bold"/>
                  <a:ea typeface="Roboto Slab Bold"/>
                  <a:cs typeface="Roboto Slab Bold"/>
                  <a:sym typeface="Roboto Slab Bold"/>
                </a:rPr>
                <a:t>Database</a:t>
              </a:r>
            </a:p>
            <a:p>
              <a:pPr algn="ctr">
                <a:lnSpc>
                  <a:spcPts val="2443"/>
                </a:lnSpc>
              </a:pPr>
              <a:r>
                <a:rPr lang="en-US" sz="1746" b="1">
                  <a:solidFill>
                    <a:srgbClr val="000000"/>
                  </a:solidFill>
                  <a:latin typeface="Roboto Slab Bold"/>
                  <a:ea typeface="Roboto Slab Bold"/>
                  <a:cs typeface="Roboto Slab Bold"/>
                  <a:sym typeface="Roboto Slab Bold"/>
                </a:rPr>
                <a:t>(MongoDB)</a:t>
              </a:r>
            </a:p>
          </p:txBody>
        </p:sp>
        <p:sp>
          <p:nvSpPr>
            <p:cNvPr id="27" name="AutoShape 27"/>
            <p:cNvSpPr/>
            <p:nvPr/>
          </p:nvSpPr>
          <p:spPr>
            <a:xfrm>
              <a:off x="2159584" y="2924506"/>
              <a:ext cx="3797281" cy="1226435"/>
            </a:xfrm>
            <a:prstGeom prst="line">
              <a:avLst/>
            </a:prstGeom>
            <a:ln w="50800" cap="flat">
              <a:solidFill>
                <a:srgbClr val="000000"/>
              </a:solidFill>
              <a:prstDash val="solid"/>
              <a:headEnd type="arrow" w="med" len="sm"/>
              <a:tailEnd type="arrow" w="med" len="sm"/>
            </a:ln>
          </p:spPr>
          <p:txBody>
            <a:bodyPr/>
            <a:lstStyle/>
            <a:p>
              <a:endParaRPr lang="en-VN"/>
            </a:p>
          </p:txBody>
        </p:sp>
        <p:sp>
          <p:nvSpPr>
            <p:cNvPr id="28" name="AutoShape 28"/>
            <p:cNvSpPr/>
            <p:nvPr/>
          </p:nvSpPr>
          <p:spPr>
            <a:xfrm flipV="1">
              <a:off x="2159584" y="4470125"/>
              <a:ext cx="3797281" cy="1242858"/>
            </a:xfrm>
            <a:prstGeom prst="line">
              <a:avLst/>
            </a:prstGeom>
            <a:ln w="50800" cap="flat">
              <a:solidFill>
                <a:srgbClr val="000000"/>
              </a:solidFill>
              <a:prstDash val="solid"/>
              <a:headEnd type="arrow" w="med" len="sm"/>
              <a:tailEnd type="arrow" w="med" len="sm"/>
            </a:ln>
          </p:spPr>
          <p:txBody>
            <a:bodyPr/>
            <a:lstStyle/>
            <a:p>
              <a:endParaRPr lang="en-VN"/>
            </a:p>
          </p:txBody>
        </p:sp>
        <p:sp>
          <p:nvSpPr>
            <p:cNvPr id="29" name="AutoShape 29"/>
            <p:cNvSpPr/>
            <p:nvPr/>
          </p:nvSpPr>
          <p:spPr>
            <a:xfrm>
              <a:off x="8613845" y="4470125"/>
              <a:ext cx="2453352" cy="2959625"/>
            </a:xfrm>
            <a:prstGeom prst="line">
              <a:avLst/>
            </a:prstGeom>
            <a:ln w="50800" cap="flat">
              <a:solidFill>
                <a:srgbClr val="000000"/>
              </a:solidFill>
              <a:prstDash val="solid"/>
              <a:headEnd type="arrow" w="med" len="sm"/>
              <a:tailEnd type="arrow" w="med" len="sm"/>
            </a:ln>
          </p:spPr>
          <p:txBody>
            <a:bodyPr/>
            <a:lstStyle/>
            <a:p>
              <a:endParaRPr lang="en-VN"/>
            </a:p>
          </p:txBody>
        </p:sp>
        <p:sp>
          <p:nvSpPr>
            <p:cNvPr id="30" name="AutoShape 30"/>
            <p:cNvSpPr/>
            <p:nvPr/>
          </p:nvSpPr>
          <p:spPr>
            <a:xfrm flipV="1">
              <a:off x="13724176" y="6081636"/>
              <a:ext cx="2909871" cy="1607028"/>
            </a:xfrm>
            <a:prstGeom prst="line">
              <a:avLst/>
            </a:prstGeom>
            <a:ln w="50800" cap="flat">
              <a:solidFill>
                <a:srgbClr val="000000"/>
              </a:solidFill>
              <a:prstDash val="solid"/>
              <a:headEnd type="arrow" w="med" len="sm"/>
              <a:tailEnd type="arrow" w="med" len="sm"/>
            </a:ln>
          </p:spPr>
          <p:txBody>
            <a:bodyPr/>
            <a:lstStyle/>
            <a:p>
              <a:endParaRPr lang="en-VN"/>
            </a:p>
          </p:txBody>
        </p:sp>
        <p:sp>
          <p:nvSpPr>
            <p:cNvPr id="31" name="Freeform 31"/>
            <p:cNvSpPr/>
            <p:nvPr/>
          </p:nvSpPr>
          <p:spPr>
            <a:xfrm>
              <a:off x="16868159" y="8137156"/>
              <a:ext cx="1389637" cy="1420632"/>
            </a:xfrm>
            <a:custGeom>
              <a:avLst/>
              <a:gdLst/>
              <a:ahLst/>
              <a:cxnLst/>
              <a:rect l="l" t="t" r="r" b="b"/>
              <a:pathLst>
                <a:path w="1389637" h="1420632">
                  <a:moveTo>
                    <a:pt x="0" y="0"/>
                  </a:moveTo>
                  <a:lnTo>
                    <a:pt x="1389637" y="0"/>
                  </a:lnTo>
                  <a:lnTo>
                    <a:pt x="1389637" y="1420633"/>
                  </a:lnTo>
                  <a:lnTo>
                    <a:pt x="0" y="1420633"/>
                  </a:lnTo>
                  <a:lnTo>
                    <a:pt x="0" y="0"/>
                  </a:lnTo>
                  <a:close/>
                </a:path>
              </a:pathLst>
            </a:custGeom>
            <a:blipFill>
              <a:blip>
                <a:extLst>
                  <a:ext uri="{96DAC541-7B7A-43D3-8B79-37D633B846F1}">
                    <asvg:svgBlip xmlns:asvg="http://schemas.microsoft.com/office/drawing/2016/SVG/main" r:embed="rId8"/>
                  </a:ext>
                </a:extLst>
              </a:blip>
              <a:stretch>
                <a:fillRect/>
              </a:stretch>
            </a:blipFill>
          </p:spPr>
          <p:txBody>
            <a:bodyPr/>
            <a:lstStyle/>
            <a:p>
              <a:endParaRPr lang="en-VN"/>
            </a:p>
          </p:txBody>
        </p:sp>
        <p:sp>
          <p:nvSpPr>
            <p:cNvPr id="32" name="TextBox 32"/>
            <p:cNvSpPr txBox="1"/>
            <p:nvPr/>
          </p:nvSpPr>
          <p:spPr>
            <a:xfrm>
              <a:off x="16634048" y="9710189"/>
              <a:ext cx="1857860" cy="792023"/>
            </a:xfrm>
            <a:prstGeom prst="rect">
              <a:avLst/>
            </a:prstGeom>
          </p:spPr>
          <p:txBody>
            <a:bodyPr lIns="0" tIns="0" rIns="0" bIns="0" rtlCol="0" anchor="t">
              <a:spAutoFit/>
            </a:bodyPr>
            <a:lstStyle/>
            <a:p>
              <a:pPr algn="ctr">
                <a:lnSpc>
                  <a:spcPts val="2442"/>
                </a:lnSpc>
              </a:pPr>
              <a:r>
                <a:rPr lang="en-US" sz="1746" b="1">
                  <a:solidFill>
                    <a:srgbClr val="000000"/>
                  </a:solidFill>
                  <a:latin typeface="Roboto Slab Bold"/>
                  <a:ea typeface="Roboto Slab Bold"/>
                  <a:cs typeface="Roboto Slab Bold"/>
                  <a:sym typeface="Roboto Slab Bold"/>
                </a:rPr>
                <a:t>LLMs</a:t>
              </a:r>
            </a:p>
            <a:p>
              <a:pPr algn="ctr">
                <a:lnSpc>
                  <a:spcPts val="2443"/>
                </a:lnSpc>
              </a:pPr>
              <a:r>
                <a:rPr lang="en-US" sz="1746" b="1">
                  <a:solidFill>
                    <a:srgbClr val="000000"/>
                  </a:solidFill>
                  <a:latin typeface="Roboto Slab Bold"/>
                  <a:ea typeface="Roboto Slab Bold"/>
                  <a:cs typeface="Roboto Slab Bold"/>
                  <a:sym typeface="Roboto Slab Bold"/>
                </a:rPr>
                <a:t>(Gemini API)</a:t>
              </a:r>
            </a:p>
          </p:txBody>
        </p:sp>
        <p:sp>
          <p:nvSpPr>
            <p:cNvPr id="33" name="AutoShape 33"/>
            <p:cNvSpPr/>
            <p:nvPr/>
          </p:nvSpPr>
          <p:spPr>
            <a:xfrm>
              <a:off x="13724176" y="7997372"/>
              <a:ext cx="2909871" cy="1322312"/>
            </a:xfrm>
            <a:prstGeom prst="line">
              <a:avLst/>
            </a:prstGeom>
            <a:ln w="50800" cap="flat">
              <a:solidFill>
                <a:srgbClr val="000000"/>
              </a:solidFill>
              <a:prstDash val="solid"/>
              <a:headEnd type="arrow" w="med" len="sm"/>
              <a:tailEnd type="arrow" w="med" len="sm"/>
            </a:ln>
          </p:spPr>
          <p:txBody>
            <a:bodyPr/>
            <a:lstStyle/>
            <a:p>
              <a:endParaRPr lang="en-VN"/>
            </a:p>
          </p:txBody>
        </p:sp>
        <p:sp>
          <p:nvSpPr>
            <p:cNvPr id="34" name="AutoShape 34"/>
            <p:cNvSpPr/>
            <p:nvPr/>
          </p:nvSpPr>
          <p:spPr>
            <a:xfrm>
              <a:off x="8613845" y="4070421"/>
              <a:ext cx="2815230" cy="215138"/>
            </a:xfrm>
            <a:prstGeom prst="line">
              <a:avLst/>
            </a:prstGeom>
            <a:ln w="50800" cap="flat">
              <a:solidFill>
                <a:srgbClr val="000000"/>
              </a:solidFill>
              <a:prstDash val="solid"/>
              <a:headEnd type="arrow" w="med" len="sm"/>
              <a:tailEnd type="arrow" w="med" len="sm"/>
            </a:ln>
          </p:spPr>
          <p:txBody>
            <a:bodyPr/>
            <a:lstStyle/>
            <a:p>
              <a:endParaRPr lang="en-VN"/>
            </a:p>
          </p:txBody>
        </p:sp>
        <p:sp>
          <p:nvSpPr>
            <p:cNvPr id="35" name="AutoShape 35"/>
            <p:cNvSpPr/>
            <p:nvPr/>
          </p:nvSpPr>
          <p:spPr>
            <a:xfrm flipV="1">
              <a:off x="8613845" y="1215592"/>
              <a:ext cx="2882777" cy="2304399"/>
            </a:xfrm>
            <a:prstGeom prst="line">
              <a:avLst/>
            </a:prstGeom>
            <a:ln w="50800" cap="flat">
              <a:solidFill>
                <a:srgbClr val="000000"/>
              </a:solidFill>
              <a:prstDash val="solid"/>
              <a:headEnd type="arrow" w="med" len="sm"/>
              <a:tailEnd type="arrow" w="med" len="sm"/>
            </a:ln>
          </p:spPr>
          <p:txBody>
            <a:bodyPr/>
            <a:lstStyle/>
            <a:p>
              <a:endParaRPr lang="en-VN"/>
            </a:p>
          </p:txBody>
        </p:sp>
        <p:sp>
          <p:nvSpPr>
            <p:cNvPr id="38" name="TextBox 22">
              <a:extLst>
                <a:ext uri="{FF2B5EF4-FFF2-40B4-BE49-F238E27FC236}">
                  <a16:creationId xmlns:a16="http://schemas.microsoft.com/office/drawing/2014/main" id="{38D45818-63A8-6A42-EA98-4E26F84263A5}"/>
                </a:ext>
              </a:extLst>
            </p:cNvPr>
            <p:cNvSpPr txBox="1"/>
            <p:nvPr/>
          </p:nvSpPr>
          <p:spPr>
            <a:xfrm rot="1076333">
              <a:off x="2740775" y="3069957"/>
              <a:ext cx="2630693" cy="381387"/>
            </a:xfrm>
            <a:prstGeom prst="rect">
              <a:avLst/>
            </a:prstGeom>
          </p:spPr>
          <p:txBody>
            <a:bodyPr wrap="square" lIns="0" tIns="0" rIns="0" bIns="0" rtlCol="0" anchor="t">
              <a:spAutoFit/>
            </a:bodyPr>
            <a:lstStyle/>
            <a:p>
              <a:pPr algn="ctr">
                <a:lnSpc>
                  <a:spcPts val="2443"/>
                </a:lnSpc>
              </a:pPr>
              <a:r>
                <a:rPr lang="en-US" sz="1746" b="1" dirty="0">
                  <a:solidFill>
                    <a:srgbClr val="000000"/>
                  </a:solidFill>
                  <a:latin typeface="Roboto Slab Bold"/>
                  <a:ea typeface="Roboto Slab Bold"/>
                  <a:cs typeface="Roboto Slab Bold"/>
                  <a:sym typeface="Roboto Slab Bold"/>
                </a:rPr>
                <a:t>API + Web socket</a:t>
              </a:r>
            </a:p>
          </p:txBody>
        </p:sp>
        <p:sp>
          <p:nvSpPr>
            <p:cNvPr id="39" name="TextBox 22">
              <a:extLst>
                <a:ext uri="{FF2B5EF4-FFF2-40B4-BE49-F238E27FC236}">
                  <a16:creationId xmlns:a16="http://schemas.microsoft.com/office/drawing/2014/main" id="{7C7AFC4A-EF3C-70CF-0D5E-D3B4835512E7}"/>
                </a:ext>
              </a:extLst>
            </p:cNvPr>
            <p:cNvSpPr txBox="1"/>
            <p:nvPr/>
          </p:nvSpPr>
          <p:spPr>
            <a:xfrm rot="20519852">
              <a:off x="2444464" y="4706863"/>
              <a:ext cx="2630693" cy="381387"/>
            </a:xfrm>
            <a:prstGeom prst="rect">
              <a:avLst/>
            </a:prstGeom>
          </p:spPr>
          <p:txBody>
            <a:bodyPr wrap="square" lIns="0" tIns="0" rIns="0" bIns="0" rtlCol="0" anchor="t">
              <a:spAutoFit/>
            </a:bodyPr>
            <a:lstStyle/>
            <a:p>
              <a:pPr algn="ctr">
                <a:lnSpc>
                  <a:spcPts val="2443"/>
                </a:lnSpc>
              </a:pPr>
              <a:r>
                <a:rPr lang="en-US" sz="1746" b="1" dirty="0">
                  <a:solidFill>
                    <a:srgbClr val="000000"/>
                  </a:solidFill>
                  <a:latin typeface="Roboto Slab Bold"/>
                  <a:ea typeface="Roboto Slab Bold"/>
                  <a:cs typeface="Roboto Slab Bold"/>
                  <a:sym typeface="Roboto Slab Bold"/>
                </a:rPr>
                <a:t>API + SSE</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grpId="0" nodeType="withEffect">
                            <p:stCondLst>
                              <p:cond delay="180"/>
                            </p:stCondLst>
                            <p:childTnLst>
                              <p:set>
                                <p:cBhvr>
                                  <p:cTn id="5" dur="1" fill="hold">
                                    <p:stCondLst>
                                      <p:cond delay="0"/>
                                    </p:stCondLst>
                                  </p:cTn>
                                  <p:tgtEl>
                                    <p:spTgt spid="10"/>
                                  </p:tgtEl>
                                  <p:attrNameLst>
                                    <p:attrName>style.visibility</p:attrName>
                                  </p:attrNameLst>
                                </p:cBhvr>
                                <p:to>
                                  <p:strVal val="visible"/>
                                </p:to>
                              </p:set>
                              <p:animEffect transition="in" filter="wipe(left)">
                                <p:cBhvr>
                                  <p:cTn id="6" dur="860"/>
                                  <p:tgtEl>
                                    <p:spTgt spid="10"/>
                                  </p:tgtEl>
                                </p:cBhvr>
                              </p:animEffect>
                            </p:childTnLst>
                          </p:cTn>
                        </p:par>
                        <p:par>
                          <p:cTn id="7" presetID="10" presetClass="entr" presetSubtype="0" fill="hold" grpId="0" nodeType="withEffect">
                            <p:stCondLst>
                              <p:cond delay="350"/>
                            </p:stCondLst>
                            <p:childTnLst>
                              <p:set>
                                <p:cBhvr>
                                  <p:cTn id="8" dur="1" fill="hold">
                                    <p:stCondLst>
                                      <p:cond delay="0"/>
                                    </p:stCondLst>
                                  </p:cTn>
                                  <p:tgtEl>
                                    <p:spTgt spid="12"/>
                                  </p:tgtEl>
                                  <p:attrNameLst>
                                    <p:attrName>style.visibility</p:attrName>
                                  </p:attrNameLst>
                                </p:cBhvr>
                                <p:to>
                                  <p:strVal val="visible"/>
                                </p:to>
                              </p:set>
                              <p:animEffect transition="in" filter="wipe(left)">
                                <p:cBhvr>
                                  <p:cTn id="9" dur="860"/>
                                  <p:tgtEl>
                                    <p:spTgt spid="12"/>
                                  </p:tgtEl>
                                </p:cBhvr>
                              </p:animEffect>
                            </p:childTnLst>
                          </p:cTn>
                        </p:par>
                      </p:childTnLst>
                    </p:cTn>
                  </p:par>
                </p:childTnLst>
              </p:cTn>
            </p:seq>
          </p:childTnLst>
        </p:cTn>
      </p:par>
    </p:tnLst>
    <p:bldLst>
      <p:bldP spid="10" grpId="0"/>
      <p:bldP spid="12"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10800000">
            <a:off x="17259300" y="-233820"/>
            <a:ext cx="1940843" cy="970417"/>
            <a:chOff x="0" y="0"/>
            <a:chExt cx="2587790" cy="1293889"/>
          </a:xfrm>
        </p:grpSpPr>
        <p:sp>
          <p:nvSpPr>
            <p:cNvPr id="3" name="Freeform 3"/>
            <p:cNvSpPr/>
            <p:nvPr/>
          </p:nvSpPr>
          <p:spPr>
            <a:xfrm>
              <a:off x="0" y="0"/>
              <a:ext cx="2587752" cy="1293876"/>
            </a:xfrm>
            <a:custGeom>
              <a:avLst/>
              <a:gdLst/>
              <a:ahLst/>
              <a:cxnLst/>
              <a:rect l="l" t="t" r="r" b="b"/>
              <a:pathLst>
                <a:path w="2587752" h="1293876">
                  <a:moveTo>
                    <a:pt x="0" y="0"/>
                  </a:moveTo>
                  <a:lnTo>
                    <a:pt x="2587752" y="0"/>
                  </a:lnTo>
                  <a:lnTo>
                    <a:pt x="2587752" y="1293876"/>
                  </a:lnTo>
                  <a:lnTo>
                    <a:pt x="0" y="1293876"/>
                  </a:lnTo>
                  <a:lnTo>
                    <a:pt x="0" y="0"/>
                  </a:lnTo>
                  <a:close/>
                </a:path>
              </a:pathLst>
            </a:custGeom>
            <a:blipFill>
              <a:blip r:embed="rId2"/>
              <a:stretch>
                <a:fillRect r="-1"/>
              </a:stretch>
            </a:blipFill>
          </p:spPr>
          <p:txBody>
            <a:bodyPr/>
            <a:lstStyle/>
            <a:p>
              <a:endParaRPr lang="en-VN"/>
            </a:p>
          </p:txBody>
        </p:sp>
      </p:grpSp>
      <p:grpSp>
        <p:nvGrpSpPr>
          <p:cNvPr id="4" name="Group 4"/>
          <p:cNvGrpSpPr/>
          <p:nvPr/>
        </p:nvGrpSpPr>
        <p:grpSpPr>
          <a:xfrm>
            <a:off x="-912143" y="9429369"/>
            <a:ext cx="1940843" cy="970417"/>
            <a:chOff x="0" y="0"/>
            <a:chExt cx="2587790" cy="1293889"/>
          </a:xfrm>
        </p:grpSpPr>
        <p:sp>
          <p:nvSpPr>
            <p:cNvPr id="5" name="Freeform 5"/>
            <p:cNvSpPr/>
            <p:nvPr/>
          </p:nvSpPr>
          <p:spPr>
            <a:xfrm>
              <a:off x="0" y="0"/>
              <a:ext cx="2587752" cy="1293876"/>
            </a:xfrm>
            <a:custGeom>
              <a:avLst/>
              <a:gdLst/>
              <a:ahLst/>
              <a:cxnLst/>
              <a:rect l="l" t="t" r="r" b="b"/>
              <a:pathLst>
                <a:path w="2587752" h="1293876">
                  <a:moveTo>
                    <a:pt x="0" y="0"/>
                  </a:moveTo>
                  <a:lnTo>
                    <a:pt x="2587752" y="0"/>
                  </a:lnTo>
                  <a:lnTo>
                    <a:pt x="2587752" y="1293876"/>
                  </a:lnTo>
                  <a:lnTo>
                    <a:pt x="0" y="1293876"/>
                  </a:lnTo>
                  <a:lnTo>
                    <a:pt x="0" y="0"/>
                  </a:lnTo>
                  <a:close/>
                </a:path>
              </a:pathLst>
            </a:custGeom>
            <a:blipFill>
              <a:blip r:embed="rId2"/>
              <a:stretch>
                <a:fillRect r="-1"/>
              </a:stretch>
            </a:blipFill>
          </p:spPr>
          <p:txBody>
            <a:bodyPr/>
            <a:lstStyle/>
            <a:p>
              <a:endParaRPr lang="en-VN"/>
            </a:p>
          </p:txBody>
        </p:sp>
      </p:grpSp>
      <p:grpSp>
        <p:nvGrpSpPr>
          <p:cNvPr id="6" name="Group 6"/>
          <p:cNvGrpSpPr/>
          <p:nvPr/>
        </p:nvGrpSpPr>
        <p:grpSpPr>
          <a:xfrm>
            <a:off x="-3127839" y="9986436"/>
            <a:ext cx="22035035" cy="2837612"/>
            <a:chOff x="0" y="0"/>
            <a:chExt cx="5803466" cy="747355"/>
          </a:xfrm>
        </p:grpSpPr>
        <p:sp>
          <p:nvSpPr>
            <p:cNvPr id="7" name="Freeform 7"/>
            <p:cNvSpPr/>
            <p:nvPr/>
          </p:nvSpPr>
          <p:spPr>
            <a:xfrm>
              <a:off x="0" y="0"/>
              <a:ext cx="5803466" cy="747355"/>
            </a:xfrm>
            <a:custGeom>
              <a:avLst/>
              <a:gdLst/>
              <a:ahLst/>
              <a:cxnLst/>
              <a:rect l="l" t="t" r="r" b="b"/>
              <a:pathLst>
                <a:path w="5803466" h="747355">
                  <a:moveTo>
                    <a:pt x="0" y="0"/>
                  </a:moveTo>
                  <a:lnTo>
                    <a:pt x="5803466" y="0"/>
                  </a:lnTo>
                  <a:lnTo>
                    <a:pt x="5803466" y="747355"/>
                  </a:lnTo>
                  <a:lnTo>
                    <a:pt x="0" y="747355"/>
                  </a:lnTo>
                  <a:close/>
                </a:path>
              </a:pathLst>
            </a:custGeom>
            <a:solidFill>
              <a:srgbClr val="3C4F75"/>
            </a:solidFill>
          </p:spPr>
          <p:txBody>
            <a:bodyPr/>
            <a:lstStyle/>
            <a:p>
              <a:endParaRPr lang="en-VN"/>
            </a:p>
          </p:txBody>
        </p:sp>
        <p:sp>
          <p:nvSpPr>
            <p:cNvPr id="8" name="TextBox 8"/>
            <p:cNvSpPr txBox="1"/>
            <p:nvPr/>
          </p:nvSpPr>
          <p:spPr>
            <a:xfrm>
              <a:off x="0" y="-47625"/>
              <a:ext cx="5803466" cy="794980"/>
            </a:xfrm>
            <a:prstGeom prst="rect">
              <a:avLst/>
            </a:prstGeom>
          </p:spPr>
          <p:txBody>
            <a:bodyPr lIns="50800" tIns="50800" rIns="50800" bIns="50800" rtlCol="0" anchor="ctr"/>
            <a:lstStyle/>
            <a:p>
              <a:pPr algn="ctr">
                <a:lnSpc>
                  <a:spcPts val="2940"/>
                </a:lnSpc>
              </a:pPr>
              <a:endParaRPr/>
            </a:p>
          </p:txBody>
        </p:sp>
      </p:grpSp>
      <p:sp>
        <p:nvSpPr>
          <p:cNvPr id="9" name="Freeform 9"/>
          <p:cNvSpPr/>
          <p:nvPr/>
        </p:nvSpPr>
        <p:spPr>
          <a:xfrm>
            <a:off x="1028700" y="251389"/>
            <a:ext cx="551704" cy="584433"/>
          </a:xfrm>
          <a:custGeom>
            <a:avLst/>
            <a:gdLst/>
            <a:ahLst/>
            <a:cxnLst/>
            <a:rect l="l" t="t" r="r" b="b"/>
            <a:pathLst>
              <a:path w="551704" h="584433">
                <a:moveTo>
                  <a:pt x="0" y="0"/>
                </a:moveTo>
                <a:lnTo>
                  <a:pt x="551704" y="0"/>
                </a:lnTo>
                <a:lnTo>
                  <a:pt x="551704" y="584432"/>
                </a:lnTo>
                <a:lnTo>
                  <a:pt x="0" y="584432"/>
                </a:lnTo>
                <a:lnTo>
                  <a:pt x="0" y="0"/>
                </a:lnTo>
                <a:close/>
              </a:path>
            </a:pathLst>
          </a:custGeom>
          <a:blipFill>
            <a:blip r:embed="rId3"/>
            <a:stretch>
              <a:fillRect/>
            </a:stretch>
          </a:blipFill>
        </p:spPr>
        <p:txBody>
          <a:bodyPr/>
          <a:lstStyle/>
          <a:p>
            <a:endParaRPr lang="en-VN"/>
          </a:p>
        </p:txBody>
      </p:sp>
      <p:sp>
        <p:nvSpPr>
          <p:cNvPr id="10" name="TextBox 10"/>
          <p:cNvSpPr txBox="1"/>
          <p:nvPr/>
        </p:nvSpPr>
        <p:spPr>
          <a:xfrm>
            <a:off x="1028700" y="1095375"/>
            <a:ext cx="11197543" cy="534618"/>
          </a:xfrm>
          <a:prstGeom prst="rect">
            <a:avLst/>
          </a:prstGeom>
        </p:spPr>
        <p:txBody>
          <a:bodyPr lIns="0" tIns="0" rIns="0" bIns="0" rtlCol="0" anchor="t">
            <a:spAutoFit/>
          </a:bodyPr>
          <a:lstStyle/>
          <a:p>
            <a:pPr algn="just">
              <a:lnSpc>
                <a:spcPts val="4039"/>
              </a:lnSpc>
            </a:pPr>
            <a:r>
              <a:rPr lang="en-US" sz="3999" b="1">
                <a:solidFill>
                  <a:srgbClr val="0C1D4B"/>
                </a:solidFill>
                <a:latin typeface="Roboto Slab Bold"/>
                <a:ea typeface="Roboto Slab Bold"/>
                <a:cs typeface="Roboto Slab Bold"/>
                <a:sym typeface="Roboto Slab Bold"/>
              </a:rPr>
              <a:t>3.8. Các chức năng của hệ thống</a:t>
            </a:r>
          </a:p>
        </p:txBody>
      </p:sp>
      <p:sp>
        <p:nvSpPr>
          <p:cNvPr id="11" name="TextBox 11"/>
          <p:cNvSpPr txBox="1"/>
          <p:nvPr/>
        </p:nvSpPr>
        <p:spPr>
          <a:xfrm>
            <a:off x="1687249" y="346410"/>
            <a:ext cx="3954904" cy="356289"/>
          </a:xfrm>
          <a:prstGeom prst="rect">
            <a:avLst/>
          </a:prstGeom>
        </p:spPr>
        <p:txBody>
          <a:bodyPr lIns="0" tIns="0" rIns="0" bIns="0" rtlCol="0" anchor="t">
            <a:spAutoFit/>
          </a:bodyPr>
          <a:lstStyle/>
          <a:p>
            <a:pPr algn="l">
              <a:lnSpc>
                <a:spcPts val="2940"/>
              </a:lnSpc>
            </a:pPr>
            <a:r>
              <a:rPr lang="en-US" sz="2100" b="1">
                <a:solidFill>
                  <a:srgbClr val="2C2C2C"/>
                </a:solidFill>
                <a:latin typeface="Roboto Slab Bold"/>
                <a:ea typeface="Roboto Slab Bold"/>
                <a:cs typeface="Roboto Slab Bold"/>
                <a:sym typeface="Roboto Slab Bold"/>
              </a:rPr>
              <a:t>HỌC VIỆN KỸ THUẬT MẬT MÃ</a:t>
            </a:r>
          </a:p>
        </p:txBody>
      </p:sp>
      <p:sp>
        <p:nvSpPr>
          <p:cNvPr id="12" name="TextBox 12"/>
          <p:cNvSpPr txBox="1"/>
          <p:nvPr/>
        </p:nvSpPr>
        <p:spPr>
          <a:xfrm>
            <a:off x="1028700" y="1725243"/>
            <a:ext cx="10081822" cy="685800"/>
          </a:xfrm>
          <a:prstGeom prst="rect">
            <a:avLst/>
          </a:prstGeom>
        </p:spPr>
        <p:txBody>
          <a:bodyPr lIns="0" tIns="0" rIns="0" bIns="0" rtlCol="0" anchor="t">
            <a:spAutoFit/>
          </a:bodyPr>
          <a:lstStyle/>
          <a:p>
            <a:pPr algn="just">
              <a:lnSpc>
                <a:spcPts val="6000"/>
              </a:lnSpc>
            </a:pPr>
            <a:r>
              <a:rPr lang="en-US" sz="3000" b="1">
                <a:solidFill>
                  <a:srgbClr val="0C1D4B"/>
                </a:solidFill>
                <a:latin typeface="Roboto Slab Bold"/>
                <a:ea typeface="Roboto Slab Bold"/>
                <a:cs typeface="Roboto Slab Bold"/>
                <a:sym typeface="Roboto Slab Bold"/>
              </a:rPr>
              <a:t>Hình thức của hệ thống</a:t>
            </a:r>
          </a:p>
        </p:txBody>
      </p:sp>
      <p:sp>
        <p:nvSpPr>
          <p:cNvPr id="13" name="TextBox 13"/>
          <p:cNvSpPr txBox="1"/>
          <p:nvPr/>
        </p:nvSpPr>
        <p:spPr>
          <a:xfrm>
            <a:off x="1028700" y="2630118"/>
            <a:ext cx="9079671" cy="2210652"/>
          </a:xfrm>
          <a:prstGeom prst="rect">
            <a:avLst/>
          </a:prstGeom>
        </p:spPr>
        <p:txBody>
          <a:bodyPr lIns="0" tIns="0" rIns="0" bIns="0" rtlCol="0" anchor="t">
            <a:spAutoFit/>
          </a:bodyPr>
          <a:lstStyle/>
          <a:p>
            <a:pPr marL="604519" lvl="1" indent="-302260" algn="l">
              <a:lnSpc>
                <a:spcPts val="4479"/>
              </a:lnSpc>
              <a:buFont typeface="Arial"/>
              <a:buChar char="•"/>
            </a:pPr>
            <a:r>
              <a:rPr lang="en-US" sz="2799">
                <a:solidFill>
                  <a:srgbClr val="0C1D4B"/>
                </a:solidFill>
                <a:latin typeface="Roboto Slab"/>
                <a:ea typeface="Roboto Slab"/>
                <a:cs typeface="Roboto Slab"/>
                <a:sym typeface="Roboto Slab"/>
              </a:rPr>
              <a:t>Mobile App dành cho người dùng tra cứu và tư vấn pháp luật</a:t>
            </a:r>
          </a:p>
          <a:p>
            <a:pPr marL="604519" lvl="1" indent="-302260" algn="l">
              <a:lnSpc>
                <a:spcPts val="4479"/>
              </a:lnSpc>
              <a:buFont typeface="Arial"/>
              <a:buChar char="•"/>
            </a:pPr>
            <a:r>
              <a:rPr lang="en-US" sz="2799">
                <a:solidFill>
                  <a:srgbClr val="0C1D4B"/>
                </a:solidFill>
                <a:latin typeface="Roboto Slab"/>
                <a:ea typeface="Roboto Slab"/>
                <a:cs typeface="Roboto Slab"/>
                <a:sym typeface="Roboto Slab"/>
              </a:rPr>
              <a:t>Web Admin dành cho quản trị viên quản lý, cập nhật dữ liệu pháp luật</a:t>
            </a:r>
          </a:p>
        </p:txBody>
      </p:sp>
      <p:sp>
        <p:nvSpPr>
          <p:cNvPr id="14" name="TextBox 14"/>
          <p:cNvSpPr txBox="1"/>
          <p:nvPr/>
        </p:nvSpPr>
        <p:spPr>
          <a:xfrm>
            <a:off x="1028700" y="5051968"/>
            <a:ext cx="10081822" cy="685800"/>
          </a:xfrm>
          <a:prstGeom prst="rect">
            <a:avLst/>
          </a:prstGeom>
        </p:spPr>
        <p:txBody>
          <a:bodyPr lIns="0" tIns="0" rIns="0" bIns="0" rtlCol="0" anchor="t">
            <a:spAutoFit/>
          </a:bodyPr>
          <a:lstStyle/>
          <a:p>
            <a:pPr algn="just">
              <a:lnSpc>
                <a:spcPts val="6000"/>
              </a:lnSpc>
            </a:pPr>
            <a:r>
              <a:rPr lang="en-US" sz="3000" b="1">
                <a:solidFill>
                  <a:srgbClr val="0C1D4B"/>
                </a:solidFill>
                <a:latin typeface="Roboto Slab Bold"/>
                <a:ea typeface="Roboto Slab Bold"/>
                <a:cs typeface="Roboto Slab Bold"/>
                <a:sym typeface="Roboto Slab Bold"/>
              </a:rPr>
              <a:t>Chức năng của hệ thống</a:t>
            </a:r>
          </a:p>
        </p:txBody>
      </p:sp>
      <p:sp>
        <p:nvSpPr>
          <p:cNvPr id="15" name="TextBox 15"/>
          <p:cNvSpPr txBox="1"/>
          <p:nvPr/>
        </p:nvSpPr>
        <p:spPr>
          <a:xfrm>
            <a:off x="1028700" y="5956843"/>
            <a:ext cx="9079671" cy="3334710"/>
          </a:xfrm>
          <a:prstGeom prst="rect">
            <a:avLst/>
          </a:prstGeom>
        </p:spPr>
        <p:txBody>
          <a:bodyPr lIns="0" tIns="0" rIns="0" bIns="0" rtlCol="0" anchor="t">
            <a:spAutoFit/>
          </a:bodyPr>
          <a:lstStyle/>
          <a:p>
            <a:pPr marL="604519" lvl="1" indent="-302260" algn="l">
              <a:lnSpc>
                <a:spcPts val="4479"/>
              </a:lnSpc>
              <a:buFont typeface="Arial"/>
              <a:buChar char="•"/>
            </a:pPr>
            <a:r>
              <a:rPr lang="en-US" sz="2799">
                <a:solidFill>
                  <a:srgbClr val="0C1D4B"/>
                </a:solidFill>
                <a:latin typeface="Roboto Slab"/>
                <a:ea typeface="Roboto Slab"/>
                <a:cs typeface="Roboto Slab"/>
                <a:sym typeface="Roboto Slab"/>
              </a:rPr>
              <a:t>Chat tư vấn pháp luật</a:t>
            </a:r>
          </a:p>
          <a:p>
            <a:pPr marL="604519" lvl="1" indent="-302260" algn="l">
              <a:lnSpc>
                <a:spcPts val="4479"/>
              </a:lnSpc>
              <a:buFont typeface="Arial"/>
              <a:buChar char="•"/>
            </a:pPr>
            <a:r>
              <a:rPr lang="en-US" sz="2799">
                <a:solidFill>
                  <a:srgbClr val="0C1D4B"/>
                </a:solidFill>
                <a:latin typeface="Roboto Slab"/>
                <a:ea typeface="Roboto Slab"/>
                <a:cs typeface="Roboto Slab"/>
                <a:sym typeface="Roboto Slab"/>
              </a:rPr>
              <a:t>Tư vấn có hướng dẫn</a:t>
            </a:r>
          </a:p>
          <a:p>
            <a:pPr marL="604519" lvl="1" indent="-302260" algn="l">
              <a:lnSpc>
                <a:spcPts val="4479"/>
              </a:lnSpc>
              <a:buFont typeface="Arial"/>
              <a:buChar char="•"/>
            </a:pPr>
            <a:r>
              <a:rPr lang="en-US" sz="2799">
                <a:solidFill>
                  <a:srgbClr val="0C1D4B"/>
                </a:solidFill>
                <a:latin typeface="Roboto Slab"/>
                <a:ea typeface="Roboto Slab"/>
                <a:cs typeface="Roboto Slab"/>
                <a:sym typeface="Roboto Slab"/>
              </a:rPr>
              <a:t>Tra cứu văn bản pháp luật</a:t>
            </a:r>
          </a:p>
          <a:p>
            <a:pPr marL="604519" lvl="1" indent="-302260" algn="l">
              <a:lnSpc>
                <a:spcPts val="4479"/>
              </a:lnSpc>
              <a:buFont typeface="Arial"/>
              <a:buChar char="•"/>
            </a:pPr>
            <a:r>
              <a:rPr lang="en-US" sz="2799">
                <a:solidFill>
                  <a:srgbClr val="0C1D4B"/>
                </a:solidFill>
                <a:latin typeface="Roboto Slab"/>
                <a:ea typeface="Roboto Slab"/>
                <a:cs typeface="Roboto Slab"/>
                <a:sym typeface="Roboto Slab"/>
              </a:rPr>
              <a:t>Quản lý hội thoại và nguồn tham chiếu</a:t>
            </a:r>
          </a:p>
          <a:p>
            <a:pPr marL="604519" lvl="1" indent="-302260" algn="l">
              <a:lnSpc>
                <a:spcPts val="4479"/>
              </a:lnSpc>
              <a:buFont typeface="Arial"/>
              <a:buChar char="•"/>
            </a:pPr>
            <a:r>
              <a:rPr lang="en-US" sz="2799">
                <a:solidFill>
                  <a:srgbClr val="0C1D4B"/>
                </a:solidFill>
                <a:latin typeface="Roboto Slab"/>
                <a:ea typeface="Roboto Slab"/>
                <a:cs typeface="Roboto Slab"/>
                <a:sym typeface="Roboto Slab"/>
              </a:rPr>
              <a:t>Cập nhật văn bản pháp luật mới từ PDF</a:t>
            </a:r>
          </a:p>
          <a:p>
            <a:pPr marL="604519" lvl="1" indent="-302260" algn="l">
              <a:lnSpc>
                <a:spcPts val="4479"/>
              </a:lnSpc>
              <a:buFont typeface="Arial"/>
              <a:buChar char="•"/>
            </a:pPr>
            <a:r>
              <a:rPr lang="en-US" sz="2799">
                <a:solidFill>
                  <a:srgbClr val="0C1D4B"/>
                </a:solidFill>
                <a:latin typeface="Roboto Slab"/>
                <a:ea typeface="Roboto Slab"/>
                <a:cs typeface="Roboto Slab"/>
                <a:sym typeface="Roboto Slab"/>
              </a:rPr>
              <a:t>Quản lý kho tri thức phục vụ RAG</a:t>
            </a:r>
          </a:p>
        </p:txBody>
      </p:sp>
      <p:sp>
        <p:nvSpPr>
          <p:cNvPr id="16" name="Freeform 16"/>
          <p:cNvSpPr/>
          <p:nvPr/>
        </p:nvSpPr>
        <p:spPr>
          <a:xfrm rot="801521">
            <a:off x="11385359" y="2916698"/>
            <a:ext cx="5006522" cy="5374801"/>
          </a:xfrm>
          <a:custGeom>
            <a:avLst/>
            <a:gdLst/>
            <a:ahLst/>
            <a:cxnLst/>
            <a:rect l="l" t="t" r="r" b="b"/>
            <a:pathLst>
              <a:path w="5006522" h="5374801">
                <a:moveTo>
                  <a:pt x="0" y="0"/>
                </a:moveTo>
                <a:lnTo>
                  <a:pt x="5006521" y="0"/>
                </a:lnTo>
                <a:lnTo>
                  <a:pt x="5006521" y="5374801"/>
                </a:lnTo>
                <a:lnTo>
                  <a:pt x="0" y="5374801"/>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VN"/>
          </a:p>
        </p:txBody>
      </p:sp>
    </p:spTree>
  </p:cSld>
  <p:clrMapOvr>
    <a:masterClrMapping/>
  </p:clrMapOvr>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grpId="0" nodeType="withEffect">
                            <p:stCondLst>
                              <p:cond delay="180"/>
                            </p:stCondLst>
                            <p:childTnLst>
                              <p:set>
                                <p:cBhvr>
                                  <p:cTn id="5" dur="1" fill="hold">
                                    <p:stCondLst>
                                      <p:cond delay="0"/>
                                    </p:stCondLst>
                                  </p:cTn>
                                  <p:tgtEl>
                                    <p:spTgt spid="10"/>
                                  </p:tgtEl>
                                  <p:attrNameLst>
                                    <p:attrName>style.visibility</p:attrName>
                                  </p:attrNameLst>
                                </p:cBhvr>
                                <p:to>
                                  <p:strVal val="visible"/>
                                </p:to>
                              </p:set>
                              <p:animEffect transition="in" filter="wipe(left)">
                                <p:cBhvr>
                                  <p:cTn id="6" dur="860"/>
                                  <p:tgtEl>
                                    <p:spTgt spid="10"/>
                                  </p:tgtEl>
                                </p:cBhvr>
                              </p:animEffect>
                            </p:childTnLst>
                          </p:cTn>
                        </p:par>
                        <p:par>
                          <p:cTn id="7" presetID="10" presetClass="entr" presetSubtype="0" fill="hold" grpId="0" nodeType="withEffect">
                            <p:stCondLst>
                              <p:cond delay="350"/>
                            </p:stCondLst>
                            <p:childTnLst>
                              <p:set>
                                <p:cBhvr>
                                  <p:cTn id="8" dur="1" fill="hold">
                                    <p:stCondLst>
                                      <p:cond delay="0"/>
                                    </p:stCondLst>
                                  </p:cTn>
                                  <p:tgtEl>
                                    <p:spTgt spid="12"/>
                                  </p:tgtEl>
                                  <p:attrNameLst>
                                    <p:attrName>style.visibility</p:attrName>
                                  </p:attrNameLst>
                                </p:cBhvr>
                                <p:to>
                                  <p:strVal val="visible"/>
                                </p:to>
                              </p:set>
                              <p:animEffect transition="in" filter="wipe(left)">
                                <p:cBhvr>
                                  <p:cTn id="9" dur="860"/>
                                  <p:tgtEl>
                                    <p:spTgt spid="12"/>
                                  </p:tgtEl>
                                </p:cBhvr>
                              </p:animEffect>
                            </p:childTnLst>
                          </p:cTn>
                        </p:par>
                        <p:par>
                          <p:cTn id="10" presetID="10" presetClass="entr" presetSubtype="0" fill="hold" grpId="0" nodeType="withEffect">
                            <p:stCondLst>
                              <p:cond delay="520"/>
                            </p:stCondLst>
                            <p:childTnLst>
                              <p:set>
                                <p:cBhvr>
                                  <p:cTn id="11" dur="1" fill="hold">
                                    <p:stCondLst>
                                      <p:cond delay="0"/>
                                    </p:stCondLst>
                                  </p:cTn>
                                  <p:tgtEl>
                                    <p:spTgt spid="13"/>
                                  </p:tgtEl>
                                  <p:attrNameLst>
                                    <p:attrName>style.visibility</p:attrName>
                                  </p:attrNameLst>
                                </p:cBhvr>
                                <p:to>
                                  <p:strVal val="visible"/>
                                </p:to>
                              </p:set>
                              <p:animEffect transition="in" filter="wipe(left)">
                                <p:cBhvr>
                                  <p:cTn id="12" dur="860"/>
                                  <p:tgtEl>
                                    <p:spTgt spid="13"/>
                                  </p:tgtEl>
                                </p:cBhvr>
                              </p:animEffect>
                            </p:childTnLst>
                          </p:cTn>
                        </p:par>
                        <p:par>
                          <p:cTn id="13" presetID="10" presetClass="entr" presetSubtype="0" fill="hold" grpId="0" nodeType="withEffect">
                            <p:stCondLst>
                              <p:cond delay="690"/>
                            </p:stCondLst>
                            <p:childTnLst>
                              <p:set>
                                <p:cBhvr>
                                  <p:cTn id="14" dur="1" fill="hold">
                                    <p:stCondLst>
                                      <p:cond delay="0"/>
                                    </p:stCondLst>
                                  </p:cTn>
                                  <p:tgtEl>
                                    <p:spTgt spid="16"/>
                                  </p:tgtEl>
                                  <p:attrNameLst>
                                    <p:attrName>style.visibility</p:attrName>
                                  </p:attrNameLst>
                                </p:cBhvr>
                                <p:to>
                                  <p:strVal val="visible"/>
                                </p:to>
                              </p:set>
                              <p:animEffect transition="in" filter="wipe(left)">
                                <p:cBhvr>
                                  <p:cTn id="15" dur="860"/>
                                  <p:tgtEl>
                                    <p:spTgt spid="16"/>
                                  </p:tgtEl>
                                </p:cBhvr>
                              </p:animEffect>
                            </p:childTnLst>
                          </p:cTn>
                        </p:par>
                        <p:par>
                          <p:cTn id="16" presetID="10" presetClass="entr" presetSubtype="0" fill="hold" grpId="0" nodeType="withEffect">
                            <p:stCondLst>
                              <p:cond delay="860"/>
                            </p:stCondLst>
                            <p:childTnLst>
                              <p:set>
                                <p:cBhvr>
                                  <p:cTn id="17" dur="1" fill="hold">
                                    <p:stCondLst>
                                      <p:cond delay="0"/>
                                    </p:stCondLst>
                                  </p:cTn>
                                  <p:tgtEl>
                                    <p:spTgt spid="14"/>
                                  </p:tgtEl>
                                  <p:attrNameLst>
                                    <p:attrName>style.visibility</p:attrName>
                                  </p:attrNameLst>
                                </p:cBhvr>
                                <p:to>
                                  <p:strVal val="visible"/>
                                </p:to>
                              </p:set>
                              <p:animEffect transition="in" filter="wipe(left)">
                                <p:cBhvr>
                                  <p:cTn id="18" dur="860"/>
                                  <p:tgtEl>
                                    <p:spTgt spid="14"/>
                                  </p:tgtEl>
                                </p:cBhvr>
                              </p:animEffect>
                            </p:childTnLst>
                          </p:cTn>
                        </p:par>
                        <p:par>
                          <p:cTn id="19" presetID="10" presetClass="entr" presetSubtype="0" fill="hold" grpId="0" nodeType="withEffect">
                            <p:stCondLst>
                              <p:cond delay="1030"/>
                            </p:stCondLst>
                            <p:childTnLst>
                              <p:set>
                                <p:cBhvr>
                                  <p:cTn id="20" dur="1" fill="hold">
                                    <p:stCondLst>
                                      <p:cond delay="0"/>
                                    </p:stCondLst>
                                  </p:cTn>
                                  <p:tgtEl>
                                    <p:spTgt spid="15"/>
                                  </p:tgtEl>
                                  <p:attrNameLst>
                                    <p:attrName>style.visibility</p:attrName>
                                  </p:attrNameLst>
                                </p:cBhvr>
                                <p:to>
                                  <p:strVal val="visible"/>
                                </p:to>
                              </p:set>
                              <p:animEffect transition="in" filter="wipe(left)">
                                <p:cBhvr>
                                  <p:cTn id="21" dur="860"/>
                                  <p:tgtEl>
                                    <p:spTgt spid="15"/>
                                  </p:tgtEl>
                                </p:cBhvr>
                              </p:animEffect>
                            </p:childTnLst>
                          </p:cTn>
                        </p:par>
                      </p:childTnLst>
                    </p:cTn>
                  </p:par>
                </p:childTnLst>
              </p:cTn>
            </p:seq>
          </p:childTnLst>
        </p:cTn>
      </p:par>
    </p:tnLst>
    <p:bldLst>
      <p:bldP spid="10" grpId="0"/>
      <p:bldP spid="12" grpId="0"/>
      <p:bldP spid="13" grpId="0"/>
      <p:bldP spid="14" grpId="0"/>
      <p:bldP spid="15" grpId="0"/>
      <p:bldP spid="16"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10800000">
            <a:off x="17259300" y="-233820"/>
            <a:ext cx="1940843" cy="970417"/>
            <a:chOff x="0" y="0"/>
            <a:chExt cx="2587790" cy="1293889"/>
          </a:xfrm>
        </p:grpSpPr>
        <p:sp>
          <p:nvSpPr>
            <p:cNvPr id="3" name="Freeform 3"/>
            <p:cNvSpPr/>
            <p:nvPr/>
          </p:nvSpPr>
          <p:spPr>
            <a:xfrm>
              <a:off x="0" y="0"/>
              <a:ext cx="2587752" cy="1293876"/>
            </a:xfrm>
            <a:custGeom>
              <a:avLst/>
              <a:gdLst/>
              <a:ahLst/>
              <a:cxnLst/>
              <a:rect l="l" t="t" r="r" b="b"/>
              <a:pathLst>
                <a:path w="2587752" h="1293876">
                  <a:moveTo>
                    <a:pt x="0" y="0"/>
                  </a:moveTo>
                  <a:lnTo>
                    <a:pt x="2587752" y="0"/>
                  </a:lnTo>
                  <a:lnTo>
                    <a:pt x="2587752" y="1293876"/>
                  </a:lnTo>
                  <a:lnTo>
                    <a:pt x="0" y="1293876"/>
                  </a:lnTo>
                  <a:lnTo>
                    <a:pt x="0" y="0"/>
                  </a:lnTo>
                  <a:close/>
                </a:path>
              </a:pathLst>
            </a:custGeom>
            <a:blipFill>
              <a:blip r:embed="rId2"/>
              <a:stretch>
                <a:fillRect r="-1"/>
              </a:stretch>
            </a:blipFill>
          </p:spPr>
          <p:txBody>
            <a:bodyPr/>
            <a:lstStyle/>
            <a:p>
              <a:endParaRPr lang="en-VN"/>
            </a:p>
          </p:txBody>
        </p:sp>
      </p:grpSp>
      <p:grpSp>
        <p:nvGrpSpPr>
          <p:cNvPr id="4" name="Group 4"/>
          <p:cNvGrpSpPr/>
          <p:nvPr/>
        </p:nvGrpSpPr>
        <p:grpSpPr>
          <a:xfrm>
            <a:off x="-912143" y="9429369"/>
            <a:ext cx="1940843" cy="970417"/>
            <a:chOff x="0" y="0"/>
            <a:chExt cx="2587790" cy="1293889"/>
          </a:xfrm>
        </p:grpSpPr>
        <p:sp>
          <p:nvSpPr>
            <p:cNvPr id="5" name="Freeform 5"/>
            <p:cNvSpPr/>
            <p:nvPr/>
          </p:nvSpPr>
          <p:spPr>
            <a:xfrm>
              <a:off x="0" y="0"/>
              <a:ext cx="2587752" cy="1293876"/>
            </a:xfrm>
            <a:custGeom>
              <a:avLst/>
              <a:gdLst/>
              <a:ahLst/>
              <a:cxnLst/>
              <a:rect l="l" t="t" r="r" b="b"/>
              <a:pathLst>
                <a:path w="2587752" h="1293876">
                  <a:moveTo>
                    <a:pt x="0" y="0"/>
                  </a:moveTo>
                  <a:lnTo>
                    <a:pt x="2587752" y="0"/>
                  </a:lnTo>
                  <a:lnTo>
                    <a:pt x="2587752" y="1293876"/>
                  </a:lnTo>
                  <a:lnTo>
                    <a:pt x="0" y="1293876"/>
                  </a:lnTo>
                  <a:lnTo>
                    <a:pt x="0" y="0"/>
                  </a:lnTo>
                  <a:close/>
                </a:path>
              </a:pathLst>
            </a:custGeom>
            <a:blipFill>
              <a:blip r:embed="rId2"/>
              <a:stretch>
                <a:fillRect r="-1"/>
              </a:stretch>
            </a:blipFill>
          </p:spPr>
          <p:txBody>
            <a:bodyPr/>
            <a:lstStyle/>
            <a:p>
              <a:endParaRPr lang="en-VN"/>
            </a:p>
          </p:txBody>
        </p:sp>
      </p:grpSp>
      <p:grpSp>
        <p:nvGrpSpPr>
          <p:cNvPr id="6" name="Group 6"/>
          <p:cNvGrpSpPr/>
          <p:nvPr/>
        </p:nvGrpSpPr>
        <p:grpSpPr>
          <a:xfrm>
            <a:off x="-3127839" y="9986436"/>
            <a:ext cx="22035035" cy="2837612"/>
            <a:chOff x="0" y="0"/>
            <a:chExt cx="5803466" cy="747355"/>
          </a:xfrm>
        </p:grpSpPr>
        <p:sp>
          <p:nvSpPr>
            <p:cNvPr id="7" name="Freeform 7"/>
            <p:cNvSpPr/>
            <p:nvPr/>
          </p:nvSpPr>
          <p:spPr>
            <a:xfrm>
              <a:off x="0" y="0"/>
              <a:ext cx="5803466" cy="747355"/>
            </a:xfrm>
            <a:custGeom>
              <a:avLst/>
              <a:gdLst/>
              <a:ahLst/>
              <a:cxnLst/>
              <a:rect l="l" t="t" r="r" b="b"/>
              <a:pathLst>
                <a:path w="5803466" h="747355">
                  <a:moveTo>
                    <a:pt x="0" y="0"/>
                  </a:moveTo>
                  <a:lnTo>
                    <a:pt x="5803466" y="0"/>
                  </a:lnTo>
                  <a:lnTo>
                    <a:pt x="5803466" y="747355"/>
                  </a:lnTo>
                  <a:lnTo>
                    <a:pt x="0" y="747355"/>
                  </a:lnTo>
                  <a:close/>
                </a:path>
              </a:pathLst>
            </a:custGeom>
            <a:solidFill>
              <a:srgbClr val="3C4F75"/>
            </a:solidFill>
          </p:spPr>
          <p:txBody>
            <a:bodyPr/>
            <a:lstStyle/>
            <a:p>
              <a:endParaRPr lang="en-VN"/>
            </a:p>
          </p:txBody>
        </p:sp>
        <p:sp>
          <p:nvSpPr>
            <p:cNvPr id="8" name="TextBox 8"/>
            <p:cNvSpPr txBox="1"/>
            <p:nvPr/>
          </p:nvSpPr>
          <p:spPr>
            <a:xfrm>
              <a:off x="0" y="-47625"/>
              <a:ext cx="5803466" cy="794980"/>
            </a:xfrm>
            <a:prstGeom prst="rect">
              <a:avLst/>
            </a:prstGeom>
          </p:spPr>
          <p:txBody>
            <a:bodyPr lIns="50800" tIns="50800" rIns="50800" bIns="50800" rtlCol="0" anchor="ctr"/>
            <a:lstStyle/>
            <a:p>
              <a:pPr algn="ctr">
                <a:lnSpc>
                  <a:spcPts val="2940"/>
                </a:lnSpc>
              </a:pPr>
              <a:endParaRPr/>
            </a:p>
          </p:txBody>
        </p:sp>
      </p:grpSp>
      <p:sp>
        <p:nvSpPr>
          <p:cNvPr id="9" name="Freeform 9"/>
          <p:cNvSpPr/>
          <p:nvPr/>
        </p:nvSpPr>
        <p:spPr>
          <a:xfrm>
            <a:off x="1028700" y="251389"/>
            <a:ext cx="551704" cy="584433"/>
          </a:xfrm>
          <a:custGeom>
            <a:avLst/>
            <a:gdLst/>
            <a:ahLst/>
            <a:cxnLst/>
            <a:rect l="l" t="t" r="r" b="b"/>
            <a:pathLst>
              <a:path w="551704" h="584433">
                <a:moveTo>
                  <a:pt x="0" y="0"/>
                </a:moveTo>
                <a:lnTo>
                  <a:pt x="551704" y="0"/>
                </a:lnTo>
                <a:lnTo>
                  <a:pt x="551704" y="584432"/>
                </a:lnTo>
                <a:lnTo>
                  <a:pt x="0" y="584432"/>
                </a:lnTo>
                <a:lnTo>
                  <a:pt x="0" y="0"/>
                </a:lnTo>
                <a:close/>
              </a:path>
            </a:pathLst>
          </a:custGeom>
          <a:blipFill>
            <a:blip r:embed="rId3"/>
            <a:stretch>
              <a:fillRect/>
            </a:stretch>
          </a:blipFill>
        </p:spPr>
        <p:txBody>
          <a:bodyPr/>
          <a:lstStyle/>
          <a:p>
            <a:endParaRPr lang="en-VN"/>
          </a:p>
        </p:txBody>
      </p:sp>
      <p:sp>
        <p:nvSpPr>
          <p:cNvPr id="10" name="Freeform 10"/>
          <p:cNvSpPr/>
          <p:nvPr/>
        </p:nvSpPr>
        <p:spPr>
          <a:xfrm>
            <a:off x="4221591" y="2734893"/>
            <a:ext cx="9844818" cy="6694476"/>
          </a:xfrm>
          <a:custGeom>
            <a:avLst/>
            <a:gdLst/>
            <a:ahLst/>
            <a:cxnLst/>
            <a:rect l="l" t="t" r="r" b="b"/>
            <a:pathLst>
              <a:path w="9844818" h="6694476">
                <a:moveTo>
                  <a:pt x="0" y="0"/>
                </a:moveTo>
                <a:lnTo>
                  <a:pt x="9844818" y="0"/>
                </a:lnTo>
                <a:lnTo>
                  <a:pt x="9844818" y="6694476"/>
                </a:lnTo>
                <a:lnTo>
                  <a:pt x="0" y="6694476"/>
                </a:lnTo>
                <a:lnTo>
                  <a:pt x="0" y="0"/>
                </a:lnTo>
                <a:close/>
              </a:path>
            </a:pathLst>
          </a:custGeom>
          <a:blipFill>
            <a:blip r:embed="rId4"/>
            <a:stretch>
              <a:fillRect/>
            </a:stretch>
          </a:blipFill>
        </p:spPr>
        <p:txBody>
          <a:bodyPr/>
          <a:lstStyle/>
          <a:p>
            <a:endParaRPr lang="en-VN"/>
          </a:p>
        </p:txBody>
      </p:sp>
      <p:sp>
        <p:nvSpPr>
          <p:cNvPr id="11" name="TextBox 11"/>
          <p:cNvSpPr txBox="1"/>
          <p:nvPr/>
        </p:nvSpPr>
        <p:spPr>
          <a:xfrm>
            <a:off x="1028700" y="1095375"/>
            <a:ext cx="11197543" cy="534618"/>
          </a:xfrm>
          <a:prstGeom prst="rect">
            <a:avLst/>
          </a:prstGeom>
        </p:spPr>
        <p:txBody>
          <a:bodyPr lIns="0" tIns="0" rIns="0" bIns="0" rtlCol="0" anchor="t">
            <a:spAutoFit/>
          </a:bodyPr>
          <a:lstStyle/>
          <a:p>
            <a:pPr algn="just">
              <a:lnSpc>
                <a:spcPts val="4039"/>
              </a:lnSpc>
            </a:pPr>
            <a:r>
              <a:rPr lang="en-US" sz="3999" b="1">
                <a:solidFill>
                  <a:srgbClr val="0C1D4B"/>
                </a:solidFill>
                <a:latin typeface="Roboto Slab Bold"/>
                <a:ea typeface="Roboto Slab Bold"/>
                <a:cs typeface="Roboto Slab Bold"/>
                <a:sym typeface="Roboto Slab Bold"/>
              </a:rPr>
              <a:t>3.8. Các chức năng của hệ thống</a:t>
            </a:r>
          </a:p>
        </p:txBody>
      </p:sp>
      <p:sp>
        <p:nvSpPr>
          <p:cNvPr id="12" name="TextBox 12"/>
          <p:cNvSpPr txBox="1"/>
          <p:nvPr/>
        </p:nvSpPr>
        <p:spPr>
          <a:xfrm>
            <a:off x="1687249" y="346410"/>
            <a:ext cx="3954904" cy="356289"/>
          </a:xfrm>
          <a:prstGeom prst="rect">
            <a:avLst/>
          </a:prstGeom>
        </p:spPr>
        <p:txBody>
          <a:bodyPr lIns="0" tIns="0" rIns="0" bIns="0" rtlCol="0" anchor="t">
            <a:spAutoFit/>
          </a:bodyPr>
          <a:lstStyle/>
          <a:p>
            <a:pPr algn="l">
              <a:lnSpc>
                <a:spcPts val="2940"/>
              </a:lnSpc>
            </a:pPr>
            <a:r>
              <a:rPr lang="en-US" sz="2100" b="1">
                <a:solidFill>
                  <a:srgbClr val="2C2C2C"/>
                </a:solidFill>
                <a:latin typeface="Roboto Slab Bold"/>
                <a:ea typeface="Roboto Slab Bold"/>
                <a:cs typeface="Roboto Slab Bold"/>
                <a:sym typeface="Roboto Slab Bold"/>
              </a:rPr>
              <a:t>HỌC VIỆN KỸ THUẬT MẬT MÃ</a:t>
            </a:r>
          </a:p>
        </p:txBody>
      </p:sp>
      <p:sp>
        <p:nvSpPr>
          <p:cNvPr id="13" name="TextBox 13"/>
          <p:cNvSpPr txBox="1"/>
          <p:nvPr/>
        </p:nvSpPr>
        <p:spPr>
          <a:xfrm>
            <a:off x="1028700" y="1725243"/>
            <a:ext cx="10081822" cy="685800"/>
          </a:xfrm>
          <a:prstGeom prst="rect">
            <a:avLst/>
          </a:prstGeom>
        </p:spPr>
        <p:txBody>
          <a:bodyPr lIns="0" tIns="0" rIns="0" bIns="0" rtlCol="0" anchor="t">
            <a:spAutoFit/>
          </a:bodyPr>
          <a:lstStyle/>
          <a:p>
            <a:pPr algn="just">
              <a:lnSpc>
                <a:spcPts val="6000"/>
              </a:lnSpc>
            </a:pPr>
            <a:r>
              <a:rPr lang="en-US" sz="3000" b="1">
                <a:solidFill>
                  <a:srgbClr val="0C1D4B"/>
                </a:solidFill>
                <a:latin typeface="Roboto Slab Bold"/>
                <a:ea typeface="Roboto Slab Bold"/>
                <a:cs typeface="Roboto Slab Bold"/>
                <a:sym typeface="Roboto Slab Bold"/>
              </a:rPr>
              <a:t>Usecase tổng quát của hệ thống</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grpId="0" nodeType="withEffect">
                            <p:stCondLst>
                              <p:cond delay="180"/>
                            </p:stCondLst>
                            <p:childTnLst>
                              <p:set>
                                <p:cBhvr>
                                  <p:cTn id="5" dur="1" fill="hold">
                                    <p:stCondLst>
                                      <p:cond delay="0"/>
                                    </p:stCondLst>
                                  </p:cTn>
                                  <p:tgtEl>
                                    <p:spTgt spid="13"/>
                                  </p:tgtEl>
                                  <p:attrNameLst>
                                    <p:attrName>style.visibility</p:attrName>
                                  </p:attrNameLst>
                                </p:cBhvr>
                                <p:to>
                                  <p:strVal val="visible"/>
                                </p:to>
                              </p:set>
                              <p:animEffect transition="in" filter="wipe(left)">
                                <p:cBhvr>
                                  <p:cTn id="6" dur="860"/>
                                  <p:tgtEl>
                                    <p:spTgt spid="13"/>
                                  </p:tgtEl>
                                </p:cBhvr>
                              </p:animEffect>
                            </p:childTnLst>
                          </p:cTn>
                        </p:par>
                        <p:par>
                          <p:cTn id="7" presetID="10" presetClass="entr" presetSubtype="0" fill="hold" grpId="0" nodeType="withEffect">
                            <p:stCondLst>
                              <p:cond delay="350"/>
                            </p:stCondLst>
                            <p:childTnLst>
                              <p:set>
                                <p:cBhvr>
                                  <p:cTn id="8" dur="1" fill="hold">
                                    <p:stCondLst>
                                      <p:cond delay="0"/>
                                    </p:stCondLst>
                                  </p:cTn>
                                  <p:tgtEl>
                                    <p:spTgt spid="10"/>
                                  </p:tgtEl>
                                  <p:attrNameLst>
                                    <p:attrName>style.visibility</p:attrName>
                                  </p:attrNameLst>
                                </p:cBhvr>
                                <p:to>
                                  <p:strVal val="visible"/>
                                </p:to>
                              </p:set>
                              <p:animEffect transition="in" filter="wipe(left)">
                                <p:cBhvr>
                                  <p:cTn id="9" dur="860"/>
                                  <p:tgtEl>
                                    <p:spTgt spid="10"/>
                                  </p:tgtEl>
                                </p:cBhvr>
                              </p:animEffect>
                            </p:childTnLst>
                          </p:cTn>
                        </p:par>
                      </p:childTnLst>
                    </p:cTn>
                  </p:par>
                </p:childTnLst>
              </p:cTn>
            </p:seq>
          </p:childTnLst>
        </p:cTn>
      </p:par>
    </p:tnLst>
    <p:bldLst>
      <p:bldP spid="10" grpId="0" animBg="1"/>
      <p:bldP spid="13"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3127839" y="9986436"/>
            <a:ext cx="22035035" cy="2837612"/>
            <a:chOff x="0" y="0"/>
            <a:chExt cx="5803466" cy="747355"/>
          </a:xfrm>
        </p:grpSpPr>
        <p:sp>
          <p:nvSpPr>
            <p:cNvPr id="3" name="Freeform 3"/>
            <p:cNvSpPr/>
            <p:nvPr/>
          </p:nvSpPr>
          <p:spPr>
            <a:xfrm>
              <a:off x="0" y="0"/>
              <a:ext cx="5803466" cy="747355"/>
            </a:xfrm>
            <a:custGeom>
              <a:avLst/>
              <a:gdLst/>
              <a:ahLst/>
              <a:cxnLst/>
              <a:rect l="l" t="t" r="r" b="b"/>
              <a:pathLst>
                <a:path w="5803466" h="747355">
                  <a:moveTo>
                    <a:pt x="0" y="0"/>
                  </a:moveTo>
                  <a:lnTo>
                    <a:pt x="5803466" y="0"/>
                  </a:lnTo>
                  <a:lnTo>
                    <a:pt x="5803466" y="747355"/>
                  </a:lnTo>
                  <a:lnTo>
                    <a:pt x="0" y="747355"/>
                  </a:lnTo>
                  <a:close/>
                </a:path>
              </a:pathLst>
            </a:custGeom>
            <a:solidFill>
              <a:srgbClr val="3C4F75"/>
            </a:solidFill>
          </p:spPr>
          <p:txBody>
            <a:bodyPr/>
            <a:lstStyle/>
            <a:p>
              <a:endParaRPr lang="en-VN"/>
            </a:p>
          </p:txBody>
        </p:sp>
        <p:sp>
          <p:nvSpPr>
            <p:cNvPr id="4" name="TextBox 4"/>
            <p:cNvSpPr txBox="1"/>
            <p:nvPr/>
          </p:nvSpPr>
          <p:spPr>
            <a:xfrm>
              <a:off x="0" y="-47625"/>
              <a:ext cx="5803466" cy="794980"/>
            </a:xfrm>
            <a:prstGeom prst="rect">
              <a:avLst/>
            </a:prstGeom>
          </p:spPr>
          <p:txBody>
            <a:bodyPr lIns="50800" tIns="50800" rIns="50800" bIns="50800" rtlCol="0" anchor="ctr"/>
            <a:lstStyle/>
            <a:p>
              <a:pPr algn="ctr">
                <a:lnSpc>
                  <a:spcPts val="2940"/>
                </a:lnSpc>
              </a:pPr>
              <a:endParaRPr/>
            </a:p>
          </p:txBody>
        </p:sp>
      </p:grpSp>
      <p:grpSp>
        <p:nvGrpSpPr>
          <p:cNvPr id="5" name="Group 5"/>
          <p:cNvGrpSpPr/>
          <p:nvPr/>
        </p:nvGrpSpPr>
        <p:grpSpPr>
          <a:xfrm rot="-10800000">
            <a:off x="17259300" y="-233820"/>
            <a:ext cx="1940843" cy="970417"/>
            <a:chOff x="0" y="0"/>
            <a:chExt cx="2587790" cy="1293889"/>
          </a:xfrm>
        </p:grpSpPr>
        <p:sp>
          <p:nvSpPr>
            <p:cNvPr id="6" name="Freeform 6"/>
            <p:cNvSpPr/>
            <p:nvPr/>
          </p:nvSpPr>
          <p:spPr>
            <a:xfrm>
              <a:off x="0" y="0"/>
              <a:ext cx="2587752" cy="1293876"/>
            </a:xfrm>
            <a:custGeom>
              <a:avLst/>
              <a:gdLst/>
              <a:ahLst/>
              <a:cxnLst/>
              <a:rect l="l" t="t" r="r" b="b"/>
              <a:pathLst>
                <a:path w="2587752" h="1293876">
                  <a:moveTo>
                    <a:pt x="0" y="0"/>
                  </a:moveTo>
                  <a:lnTo>
                    <a:pt x="2587752" y="0"/>
                  </a:lnTo>
                  <a:lnTo>
                    <a:pt x="2587752" y="1293876"/>
                  </a:lnTo>
                  <a:lnTo>
                    <a:pt x="0" y="1293876"/>
                  </a:lnTo>
                  <a:lnTo>
                    <a:pt x="0" y="0"/>
                  </a:lnTo>
                  <a:close/>
                </a:path>
              </a:pathLst>
            </a:custGeom>
            <a:blipFill>
              <a:blip r:embed="rId2"/>
              <a:stretch>
                <a:fillRect r="-1"/>
              </a:stretch>
            </a:blipFill>
          </p:spPr>
          <p:txBody>
            <a:bodyPr/>
            <a:lstStyle/>
            <a:p>
              <a:endParaRPr lang="en-VN"/>
            </a:p>
          </p:txBody>
        </p:sp>
      </p:grpSp>
      <p:grpSp>
        <p:nvGrpSpPr>
          <p:cNvPr id="7" name="Group 7"/>
          <p:cNvGrpSpPr/>
          <p:nvPr/>
        </p:nvGrpSpPr>
        <p:grpSpPr>
          <a:xfrm>
            <a:off x="-912143" y="9429369"/>
            <a:ext cx="1940843" cy="970417"/>
            <a:chOff x="0" y="0"/>
            <a:chExt cx="2587790" cy="1293889"/>
          </a:xfrm>
        </p:grpSpPr>
        <p:sp>
          <p:nvSpPr>
            <p:cNvPr id="8" name="Freeform 8"/>
            <p:cNvSpPr/>
            <p:nvPr/>
          </p:nvSpPr>
          <p:spPr>
            <a:xfrm>
              <a:off x="0" y="0"/>
              <a:ext cx="2587752" cy="1293876"/>
            </a:xfrm>
            <a:custGeom>
              <a:avLst/>
              <a:gdLst/>
              <a:ahLst/>
              <a:cxnLst/>
              <a:rect l="l" t="t" r="r" b="b"/>
              <a:pathLst>
                <a:path w="2587752" h="1293876">
                  <a:moveTo>
                    <a:pt x="0" y="0"/>
                  </a:moveTo>
                  <a:lnTo>
                    <a:pt x="2587752" y="0"/>
                  </a:lnTo>
                  <a:lnTo>
                    <a:pt x="2587752" y="1293876"/>
                  </a:lnTo>
                  <a:lnTo>
                    <a:pt x="0" y="1293876"/>
                  </a:lnTo>
                  <a:lnTo>
                    <a:pt x="0" y="0"/>
                  </a:lnTo>
                  <a:close/>
                </a:path>
              </a:pathLst>
            </a:custGeom>
            <a:blipFill>
              <a:blip r:embed="rId2"/>
              <a:stretch>
                <a:fillRect r="-1"/>
              </a:stretch>
            </a:blipFill>
          </p:spPr>
          <p:txBody>
            <a:bodyPr/>
            <a:lstStyle/>
            <a:p>
              <a:endParaRPr lang="en-VN"/>
            </a:p>
          </p:txBody>
        </p:sp>
      </p:grpSp>
      <p:sp>
        <p:nvSpPr>
          <p:cNvPr id="9" name="Freeform 9"/>
          <p:cNvSpPr/>
          <p:nvPr/>
        </p:nvSpPr>
        <p:spPr>
          <a:xfrm>
            <a:off x="1028700" y="251389"/>
            <a:ext cx="551704" cy="584433"/>
          </a:xfrm>
          <a:custGeom>
            <a:avLst/>
            <a:gdLst/>
            <a:ahLst/>
            <a:cxnLst/>
            <a:rect l="l" t="t" r="r" b="b"/>
            <a:pathLst>
              <a:path w="551704" h="584433">
                <a:moveTo>
                  <a:pt x="0" y="0"/>
                </a:moveTo>
                <a:lnTo>
                  <a:pt x="551704" y="0"/>
                </a:lnTo>
                <a:lnTo>
                  <a:pt x="551704" y="584432"/>
                </a:lnTo>
                <a:lnTo>
                  <a:pt x="0" y="584432"/>
                </a:lnTo>
                <a:lnTo>
                  <a:pt x="0" y="0"/>
                </a:lnTo>
                <a:close/>
              </a:path>
            </a:pathLst>
          </a:custGeom>
          <a:blipFill>
            <a:blip r:embed="rId3"/>
            <a:stretch>
              <a:fillRect/>
            </a:stretch>
          </a:blipFill>
        </p:spPr>
        <p:txBody>
          <a:bodyPr/>
          <a:lstStyle/>
          <a:p>
            <a:endParaRPr lang="en-VN"/>
          </a:p>
        </p:txBody>
      </p:sp>
      <p:grpSp>
        <p:nvGrpSpPr>
          <p:cNvPr id="10" name="Group 10"/>
          <p:cNvGrpSpPr/>
          <p:nvPr/>
        </p:nvGrpSpPr>
        <p:grpSpPr>
          <a:xfrm>
            <a:off x="8555428" y="3969707"/>
            <a:ext cx="1177144" cy="1173793"/>
            <a:chOff x="0" y="0"/>
            <a:chExt cx="871377" cy="868896"/>
          </a:xfrm>
        </p:grpSpPr>
        <p:sp>
          <p:nvSpPr>
            <p:cNvPr id="11" name="Freeform 11"/>
            <p:cNvSpPr/>
            <p:nvPr/>
          </p:nvSpPr>
          <p:spPr>
            <a:xfrm>
              <a:off x="0" y="0"/>
              <a:ext cx="871377" cy="868896"/>
            </a:xfrm>
            <a:custGeom>
              <a:avLst/>
              <a:gdLst/>
              <a:ahLst/>
              <a:cxnLst/>
              <a:rect l="l" t="t" r="r" b="b"/>
              <a:pathLst>
                <a:path w="871377" h="868896">
                  <a:moveTo>
                    <a:pt x="435688" y="0"/>
                  </a:moveTo>
                  <a:cubicBezTo>
                    <a:pt x="195064" y="0"/>
                    <a:pt x="0" y="194509"/>
                    <a:pt x="0" y="434448"/>
                  </a:cubicBezTo>
                  <a:cubicBezTo>
                    <a:pt x="0" y="674387"/>
                    <a:pt x="195064" y="868896"/>
                    <a:pt x="435688" y="868896"/>
                  </a:cubicBezTo>
                  <a:cubicBezTo>
                    <a:pt x="676312" y="868896"/>
                    <a:pt x="871377" y="674387"/>
                    <a:pt x="871377" y="434448"/>
                  </a:cubicBezTo>
                  <a:cubicBezTo>
                    <a:pt x="871377" y="194509"/>
                    <a:pt x="676312" y="0"/>
                    <a:pt x="435688" y="0"/>
                  </a:cubicBezTo>
                  <a:close/>
                </a:path>
              </a:pathLst>
            </a:custGeom>
            <a:solidFill>
              <a:srgbClr val="0C1D4B"/>
            </a:solidFill>
          </p:spPr>
          <p:txBody>
            <a:bodyPr/>
            <a:lstStyle/>
            <a:p>
              <a:endParaRPr lang="en-VN"/>
            </a:p>
          </p:txBody>
        </p:sp>
        <p:sp>
          <p:nvSpPr>
            <p:cNvPr id="12" name="TextBox 12"/>
            <p:cNvSpPr txBox="1"/>
            <p:nvPr/>
          </p:nvSpPr>
          <p:spPr>
            <a:xfrm>
              <a:off x="81692" y="14784"/>
              <a:ext cx="707993" cy="772653"/>
            </a:xfrm>
            <a:prstGeom prst="rect">
              <a:avLst/>
            </a:prstGeom>
          </p:spPr>
          <p:txBody>
            <a:bodyPr lIns="50800" tIns="50800" rIns="50800" bIns="50800" rtlCol="0" anchor="ctr"/>
            <a:lstStyle/>
            <a:p>
              <a:pPr algn="ctr">
                <a:lnSpc>
                  <a:spcPts val="5880"/>
                </a:lnSpc>
              </a:pPr>
              <a:r>
                <a:rPr lang="en-US" sz="4200" b="1">
                  <a:solidFill>
                    <a:srgbClr val="FFFFFF"/>
                  </a:solidFill>
                  <a:latin typeface="Roboto Slab Bold"/>
                  <a:ea typeface="Roboto Slab Bold"/>
                  <a:cs typeface="Roboto Slab Bold"/>
                  <a:sym typeface="Roboto Slab Bold"/>
                </a:rPr>
                <a:t>4</a:t>
              </a:r>
            </a:p>
          </p:txBody>
        </p:sp>
      </p:grpSp>
      <p:sp>
        <p:nvSpPr>
          <p:cNvPr id="13" name="TextBox 13"/>
          <p:cNvSpPr txBox="1"/>
          <p:nvPr/>
        </p:nvSpPr>
        <p:spPr>
          <a:xfrm>
            <a:off x="4641270" y="5430926"/>
            <a:ext cx="8784503" cy="630228"/>
          </a:xfrm>
          <a:prstGeom prst="rect">
            <a:avLst/>
          </a:prstGeom>
        </p:spPr>
        <p:txBody>
          <a:bodyPr lIns="0" tIns="0" rIns="0" bIns="0" rtlCol="0" anchor="t">
            <a:spAutoFit/>
          </a:bodyPr>
          <a:lstStyle/>
          <a:p>
            <a:pPr algn="ctr">
              <a:lnSpc>
                <a:spcPts val="4848"/>
              </a:lnSpc>
            </a:pPr>
            <a:r>
              <a:rPr lang="en-US" sz="4800" b="1">
                <a:solidFill>
                  <a:srgbClr val="0C1D4B"/>
                </a:solidFill>
                <a:latin typeface="Roboto Slab Bold"/>
                <a:ea typeface="Roboto Slab Bold"/>
                <a:cs typeface="Roboto Slab Bold"/>
                <a:sym typeface="Roboto Slab Bold"/>
              </a:rPr>
              <a:t>THỰC NGHIỆM VÀ KẾT LUẬN</a:t>
            </a:r>
          </a:p>
        </p:txBody>
      </p:sp>
      <p:sp>
        <p:nvSpPr>
          <p:cNvPr id="14" name="TextBox 14"/>
          <p:cNvSpPr txBox="1"/>
          <p:nvPr/>
        </p:nvSpPr>
        <p:spPr>
          <a:xfrm>
            <a:off x="1687249" y="346410"/>
            <a:ext cx="3954904" cy="356289"/>
          </a:xfrm>
          <a:prstGeom prst="rect">
            <a:avLst/>
          </a:prstGeom>
        </p:spPr>
        <p:txBody>
          <a:bodyPr lIns="0" tIns="0" rIns="0" bIns="0" rtlCol="0" anchor="t">
            <a:spAutoFit/>
          </a:bodyPr>
          <a:lstStyle/>
          <a:p>
            <a:pPr algn="l">
              <a:lnSpc>
                <a:spcPts val="2940"/>
              </a:lnSpc>
            </a:pPr>
            <a:r>
              <a:rPr lang="en-US" sz="2100" b="1">
                <a:solidFill>
                  <a:srgbClr val="2C2C2C"/>
                </a:solidFill>
                <a:latin typeface="Roboto Slab Bold"/>
                <a:ea typeface="Roboto Slab Bold"/>
                <a:cs typeface="Roboto Slab Bold"/>
                <a:sym typeface="Roboto Slab Bold"/>
              </a:rPr>
              <a:t>HỌC VIỆN KỸ THUẬT MẬT MÃ</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grpId="0" nodeType="withEffect">
                            <p:stCondLst>
                              <p:cond delay="180"/>
                            </p:stCondLst>
                            <p:childTnLst>
                              <p:set>
                                <p:cBhvr>
                                  <p:cTn id="5" dur="1" fill="hold">
                                    <p:stCondLst>
                                      <p:cond delay="0"/>
                                    </p:stCondLst>
                                  </p:cTn>
                                  <p:tgtEl>
                                    <p:spTgt spid="10"/>
                                  </p:tgtEl>
                                  <p:attrNameLst>
                                    <p:attrName>style.visibility</p:attrName>
                                  </p:attrNameLst>
                                </p:cBhvr>
                                <p:to>
                                  <p:strVal val="visible"/>
                                </p:to>
                              </p:set>
                              <p:animEffect transition="in" filter="wipe(left)">
                                <p:cBhvr>
                                  <p:cTn id="6" dur="860"/>
                                  <p:tgtEl>
                                    <p:spTgt spid="10"/>
                                  </p:tgtEl>
                                </p:cBhvr>
                              </p:animEffect>
                            </p:childTnLst>
                          </p:cTn>
                        </p:par>
                        <p:par>
                          <p:cTn id="7" presetID="10" presetClass="entr" presetSubtype="0" fill="hold" grpId="0" nodeType="withEffect">
                            <p:stCondLst>
                              <p:cond delay="350"/>
                            </p:stCondLst>
                            <p:childTnLst>
                              <p:set>
                                <p:cBhvr>
                                  <p:cTn id="8" dur="1" fill="hold">
                                    <p:stCondLst>
                                      <p:cond delay="0"/>
                                    </p:stCondLst>
                                  </p:cTn>
                                  <p:tgtEl>
                                    <p:spTgt spid="13"/>
                                  </p:tgtEl>
                                  <p:attrNameLst>
                                    <p:attrName>style.visibility</p:attrName>
                                  </p:attrNameLst>
                                </p:cBhvr>
                                <p:to>
                                  <p:strVal val="visible"/>
                                </p:to>
                              </p:set>
                              <p:animEffect transition="in" filter="wipe(left)">
                                <p:cBhvr>
                                  <p:cTn id="9" dur="860"/>
                                  <p:tgtEl>
                                    <p:spTgt spid="13"/>
                                  </p:tgtEl>
                                </p:cBhvr>
                              </p:animEffect>
                            </p:childTnLst>
                          </p:cTn>
                        </p:par>
                      </p:childTnLst>
                    </p:cTn>
                  </p:par>
                </p:childTnLst>
              </p:cTn>
            </p:seq>
          </p:childTnLst>
        </p:cTn>
      </p:par>
    </p:tnLst>
    <p:bldLst>
      <p:bldP spid="10" grpId="0"/>
      <p:bldP spid="13"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10800000">
            <a:off x="17259300" y="-233820"/>
            <a:ext cx="1940843" cy="970417"/>
            <a:chOff x="0" y="0"/>
            <a:chExt cx="2587790" cy="1293889"/>
          </a:xfrm>
        </p:grpSpPr>
        <p:sp>
          <p:nvSpPr>
            <p:cNvPr id="3" name="Freeform 3"/>
            <p:cNvSpPr/>
            <p:nvPr/>
          </p:nvSpPr>
          <p:spPr>
            <a:xfrm>
              <a:off x="0" y="0"/>
              <a:ext cx="2587752" cy="1293876"/>
            </a:xfrm>
            <a:custGeom>
              <a:avLst/>
              <a:gdLst/>
              <a:ahLst/>
              <a:cxnLst/>
              <a:rect l="l" t="t" r="r" b="b"/>
              <a:pathLst>
                <a:path w="2587752" h="1293876">
                  <a:moveTo>
                    <a:pt x="0" y="0"/>
                  </a:moveTo>
                  <a:lnTo>
                    <a:pt x="2587752" y="0"/>
                  </a:lnTo>
                  <a:lnTo>
                    <a:pt x="2587752" y="1293876"/>
                  </a:lnTo>
                  <a:lnTo>
                    <a:pt x="0" y="1293876"/>
                  </a:lnTo>
                  <a:lnTo>
                    <a:pt x="0" y="0"/>
                  </a:lnTo>
                  <a:close/>
                </a:path>
              </a:pathLst>
            </a:custGeom>
            <a:blipFill>
              <a:blip r:embed="rId2"/>
              <a:stretch>
                <a:fillRect r="-1"/>
              </a:stretch>
            </a:blipFill>
          </p:spPr>
          <p:txBody>
            <a:bodyPr/>
            <a:lstStyle/>
            <a:p>
              <a:endParaRPr lang="en-VN"/>
            </a:p>
          </p:txBody>
        </p:sp>
      </p:grpSp>
      <p:grpSp>
        <p:nvGrpSpPr>
          <p:cNvPr id="4" name="Group 4"/>
          <p:cNvGrpSpPr/>
          <p:nvPr/>
        </p:nvGrpSpPr>
        <p:grpSpPr>
          <a:xfrm>
            <a:off x="-912143" y="9429369"/>
            <a:ext cx="1940843" cy="970417"/>
            <a:chOff x="0" y="0"/>
            <a:chExt cx="2587790" cy="1293889"/>
          </a:xfrm>
        </p:grpSpPr>
        <p:sp>
          <p:nvSpPr>
            <p:cNvPr id="5" name="Freeform 5"/>
            <p:cNvSpPr/>
            <p:nvPr/>
          </p:nvSpPr>
          <p:spPr>
            <a:xfrm>
              <a:off x="0" y="0"/>
              <a:ext cx="2587752" cy="1293876"/>
            </a:xfrm>
            <a:custGeom>
              <a:avLst/>
              <a:gdLst/>
              <a:ahLst/>
              <a:cxnLst/>
              <a:rect l="l" t="t" r="r" b="b"/>
              <a:pathLst>
                <a:path w="2587752" h="1293876">
                  <a:moveTo>
                    <a:pt x="0" y="0"/>
                  </a:moveTo>
                  <a:lnTo>
                    <a:pt x="2587752" y="0"/>
                  </a:lnTo>
                  <a:lnTo>
                    <a:pt x="2587752" y="1293876"/>
                  </a:lnTo>
                  <a:lnTo>
                    <a:pt x="0" y="1293876"/>
                  </a:lnTo>
                  <a:lnTo>
                    <a:pt x="0" y="0"/>
                  </a:lnTo>
                  <a:close/>
                </a:path>
              </a:pathLst>
            </a:custGeom>
            <a:blipFill>
              <a:blip r:embed="rId2"/>
              <a:stretch>
                <a:fillRect r="-1"/>
              </a:stretch>
            </a:blipFill>
          </p:spPr>
          <p:txBody>
            <a:bodyPr/>
            <a:lstStyle/>
            <a:p>
              <a:endParaRPr lang="en-VN"/>
            </a:p>
          </p:txBody>
        </p:sp>
      </p:grpSp>
      <p:grpSp>
        <p:nvGrpSpPr>
          <p:cNvPr id="6" name="Group 6"/>
          <p:cNvGrpSpPr/>
          <p:nvPr/>
        </p:nvGrpSpPr>
        <p:grpSpPr>
          <a:xfrm>
            <a:off x="-3127839" y="9986436"/>
            <a:ext cx="22035035" cy="2837612"/>
            <a:chOff x="0" y="0"/>
            <a:chExt cx="5803466" cy="747355"/>
          </a:xfrm>
        </p:grpSpPr>
        <p:sp>
          <p:nvSpPr>
            <p:cNvPr id="7" name="Freeform 7"/>
            <p:cNvSpPr/>
            <p:nvPr/>
          </p:nvSpPr>
          <p:spPr>
            <a:xfrm>
              <a:off x="0" y="0"/>
              <a:ext cx="5803466" cy="747355"/>
            </a:xfrm>
            <a:custGeom>
              <a:avLst/>
              <a:gdLst/>
              <a:ahLst/>
              <a:cxnLst/>
              <a:rect l="l" t="t" r="r" b="b"/>
              <a:pathLst>
                <a:path w="5803466" h="747355">
                  <a:moveTo>
                    <a:pt x="0" y="0"/>
                  </a:moveTo>
                  <a:lnTo>
                    <a:pt x="5803466" y="0"/>
                  </a:lnTo>
                  <a:lnTo>
                    <a:pt x="5803466" y="747355"/>
                  </a:lnTo>
                  <a:lnTo>
                    <a:pt x="0" y="747355"/>
                  </a:lnTo>
                  <a:close/>
                </a:path>
              </a:pathLst>
            </a:custGeom>
            <a:solidFill>
              <a:srgbClr val="3C4F75"/>
            </a:solidFill>
          </p:spPr>
          <p:txBody>
            <a:bodyPr/>
            <a:lstStyle/>
            <a:p>
              <a:endParaRPr lang="en-VN"/>
            </a:p>
          </p:txBody>
        </p:sp>
        <p:sp>
          <p:nvSpPr>
            <p:cNvPr id="8" name="TextBox 8"/>
            <p:cNvSpPr txBox="1"/>
            <p:nvPr/>
          </p:nvSpPr>
          <p:spPr>
            <a:xfrm>
              <a:off x="0" y="-47625"/>
              <a:ext cx="5803466" cy="794980"/>
            </a:xfrm>
            <a:prstGeom prst="rect">
              <a:avLst/>
            </a:prstGeom>
          </p:spPr>
          <p:txBody>
            <a:bodyPr lIns="50800" tIns="50800" rIns="50800" bIns="50800" rtlCol="0" anchor="ctr"/>
            <a:lstStyle/>
            <a:p>
              <a:pPr algn="ctr">
                <a:lnSpc>
                  <a:spcPts val="2940"/>
                </a:lnSpc>
              </a:pPr>
              <a:endParaRPr/>
            </a:p>
          </p:txBody>
        </p:sp>
      </p:grpSp>
      <p:sp>
        <p:nvSpPr>
          <p:cNvPr id="9" name="Freeform 9"/>
          <p:cNvSpPr/>
          <p:nvPr/>
        </p:nvSpPr>
        <p:spPr>
          <a:xfrm>
            <a:off x="1028700" y="251389"/>
            <a:ext cx="551704" cy="584433"/>
          </a:xfrm>
          <a:custGeom>
            <a:avLst/>
            <a:gdLst/>
            <a:ahLst/>
            <a:cxnLst/>
            <a:rect l="l" t="t" r="r" b="b"/>
            <a:pathLst>
              <a:path w="551704" h="584433">
                <a:moveTo>
                  <a:pt x="0" y="0"/>
                </a:moveTo>
                <a:lnTo>
                  <a:pt x="551704" y="0"/>
                </a:lnTo>
                <a:lnTo>
                  <a:pt x="551704" y="584432"/>
                </a:lnTo>
                <a:lnTo>
                  <a:pt x="0" y="584432"/>
                </a:lnTo>
                <a:lnTo>
                  <a:pt x="0" y="0"/>
                </a:lnTo>
                <a:close/>
              </a:path>
            </a:pathLst>
          </a:custGeom>
          <a:blipFill>
            <a:blip r:embed="rId3"/>
            <a:stretch>
              <a:fillRect/>
            </a:stretch>
          </a:blipFill>
        </p:spPr>
        <p:txBody>
          <a:bodyPr/>
          <a:lstStyle/>
          <a:p>
            <a:endParaRPr lang="en-VN"/>
          </a:p>
        </p:txBody>
      </p:sp>
      <p:sp>
        <p:nvSpPr>
          <p:cNvPr id="10" name="Freeform 10"/>
          <p:cNvSpPr/>
          <p:nvPr/>
        </p:nvSpPr>
        <p:spPr>
          <a:xfrm>
            <a:off x="5485915" y="1953843"/>
            <a:ext cx="3360050" cy="7304457"/>
          </a:xfrm>
          <a:custGeom>
            <a:avLst/>
            <a:gdLst/>
            <a:ahLst/>
            <a:cxnLst/>
            <a:rect l="l" t="t" r="r" b="b"/>
            <a:pathLst>
              <a:path w="3360050" h="7304457">
                <a:moveTo>
                  <a:pt x="0" y="0"/>
                </a:moveTo>
                <a:lnTo>
                  <a:pt x="3360051" y="0"/>
                </a:lnTo>
                <a:lnTo>
                  <a:pt x="3360051" y="7304457"/>
                </a:lnTo>
                <a:lnTo>
                  <a:pt x="0" y="7304457"/>
                </a:lnTo>
                <a:lnTo>
                  <a:pt x="0" y="0"/>
                </a:lnTo>
                <a:close/>
              </a:path>
            </a:pathLst>
          </a:custGeom>
          <a:blipFill>
            <a:blip r:embed="rId4"/>
            <a:stretch>
              <a:fillRect/>
            </a:stretch>
          </a:blipFill>
        </p:spPr>
        <p:txBody>
          <a:bodyPr/>
          <a:lstStyle/>
          <a:p>
            <a:endParaRPr lang="en-VN"/>
          </a:p>
        </p:txBody>
      </p:sp>
      <p:sp>
        <p:nvSpPr>
          <p:cNvPr id="11" name="Freeform 11"/>
          <p:cNvSpPr/>
          <p:nvPr/>
        </p:nvSpPr>
        <p:spPr>
          <a:xfrm>
            <a:off x="1028700" y="1953843"/>
            <a:ext cx="3360050" cy="7304457"/>
          </a:xfrm>
          <a:custGeom>
            <a:avLst/>
            <a:gdLst/>
            <a:ahLst/>
            <a:cxnLst/>
            <a:rect l="l" t="t" r="r" b="b"/>
            <a:pathLst>
              <a:path w="3360050" h="7304457">
                <a:moveTo>
                  <a:pt x="0" y="0"/>
                </a:moveTo>
                <a:lnTo>
                  <a:pt x="3360050" y="0"/>
                </a:lnTo>
                <a:lnTo>
                  <a:pt x="3360050" y="7304457"/>
                </a:lnTo>
                <a:lnTo>
                  <a:pt x="0" y="7304457"/>
                </a:lnTo>
                <a:lnTo>
                  <a:pt x="0" y="0"/>
                </a:lnTo>
                <a:close/>
              </a:path>
            </a:pathLst>
          </a:custGeom>
          <a:blipFill>
            <a:blip r:embed="rId5"/>
            <a:stretch>
              <a:fillRect/>
            </a:stretch>
          </a:blipFill>
        </p:spPr>
        <p:txBody>
          <a:bodyPr/>
          <a:lstStyle/>
          <a:p>
            <a:endParaRPr lang="en-VN"/>
          </a:p>
        </p:txBody>
      </p:sp>
      <p:sp>
        <p:nvSpPr>
          <p:cNvPr id="12" name="Freeform 12"/>
          <p:cNvSpPr/>
          <p:nvPr/>
        </p:nvSpPr>
        <p:spPr>
          <a:xfrm>
            <a:off x="9575165" y="3699190"/>
            <a:ext cx="8404988" cy="3813764"/>
          </a:xfrm>
          <a:custGeom>
            <a:avLst/>
            <a:gdLst/>
            <a:ahLst/>
            <a:cxnLst/>
            <a:rect l="l" t="t" r="r" b="b"/>
            <a:pathLst>
              <a:path w="8404988" h="3813764">
                <a:moveTo>
                  <a:pt x="0" y="0"/>
                </a:moveTo>
                <a:lnTo>
                  <a:pt x="8404989" y="0"/>
                </a:lnTo>
                <a:lnTo>
                  <a:pt x="8404989" y="3813763"/>
                </a:lnTo>
                <a:lnTo>
                  <a:pt x="0" y="3813763"/>
                </a:lnTo>
                <a:lnTo>
                  <a:pt x="0" y="0"/>
                </a:lnTo>
                <a:close/>
              </a:path>
            </a:pathLst>
          </a:custGeom>
          <a:blipFill>
            <a:blip r:embed="rId6"/>
            <a:stretch>
              <a:fillRect/>
            </a:stretch>
          </a:blipFill>
        </p:spPr>
        <p:txBody>
          <a:bodyPr/>
          <a:lstStyle/>
          <a:p>
            <a:endParaRPr lang="en-VN"/>
          </a:p>
        </p:txBody>
      </p:sp>
      <p:sp>
        <p:nvSpPr>
          <p:cNvPr id="13" name="TextBox 13"/>
          <p:cNvSpPr txBox="1"/>
          <p:nvPr/>
        </p:nvSpPr>
        <p:spPr>
          <a:xfrm>
            <a:off x="1028700" y="1095375"/>
            <a:ext cx="11197543" cy="534618"/>
          </a:xfrm>
          <a:prstGeom prst="rect">
            <a:avLst/>
          </a:prstGeom>
        </p:spPr>
        <p:txBody>
          <a:bodyPr lIns="0" tIns="0" rIns="0" bIns="0" rtlCol="0" anchor="t">
            <a:spAutoFit/>
          </a:bodyPr>
          <a:lstStyle/>
          <a:p>
            <a:pPr algn="just">
              <a:lnSpc>
                <a:spcPts val="4039"/>
              </a:lnSpc>
            </a:pPr>
            <a:r>
              <a:rPr lang="en-US" sz="3999" b="1">
                <a:solidFill>
                  <a:srgbClr val="0C1D4B"/>
                </a:solidFill>
                <a:latin typeface="Roboto Slab Bold"/>
                <a:ea typeface="Roboto Slab Bold"/>
                <a:cs typeface="Roboto Slab Bold"/>
                <a:sym typeface="Roboto Slab Bold"/>
              </a:rPr>
              <a:t>4.1. Demo các chức năng</a:t>
            </a:r>
          </a:p>
        </p:txBody>
      </p:sp>
      <p:sp>
        <p:nvSpPr>
          <p:cNvPr id="14" name="TextBox 14"/>
          <p:cNvSpPr txBox="1"/>
          <p:nvPr/>
        </p:nvSpPr>
        <p:spPr>
          <a:xfrm>
            <a:off x="1687249" y="346410"/>
            <a:ext cx="3954904" cy="356289"/>
          </a:xfrm>
          <a:prstGeom prst="rect">
            <a:avLst/>
          </a:prstGeom>
        </p:spPr>
        <p:txBody>
          <a:bodyPr lIns="0" tIns="0" rIns="0" bIns="0" rtlCol="0" anchor="t">
            <a:spAutoFit/>
          </a:bodyPr>
          <a:lstStyle/>
          <a:p>
            <a:pPr algn="l">
              <a:lnSpc>
                <a:spcPts val="2940"/>
              </a:lnSpc>
            </a:pPr>
            <a:r>
              <a:rPr lang="en-US" sz="2100" b="1">
                <a:solidFill>
                  <a:srgbClr val="2C2C2C"/>
                </a:solidFill>
                <a:latin typeface="Roboto Slab Bold"/>
                <a:ea typeface="Roboto Slab Bold"/>
                <a:cs typeface="Roboto Slab Bold"/>
                <a:sym typeface="Roboto Slab Bold"/>
              </a:rPr>
              <a:t>HỌC VIỆN KỸ THUẬT MẬT MÃ</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grpId="0" nodeType="withEffect">
                            <p:stCondLst>
                              <p:cond delay="180"/>
                            </p:stCondLst>
                            <p:childTnLst>
                              <p:set>
                                <p:cBhvr>
                                  <p:cTn id="5" dur="1" fill="hold">
                                    <p:stCondLst>
                                      <p:cond delay="0"/>
                                    </p:stCondLst>
                                  </p:cTn>
                                  <p:tgtEl>
                                    <p:spTgt spid="13"/>
                                  </p:tgtEl>
                                  <p:attrNameLst>
                                    <p:attrName>style.visibility</p:attrName>
                                  </p:attrNameLst>
                                </p:cBhvr>
                                <p:to>
                                  <p:strVal val="visible"/>
                                </p:to>
                              </p:set>
                              <p:animEffect transition="in" filter="wipe(left)">
                                <p:cBhvr>
                                  <p:cTn id="6" dur="860"/>
                                  <p:tgtEl>
                                    <p:spTgt spid="13"/>
                                  </p:tgtEl>
                                </p:cBhvr>
                              </p:animEffect>
                            </p:childTnLst>
                          </p:cTn>
                        </p:par>
                        <p:par>
                          <p:cTn id="7" presetID="10" presetClass="entr" presetSubtype="0" fill="hold" grpId="0" nodeType="withEffect">
                            <p:stCondLst>
                              <p:cond delay="350"/>
                            </p:stCondLst>
                            <p:childTnLst>
                              <p:set>
                                <p:cBhvr>
                                  <p:cTn id="8" dur="1" fill="hold">
                                    <p:stCondLst>
                                      <p:cond delay="0"/>
                                    </p:stCondLst>
                                  </p:cTn>
                                  <p:tgtEl>
                                    <p:spTgt spid="11"/>
                                  </p:tgtEl>
                                  <p:attrNameLst>
                                    <p:attrName>style.visibility</p:attrName>
                                  </p:attrNameLst>
                                </p:cBhvr>
                                <p:to>
                                  <p:strVal val="visible"/>
                                </p:to>
                              </p:set>
                              <p:animEffect transition="in" filter="wipe(left)">
                                <p:cBhvr>
                                  <p:cTn id="9" dur="860"/>
                                  <p:tgtEl>
                                    <p:spTgt spid="11"/>
                                  </p:tgtEl>
                                </p:cBhvr>
                              </p:animEffect>
                            </p:childTnLst>
                          </p:cTn>
                        </p:par>
                        <p:par>
                          <p:cTn id="10" presetID="10" presetClass="entr" presetSubtype="0" fill="hold" grpId="0" nodeType="withEffect">
                            <p:stCondLst>
                              <p:cond delay="520"/>
                            </p:stCondLst>
                            <p:childTnLst>
                              <p:set>
                                <p:cBhvr>
                                  <p:cTn id="11" dur="1" fill="hold">
                                    <p:stCondLst>
                                      <p:cond delay="0"/>
                                    </p:stCondLst>
                                  </p:cTn>
                                  <p:tgtEl>
                                    <p:spTgt spid="10"/>
                                  </p:tgtEl>
                                  <p:attrNameLst>
                                    <p:attrName>style.visibility</p:attrName>
                                  </p:attrNameLst>
                                </p:cBhvr>
                                <p:to>
                                  <p:strVal val="visible"/>
                                </p:to>
                              </p:set>
                              <p:animEffect transition="in" filter="wipe(left)">
                                <p:cBhvr>
                                  <p:cTn id="12" dur="860"/>
                                  <p:tgtEl>
                                    <p:spTgt spid="10"/>
                                  </p:tgtEl>
                                </p:cBhvr>
                              </p:animEffect>
                            </p:childTnLst>
                          </p:cTn>
                        </p:par>
                        <p:par>
                          <p:cTn id="13" presetID="10" presetClass="entr" presetSubtype="0" fill="hold" grpId="0" nodeType="withEffect">
                            <p:stCondLst>
                              <p:cond delay="690"/>
                            </p:stCondLst>
                            <p:childTnLst>
                              <p:set>
                                <p:cBhvr>
                                  <p:cTn id="14" dur="1" fill="hold">
                                    <p:stCondLst>
                                      <p:cond delay="0"/>
                                    </p:stCondLst>
                                  </p:cTn>
                                  <p:tgtEl>
                                    <p:spTgt spid="12"/>
                                  </p:tgtEl>
                                  <p:attrNameLst>
                                    <p:attrName>style.visibility</p:attrName>
                                  </p:attrNameLst>
                                </p:cBhvr>
                                <p:to>
                                  <p:strVal val="visible"/>
                                </p:to>
                              </p:set>
                              <p:animEffect transition="in" filter="wipe(left)">
                                <p:cBhvr>
                                  <p:cTn id="15" dur="860"/>
                                  <p:tgtEl>
                                    <p:spTgt spid="12"/>
                                  </p:tgtEl>
                                </p:cBhvr>
                              </p:animEffect>
                            </p:childTnLst>
                          </p:cTn>
                        </p:par>
                      </p:childTnLst>
                    </p:cTn>
                  </p:par>
                </p:childTnLst>
              </p:cTn>
            </p:seq>
          </p:childTnLst>
        </p:cTn>
      </p:par>
    </p:tnLst>
    <p:bldLst>
      <p:bldP spid="10" grpId="0" animBg="1"/>
      <p:bldP spid="11" grpId="0" animBg="1"/>
      <p:bldP spid="12" grpId="0" animBg="1"/>
      <p:bldP spid="13"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10800000">
            <a:off x="17259300" y="-233820"/>
            <a:ext cx="1940843" cy="970417"/>
            <a:chOff x="0" y="0"/>
            <a:chExt cx="2587790" cy="1293889"/>
          </a:xfrm>
        </p:grpSpPr>
        <p:sp>
          <p:nvSpPr>
            <p:cNvPr id="3" name="Freeform 3"/>
            <p:cNvSpPr/>
            <p:nvPr/>
          </p:nvSpPr>
          <p:spPr>
            <a:xfrm>
              <a:off x="0" y="0"/>
              <a:ext cx="2587752" cy="1293876"/>
            </a:xfrm>
            <a:custGeom>
              <a:avLst/>
              <a:gdLst/>
              <a:ahLst/>
              <a:cxnLst/>
              <a:rect l="l" t="t" r="r" b="b"/>
              <a:pathLst>
                <a:path w="2587752" h="1293876">
                  <a:moveTo>
                    <a:pt x="0" y="0"/>
                  </a:moveTo>
                  <a:lnTo>
                    <a:pt x="2587752" y="0"/>
                  </a:lnTo>
                  <a:lnTo>
                    <a:pt x="2587752" y="1293876"/>
                  </a:lnTo>
                  <a:lnTo>
                    <a:pt x="0" y="1293876"/>
                  </a:lnTo>
                  <a:lnTo>
                    <a:pt x="0" y="0"/>
                  </a:lnTo>
                  <a:close/>
                </a:path>
              </a:pathLst>
            </a:custGeom>
            <a:blipFill>
              <a:blip r:embed="rId2"/>
              <a:stretch>
                <a:fillRect r="-1"/>
              </a:stretch>
            </a:blipFill>
          </p:spPr>
          <p:txBody>
            <a:bodyPr/>
            <a:lstStyle/>
            <a:p>
              <a:endParaRPr lang="en-VN"/>
            </a:p>
          </p:txBody>
        </p:sp>
      </p:grpSp>
      <p:grpSp>
        <p:nvGrpSpPr>
          <p:cNvPr id="4" name="Group 4"/>
          <p:cNvGrpSpPr/>
          <p:nvPr/>
        </p:nvGrpSpPr>
        <p:grpSpPr>
          <a:xfrm>
            <a:off x="-912143" y="9429369"/>
            <a:ext cx="1940843" cy="970417"/>
            <a:chOff x="0" y="0"/>
            <a:chExt cx="2587790" cy="1293889"/>
          </a:xfrm>
        </p:grpSpPr>
        <p:sp>
          <p:nvSpPr>
            <p:cNvPr id="5" name="Freeform 5"/>
            <p:cNvSpPr/>
            <p:nvPr/>
          </p:nvSpPr>
          <p:spPr>
            <a:xfrm>
              <a:off x="0" y="0"/>
              <a:ext cx="2587752" cy="1293876"/>
            </a:xfrm>
            <a:custGeom>
              <a:avLst/>
              <a:gdLst/>
              <a:ahLst/>
              <a:cxnLst/>
              <a:rect l="l" t="t" r="r" b="b"/>
              <a:pathLst>
                <a:path w="2587752" h="1293876">
                  <a:moveTo>
                    <a:pt x="0" y="0"/>
                  </a:moveTo>
                  <a:lnTo>
                    <a:pt x="2587752" y="0"/>
                  </a:lnTo>
                  <a:lnTo>
                    <a:pt x="2587752" y="1293876"/>
                  </a:lnTo>
                  <a:lnTo>
                    <a:pt x="0" y="1293876"/>
                  </a:lnTo>
                  <a:lnTo>
                    <a:pt x="0" y="0"/>
                  </a:lnTo>
                  <a:close/>
                </a:path>
              </a:pathLst>
            </a:custGeom>
            <a:blipFill>
              <a:blip r:embed="rId2"/>
              <a:stretch>
                <a:fillRect r="-1"/>
              </a:stretch>
            </a:blipFill>
          </p:spPr>
          <p:txBody>
            <a:bodyPr/>
            <a:lstStyle/>
            <a:p>
              <a:endParaRPr lang="en-VN"/>
            </a:p>
          </p:txBody>
        </p:sp>
      </p:grpSp>
      <p:grpSp>
        <p:nvGrpSpPr>
          <p:cNvPr id="6" name="Group 6"/>
          <p:cNvGrpSpPr/>
          <p:nvPr/>
        </p:nvGrpSpPr>
        <p:grpSpPr>
          <a:xfrm>
            <a:off x="-3127839" y="9986436"/>
            <a:ext cx="22035035" cy="2837612"/>
            <a:chOff x="0" y="0"/>
            <a:chExt cx="5803466" cy="747355"/>
          </a:xfrm>
        </p:grpSpPr>
        <p:sp>
          <p:nvSpPr>
            <p:cNvPr id="7" name="Freeform 7"/>
            <p:cNvSpPr/>
            <p:nvPr/>
          </p:nvSpPr>
          <p:spPr>
            <a:xfrm>
              <a:off x="0" y="0"/>
              <a:ext cx="5803466" cy="747355"/>
            </a:xfrm>
            <a:custGeom>
              <a:avLst/>
              <a:gdLst/>
              <a:ahLst/>
              <a:cxnLst/>
              <a:rect l="l" t="t" r="r" b="b"/>
              <a:pathLst>
                <a:path w="5803466" h="747355">
                  <a:moveTo>
                    <a:pt x="0" y="0"/>
                  </a:moveTo>
                  <a:lnTo>
                    <a:pt x="5803466" y="0"/>
                  </a:lnTo>
                  <a:lnTo>
                    <a:pt x="5803466" y="747355"/>
                  </a:lnTo>
                  <a:lnTo>
                    <a:pt x="0" y="747355"/>
                  </a:lnTo>
                  <a:close/>
                </a:path>
              </a:pathLst>
            </a:custGeom>
            <a:solidFill>
              <a:srgbClr val="3C4F75"/>
            </a:solidFill>
          </p:spPr>
          <p:txBody>
            <a:bodyPr/>
            <a:lstStyle/>
            <a:p>
              <a:endParaRPr lang="en-VN"/>
            </a:p>
          </p:txBody>
        </p:sp>
        <p:sp>
          <p:nvSpPr>
            <p:cNvPr id="8" name="TextBox 8"/>
            <p:cNvSpPr txBox="1"/>
            <p:nvPr/>
          </p:nvSpPr>
          <p:spPr>
            <a:xfrm>
              <a:off x="0" y="-47625"/>
              <a:ext cx="5803466" cy="794980"/>
            </a:xfrm>
            <a:prstGeom prst="rect">
              <a:avLst/>
            </a:prstGeom>
          </p:spPr>
          <p:txBody>
            <a:bodyPr lIns="50800" tIns="50800" rIns="50800" bIns="50800" rtlCol="0" anchor="ctr"/>
            <a:lstStyle/>
            <a:p>
              <a:pPr algn="ctr">
                <a:lnSpc>
                  <a:spcPts val="2940"/>
                </a:lnSpc>
              </a:pPr>
              <a:endParaRPr/>
            </a:p>
          </p:txBody>
        </p:sp>
      </p:grpSp>
      <p:sp>
        <p:nvSpPr>
          <p:cNvPr id="9" name="Freeform 9"/>
          <p:cNvSpPr/>
          <p:nvPr/>
        </p:nvSpPr>
        <p:spPr>
          <a:xfrm>
            <a:off x="1028700" y="251389"/>
            <a:ext cx="551704" cy="584433"/>
          </a:xfrm>
          <a:custGeom>
            <a:avLst/>
            <a:gdLst/>
            <a:ahLst/>
            <a:cxnLst/>
            <a:rect l="l" t="t" r="r" b="b"/>
            <a:pathLst>
              <a:path w="551704" h="584433">
                <a:moveTo>
                  <a:pt x="0" y="0"/>
                </a:moveTo>
                <a:lnTo>
                  <a:pt x="551704" y="0"/>
                </a:lnTo>
                <a:lnTo>
                  <a:pt x="551704" y="584432"/>
                </a:lnTo>
                <a:lnTo>
                  <a:pt x="0" y="584432"/>
                </a:lnTo>
                <a:lnTo>
                  <a:pt x="0" y="0"/>
                </a:lnTo>
                <a:close/>
              </a:path>
            </a:pathLst>
          </a:custGeom>
          <a:blipFill>
            <a:blip r:embed="rId3"/>
            <a:stretch>
              <a:fillRect/>
            </a:stretch>
          </a:blipFill>
        </p:spPr>
        <p:txBody>
          <a:bodyPr/>
          <a:lstStyle/>
          <a:p>
            <a:endParaRPr lang="en-VN"/>
          </a:p>
        </p:txBody>
      </p:sp>
      <p:sp>
        <p:nvSpPr>
          <p:cNvPr id="10" name="TextBox 10"/>
          <p:cNvSpPr txBox="1"/>
          <p:nvPr/>
        </p:nvSpPr>
        <p:spPr>
          <a:xfrm>
            <a:off x="1028700" y="1095375"/>
            <a:ext cx="11197543" cy="534618"/>
          </a:xfrm>
          <a:prstGeom prst="rect">
            <a:avLst/>
          </a:prstGeom>
        </p:spPr>
        <p:txBody>
          <a:bodyPr lIns="0" tIns="0" rIns="0" bIns="0" rtlCol="0" anchor="t">
            <a:spAutoFit/>
          </a:bodyPr>
          <a:lstStyle/>
          <a:p>
            <a:pPr algn="just">
              <a:lnSpc>
                <a:spcPts val="4039"/>
              </a:lnSpc>
            </a:pPr>
            <a:r>
              <a:rPr lang="en-US" sz="3999" b="1">
                <a:solidFill>
                  <a:srgbClr val="0C1D4B"/>
                </a:solidFill>
                <a:latin typeface="Roboto Slab Bold"/>
                <a:ea typeface="Roboto Slab Bold"/>
                <a:cs typeface="Roboto Slab Bold"/>
                <a:sym typeface="Roboto Slab Bold"/>
              </a:rPr>
              <a:t>4.2. Thực nghiệm</a:t>
            </a:r>
          </a:p>
        </p:txBody>
      </p:sp>
      <p:sp>
        <p:nvSpPr>
          <p:cNvPr id="11" name="TextBox 11"/>
          <p:cNvSpPr txBox="1"/>
          <p:nvPr/>
        </p:nvSpPr>
        <p:spPr>
          <a:xfrm>
            <a:off x="1687249" y="346410"/>
            <a:ext cx="3954904" cy="356289"/>
          </a:xfrm>
          <a:prstGeom prst="rect">
            <a:avLst/>
          </a:prstGeom>
        </p:spPr>
        <p:txBody>
          <a:bodyPr lIns="0" tIns="0" rIns="0" bIns="0" rtlCol="0" anchor="t">
            <a:spAutoFit/>
          </a:bodyPr>
          <a:lstStyle/>
          <a:p>
            <a:pPr algn="l">
              <a:lnSpc>
                <a:spcPts val="2940"/>
              </a:lnSpc>
            </a:pPr>
            <a:r>
              <a:rPr lang="en-US" sz="2100" b="1">
                <a:solidFill>
                  <a:srgbClr val="2C2C2C"/>
                </a:solidFill>
                <a:latin typeface="Roboto Slab Bold"/>
                <a:ea typeface="Roboto Slab Bold"/>
                <a:cs typeface="Roboto Slab Bold"/>
                <a:sym typeface="Roboto Slab Bold"/>
              </a:rPr>
              <a:t>HỌC VIỆN KỸ THUẬT MẬT MÃ</a:t>
            </a:r>
          </a:p>
        </p:txBody>
      </p:sp>
      <p:sp>
        <p:nvSpPr>
          <p:cNvPr id="12" name="TextBox 12"/>
          <p:cNvSpPr txBox="1"/>
          <p:nvPr/>
        </p:nvSpPr>
        <p:spPr>
          <a:xfrm>
            <a:off x="1028700" y="1725243"/>
            <a:ext cx="12467061" cy="685800"/>
          </a:xfrm>
          <a:prstGeom prst="rect">
            <a:avLst/>
          </a:prstGeom>
        </p:spPr>
        <p:txBody>
          <a:bodyPr lIns="0" tIns="0" rIns="0" bIns="0" rtlCol="0" anchor="t">
            <a:spAutoFit/>
          </a:bodyPr>
          <a:lstStyle/>
          <a:p>
            <a:pPr algn="l">
              <a:lnSpc>
                <a:spcPts val="6000"/>
              </a:lnSpc>
            </a:pPr>
            <a:r>
              <a:rPr lang="en-US" sz="3000" b="1" dirty="0" err="1">
                <a:solidFill>
                  <a:srgbClr val="0C1D4B"/>
                </a:solidFill>
                <a:latin typeface="Roboto Slab Bold"/>
                <a:ea typeface="Roboto Slab Bold"/>
                <a:cs typeface="Roboto Slab Bold"/>
                <a:sym typeface="Roboto Slab Bold"/>
              </a:rPr>
              <a:t>Bộ</a:t>
            </a:r>
            <a:r>
              <a:rPr lang="en-US" sz="3000" b="1" dirty="0">
                <a:solidFill>
                  <a:srgbClr val="0C1D4B"/>
                </a:solidFill>
                <a:latin typeface="Roboto Slab Bold"/>
                <a:ea typeface="Roboto Slab Bold"/>
                <a:cs typeface="Roboto Slab Bold"/>
                <a:sym typeface="Roboto Slab Bold"/>
              </a:rPr>
              <a:t> </a:t>
            </a:r>
            <a:r>
              <a:rPr lang="en-US" sz="3000" b="1" dirty="0" err="1">
                <a:solidFill>
                  <a:srgbClr val="0C1D4B"/>
                </a:solidFill>
                <a:latin typeface="Roboto Slab Bold"/>
                <a:ea typeface="Roboto Slab Bold"/>
                <a:cs typeface="Roboto Slab Bold"/>
                <a:sym typeface="Roboto Slab Bold"/>
              </a:rPr>
              <a:t>kiểm</a:t>
            </a:r>
            <a:r>
              <a:rPr lang="en-US" sz="3000" b="1" dirty="0">
                <a:solidFill>
                  <a:srgbClr val="0C1D4B"/>
                </a:solidFill>
                <a:latin typeface="Roboto Slab Bold"/>
                <a:ea typeface="Roboto Slab Bold"/>
                <a:cs typeface="Roboto Slab Bold"/>
                <a:sym typeface="Roboto Slab Bold"/>
              </a:rPr>
              <a:t> </a:t>
            </a:r>
            <a:r>
              <a:rPr lang="en-US" sz="3000" b="1" dirty="0" err="1">
                <a:solidFill>
                  <a:srgbClr val="0C1D4B"/>
                </a:solidFill>
                <a:latin typeface="Roboto Slab Bold"/>
                <a:ea typeface="Roboto Slab Bold"/>
                <a:cs typeface="Roboto Slab Bold"/>
                <a:sym typeface="Roboto Slab Bold"/>
              </a:rPr>
              <a:t>thử</a:t>
            </a:r>
            <a:r>
              <a:rPr lang="en-US" sz="3000" b="1" dirty="0">
                <a:solidFill>
                  <a:srgbClr val="0C1D4B"/>
                </a:solidFill>
                <a:latin typeface="Roboto Slab Bold"/>
                <a:ea typeface="Roboto Slab Bold"/>
                <a:cs typeface="Roboto Slab Bold"/>
                <a:sym typeface="Roboto Slab Bold"/>
              </a:rPr>
              <a:t> </a:t>
            </a:r>
            <a:r>
              <a:rPr lang="en-US" sz="3000" b="1" dirty="0" err="1">
                <a:solidFill>
                  <a:srgbClr val="0C1D4B"/>
                </a:solidFill>
                <a:latin typeface="Roboto Slab Bold"/>
                <a:ea typeface="Roboto Slab Bold"/>
                <a:cs typeface="Roboto Slab Bold"/>
                <a:sym typeface="Roboto Slab Bold"/>
              </a:rPr>
              <a:t>gồm</a:t>
            </a:r>
            <a:r>
              <a:rPr lang="en-US" sz="3000" b="1" dirty="0">
                <a:solidFill>
                  <a:srgbClr val="0C1D4B"/>
                </a:solidFill>
                <a:latin typeface="Roboto Slab Bold"/>
                <a:ea typeface="Roboto Slab Bold"/>
                <a:cs typeface="Roboto Slab Bold"/>
                <a:sym typeface="Roboto Slab Bold"/>
              </a:rPr>
              <a:t> 60 </a:t>
            </a:r>
            <a:r>
              <a:rPr lang="en-US" sz="3000" b="1" dirty="0" err="1">
                <a:solidFill>
                  <a:srgbClr val="0C1D4B"/>
                </a:solidFill>
                <a:latin typeface="Roboto Slab Bold"/>
                <a:ea typeface="Roboto Slab Bold"/>
                <a:cs typeface="Roboto Slab Bold"/>
                <a:sym typeface="Roboto Slab Bold"/>
              </a:rPr>
              <a:t>câu</a:t>
            </a:r>
            <a:r>
              <a:rPr lang="en-US" sz="3000" b="1" dirty="0">
                <a:solidFill>
                  <a:srgbClr val="0C1D4B"/>
                </a:solidFill>
                <a:latin typeface="Roboto Slab Bold"/>
                <a:ea typeface="Roboto Slab Bold"/>
                <a:cs typeface="Roboto Slab Bold"/>
                <a:sym typeface="Roboto Slab Bold"/>
              </a:rPr>
              <a:t> </a:t>
            </a:r>
            <a:r>
              <a:rPr lang="en-US" sz="3000" b="1" dirty="0" err="1">
                <a:solidFill>
                  <a:srgbClr val="0C1D4B"/>
                </a:solidFill>
                <a:latin typeface="Roboto Slab Bold"/>
                <a:ea typeface="Roboto Slab Bold"/>
                <a:cs typeface="Roboto Slab Bold"/>
                <a:sym typeface="Roboto Slab Bold"/>
              </a:rPr>
              <a:t>hỏi</a:t>
            </a:r>
            <a:r>
              <a:rPr lang="en-US" sz="3000" b="1" dirty="0">
                <a:solidFill>
                  <a:srgbClr val="0C1D4B"/>
                </a:solidFill>
                <a:latin typeface="Roboto Slab Bold"/>
                <a:ea typeface="Roboto Slab Bold"/>
                <a:cs typeface="Roboto Slab Bold"/>
                <a:sym typeface="Roboto Slab Bold"/>
              </a:rPr>
              <a:t> </a:t>
            </a:r>
            <a:r>
              <a:rPr lang="en-US" sz="3000" b="1" dirty="0" err="1">
                <a:solidFill>
                  <a:srgbClr val="0C1D4B"/>
                </a:solidFill>
                <a:latin typeface="Roboto Slab Bold"/>
                <a:ea typeface="Roboto Slab Bold"/>
                <a:cs typeface="Roboto Slab Bold"/>
                <a:sym typeface="Roboto Slab Bold"/>
              </a:rPr>
              <a:t>pháp</a:t>
            </a:r>
            <a:r>
              <a:rPr lang="en-US" sz="3000" b="1" dirty="0">
                <a:solidFill>
                  <a:srgbClr val="0C1D4B"/>
                </a:solidFill>
                <a:latin typeface="Roboto Slab Bold"/>
                <a:ea typeface="Roboto Slab Bold"/>
                <a:cs typeface="Roboto Slab Bold"/>
                <a:sym typeface="Roboto Slab Bold"/>
              </a:rPr>
              <a:t> </a:t>
            </a:r>
            <a:r>
              <a:rPr lang="en-US" sz="3000" b="1" dirty="0" err="1">
                <a:solidFill>
                  <a:srgbClr val="0C1D4B"/>
                </a:solidFill>
                <a:latin typeface="Roboto Slab Bold"/>
                <a:ea typeface="Roboto Slab Bold"/>
                <a:cs typeface="Roboto Slab Bold"/>
                <a:sym typeface="Roboto Slab Bold"/>
              </a:rPr>
              <a:t>luật</a:t>
            </a:r>
            <a:r>
              <a:rPr lang="en-US" sz="3000" b="1" dirty="0">
                <a:solidFill>
                  <a:srgbClr val="0C1D4B"/>
                </a:solidFill>
                <a:latin typeface="Roboto Slab Bold"/>
                <a:ea typeface="Roboto Slab Bold"/>
                <a:cs typeface="Roboto Slab Bold"/>
                <a:sym typeface="Roboto Slab Bold"/>
              </a:rPr>
              <a:t>, chia </a:t>
            </a:r>
            <a:r>
              <a:rPr lang="en-US" sz="3000" b="1" dirty="0" err="1">
                <a:solidFill>
                  <a:srgbClr val="0C1D4B"/>
                </a:solidFill>
                <a:latin typeface="Roboto Slab Bold"/>
                <a:ea typeface="Roboto Slab Bold"/>
                <a:cs typeface="Roboto Slab Bold"/>
                <a:sym typeface="Roboto Slab Bold"/>
              </a:rPr>
              <a:t>thành</a:t>
            </a:r>
            <a:r>
              <a:rPr lang="en-US" sz="3000" b="1" dirty="0">
                <a:solidFill>
                  <a:srgbClr val="0C1D4B"/>
                </a:solidFill>
                <a:latin typeface="Roboto Slab Bold"/>
                <a:ea typeface="Roboto Slab Bold"/>
                <a:cs typeface="Roboto Slab Bold"/>
                <a:sym typeface="Roboto Slab Bold"/>
              </a:rPr>
              <a:t> </a:t>
            </a:r>
            <a:r>
              <a:rPr lang="en-US" sz="3000" b="1" dirty="0" err="1">
                <a:solidFill>
                  <a:srgbClr val="0C1D4B"/>
                </a:solidFill>
                <a:latin typeface="Roboto Slab Bold"/>
                <a:ea typeface="Roboto Slab Bold"/>
                <a:cs typeface="Roboto Slab Bold"/>
                <a:sym typeface="Roboto Slab Bold"/>
              </a:rPr>
              <a:t>hai</a:t>
            </a:r>
            <a:r>
              <a:rPr lang="en-US" sz="3000" b="1" dirty="0">
                <a:solidFill>
                  <a:srgbClr val="0C1D4B"/>
                </a:solidFill>
                <a:latin typeface="Roboto Slab Bold"/>
                <a:ea typeface="Roboto Slab Bold"/>
                <a:cs typeface="Roboto Slab Bold"/>
                <a:sym typeface="Roboto Slab Bold"/>
              </a:rPr>
              <a:t> </a:t>
            </a:r>
            <a:r>
              <a:rPr lang="en-US" sz="3000" b="1" dirty="0" err="1">
                <a:solidFill>
                  <a:srgbClr val="0C1D4B"/>
                </a:solidFill>
                <a:latin typeface="Roboto Slab Bold"/>
                <a:ea typeface="Roboto Slab Bold"/>
                <a:cs typeface="Roboto Slab Bold"/>
                <a:sym typeface="Roboto Slab Bold"/>
              </a:rPr>
              <a:t>nhóm</a:t>
            </a:r>
            <a:r>
              <a:rPr lang="en-US" sz="3000" b="1" dirty="0">
                <a:solidFill>
                  <a:srgbClr val="0C1D4B"/>
                </a:solidFill>
                <a:latin typeface="Roboto Slab Bold"/>
                <a:ea typeface="Roboto Slab Bold"/>
                <a:cs typeface="Roboto Slab Bold"/>
                <a:sym typeface="Roboto Slab Bold"/>
              </a:rPr>
              <a:t> </a:t>
            </a:r>
            <a:r>
              <a:rPr lang="en-US" sz="3000" b="1" dirty="0" err="1">
                <a:solidFill>
                  <a:srgbClr val="0C1D4B"/>
                </a:solidFill>
                <a:latin typeface="Roboto Slab Bold"/>
                <a:ea typeface="Roboto Slab Bold"/>
                <a:cs typeface="Roboto Slab Bold"/>
                <a:sym typeface="Roboto Slab Bold"/>
              </a:rPr>
              <a:t>chính</a:t>
            </a:r>
            <a:r>
              <a:rPr lang="en-US" sz="3000" b="1" dirty="0">
                <a:solidFill>
                  <a:srgbClr val="0C1D4B"/>
                </a:solidFill>
                <a:latin typeface="Roboto Slab Bold"/>
                <a:ea typeface="Roboto Slab Bold"/>
                <a:cs typeface="Roboto Slab Bold"/>
                <a:sym typeface="Roboto Slab Bold"/>
              </a:rPr>
              <a:t>:</a:t>
            </a:r>
          </a:p>
        </p:txBody>
      </p:sp>
      <p:sp>
        <p:nvSpPr>
          <p:cNvPr id="13" name="TextBox 13"/>
          <p:cNvSpPr txBox="1"/>
          <p:nvPr/>
        </p:nvSpPr>
        <p:spPr>
          <a:xfrm>
            <a:off x="1028700" y="2496768"/>
            <a:ext cx="12467061" cy="2252540"/>
          </a:xfrm>
          <a:prstGeom prst="rect">
            <a:avLst/>
          </a:prstGeom>
        </p:spPr>
        <p:txBody>
          <a:bodyPr lIns="0" tIns="0" rIns="0" bIns="0" rtlCol="0" anchor="t">
            <a:spAutoFit/>
          </a:bodyPr>
          <a:lstStyle/>
          <a:p>
            <a:pPr marL="604519" lvl="1" indent="-302260" algn="l">
              <a:lnSpc>
                <a:spcPts val="4479"/>
              </a:lnSpc>
              <a:buFont typeface="Arial"/>
              <a:buChar char="•"/>
            </a:pPr>
            <a:r>
              <a:rPr lang="en-US" sz="2799" dirty="0" err="1">
                <a:solidFill>
                  <a:srgbClr val="0C1D4B"/>
                </a:solidFill>
                <a:latin typeface="Roboto Slab"/>
                <a:ea typeface="Roboto Slab"/>
                <a:cs typeface="Roboto Slab"/>
                <a:sym typeface="Roboto Slab"/>
              </a:rPr>
              <a:t>Nhóm</a:t>
            </a:r>
            <a:r>
              <a:rPr lang="en-US" sz="2799" dirty="0">
                <a:solidFill>
                  <a:srgbClr val="0C1D4B"/>
                </a:solidFill>
                <a:latin typeface="Roboto Slab"/>
                <a:ea typeface="Roboto Slab"/>
                <a:cs typeface="Roboto Slab"/>
                <a:sym typeface="Roboto Slab"/>
              </a:rPr>
              <a:t> N1 - Factual Questions: 30 </a:t>
            </a:r>
            <a:r>
              <a:rPr lang="en-US" sz="2799" dirty="0" err="1">
                <a:solidFill>
                  <a:srgbClr val="0C1D4B"/>
                </a:solidFill>
                <a:latin typeface="Roboto Slab"/>
                <a:ea typeface="Roboto Slab"/>
                <a:cs typeface="Roboto Slab"/>
                <a:sym typeface="Roboto Slab"/>
              </a:rPr>
              <a:t>câu</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hỏi</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có</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đáp</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án</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xác</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định</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dùng</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để</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đánh</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giá</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độ</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chính</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xác</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thông</a:t>
            </a:r>
            <a:r>
              <a:rPr lang="en-US" sz="2799" dirty="0">
                <a:solidFill>
                  <a:srgbClr val="0C1D4B"/>
                </a:solidFill>
                <a:latin typeface="Roboto Slab"/>
                <a:ea typeface="Roboto Slab"/>
                <a:cs typeface="Roboto Slab"/>
                <a:sym typeface="Roboto Slab"/>
              </a:rPr>
              <a:t> tin, </a:t>
            </a:r>
            <a:r>
              <a:rPr lang="en-US" sz="2799" dirty="0" err="1">
                <a:solidFill>
                  <a:srgbClr val="0C1D4B"/>
                </a:solidFill>
                <a:latin typeface="Roboto Slab"/>
                <a:ea typeface="Roboto Slab"/>
                <a:cs typeface="Roboto Slab"/>
                <a:sym typeface="Roboto Slab"/>
              </a:rPr>
              <a:t>điều</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khoản</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và</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nguồn</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trích</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dẫn</a:t>
            </a:r>
            <a:r>
              <a:rPr lang="en-US" sz="2799" dirty="0">
                <a:solidFill>
                  <a:srgbClr val="0C1D4B"/>
                </a:solidFill>
                <a:latin typeface="Roboto Slab"/>
                <a:ea typeface="Roboto Slab"/>
                <a:cs typeface="Roboto Slab"/>
                <a:sym typeface="Roboto Slab"/>
              </a:rPr>
              <a:t>.</a:t>
            </a:r>
          </a:p>
          <a:p>
            <a:pPr marL="604519" lvl="1" indent="-302260" algn="l">
              <a:lnSpc>
                <a:spcPts val="4479"/>
              </a:lnSpc>
              <a:buFont typeface="Arial"/>
              <a:buChar char="•"/>
            </a:pPr>
            <a:r>
              <a:rPr lang="en-US" sz="2799" dirty="0" err="1">
                <a:solidFill>
                  <a:srgbClr val="0C1D4B"/>
                </a:solidFill>
                <a:latin typeface="Roboto Slab"/>
                <a:ea typeface="Roboto Slab"/>
                <a:cs typeface="Roboto Slab"/>
                <a:sym typeface="Roboto Slab"/>
              </a:rPr>
              <a:t>Nhóm</a:t>
            </a:r>
            <a:r>
              <a:rPr lang="en-US" sz="2799" dirty="0">
                <a:solidFill>
                  <a:srgbClr val="0C1D4B"/>
                </a:solidFill>
                <a:latin typeface="Roboto Slab"/>
                <a:ea typeface="Roboto Slab"/>
                <a:cs typeface="Roboto Slab"/>
                <a:sym typeface="Roboto Slab"/>
              </a:rPr>
              <a:t> N2 - Open Questions: 30 </a:t>
            </a:r>
            <a:r>
              <a:rPr lang="en-US" sz="2799" dirty="0" err="1">
                <a:solidFill>
                  <a:srgbClr val="0C1D4B"/>
                </a:solidFill>
                <a:latin typeface="Roboto Slab"/>
                <a:ea typeface="Roboto Slab"/>
                <a:cs typeface="Roboto Slab"/>
                <a:sym typeface="Roboto Slab"/>
              </a:rPr>
              <a:t>câu</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hỏi</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tình</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huống</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mở</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dùng</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để</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đánh</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giá</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chất</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lượng</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câu</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trả</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lời</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khả</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năng</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phân</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tích</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và</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tổng</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hợp</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tư</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vấn</a:t>
            </a:r>
            <a:r>
              <a:rPr lang="en-US" sz="2799" dirty="0">
                <a:solidFill>
                  <a:srgbClr val="0C1D4B"/>
                </a:solidFill>
                <a:latin typeface="Roboto Slab"/>
                <a:ea typeface="Roboto Slab"/>
                <a:cs typeface="Roboto Slab"/>
                <a:sym typeface="Roboto Slab"/>
              </a:rPr>
              <a:t>.</a:t>
            </a:r>
          </a:p>
        </p:txBody>
      </p:sp>
      <p:sp>
        <p:nvSpPr>
          <p:cNvPr id="14" name="TextBox 14"/>
          <p:cNvSpPr txBox="1"/>
          <p:nvPr/>
        </p:nvSpPr>
        <p:spPr>
          <a:xfrm>
            <a:off x="1028700" y="4802669"/>
            <a:ext cx="10081822" cy="685800"/>
          </a:xfrm>
          <a:prstGeom prst="rect">
            <a:avLst/>
          </a:prstGeom>
        </p:spPr>
        <p:txBody>
          <a:bodyPr lIns="0" tIns="0" rIns="0" bIns="0" rtlCol="0" anchor="t">
            <a:spAutoFit/>
          </a:bodyPr>
          <a:lstStyle/>
          <a:p>
            <a:pPr algn="just">
              <a:lnSpc>
                <a:spcPts val="6000"/>
              </a:lnSpc>
            </a:pPr>
            <a:r>
              <a:rPr lang="en-US" sz="3000" b="1">
                <a:solidFill>
                  <a:srgbClr val="0C1D4B"/>
                </a:solidFill>
                <a:latin typeface="Roboto Slab Bold"/>
                <a:ea typeface="Roboto Slab Bold"/>
                <a:cs typeface="Roboto Slab Bold"/>
                <a:sym typeface="Roboto Slab Bold"/>
              </a:rPr>
              <a:t>Phương pháp đánh giá</a:t>
            </a:r>
          </a:p>
        </p:txBody>
      </p:sp>
      <p:sp>
        <p:nvSpPr>
          <p:cNvPr id="15" name="TextBox 15"/>
          <p:cNvSpPr txBox="1"/>
          <p:nvPr/>
        </p:nvSpPr>
        <p:spPr>
          <a:xfrm>
            <a:off x="1028700" y="5707544"/>
            <a:ext cx="15755813" cy="3406702"/>
          </a:xfrm>
          <a:prstGeom prst="rect">
            <a:avLst/>
          </a:prstGeom>
        </p:spPr>
        <p:txBody>
          <a:bodyPr lIns="0" tIns="0" rIns="0" bIns="0" rtlCol="0" anchor="t">
            <a:spAutoFit/>
          </a:bodyPr>
          <a:lstStyle/>
          <a:p>
            <a:pPr algn="l">
              <a:lnSpc>
                <a:spcPts val="4479"/>
              </a:lnSpc>
            </a:pPr>
            <a:r>
              <a:rPr lang="en-US" sz="2799" dirty="0" err="1">
                <a:solidFill>
                  <a:srgbClr val="0C1D4B"/>
                </a:solidFill>
                <a:latin typeface="Roboto Slab"/>
                <a:ea typeface="Roboto Slab"/>
                <a:cs typeface="Roboto Slab"/>
                <a:sym typeface="Roboto Slab"/>
              </a:rPr>
              <a:t>Thực</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nghiệm</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đo</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đạc</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các</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chỉ</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số</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phản</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ánh</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độ</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chính</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xác</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chất</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lượng</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câu</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trả</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lời</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và</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hiệu</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năng</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phản</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hồi</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của</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hệ</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thống</a:t>
            </a:r>
            <a:r>
              <a:rPr lang="en-US" sz="2799" dirty="0">
                <a:solidFill>
                  <a:srgbClr val="0C1D4B"/>
                </a:solidFill>
                <a:latin typeface="Roboto Slab"/>
                <a:ea typeface="Roboto Slab"/>
                <a:cs typeface="Roboto Slab"/>
                <a:sym typeface="Roboto Slab"/>
              </a:rPr>
              <a:t>:</a:t>
            </a:r>
          </a:p>
          <a:p>
            <a:pPr marL="604519" lvl="1" indent="-302260" algn="l">
              <a:lnSpc>
                <a:spcPts val="4479"/>
              </a:lnSpc>
              <a:buFont typeface="Arial"/>
              <a:buChar char="•"/>
            </a:pPr>
            <a:r>
              <a:rPr lang="en-US" sz="2799" dirty="0">
                <a:solidFill>
                  <a:srgbClr val="0C1D4B"/>
                </a:solidFill>
                <a:latin typeface="Roboto Slab"/>
                <a:ea typeface="Roboto Slab"/>
                <a:cs typeface="Roboto Slab"/>
                <a:sym typeface="Roboto Slab"/>
              </a:rPr>
              <a:t>Accuracy@1</a:t>
            </a:r>
          </a:p>
          <a:p>
            <a:pPr marL="604519" lvl="1" indent="-302260" algn="l">
              <a:lnSpc>
                <a:spcPts val="4479"/>
              </a:lnSpc>
              <a:buFont typeface="Arial"/>
              <a:buChar char="•"/>
            </a:pPr>
            <a:r>
              <a:rPr lang="en-US" sz="2799" dirty="0">
                <a:solidFill>
                  <a:srgbClr val="0C1D4B"/>
                </a:solidFill>
                <a:latin typeface="Roboto Slab"/>
                <a:ea typeface="Roboto Slab"/>
                <a:cs typeface="Roboto Slab"/>
                <a:sym typeface="Roboto Slab"/>
              </a:rPr>
              <a:t>Citation Accuracy</a:t>
            </a:r>
          </a:p>
          <a:p>
            <a:pPr marL="604519" lvl="1" indent="-302260" algn="l">
              <a:lnSpc>
                <a:spcPts val="4479"/>
              </a:lnSpc>
              <a:buFont typeface="Arial"/>
              <a:buChar char="•"/>
            </a:pPr>
            <a:r>
              <a:rPr lang="en-US" sz="2799" dirty="0">
                <a:solidFill>
                  <a:srgbClr val="0C1D4B"/>
                </a:solidFill>
                <a:latin typeface="Roboto Slab"/>
                <a:ea typeface="Roboto Slab"/>
                <a:cs typeface="Roboto Slab"/>
                <a:sym typeface="Roboto Slab"/>
              </a:rPr>
              <a:t>Answer Quality</a:t>
            </a:r>
          </a:p>
          <a:p>
            <a:pPr marL="604519" lvl="1" indent="-302260" algn="l">
              <a:lnSpc>
                <a:spcPts val="4479"/>
              </a:lnSpc>
              <a:buFont typeface="Arial"/>
              <a:buChar char="•"/>
            </a:pPr>
            <a:r>
              <a:rPr lang="en-US" sz="2799" dirty="0">
                <a:solidFill>
                  <a:srgbClr val="0C1D4B"/>
                </a:solidFill>
                <a:latin typeface="Roboto Slab"/>
                <a:ea typeface="Roboto Slab"/>
                <a:cs typeface="Roboto Slab"/>
                <a:sym typeface="Roboto Slab"/>
              </a:rPr>
              <a:t>Response Latency</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grpId="0" nodeType="withEffect">
                            <p:stCondLst>
                              <p:cond delay="180"/>
                            </p:stCondLst>
                            <p:childTnLst>
                              <p:set>
                                <p:cBhvr>
                                  <p:cTn id="5" dur="1" fill="hold">
                                    <p:stCondLst>
                                      <p:cond delay="0"/>
                                    </p:stCondLst>
                                  </p:cTn>
                                  <p:tgtEl>
                                    <p:spTgt spid="10"/>
                                  </p:tgtEl>
                                  <p:attrNameLst>
                                    <p:attrName>style.visibility</p:attrName>
                                  </p:attrNameLst>
                                </p:cBhvr>
                                <p:to>
                                  <p:strVal val="visible"/>
                                </p:to>
                              </p:set>
                              <p:animEffect transition="in" filter="wipe(left)">
                                <p:cBhvr>
                                  <p:cTn id="6" dur="860"/>
                                  <p:tgtEl>
                                    <p:spTgt spid="10"/>
                                  </p:tgtEl>
                                </p:cBhvr>
                              </p:animEffect>
                            </p:childTnLst>
                          </p:cTn>
                        </p:par>
                        <p:par>
                          <p:cTn id="7" presetID="10" presetClass="entr" presetSubtype="0" fill="hold" grpId="0" nodeType="withEffect">
                            <p:stCondLst>
                              <p:cond delay="350"/>
                            </p:stCondLst>
                            <p:childTnLst>
                              <p:set>
                                <p:cBhvr>
                                  <p:cTn id="8" dur="1" fill="hold">
                                    <p:stCondLst>
                                      <p:cond delay="0"/>
                                    </p:stCondLst>
                                  </p:cTn>
                                  <p:tgtEl>
                                    <p:spTgt spid="12"/>
                                  </p:tgtEl>
                                  <p:attrNameLst>
                                    <p:attrName>style.visibility</p:attrName>
                                  </p:attrNameLst>
                                </p:cBhvr>
                                <p:to>
                                  <p:strVal val="visible"/>
                                </p:to>
                              </p:set>
                              <p:animEffect transition="in" filter="wipe(left)">
                                <p:cBhvr>
                                  <p:cTn id="9" dur="860"/>
                                  <p:tgtEl>
                                    <p:spTgt spid="12"/>
                                  </p:tgtEl>
                                </p:cBhvr>
                              </p:animEffect>
                            </p:childTnLst>
                          </p:cTn>
                        </p:par>
                        <p:par>
                          <p:cTn id="10" presetID="10" presetClass="entr" presetSubtype="0" fill="hold" grpId="0" nodeType="withEffect">
                            <p:stCondLst>
                              <p:cond delay="520"/>
                            </p:stCondLst>
                            <p:childTnLst>
                              <p:set>
                                <p:cBhvr>
                                  <p:cTn id="11" dur="1" fill="hold">
                                    <p:stCondLst>
                                      <p:cond delay="0"/>
                                    </p:stCondLst>
                                  </p:cTn>
                                  <p:tgtEl>
                                    <p:spTgt spid="13"/>
                                  </p:tgtEl>
                                  <p:attrNameLst>
                                    <p:attrName>style.visibility</p:attrName>
                                  </p:attrNameLst>
                                </p:cBhvr>
                                <p:to>
                                  <p:strVal val="visible"/>
                                </p:to>
                              </p:set>
                              <p:animEffect transition="in" filter="wipe(left)">
                                <p:cBhvr>
                                  <p:cTn id="12" dur="860"/>
                                  <p:tgtEl>
                                    <p:spTgt spid="13"/>
                                  </p:tgtEl>
                                </p:cBhvr>
                              </p:animEffect>
                            </p:childTnLst>
                          </p:cTn>
                        </p:par>
                        <p:par>
                          <p:cTn id="13" presetID="10" presetClass="entr" presetSubtype="0" fill="hold" grpId="0" nodeType="withEffect">
                            <p:stCondLst>
                              <p:cond delay="690"/>
                            </p:stCondLst>
                            <p:childTnLst>
                              <p:set>
                                <p:cBhvr>
                                  <p:cTn id="14" dur="1" fill="hold">
                                    <p:stCondLst>
                                      <p:cond delay="0"/>
                                    </p:stCondLst>
                                  </p:cTn>
                                  <p:tgtEl>
                                    <p:spTgt spid="14"/>
                                  </p:tgtEl>
                                  <p:attrNameLst>
                                    <p:attrName>style.visibility</p:attrName>
                                  </p:attrNameLst>
                                </p:cBhvr>
                                <p:to>
                                  <p:strVal val="visible"/>
                                </p:to>
                              </p:set>
                              <p:animEffect transition="in" filter="wipe(left)">
                                <p:cBhvr>
                                  <p:cTn id="15" dur="860"/>
                                  <p:tgtEl>
                                    <p:spTgt spid="14"/>
                                  </p:tgtEl>
                                </p:cBhvr>
                              </p:animEffect>
                            </p:childTnLst>
                          </p:cTn>
                        </p:par>
                        <p:par>
                          <p:cTn id="16" presetID="10" presetClass="entr" presetSubtype="0" fill="hold" grpId="0" nodeType="withEffect">
                            <p:stCondLst>
                              <p:cond delay="860"/>
                            </p:stCondLst>
                            <p:childTnLst>
                              <p:set>
                                <p:cBhvr>
                                  <p:cTn id="17" dur="1" fill="hold">
                                    <p:stCondLst>
                                      <p:cond delay="0"/>
                                    </p:stCondLst>
                                  </p:cTn>
                                  <p:tgtEl>
                                    <p:spTgt spid="15"/>
                                  </p:tgtEl>
                                  <p:attrNameLst>
                                    <p:attrName>style.visibility</p:attrName>
                                  </p:attrNameLst>
                                </p:cBhvr>
                                <p:to>
                                  <p:strVal val="visible"/>
                                </p:to>
                              </p:set>
                              <p:animEffect transition="in" filter="wipe(left)">
                                <p:cBhvr>
                                  <p:cTn id="18" dur="860"/>
                                  <p:tgtEl>
                                    <p:spTgt spid="15"/>
                                  </p:tgtEl>
                                </p:cBhvr>
                              </p:animEffect>
                            </p:childTnLst>
                          </p:cTn>
                        </p:par>
                      </p:childTnLst>
                    </p:cTn>
                  </p:par>
                </p:childTnLst>
              </p:cTn>
            </p:seq>
          </p:childTnLst>
        </p:cTn>
      </p:par>
    </p:tnLst>
    <p:bldLst>
      <p:bldP spid="10" grpId="0"/>
      <p:bldP spid="12" grpId="0"/>
      <p:bldP spid="13" grpId="0"/>
      <p:bldP spid="14" grpId="0"/>
      <p:bldP spid="15"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10800000">
            <a:off x="17259300" y="-233820"/>
            <a:ext cx="1940843" cy="970417"/>
            <a:chOff x="0" y="0"/>
            <a:chExt cx="2587790" cy="1293889"/>
          </a:xfrm>
        </p:grpSpPr>
        <p:sp>
          <p:nvSpPr>
            <p:cNvPr id="3" name="Freeform 3"/>
            <p:cNvSpPr/>
            <p:nvPr/>
          </p:nvSpPr>
          <p:spPr>
            <a:xfrm>
              <a:off x="0" y="0"/>
              <a:ext cx="2587752" cy="1293876"/>
            </a:xfrm>
            <a:custGeom>
              <a:avLst/>
              <a:gdLst/>
              <a:ahLst/>
              <a:cxnLst/>
              <a:rect l="l" t="t" r="r" b="b"/>
              <a:pathLst>
                <a:path w="2587752" h="1293876">
                  <a:moveTo>
                    <a:pt x="0" y="0"/>
                  </a:moveTo>
                  <a:lnTo>
                    <a:pt x="2587752" y="0"/>
                  </a:lnTo>
                  <a:lnTo>
                    <a:pt x="2587752" y="1293876"/>
                  </a:lnTo>
                  <a:lnTo>
                    <a:pt x="0" y="1293876"/>
                  </a:lnTo>
                  <a:lnTo>
                    <a:pt x="0" y="0"/>
                  </a:lnTo>
                  <a:close/>
                </a:path>
              </a:pathLst>
            </a:custGeom>
            <a:blipFill>
              <a:blip r:embed="rId2"/>
              <a:stretch>
                <a:fillRect r="-1"/>
              </a:stretch>
            </a:blipFill>
          </p:spPr>
          <p:txBody>
            <a:bodyPr/>
            <a:lstStyle/>
            <a:p>
              <a:endParaRPr lang="en-VN"/>
            </a:p>
          </p:txBody>
        </p:sp>
      </p:grpSp>
      <p:grpSp>
        <p:nvGrpSpPr>
          <p:cNvPr id="4" name="Group 4"/>
          <p:cNvGrpSpPr/>
          <p:nvPr/>
        </p:nvGrpSpPr>
        <p:grpSpPr>
          <a:xfrm>
            <a:off x="-912143" y="9429369"/>
            <a:ext cx="1940843" cy="970417"/>
            <a:chOff x="0" y="0"/>
            <a:chExt cx="2587790" cy="1293889"/>
          </a:xfrm>
        </p:grpSpPr>
        <p:sp>
          <p:nvSpPr>
            <p:cNvPr id="5" name="Freeform 5"/>
            <p:cNvSpPr/>
            <p:nvPr/>
          </p:nvSpPr>
          <p:spPr>
            <a:xfrm>
              <a:off x="0" y="0"/>
              <a:ext cx="2587752" cy="1293876"/>
            </a:xfrm>
            <a:custGeom>
              <a:avLst/>
              <a:gdLst/>
              <a:ahLst/>
              <a:cxnLst/>
              <a:rect l="l" t="t" r="r" b="b"/>
              <a:pathLst>
                <a:path w="2587752" h="1293876">
                  <a:moveTo>
                    <a:pt x="0" y="0"/>
                  </a:moveTo>
                  <a:lnTo>
                    <a:pt x="2587752" y="0"/>
                  </a:lnTo>
                  <a:lnTo>
                    <a:pt x="2587752" y="1293876"/>
                  </a:lnTo>
                  <a:lnTo>
                    <a:pt x="0" y="1293876"/>
                  </a:lnTo>
                  <a:lnTo>
                    <a:pt x="0" y="0"/>
                  </a:lnTo>
                  <a:close/>
                </a:path>
              </a:pathLst>
            </a:custGeom>
            <a:blipFill>
              <a:blip r:embed="rId2"/>
              <a:stretch>
                <a:fillRect r="-1"/>
              </a:stretch>
            </a:blipFill>
          </p:spPr>
          <p:txBody>
            <a:bodyPr/>
            <a:lstStyle/>
            <a:p>
              <a:endParaRPr lang="en-VN"/>
            </a:p>
          </p:txBody>
        </p:sp>
      </p:grpSp>
      <p:grpSp>
        <p:nvGrpSpPr>
          <p:cNvPr id="6" name="Group 6"/>
          <p:cNvGrpSpPr/>
          <p:nvPr/>
        </p:nvGrpSpPr>
        <p:grpSpPr>
          <a:xfrm>
            <a:off x="-3127839" y="9986436"/>
            <a:ext cx="22035035" cy="2837612"/>
            <a:chOff x="0" y="0"/>
            <a:chExt cx="5803466" cy="747355"/>
          </a:xfrm>
        </p:grpSpPr>
        <p:sp>
          <p:nvSpPr>
            <p:cNvPr id="7" name="Freeform 7"/>
            <p:cNvSpPr/>
            <p:nvPr/>
          </p:nvSpPr>
          <p:spPr>
            <a:xfrm>
              <a:off x="0" y="0"/>
              <a:ext cx="5803466" cy="747355"/>
            </a:xfrm>
            <a:custGeom>
              <a:avLst/>
              <a:gdLst/>
              <a:ahLst/>
              <a:cxnLst/>
              <a:rect l="l" t="t" r="r" b="b"/>
              <a:pathLst>
                <a:path w="5803466" h="747355">
                  <a:moveTo>
                    <a:pt x="0" y="0"/>
                  </a:moveTo>
                  <a:lnTo>
                    <a:pt x="5803466" y="0"/>
                  </a:lnTo>
                  <a:lnTo>
                    <a:pt x="5803466" y="747355"/>
                  </a:lnTo>
                  <a:lnTo>
                    <a:pt x="0" y="747355"/>
                  </a:lnTo>
                  <a:close/>
                </a:path>
              </a:pathLst>
            </a:custGeom>
            <a:solidFill>
              <a:srgbClr val="3C4F75"/>
            </a:solidFill>
          </p:spPr>
          <p:txBody>
            <a:bodyPr/>
            <a:lstStyle/>
            <a:p>
              <a:endParaRPr lang="en-VN"/>
            </a:p>
          </p:txBody>
        </p:sp>
        <p:sp>
          <p:nvSpPr>
            <p:cNvPr id="8" name="TextBox 8"/>
            <p:cNvSpPr txBox="1"/>
            <p:nvPr/>
          </p:nvSpPr>
          <p:spPr>
            <a:xfrm>
              <a:off x="0" y="-47625"/>
              <a:ext cx="5803466" cy="794980"/>
            </a:xfrm>
            <a:prstGeom prst="rect">
              <a:avLst/>
            </a:prstGeom>
          </p:spPr>
          <p:txBody>
            <a:bodyPr lIns="50800" tIns="50800" rIns="50800" bIns="50800" rtlCol="0" anchor="ctr"/>
            <a:lstStyle/>
            <a:p>
              <a:pPr algn="ctr">
                <a:lnSpc>
                  <a:spcPts val="2940"/>
                </a:lnSpc>
              </a:pPr>
              <a:endParaRPr/>
            </a:p>
          </p:txBody>
        </p:sp>
      </p:grpSp>
      <p:sp>
        <p:nvSpPr>
          <p:cNvPr id="9" name="Freeform 9"/>
          <p:cNvSpPr/>
          <p:nvPr/>
        </p:nvSpPr>
        <p:spPr>
          <a:xfrm>
            <a:off x="1028700" y="251389"/>
            <a:ext cx="551704" cy="584433"/>
          </a:xfrm>
          <a:custGeom>
            <a:avLst/>
            <a:gdLst/>
            <a:ahLst/>
            <a:cxnLst/>
            <a:rect l="l" t="t" r="r" b="b"/>
            <a:pathLst>
              <a:path w="551704" h="584433">
                <a:moveTo>
                  <a:pt x="0" y="0"/>
                </a:moveTo>
                <a:lnTo>
                  <a:pt x="551704" y="0"/>
                </a:lnTo>
                <a:lnTo>
                  <a:pt x="551704" y="584432"/>
                </a:lnTo>
                <a:lnTo>
                  <a:pt x="0" y="584432"/>
                </a:lnTo>
                <a:lnTo>
                  <a:pt x="0" y="0"/>
                </a:lnTo>
                <a:close/>
              </a:path>
            </a:pathLst>
          </a:custGeom>
          <a:blipFill>
            <a:blip r:embed="rId3"/>
            <a:stretch>
              <a:fillRect/>
            </a:stretch>
          </a:blipFill>
        </p:spPr>
        <p:txBody>
          <a:bodyPr/>
          <a:lstStyle/>
          <a:p>
            <a:endParaRPr lang="en-VN"/>
          </a:p>
        </p:txBody>
      </p:sp>
      <p:sp>
        <p:nvSpPr>
          <p:cNvPr id="10" name="TextBox 10"/>
          <p:cNvSpPr txBox="1"/>
          <p:nvPr/>
        </p:nvSpPr>
        <p:spPr>
          <a:xfrm>
            <a:off x="1028700" y="1095375"/>
            <a:ext cx="11197543" cy="534618"/>
          </a:xfrm>
          <a:prstGeom prst="rect">
            <a:avLst/>
          </a:prstGeom>
        </p:spPr>
        <p:txBody>
          <a:bodyPr lIns="0" tIns="0" rIns="0" bIns="0" rtlCol="0" anchor="t">
            <a:spAutoFit/>
          </a:bodyPr>
          <a:lstStyle/>
          <a:p>
            <a:pPr algn="just">
              <a:lnSpc>
                <a:spcPts val="4039"/>
              </a:lnSpc>
            </a:pPr>
            <a:r>
              <a:rPr lang="en-US" sz="3999" b="1">
                <a:solidFill>
                  <a:srgbClr val="0C1D4B"/>
                </a:solidFill>
                <a:latin typeface="Roboto Slab Bold"/>
                <a:ea typeface="Roboto Slab Bold"/>
                <a:cs typeface="Roboto Slab Bold"/>
                <a:sym typeface="Roboto Slab Bold"/>
              </a:rPr>
              <a:t>4.2. Thực nghiệm</a:t>
            </a:r>
          </a:p>
        </p:txBody>
      </p:sp>
      <p:sp>
        <p:nvSpPr>
          <p:cNvPr id="11" name="TextBox 11"/>
          <p:cNvSpPr txBox="1"/>
          <p:nvPr/>
        </p:nvSpPr>
        <p:spPr>
          <a:xfrm>
            <a:off x="1687249" y="346410"/>
            <a:ext cx="3954904" cy="356289"/>
          </a:xfrm>
          <a:prstGeom prst="rect">
            <a:avLst/>
          </a:prstGeom>
        </p:spPr>
        <p:txBody>
          <a:bodyPr lIns="0" tIns="0" rIns="0" bIns="0" rtlCol="0" anchor="t">
            <a:spAutoFit/>
          </a:bodyPr>
          <a:lstStyle/>
          <a:p>
            <a:pPr algn="l">
              <a:lnSpc>
                <a:spcPts val="2940"/>
              </a:lnSpc>
            </a:pPr>
            <a:r>
              <a:rPr lang="en-US" sz="2100" b="1">
                <a:solidFill>
                  <a:srgbClr val="2C2C2C"/>
                </a:solidFill>
                <a:latin typeface="Roboto Slab Bold"/>
                <a:ea typeface="Roboto Slab Bold"/>
                <a:cs typeface="Roboto Slab Bold"/>
                <a:sym typeface="Roboto Slab Bold"/>
              </a:rPr>
              <a:t>HỌC VIỆN KỸ THUẬT MẬT MÃ</a:t>
            </a:r>
          </a:p>
        </p:txBody>
      </p:sp>
      <p:sp>
        <p:nvSpPr>
          <p:cNvPr id="12" name="TextBox 12"/>
          <p:cNvSpPr txBox="1"/>
          <p:nvPr/>
        </p:nvSpPr>
        <p:spPr>
          <a:xfrm>
            <a:off x="1028700" y="1849068"/>
            <a:ext cx="16192500" cy="1098378"/>
          </a:xfrm>
          <a:prstGeom prst="rect">
            <a:avLst/>
          </a:prstGeom>
        </p:spPr>
        <p:txBody>
          <a:bodyPr wrap="square" lIns="0" tIns="0" rIns="0" bIns="0" rtlCol="0" anchor="t">
            <a:spAutoFit/>
          </a:bodyPr>
          <a:lstStyle/>
          <a:p>
            <a:pPr algn="l">
              <a:lnSpc>
                <a:spcPts val="4479"/>
              </a:lnSpc>
            </a:pPr>
            <a:r>
              <a:rPr lang="en-US" sz="2799" b="1" dirty="0">
                <a:solidFill>
                  <a:srgbClr val="0C1D4B"/>
                </a:solidFill>
                <a:latin typeface="Roboto Slab Bold"/>
                <a:ea typeface="Roboto Slab Bold"/>
                <a:cs typeface="Roboto Slab Bold"/>
                <a:sym typeface="Roboto Slab Bold"/>
              </a:rPr>
              <a:t>Accuracy@1:</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tỷ</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lệ</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câu</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hỏi</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mà</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câu</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trả</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lời</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chứa</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đúng</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thông</a:t>
            </a:r>
            <a:r>
              <a:rPr lang="en-US" sz="2799" dirty="0">
                <a:solidFill>
                  <a:srgbClr val="0C1D4B"/>
                </a:solidFill>
                <a:latin typeface="Roboto Slab"/>
                <a:ea typeface="Roboto Slab"/>
                <a:cs typeface="Roboto Slab"/>
                <a:sym typeface="Roboto Slab"/>
              </a:rPr>
              <a:t> tin </a:t>
            </a:r>
            <a:r>
              <a:rPr lang="en-US" sz="2799" dirty="0" err="1">
                <a:solidFill>
                  <a:srgbClr val="0C1D4B"/>
                </a:solidFill>
                <a:latin typeface="Roboto Slab"/>
                <a:ea typeface="Roboto Slab"/>
                <a:cs typeface="Roboto Slab"/>
                <a:sym typeface="Roboto Slab"/>
              </a:rPr>
              <a:t>kỳ</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vọng</a:t>
            </a:r>
            <a:endParaRPr lang="en-US" sz="2799" dirty="0">
              <a:solidFill>
                <a:srgbClr val="0C1D4B"/>
              </a:solidFill>
              <a:latin typeface="Roboto Slab"/>
              <a:ea typeface="Roboto Slab"/>
              <a:cs typeface="Roboto Slab"/>
              <a:sym typeface="Roboto Slab"/>
            </a:endParaRPr>
          </a:p>
          <a:p>
            <a:pPr marL="604519" lvl="1" indent="-302260" algn="l">
              <a:lnSpc>
                <a:spcPts val="4479"/>
              </a:lnSpc>
              <a:buFont typeface="Arial"/>
              <a:buChar char="•"/>
            </a:pPr>
            <a:r>
              <a:rPr lang="en-US" sz="2799" dirty="0">
                <a:solidFill>
                  <a:srgbClr val="0C1D4B"/>
                </a:solidFill>
                <a:latin typeface="Roboto Slab"/>
                <a:ea typeface="Roboto Slab"/>
                <a:cs typeface="Roboto Slab"/>
                <a:sym typeface="Roboto Slab"/>
              </a:rPr>
              <a:t>Accuracy@1 = </a:t>
            </a:r>
            <a:r>
              <a:rPr lang="en-US" sz="2799" dirty="0" err="1">
                <a:solidFill>
                  <a:srgbClr val="0C1D4B"/>
                </a:solidFill>
                <a:latin typeface="Roboto Slab"/>
                <a:ea typeface="Roboto Slab"/>
                <a:cs typeface="Roboto Slab"/>
                <a:sym typeface="Roboto Slab"/>
              </a:rPr>
              <a:t>số</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câu</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trả</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lời</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đúng</a:t>
            </a:r>
            <a:r>
              <a:rPr lang="en-US" sz="2799" dirty="0">
                <a:solidFill>
                  <a:srgbClr val="0C1D4B"/>
                </a:solidFill>
                <a:latin typeface="Roboto Slab"/>
                <a:ea typeface="Roboto Slab"/>
                <a:cs typeface="Roboto Slab"/>
                <a:sym typeface="Roboto Slab"/>
              </a:rPr>
              <a:t> / </a:t>
            </a:r>
            <a:r>
              <a:rPr lang="en-US" sz="2799" dirty="0" err="1">
                <a:solidFill>
                  <a:srgbClr val="0C1D4B"/>
                </a:solidFill>
                <a:latin typeface="Roboto Slab"/>
                <a:ea typeface="Roboto Slab"/>
                <a:cs typeface="Roboto Slab"/>
                <a:sym typeface="Roboto Slab"/>
              </a:rPr>
              <a:t>tổng</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số</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câu</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thực</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tế</a:t>
            </a:r>
            <a:endParaRPr lang="en-US" sz="2799" dirty="0">
              <a:solidFill>
                <a:srgbClr val="0C1D4B"/>
              </a:solidFill>
              <a:latin typeface="Roboto Slab"/>
              <a:ea typeface="Roboto Slab"/>
              <a:cs typeface="Roboto Slab"/>
              <a:sym typeface="Roboto Slab"/>
            </a:endParaRPr>
          </a:p>
        </p:txBody>
      </p:sp>
      <p:sp>
        <p:nvSpPr>
          <p:cNvPr id="13" name="TextBox 13"/>
          <p:cNvSpPr txBox="1"/>
          <p:nvPr/>
        </p:nvSpPr>
        <p:spPr>
          <a:xfrm>
            <a:off x="1028700" y="3154736"/>
            <a:ext cx="14388818" cy="1086593"/>
          </a:xfrm>
          <a:prstGeom prst="rect">
            <a:avLst/>
          </a:prstGeom>
        </p:spPr>
        <p:txBody>
          <a:bodyPr lIns="0" tIns="0" rIns="0" bIns="0" rtlCol="0" anchor="t">
            <a:spAutoFit/>
          </a:bodyPr>
          <a:lstStyle/>
          <a:p>
            <a:pPr algn="l">
              <a:lnSpc>
                <a:spcPts val="4479"/>
              </a:lnSpc>
            </a:pPr>
            <a:r>
              <a:rPr lang="en-US" sz="2799" b="1" dirty="0">
                <a:solidFill>
                  <a:srgbClr val="0C1D4B"/>
                </a:solidFill>
                <a:latin typeface="Roboto Slab Bold"/>
                <a:ea typeface="Roboto Slab Bold"/>
                <a:cs typeface="Roboto Slab Bold"/>
                <a:sym typeface="Roboto Slab Bold"/>
              </a:rPr>
              <a:t>Citation Accuracy:</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tỷ</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lệ</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câu</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trả</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lời</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trích</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dẫn</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đúng</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văn</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bản</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pháp</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luật</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chứa</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đáp</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án</a:t>
            </a:r>
            <a:endParaRPr lang="en-US" sz="2799" dirty="0">
              <a:solidFill>
                <a:srgbClr val="0C1D4B"/>
              </a:solidFill>
              <a:latin typeface="Roboto Slab"/>
              <a:ea typeface="Roboto Slab"/>
              <a:cs typeface="Roboto Slab"/>
              <a:sym typeface="Roboto Slab"/>
            </a:endParaRPr>
          </a:p>
          <a:p>
            <a:pPr marL="604519" lvl="1" indent="-302260" algn="l">
              <a:lnSpc>
                <a:spcPts val="4479"/>
              </a:lnSpc>
              <a:buFont typeface="Arial"/>
              <a:buChar char="•"/>
            </a:pPr>
            <a:r>
              <a:rPr lang="en-US" sz="2799" dirty="0">
                <a:solidFill>
                  <a:srgbClr val="0C1D4B"/>
                </a:solidFill>
                <a:latin typeface="Roboto Slab"/>
                <a:ea typeface="Roboto Slab"/>
                <a:cs typeface="Roboto Slab"/>
                <a:sym typeface="Roboto Slab"/>
              </a:rPr>
              <a:t>Công </a:t>
            </a:r>
            <a:r>
              <a:rPr lang="en-US" sz="2799" dirty="0" err="1">
                <a:solidFill>
                  <a:srgbClr val="0C1D4B"/>
                </a:solidFill>
                <a:latin typeface="Roboto Slab"/>
                <a:ea typeface="Roboto Slab"/>
                <a:cs typeface="Roboto Slab"/>
                <a:sym typeface="Roboto Slab"/>
              </a:rPr>
              <a:t>thức</a:t>
            </a:r>
            <a:r>
              <a:rPr lang="en-US" sz="2799" dirty="0">
                <a:solidFill>
                  <a:srgbClr val="0C1D4B"/>
                </a:solidFill>
                <a:latin typeface="Roboto Slab"/>
                <a:ea typeface="Roboto Slab"/>
                <a:cs typeface="Roboto Slab"/>
                <a:sym typeface="Roboto Slab"/>
              </a:rPr>
              <a:t>: Citation Accuracy = </a:t>
            </a:r>
            <a:r>
              <a:rPr lang="en-US" sz="2799" dirty="0" err="1">
                <a:solidFill>
                  <a:srgbClr val="0C1D4B"/>
                </a:solidFill>
                <a:latin typeface="Roboto Slab"/>
                <a:ea typeface="Roboto Slab"/>
                <a:cs typeface="Roboto Slab"/>
                <a:sym typeface="Roboto Slab"/>
              </a:rPr>
              <a:t>số</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câu</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trích</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dẫn</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đúng</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nguồn</a:t>
            </a:r>
            <a:r>
              <a:rPr lang="en-US" sz="2799" dirty="0">
                <a:solidFill>
                  <a:srgbClr val="0C1D4B"/>
                </a:solidFill>
                <a:latin typeface="Roboto Slab"/>
                <a:ea typeface="Roboto Slab"/>
                <a:cs typeface="Roboto Slab"/>
                <a:sym typeface="Roboto Slab"/>
              </a:rPr>
              <a:t> / </a:t>
            </a:r>
            <a:r>
              <a:rPr lang="en-US" sz="2799" dirty="0" err="1">
                <a:solidFill>
                  <a:srgbClr val="0C1D4B"/>
                </a:solidFill>
                <a:latin typeface="Roboto Slab"/>
                <a:ea typeface="Roboto Slab"/>
                <a:cs typeface="Roboto Slab"/>
                <a:sym typeface="Roboto Slab"/>
              </a:rPr>
              <a:t>tổng</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số</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câu</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thực</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tế</a:t>
            </a:r>
            <a:endParaRPr lang="en-US" sz="2799" dirty="0">
              <a:solidFill>
                <a:srgbClr val="0C1D4B"/>
              </a:solidFill>
              <a:latin typeface="Roboto Slab"/>
              <a:ea typeface="Roboto Slab"/>
              <a:cs typeface="Roboto Slab"/>
              <a:sym typeface="Roboto Slab"/>
            </a:endParaRPr>
          </a:p>
        </p:txBody>
      </p:sp>
      <p:sp>
        <p:nvSpPr>
          <p:cNvPr id="14" name="TextBox 14"/>
          <p:cNvSpPr txBox="1"/>
          <p:nvPr/>
        </p:nvSpPr>
        <p:spPr>
          <a:xfrm>
            <a:off x="1028700" y="4460404"/>
            <a:ext cx="16230600" cy="1086593"/>
          </a:xfrm>
          <a:prstGeom prst="rect">
            <a:avLst/>
          </a:prstGeom>
        </p:spPr>
        <p:txBody>
          <a:bodyPr lIns="0" tIns="0" rIns="0" bIns="0" rtlCol="0" anchor="t">
            <a:spAutoFit/>
          </a:bodyPr>
          <a:lstStyle/>
          <a:p>
            <a:pPr algn="l">
              <a:lnSpc>
                <a:spcPts val="4479"/>
              </a:lnSpc>
            </a:pPr>
            <a:r>
              <a:rPr lang="en-US" sz="2799" b="1" dirty="0">
                <a:solidFill>
                  <a:srgbClr val="0C1D4B"/>
                </a:solidFill>
                <a:latin typeface="Roboto Slab Bold"/>
                <a:ea typeface="Roboto Slab Bold"/>
                <a:cs typeface="Roboto Slab Bold"/>
                <a:sym typeface="Roboto Slab Bold"/>
              </a:rPr>
              <a:t>Answer Quality:</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Đánh</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giá</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câu</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hỏi</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tình</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huống</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mở</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theo</a:t>
            </a:r>
            <a:r>
              <a:rPr lang="en-US" sz="2799" dirty="0">
                <a:solidFill>
                  <a:srgbClr val="0C1D4B"/>
                </a:solidFill>
                <a:latin typeface="Roboto Slab"/>
                <a:ea typeface="Roboto Slab"/>
                <a:cs typeface="Roboto Slab"/>
                <a:sym typeface="Roboto Slab"/>
              </a:rPr>
              <a:t> thang 1-5 </a:t>
            </a:r>
            <a:r>
              <a:rPr lang="en-US" sz="2799" dirty="0" err="1">
                <a:solidFill>
                  <a:srgbClr val="0C1D4B"/>
                </a:solidFill>
                <a:latin typeface="Roboto Slab"/>
                <a:ea typeface="Roboto Slab"/>
                <a:cs typeface="Roboto Slab"/>
                <a:sym typeface="Roboto Slab"/>
              </a:rPr>
              <a:t>dựa</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trên</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độ</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đúng</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pháp</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lý</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độ</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đầy</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đủ</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khả</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năng</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áp</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dụng</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vào</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tình</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huống</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và</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cách</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trình</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bày</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câu</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trả</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lời</a:t>
            </a:r>
            <a:endParaRPr lang="en-US" sz="2799" dirty="0">
              <a:solidFill>
                <a:srgbClr val="0C1D4B"/>
              </a:solidFill>
              <a:latin typeface="Roboto Slab"/>
              <a:ea typeface="Roboto Slab"/>
              <a:cs typeface="Roboto Slab"/>
              <a:sym typeface="Roboto Slab"/>
            </a:endParaRPr>
          </a:p>
        </p:txBody>
      </p:sp>
      <p:sp>
        <p:nvSpPr>
          <p:cNvPr id="15" name="TextBox 15"/>
          <p:cNvSpPr txBox="1"/>
          <p:nvPr/>
        </p:nvSpPr>
        <p:spPr>
          <a:xfrm>
            <a:off x="1028700" y="5766073"/>
            <a:ext cx="16230600" cy="1086593"/>
          </a:xfrm>
          <a:prstGeom prst="rect">
            <a:avLst/>
          </a:prstGeom>
        </p:spPr>
        <p:txBody>
          <a:bodyPr lIns="0" tIns="0" rIns="0" bIns="0" rtlCol="0" anchor="t">
            <a:spAutoFit/>
          </a:bodyPr>
          <a:lstStyle/>
          <a:p>
            <a:pPr algn="l">
              <a:lnSpc>
                <a:spcPts val="4479"/>
              </a:lnSpc>
            </a:pPr>
            <a:r>
              <a:rPr lang="en-US" sz="2799" b="1" dirty="0">
                <a:solidFill>
                  <a:srgbClr val="0C1D4B"/>
                </a:solidFill>
                <a:latin typeface="Roboto Slab Bold"/>
                <a:ea typeface="Roboto Slab Bold"/>
                <a:cs typeface="Roboto Slab Bold"/>
                <a:sym typeface="Roboto Slab Bold"/>
              </a:rPr>
              <a:t>Response Latency:</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Đo</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thời</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gian</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từ</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lúc</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gửi</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câu</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hỏi</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đến</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khi</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hệ</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thống</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hoàn</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tất</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phản</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hồi</a:t>
            </a:r>
            <a:endParaRPr lang="en-US" sz="2799" dirty="0">
              <a:solidFill>
                <a:srgbClr val="0C1D4B"/>
              </a:solidFill>
              <a:latin typeface="Roboto Slab"/>
              <a:ea typeface="Roboto Slab"/>
              <a:cs typeface="Roboto Slab"/>
              <a:sym typeface="Roboto Slab"/>
            </a:endParaRPr>
          </a:p>
          <a:p>
            <a:pPr algn="l">
              <a:lnSpc>
                <a:spcPts val="4479"/>
              </a:lnSpc>
            </a:pPr>
            <a:r>
              <a:rPr lang="en-US" sz="2799" dirty="0" err="1">
                <a:solidFill>
                  <a:srgbClr val="0C1D4B"/>
                </a:solidFill>
                <a:latin typeface="Roboto Slab"/>
                <a:ea typeface="Roboto Slab"/>
                <a:cs typeface="Roboto Slab"/>
                <a:sym typeface="Roboto Slab"/>
              </a:rPr>
              <a:t>Sử</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dụng</a:t>
            </a:r>
            <a:r>
              <a:rPr lang="en-US" sz="2799" dirty="0">
                <a:solidFill>
                  <a:srgbClr val="0C1D4B"/>
                </a:solidFill>
                <a:latin typeface="Roboto Slab"/>
                <a:ea typeface="Roboto Slab"/>
                <a:cs typeface="Roboto Slab"/>
                <a:sym typeface="Roboto Slab"/>
              </a:rPr>
              <a:t> P50 </a:t>
            </a:r>
            <a:r>
              <a:rPr lang="en-US" sz="2799" dirty="0" err="1">
                <a:solidFill>
                  <a:srgbClr val="0C1D4B"/>
                </a:solidFill>
                <a:latin typeface="Roboto Slab"/>
                <a:ea typeface="Roboto Slab"/>
                <a:cs typeface="Roboto Slab"/>
                <a:sym typeface="Roboto Slab"/>
              </a:rPr>
              <a:t>và</a:t>
            </a:r>
            <a:r>
              <a:rPr lang="en-US" sz="2799" dirty="0">
                <a:solidFill>
                  <a:srgbClr val="0C1D4B"/>
                </a:solidFill>
                <a:latin typeface="Roboto Slab"/>
                <a:ea typeface="Roboto Slab"/>
                <a:cs typeface="Roboto Slab"/>
                <a:sym typeface="Roboto Slab"/>
              </a:rPr>
              <a:t> P95 </a:t>
            </a:r>
            <a:r>
              <a:rPr lang="en-US" sz="2799" dirty="0" err="1">
                <a:solidFill>
                  <a:srgbClr val="0C1D4B"/>
                </a:solidFill>
                <a:latin typeface="Roboto Slab"/>
                <a:ea typeface="Roboto Slab"/>
                <a:cs typeface="Roboto Slab"/>
                <a:sym typeface="Roboto Slab"/>
              </a:rPr>
              <a:t>để</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đánh</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giá</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độ</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trễ</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trung</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vị</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và</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độ</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trễ</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ở</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nhóm</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câu</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hỏi</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chậm</a:t>
            </a:r>
            <a:endParaRPr lang="en-US" sz="2799" dirty="0">
              <a:solidFill>
                <a:srgbClr val="0C1D4B"/>
              </a:solidFill>
              <a:latin typeface="Roboto Slab"/>
              <a:ea typeface="Roboto Slab"/>
              <a:cs typeface="Roboto Slab"/>
              <a:sym typeface="Roboto Slab"/>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grpId="0" nodeType="withEffect">
                            <p:stCondLst>
                              <p:cond delay="180"/>
                            </p:stCondLst>
                            <p:childTnLst>
                              <p:set>
                                <p:cBhvr>
                                  <p:cTn id="5" dur="1" fill="hold">
                                    <p:stCondLst>
                                      <p:cond delay="0"/>
                                    </p:stCondLst>
                                  </p:cTn>
                                  <p:tgtEl>
                                    <p:spTgt spid="12"/>
                                  </p:tgtEl>
                                  <p:attrNameLst>
                                    <p:attrName>style.visibility</p:attrName>
                                  </p:attrNameLst>
                                </p:cBhvr>
                                <p:to>
                                  <p:strVal val="visible"/>
                                </p:to>
                              </p:set>
                              <p:animEffect transition="in" filter="wipe(left)">
                                <p:cBhvr>
                                  <p:cTn id="6" dur="860"/>
                                  <p:tgtEl>
                                    <p:spTgt spid="12"/>
                                  </p:tgtEl>
                                </p:cBhvr>
                              </p:animEffect>
                            </p:childTnLst>
                          </p:cTn>
                        </p:par>
                        <p:par>
                          <p:cTn id="7" presetID="10" presetClass="entr" presetSubtype="0" fill="hold" grpId="0" nodeType="withEffect">
                            <p:stCondLst>
                              <p:cond delay="350"/>
                            </p:stCondLst>
                            <p:childTnLst>
                              <p:set>
                                <p:cBhvr>
                                  <p:cTn id="8" dur="1" fill="hold">
                                    <p:stCondLst>
                                      <p:cond delay="0"/>
                                    </p:stCondLst>
                                  </p:cTn>
                                  <p:tgtEl>
                                    <p:spTgt spid="13"/>
                                  </p:tgtEl>
                                  <p:attrNameLst>
                                    <p:attrName>style.visibility</p:attrName>
                                  </p:attrNameLst>
                                </p:cBhvr>
                                <p:to>
                                  <p:strVal val="visible"/>
                                </p:to>
                              </p:set>
                              <p:animEffect transition="in" filter="wipe(left)">
                                <p:cBhvr>
                                  <p:cTn id="9" dur="860"/>
                                  <p:tgtEl>
                                    <p:spTgt spid="13"/>
                                  </p:tgtEl>
                                </p:cBhvr>
                              </p:animEffect>
                            </p:childTnLst>
                          </p:cTn>
                        </p:par>
                        <p:par>
                          <p:cTn id="10" presetID="10" presetClass="entr" presetSubtype="0" fill="hold" grpId="0" nodeType="withEffect">
                            <p:stCondLst>
                              <p:cond delay="520"/>
                            </p:stCondLst>
                            <p:childTnLst>
                              <p:set>
                                <p:cBhvr>
                                  <p:cTn id="11" dur="1" fill="hold">
                                    <p:stCondLst>
                                      <p:cond delay="0"/>
                                    </p:stCondLst>
                                  </p:cTn>
                                  <p:tgtEl>
                                    <p:spTgt spid="14"/>
                                  </p:tgtEl>
                                  <p:attrNameLst>
                                    <p:attrName>style.visibility</p:attrName>
                                  </p:attrNameLst>
                                </p:cBhvr>
                                <p:to>
                                  <p:strVal val="visible"/>
                                </p:to>
                              </p:set>
                              <p:animEffect transition="in" filter="wipe(left)">
                                <p:cBhvr>
                                  <p:cTn id="12" dur="860"/>
                                  <p:tgtEl>
                                    <p:spTgt spid="14"/>
                                  </p:tgtEl>
                                </p:cBhvr>
                              </p:animEffect>
                            </p:childTnLst>
                          </p:cTn>
                        </p:par>
                        <p:par>
                          <p:cTn id="13" presetID="10" presetClass="entr" presetSubtype="0" fill="hold" grpId="0" nodeType="withEffect">
                            <p:stCondLst>
                              <p:cond delay="690"/>
                            </p:stCondLst>
                            <p:childTnLst>
                              <p:set>
                                <p:cBhvr>
                                  <p:cTn id="14" dur="1" fill="hold">
                                    <p:stCondLst>
                                      <p:cond delay="0"/>
                                    </p:stCondLst>
                                  </p:cTn>
                                  <p:tgtEl>
                                    <p:spTgt spid="15"/>
                                  </p:tgtEl>
                                  <p:attrNameLst>
                                    <p:attrName>style.visibility</p:attrName>
                                  </p:attrNameLst>
                                </p:cBhvr>
                                <p:to>
                                  <p:strVal val="visible"/>
                                </p:to>
                              </p:set>
                              <p:animEffect transition="in" filter="wipe(left)">
                                <p:cBhvr>
                                  <p:cTn id="15" dur="860"/>
                                  <p:tgtEl>
                                    <p:spTgt spid="15"/>
                                  </p:tgtEl>
                                </p:cBhvr>
                              </p:animEffect>
                            </p:childTnLst>
                          </p:cTn>
                        </p:par>
                      </p:childTnLst>
                    </p:cTn>
                  </p:par>
                </p:childTnLst>
              </p:cTn>
            </p:seq>
          </p:childTnLst>
        </p:cTn>
      </p:par>
    </p:tnLst>
    <p:bldLst>
      <p:bldP spid="12" grpId="0"/>
      <p:bldP spid="13" grpId="0"/>
      <p:bldP spid="14" grpId="0"/>
      <p:bldP spid="15"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10800000">
            <a:off x="17259300" y="-233820"/>
            <a:ext cx="1940843" cy="970417"/>
            <a:chOff x="0" y="0"/>
            <a:chExt cx="2587790" cy="1293889"/>
          </a:xfrm>
        </p:grpSpPr>
        <p:sp>
          <p:nvSpPr>
            <p:cNvPr id="3" name="Freeform 3"/>
            <p:cNvSpPr/>
            <p:nvPr/>
          </p:nvSpPr>
          <p:spPr>
            <a:xfrm>
              <a:off x="0" y="0"/>
              <a:ext cx="2587752" cy="1293876"/>
            </a:xfrm>
            <a:custGeom>
              <a:avLst/>
              <a:gdLst/>
              <a:ahLst/>
              <a:cxnLst/>
              <a:rect l="l" t="t" r="r" b="b"/>
              <a:pathLst>
                <a:path w="2587752" h="1293876">
                  <a:moveTo>
                    <a:pt x="0" y="0"/>
                  </a:moveTo>
                  <a:lnTo>
                    <a:pt x="2587752" y="0"/>
                  </a:lnTo>
                  <a:lnTo>
                    <a:pt x="2587752" y="1293876"/>
                  </a:lnTo>
                  <a:lnTo>
                    <a:pt x="0" y="1293876"/>
                  </a:lnTo>
                  <a:lnTo>
                    <a:pt x="0" y="0"/>
                  </a:lnTo>
                  <a:close/>
                </a:path>
              </a:pathLst>
            </a:custGeom>
            <a:blipFill>
              <a:blip r:embed="rId2"/>
              <a:stretch>
                <a:fillRect r="-1"/>
              </a:stretch>
            </a:blipFill>
          </p:spPr>
          <p:txBody>
            <a:bodyPr/>
            <a:lstStyle/>
            <a:p>
              <a:endParaRPr lang="en-VN"/>
            </a:p>
          </p:txBody>
        </p:sp>
      </p:grpSp>
      <p:grpSp>
        <p:nvGrpSpPr>
          <p:cNvPr id="4" name="Group 4"/>
          <p:cNvGrpSpPr/>
          <p:nvPr/>
        </p:nvGrpSpPr>
        <p:grpSpPr>
          <a:xfrm>
            <a:off x="-912143" y="9429369"/>
            <a:ext cx="1940843" cy="970417"/>
            <a:chOff x="0" y="0"/>
            <a:chExt cx="2587790" cy="1293889"/>
          </a:xfrm>
        </p:grpSpPr>
        <p:sp>
          <p:nvSpPr>
            <p:cNvPr id="5" name="Freeform 5"/>
            <p:cNvSpPr/>
            <p:nvPr/>
          </p:nvSpPr>
          <p:spPr>
            <a:xfrm>
              <a:off x="0" y="0"/>
              <a:ext cx="2587752" cy="1293876"/>
            </a:xfrm>
            <a:custGeom>
              <a:avLst/>
              <a:gdLst/>
              <a:ahLst/>
              <a:cxnLst/>
              <a:rect l="l" t="t" r="r" b="b"/>
              <a:pathLst>
                <a:path w="2587752" h="1293876">
                  <a:moveTo>
                    <a:pt x="0" y="0"/>
                  </a:moveTo>
                  <a:lnTo>
                    <a:pt x="2587752" y="0"/>
                  </a:lnTo>
                  <a:lnTo>
                    <a:pt x="2587752" y="1293876"/>
                  </a:lnTo>
                  <a:lnTo>
                    <a:pt x="0" y="1293876"/>
                  </a:lnTo>
                  <a:lnTo>
                    <a:pt x="0" y="0"/>
                  </a:lnTo>
                  <a:close/>
                </a:path>
              </a:pathLst>
            </a:custGeom>
            <a:blipFill>
              <a:blip r:embed="rId2"/>
              <a:stretch>
                <a:fillRect r="-1"/>
              </a:stretch>
            </a:blipFill>
          </p:spPr>
          <p:txBody>
            <a:bodyPr/>
            <a:lstStyle/>
            <a:p>
              <a:endParaRPr lang="en-VN"/>
            </a:p>
          </p:txBody>
        </p:sp>
      </p:grpSp>
      <p:grpSp>
        <p:nvGrpSpPr>
          <p:cNvPr id="6" name="Group 6"/>
          <p:cNvGrpSpPr/>
          <p:nvPr/>
        </p:nvGrpSpPr>
        <p:grpSpPr>
          <a:xfrm>
            <a:off x="-3127839" y="9986436"/>
            <a:ext cx="22035035" cy="2837612"/>
            <a:chOff x="0" y="0"/>
            <a:chExt cx="5803466" cy="747355"/>
          </a:xfrm>
        </p:grpSpPr>
        <p:sp>
          <p:nvSpPr>
            <p:cNvPr id="7" name="Freeform 7"/>
            <p:cNvSpPr/>
            <p:nvPr/>
          </p:nvSpPr>
          <p:spPr>
            <a:xfrm>
              <a:off x="0" y="0"/>
              <a:ext cx="5803466" cy="747355"/>
            </a:xfrm>
            <a:custGeom>
              <a:avLst/>
              <a:gdLst/>
              <a:ahLst/>
              <a:cxnLst/>
              <a:rect l="l" t="t" r="r" b="b"/>
              <a:pathLst>
                <a:path w="5803466" h="747355">
                  <a:moveTo>
                    <a:pt x="0" y="0"/>
                  </a:moveTo>
                  <a:lnTo>
                    <a:pt x="5803466" y="0"/>
                  </a:lnTo>
                  <a:lnTo>
                    <a:pt x="5803466" y="747355"/>
                  </a:lnTo>
                  <a:lnTo>
                    <a:pt x="0" y="747355"/>
                  </a:lnTo>
                  <a:close/>
                </a:path>
              </a:pathLst>
            </a:custGeom>
            <a:solidFill>
              <a:srgbClr val="3C4F75"/>
            </a:solidFill>
          </p:spPr>
          <p:txBody>
            <a:bodyPr/>
            <a:lstStyle/>
            <a:p>
              <a:endParaRPr lang="en-VN"/>
            </a:p>
          </p:txBody>
        </p:sp>
        <p:sp>
          <p:nvSpPr>
            <p:cNvPr id="8" name="TextBox 8"/>
            <p:cNvSpPr txBox="1"/>
            <p:nvPr/>
          </p:nvSpPr>
          <p:spPr>
            <a:xfrm>
              <a:off x="0" y="-47625"/>
              <a:ext cx="5803466" cy="794980"/>
            </a:xfrm>
            <a:prstGeom prst="rect">
              <a:avLst/>
            </a:prstGeom>
          </p:spPr>
          <p:txBody>
            <a:bodyPr lIns="50800" tIns="50800" rIns="50800" bIns="50800" rtlCol="0" anchor="ctr"/>
            <a:lstStyle/>
            <a:p>
              <a:pPr algn="ctr">
                <a:lnSpc>
                  <a:spcPts val="2940"/>
                </a:lnSpc>
              </a:pPr>
              <a:endParaRPr/>
            </a:p>
          </p:txBody>
        </p:sp>
      </p:grpSp>
      <p:sp>
        <p:nvSpPr>
          <p:cNvPr id="9" name="Freeform 9"/>
          <p:cNvSpPr/>
          <p:nvPr/>
        </p:nvSpPr>
        <p:spPr>
          <a:xfrm>
            <a:off x="1028700" y="251389"/>
            <a:ext cx="551704" cy="584433"/>
          </a:xfrm>
          <a:custGeom>
            <a:avLst/>
            <a:gdLst/>
            <a:ahLst/>
            <a:cxnLst/>
            <a:rect l="l" t="t" r="r" b="b"/>
            <a:pathLst>
              <a:path w="551704" h="584433">
                <a:moveTo>
                  <a:pt x="0" y="0"/>
                </a:moveTo>
                <a:lnTo>
                  <a:pt x="551704" y="0"/>
                </a:lnTo>
                <a:lnTo>
                  <a:pt x="551704" y="584432"/>
                </a:lnTo>
                <a:lnTo>
                  <a:pt x="0" y="584432"/>
                </a:lnTo>
                <a:lnTo>
                  <a:pt x="0" y="0"/>
                </a:lnTo>
                <a:close/>
              </a:path>
            </a:pathLst>
          </a:custGeom>
          <a:blipFill>
            <a:blip r:embed="rId3"/>
            <a:stretch>
              <a:fillRect/>
            </a:stretch>
          </a:blipFill>
        </p:spPr>
        <p:txBody>
          <a:bodyPr/>
          <a:lstStyle/>
          <a:p>
            <a:endParaRPr lang="en-VN"/>
          </a:p>
        </p:txBody>
      </p:sp>
      <p:sp>
        <p:nvSpPr>
          <p:cNvPr id="10" name="TextBox 10"/>
          <p:cNvSpPr txBox="1"/>
          <p:nvPr/>
        </p:nvSpPr>
        <p:spPr>
          <a:xfrm>
            <a:off x="1028700" y="1095375"/>
            <a:ext cx="11197543" cy="534618"/>
          </a:xfrm>
          <a:prstGeom prst="rect">
            <a:avLst/>
          </a:prstGeom>
        </p:spPr>
        <p:txBody>
          <a:bodyPr lIns="0" tIns="0" rIns="0" bIns="0" rtlCol="0" anchor="t">
            <a:spAutoFit/>
          </a:bodyPr>
          <a:lstStyle/>
          <a:p>
            <a:pPr algn="just">
              <a:lnSpc>
                <a:spcPts val="4039"/>
              </a:lnSpc>
            </a:pPr>
            <a:r>
              <a:rPr lang="en-US" sz="3999" b="1">
                <a:solidFill>
                  <a:srgbClr val="0C1D4B"/>
                </a:solidFill>
                <a:latin typeface="Roboto Slab Bold"/>
                <a:ea typeface="Roboto Slab Bold"/>
                <a:cs typeface="Roboto Slab Bold"/>
                <a:sym typeface="Roboto Slab Bold"/>
              </a:rPr>
              <a:t>4.2. Thực nghiệm</a:t>
            </a:r>
          </a:p>
        </p:txBody>
      </p:sp>
      <p:sp>
        <p:nvSpPr>
          <p:cNvPr id="11" name="TextBox 11"/>
          <p:cNvSpPr txBox="1"/>
          <p:nvPr/>
        </p:nvSpPr>
        <p:spPr>
          <a:xfrm>
            <a:off x="1687249" y="346410"/>
            <a:ext cx="3954904" cy="356289"/>
          </a:xfrm>
          <a:prstGeom prst="rect">
            <a:avLst/>
          </a:prstGeom>
        </p:spPr>
        <p:txBody>
          <a:bodyPr lIns="0" tIns="0" rIns="0" bIns="0" rtlCol="0" anchor="t">
            <a:spAutoFit/>
          </a:bodyPr>
          <a:lstStyle/>
          <a:p>
            <a:pPr algn="l">
              <a:lnSpc>
                <a:spcPts val="2940"/>
              </a:lnSpc>
            </a:pPr>
            <a:r>
              <a:rPr lang="en-US" sz="2100" b="1">
                <a:solidFill>
                  <a:srgbClr val="2C2C2C"/>
                </a:solidFill>
                <a:latin typeface="Roboto Slab Bold"/>
                <a:ea typeface="Roboto Slab Bold"/>
                <a:cs typeface="Roboto Slab Bold"/>
                <a:sym typeface="Roboto Slab Bold"/>
              </a:rPr>
              <a:t>HỌC VIỆN KỸ THUẬT MẬT MÃ</a:t>
            </a:r>
          </a:p>
        </p:txBody>
      </p:sp>
      <p:sp>
        <p:nvSpPr>
          <p:cNvPr id="12" name="TextBox 12"/>
          <p:cNvSpPr txBox="1"/>
          <p:nvPr/>
        </p:nvSpPr>
        <p:spPr>
          <a:xfrm>
            <a:off x="1028700" y="1725243"/>
            <a:ext cx="5955697" cy="685800"/>
          </a:xfrm>
          <a:prstGeom prst="rect">
            <a:avLst/>
          </a:prstGeom>
        </p:spPr>
        <p:txBody>
          <a:bodyPr lIns="0" tIns="0" rIns="0" bIns="0" rtlCol="0" anchor="t">
            <a:spAutoFit/>
          </a:bodyPr>
          <a:lstStyle/>
          <a:p>
            <a:pPr algn="l">
              <a:lnSpc>
                <a:spcPts val="6000"/>
              </a:lnSpc>
            </a:pPr>
            <a:r>
              <a:rPr lang="en-US" sz="3000" b="1">
                <a:solidFill>
                  <a:srgbClr val="0C1D4B"/>
                </a:solidFill>
                <a:latin typeface="Roboto Slab Bold"/>
                <a:ea typeface="Roboto Slab Bold"/>
                <a:cs typeface="Roboto Slab Bold"/>
                <a:sym typeface="Roboto Slab Bold"/>
              </a:rPr>
              <a:t>Kết quả thực nghiệm:</a:t>
            </a:r>
          </a:p>
        </p:txBody>
      </p:sp>
      <p:sp>
        <p:nvSpPr>
          <p:cNvPr id="13" name="TextBox 13"/>
          <p:cNvSpPr txBox="1"/>
          <p:nvPr/>
        </p:nvSpPr>
        <p:spPr>
          <a:xfrm>
            <a:off x="1028700" y="2496768"/>
            <a:ext cx="5797435" cy="2829621"/>
          </a:xfrm>
          <a:prstGeom prst="rect">
            <a:avLst/>
          </a:prstGeom>
        </p:spPr>
        <p:txBody>
          <a:bodyPr lIns="0" tIns="0" rIns="0" bIns="0" rtlCol="0" anchor="t">
            <a:spAutoFit/>
          </a:bodyPr>
          <a:lstStyle/>
          <a:p>
            <a:pPr marL="604519" lvl="1" indent="-302260" algn="l">
              <a:lnSpc>
                <a:spcPts val="4479"/>
              </a:lnSpc>
              <a:buFont typeface="Arial"/>
              <a:buChar char="•"/>
            </a:pPr>
            <a:r>
              <a:rPr lang="en-US" sz="2799" dirty="0">
                <a:solidFill>
                  <a:srgbClr val="0C1D4B"/>
                </a:solidFill>
                <a:latin typeface="Roboto Slab"/>
                <a:ea typeface="Roboto Slab"/>
                <a:cs typeface="Roboto Slab"/>
                <a:sym typeface="Roboto Slab"/>
              </a:rPr>
              <a:t>Accuracy@1: 90,0%</a:t>
            </a:r>
          </a:p>
          <a:p>
            <a:pPr marL="604519" lvl="1" indent="-302260" algn="l">
              <a:lnSpc>
                <a:spcPts val="4479"/>
              </a:lnSpc>
              <a:buFont typeface="Arial"/>
              <a:buChar char="•"/>
            </a:pPr>
            <a:r>
              <a:rPr lang="en-US" sz="2799" dirty="0">
                <a:solidFill>
                  <a:srgbClr val="0C1D4B"/>
                </a:solidFill>
                <a:latin typeface="Roboto Slab"/>
                <a:ea typeface="Roboto Slab"/>
                <a:cs typeface="Roboto Slab"/>
                <a:sym typeface="Roboto Slab"/>
              </a:rPr>
              <a:t>Citation Accuracy: 86,7%</a:t>
            </a:r>
          </a:p>
          <a:p>
            <a:pPr marL="604519" lvl="1" indent="-302260" algn="l">
              <a:lnSpc>
                <a:spcPts val="4479"/>
              </a:lnSpc>
              <a:buFont typeface="Arial"/>
              <a:buChar char="•"/>
            </a:pPr>
            <a:r>
              <a:rPr lang="en-US" sz="2799" dirty="0">
                <a:solidFill>
                  <a:srgbClr val="0C1D4B"/>
                </a:solidFill>
                <a:latin typeface="Roboto Slab"/>
                <a:ea typeface="Roboto Slab"/>
                <a:cs typeface="Roboto Slab"/>
                <a:sym typeface="Roboto Slab"/>
              </a:rPr>
              <a:t>Answer Quality: 4,07/5,0</a:t>
            </a:r>
          </a:p>
          <a:p>
            <a:pPr marL="604519" lvl="1" indent="-302260" algn="l">
              <a:lnSpc>
                <a:spcPts val="4479"/>
              </a:lnSpc>
              <a:buFont typeface="Arial"/>
              <a:buChar char="•"/>
            </a:pPr>
            <a:r>
              <a:rPr lang="en-US" sz="2799" dirty="0">
                <a:solidFill>
                  <a:srgbClr val="0C1D4B"/>
                </a:solidFill>
                <a:latin typeface="Roboto Slab"/>
                <a:ea typeface="Roboto Slab"/>
                <a:cs typeface="Roboto Slab"/>
                <a:sym typeface="Roboto Slab"/>
              </a:rPr>
              <a:t>Latency P50: 65,16 </a:t>
            </a:r>
            <a:r>
              <a:rPr lang="en-US" sz="2799" dirty="0" err="1">
                <a:solidFill>
                  <a:srgbClr val="0C1D4B"/>
                </a:solidFill>
                <a:latin typeface="Roboto Slab"/>
                <a:ea typeface="Roboto Slab"/>
                <a:cs typeface="Roboto Slab"/>
                <a:sym typeface="Roboto Slab"/>
              </a:rPr>
              <a:t>giây</a:t>
            </a:r>
            <a:endParaRPr lang="en-US" sz="2799" dirty="0">
              <a:solidFill>
                <a:srgbClr val="0C1D4B"/>
              </a:solidFill>
              <a:latin typeface="Roboto Slab"/>
              <a:ea typeface="Roboto Slab"/>
              <a:cs typeface="Roboto Slab"/>
              <a:sym typeface="Roboto Slab"/>
            </a:endParaRPr>
          </a:p>
          <a:p>
            <a:pPr marL="604519" lvl="1" indent="-302260" algn="l">
              <a:lnSpc>
                <a:spcPts val="4479"/>
              </a:lnSpc>
              <a:buFont typeface="Arial"/>
              <a:buChar char="•"/>
            </a:pPr>
            <a:r>
              <a:rPr lang="en-US" sz="2799" dirty="0">
                <a:solidFill>
                  <a:srgbClr val="0C1D4B"/>
                </a:solidFill>
                <a:latin typeface="Roboto Slab"/>
                <a:ea typeface="Roboto Slab"/>
                <a:cs typeface="Roboto Slab"/>
                <a:sym typeface="Roboto Slab"/>
              </a:rPr>
              <a:t>Latency P95: 96,46 </a:t>
            </a:r>
            <a:r>
              <a:rPr lang="en-US" sz="2799" dirty="0" err="1">
                <a:solidFill>
                  <a:srgbClr val="0C1D4B"/>
                </a:solidFill>
                <a:latin typeface="Roboto Slab"/>
                <a:ea typeface="Roboto Slab"/>
                <a:cs typeface="Roboto Slab"/>
                <a:sym typeface="Roboto Slab"/>
              </a:rPr>
              <a:t>giây</a:t>
            </a:r>
            <a:endParaRPr lang="en-US" sz="2799" dirty="0">
              <a:solidFill>
                <a:srgbClr val="0C1D4B"/>
              </a:solidFill>
              <a:latin typeface="Roboto Slab"/>
              <a:ea typeface="Roboto Slab"/>
              <a:cs typeface="Roboto Slab"/>
              <a:sym typeface="Roboto Slab"/>
            </a:endParaRPr>
          </a:p>
        </p:txBody>
      </p:sp>
      <p:sp>
        <p:nvSpPr>
          <p:cNvPr id="14" name="TextBox 14"/>
          <p:cNvSpPr txBox="1"/>
          <p:nvPr/>
        </p:nvSpPr>
        <p:spPr>
          <a:xfrm>
            <a:off x="1028700" y="5364698"/>
            <a:ext cx="5955697" cy="685800"/>
          </a:xfrm>
          <a:prstGeom prst="rect">
            <a:avLst/>
          </a:prstGeom>
        </p:spPr>
        <p:txBody>
          <a:bodyPr lIns="0" tIns="0" rIns="0" bIns="0" rtlCol="0" anchor="t">
            <a:spAutoFit/>
          </a:bodyPr>
          <a:lstStyle/>
          <a:p>
            <a:pPr algn="l">
              <a:lnSpc>
                <a:spcPts val="6000"/>
              </a:lnSpc>
            </a:pPr>
            <a:r>
              <a:rPr lang="en-US" sz="3000" b="1">
                <a:solidFill>
                  <a:srgbClr val="0C1D4B"/>
                </a:solidFill>
                <a:latin typeface="Roboto Slab Bold"/>
                <a:ea typeface="Roboto Slab Bold"/>
                <a:cs typeface="Roboto Slab Bold"/>
                <a:sym typeface="Roboto Slab Bold"/>
              </a:rPr>
              <a:t>Nhận xét:</a:t>
            </a:r>
          </a:p>
        </p:txBody>
      </p:sp>
      <p:sp>
        <p:nvSpPr>
          <p:cNvPr id="15" name="TextBox 15"/>
          <p:cNvSpPr txBox="1"/>
          <p:nvPr/>
        </p:nvSpPr>
        <p:spPr>
          <a:xfrm>
            <a:off x="1028700" y="6269573"/>
            <a:ext cx="11800099" cy="2210652"/>
          </a:xfrm>
          <a:prstGeom prst="rect">
            <a:avLst/>
          </a:prstGeom>
        </p:spPr>
        <p:txBody>
          <a:bodyPr lIns="0" tIns="0" rIns="0" bIns="0" rtlCol="0" anchor="t">
            <a:spAutoFit/>
          </a:bodyPr>
          <a:lstStyle/>
          <a:p>
            <a:pPr marL="604519" lvl="1" indent="-302260" algn="l">
              <a:lnSpc>
                <a:spcPts val="4479"/>
              </a:lnSpc>
              <a:buFont typeface="Arial"/>
              <a:buChar char="•"/>
            </a:pPr>
            <a:r>
              <a:rPr lang="en-US" sz="2799" dirty="0" err="1">
                <a:solidFill>
                  <a:srgbClr val="0C1D4B"/>
                </a:solidFill>
                <a:latin typeface="Roboto Slab"/>
                <a:ea typeface="Roboto Slab"/>
                <a:cs typeface="Roboto Slab"/>
                <a:sym typeface="Roboto Slab"/>
              </a:rPr>
              <a:t>Hệ</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thống</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đạt</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độ</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chính</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xác</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tốt</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ở</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nhóm</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câu</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hỏi</a:t>
            </a:r>
            <a:r>
              <a:rPr lang="en-US" sz="2799" dirty="0">
                <a:solidFill>
                  <a:srgbClr val="0C1D4B"/>
                </a:solidFill>
                <a:latin typeface="Roboto Slab"/>
                <a:ea typeface="Roboto Slab"/>
                <a:cs typeface="Roboto Slab"/>
                <a:sym typeface="Roboto Slab"/>
              </a:rPr>
              <a:t> factual</a:t>
            </a:r>
          </a:p>
          <a:p>
            <a:pPr marL="604519" lvl="1" indent="-302260" algn="l">
              <a:lnSpc>
                <a:spcPts val="4479"/>
              </a:lnSpc>
              <a:buFont typeface="Arial"/>
              <a:buChar char="•"/>
            </a:pPr>
            <a:r>
              <a:rPr lang="en-US" sz="2799" dirty="0" err="1">
                <a:solidFill>
                  <a:srgbClr val="0C1D4B"/>
                </a:solidFill>
                <a:latin typeface="Roboto Slab"/>
                <a:ea typeface="Roboto Slab"/>
                <a:cs typeface="Roboto Slab"/>
                <a:sym typeface="Roboto Slab"/>
              </a:rPr>
              <a:t>Chất</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lượng</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câu</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trả</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lời</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ở</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mức</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tốt</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phù</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hợp</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với</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tư</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vấn</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pháp</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luật</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có</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căn</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cứ</a:t>
            </a:r>
            <a:endParaRPr lang="en-US" sz="2799" dirty="0">
              <a:solidFill>
                <a:srgbClr val="0C1D4B"/>
              </a:solidFill>
              <a:latin typeface="Roboto Slab"/>
              <a:ea typeface="Roboto Slab"/>
              <a:cs typeface="Roboto Slab"/>
              <a:sym typeface="Roboto Slab"/>
            </a:endParaRPr>
          </a:p>
          <a:p>
            <a:pPr marL="604519" lvl="1" indent="-302260" algn="l">
              <a:lnSpc>
                <a:spcPts val="4479"/>
              </a:lnSpc>
              <a:buFont typeface="Arial"/>
              <a:buChar char="•"/>
            </a:pPr>
            <a:r>
              <a:rPr lang="en-US" sz="2799" dirty="0" err="1">
                <a:solidFill>
                  <a:srgbClr val="0C1D4B"/>
                </a:solidFill>
                <a:latin typeface="Roboto Slab"/>
                <a:ea typeface="Roboto Slab"/>
                <a:cs typeface="Roboto Slab"/>
                <a:sym typeface="Roboto Slab"/>
              </a:rPr>
              <a:t>Hạn</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chế</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chính</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nằm</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ở</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thời</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gian</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phản</a:t>
            </a:r>
            <a:r>
              <a:rPr lang="en-US" sz="2799" dirty="0">
                <a:solidFill>
                  <a:srgbClr val="0C1D4B"/>
                </a:solidFill>
                <a:latin typeface="Roboto Slab"/>
                <a:ea typeface="Roboto Slab"/>
                <a:cs typeface="Roboto Slab"/>
                <a:sym typeface="Roboto Slab"/>
              </a:rPr>
              <a:t> </a:t>
            </a:r>
            <a:r>
              <a:rPr lang="en-US" sz="2799" dirty="0" err="1">
                <a:solidFill>
                  <a:srgbClr val="0C1D4B"/>
                </a:solidFill>
                <a:latin typeface="Roboto Slab"/>
                <a:ea typeface="Roboto Slab"/>
                <a:cs typeface="Roboto Slab"/>
                <a:sym typeface="Roboto Slab"/>
              </a:rPr>
              <a:t>hồi</a:t>
            </a:r>
            <a:endParaRPr lang="en-US" sz="2799" dirty="0">
              <a:solidFill>
                <a:srgbClr val="0C1D4B"/>
              </a:solidFill>
              <a:latin typeface="Roboto Slab"/>
              <a:ea typeface="Roboto Slab"/>
              <a:cs typeface="Roboto Slab"/>
              <a:sym typeface="Roboto Slab"/>
            </a:endParaRPr>
          </a:p>
        </p:txBody>
      </p:sp>
      <p:sp>
        <p:nvSpPr>
          <p:cNvPr id="16" name="Freeform 16"/>
          <p:cNvSpPr/>
          <p:nvPr/>
        </p:nvSpPr>
        <p:spPr>
          <a:xfrm>
            <a:off x="12955966" y="1953843"/>
            <a:ext cx="4303334" cy="4407511"/>
          </a:xfrm>
          <a:custGeom>
            <a:avLst/>
            <a:gdLst/>
            <a:ahLst/>
            <a:cxnLst/>
            <a:rect l="l" t="t" r="r" b="b"/>
            <a:pathLst>
              <a:path w="4303334" h="4407511">
                <a:moveTo>
                  <a:pt x="0" y="0"/>
                </a:moveTo>
                <a:lnTo>
                  <a:pt x="4303334" y="0"/>
                </a:lnTo>
                <a:lnTo>
                  <a:pt x="4303334" y="4407511"/>
                </a:lnTo>
                <a:lnTo>
                  <a:pt x="0" y="4407511"/>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VN"/>
          </a:p>
        </p:txBody>
      </p:sp>
    </p:spTree>
  </p:cSld>
  <p:clrMapOvr>
    <a:masterClrMapping/>
  </p:clrMapOvr>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grpId="0" nodeType="withEffect">
                            <p:stCondLst>
                              <p:cond delay="180"/>
                            </p:stCondLst>
                            <p:childTnLst>
                              <p:set>
                                <p:cBhvr>
                                  <p:cTn id="5" dur="1" fill="hold">
                                    <p:stCondLst>
                                      <p:cond delay="0"/>
                                    </p:stCondLst>
                                  </p:cTn>
                                  <p:tgtEl>
                                    <p:spTgt spid="12"/>
                                  </p:tgtEl>
                                  <p:attrNameLst>
                                    <p:attrName>style.visibility</p:attrName>
                                  </p:attrNameLst>
                                </p:cBhvr>
                                <p:to>
                                  <p:strVal val="visible"/>
                                </p:to>
                              </p:set>
                              <p:animEffect transition="in" filter="wipe(left)">
                                <p:cBhvr>
                                  <p:cTn id="6" dur="860"/>
                                  <p:tgtEl>
                                    <p:spTgt spid="12"/>
                                  </p:tgtEl>
                                </p:cBhvr>
                              </p:animEffect>
                            </p:childTnLst>
                          </p:cTn>
                        </p:par>
                        <p:par>
                          <p:cTn id="7" presetID="10" presetClass="entr" presetSubtype="0" fill="hold" grpId="0" nodeType="withEffect">
                            <p:stCondLst>
                              <p:cond delay="350"/>
                            </p:stCondLst>
                            <p:childTnLst>
                              <p:set>
                                <p:cBhvr>
                                  <p:cTn id="8" dur="1" fill="hold">
                                    <p:stCondLst>
                                      <p:cond delay="0"/>
                                    </p:stCondLst>
                                  </p:cTn>
                                  <p:tgtEl>
                                    <p:spTgt spid="16"/>
                                  </p:tgtEl>
                                  <p:attrNameLst>
                                    <p:attrName>style.visibility</p:attrName>
                                  </p:attrNameLst>
                                </p:cBhvr>
                                <p:to>
                                  <p:strVal val="visible"/>
                                </p:to>
                              </p:set>
                              <p:animEffect transition="in" filter="wipe(left)">
                                <p:cBhvr>
                                  <p:cTn id="9" dur="860"/>
                                  <p:tgtEl>
                                    <p:spTgt spid="16"/>
                                  </p:tgtEl>
                                </p:cBhvr>
                              </p:animEffect>
                            </p:childTnLst>
                          </p:cTn>
                        </p:par>
                        <p:par>
                          <p:cTn id="10" presetID="10" presetClass="entr" presetSubtype="0" fill="hold" grpId="0" nodeType="withEffect">
                            <p:stCondLst>
                              <p:cond delay="520"/>
                            </p:stCondLst>
                            <p:childTnLst>
                              <p:set>
                                <p:cBhvr>
                                  <p:cTn id="11" dur="1" fill="hold">
                                    <p:stCondLst>
                                      <p:cond delay="0"/>
                                    </p:stCondLst>
                                  </p:cTn>
                                  <p:tgtEl>
                                    <p:spTgt spid="13"/>
                                  </p:tgtEl>
                                  <p:attrNameLst>
                                    <p:attrName>style.visibility</p:attrName>
                                  </p:attrNameLst>
                                </p:cBhvr>
                                <p:to>
                                  <p:strVal val="visible"/>
                                </p:to>
                              </p:set>
                              <p:animEffect transition="in" filter="wipe(left)">
                                <p:cBhvr>
                                  <p:cTn id="12" dur="860"/>
                                  <p:tgtEl>
                                    <p:spTgt spid="13"/>
                                  </p:tgtEl>
                                </p:cBhvr>
                              </p:animEffect>
                            </p:childTnLst>
                          </p:cTn>
                        </p:par>
                        <p:par>
                          <p:cTn id="13" presetID="10" presetClass="entr" presetSubtype="0" fill="hold" grpId="0" nodeType="withEffect">
                            <p:stCondLst>
                              <p:cond delay="690"/>
                            </p:stCondLst>
                            <p:childTnLst>
                              <p:set>
                                <p:cBhvr>
                                  <p:cTn id="14" dur="1" fill="hold">
                                    <p:stCondLst>
                                      <p:cond delay="0"/>
                                    </p:stCondLst>
                                  </p:cTn>
                                  <p:tgtEl>
                                    <p:spTgt spid="14"/>
                                  </p:tgtEl>
                                  <p:attrNameLst>
                                    <p:attrName>style.visibility</p:attrName>
                                  </p:attrNameLst>
                                </p:cBhvr>
                                <p:to>
                                  <p:strVal val="visible"/>
                                </p:to>
                              </p:set>
                              <p:animEffect transition="in" filter="wipe(left)">
                                <p:cBhvr>
                                  <p:cTn id="15" dur="860"/>
                                  <p:tgtEl>
                                    <p:spTgt spid="14"/>
                                  </p:tgtEl>
                                </p:cBhvr>
                              </p:animEffect>
                            </p:childTnLst>
                          </p:cTn>
                        </p:par>
                        <p:par>
                          <p:cTn id="16" presetID="10" presetClass="entr" presetSubtype="0" fill="hold" grpId="0" nodeType="withEffect">
                            <p:stCondLst>
                              <p:cond delay="860"/>
                            </p:stCondLst>
                            <p:childTnLst>
                              <p:set>
                                <p:cBhvr>
                                  <p:cTn id="17" dur="1" fill="hold">
                                    <p:stCondLst>
                                      <p:cond delay="0"/>
                                    </p:stCondLst>
                                  </p:cTn>
                                  <p:tgtEl>
                                    <p:spTgt spid="15"/>
                                  </p:tgtEl>
                                  <p:attrNameLst>
                                    <p:attrName>style.visibility</p:attrName>
                                  </p:attrNameLst>
                                </p:cBhvr>
                                <p:to>
                                  <p:strVal val="visible"/>
                                </p:to>
                              </p:set>
                              <p:animEffect transition="in" filter="wipe(left)">
                                <p:cBhvr>
                                  <p:cTn id="18" dur="860"/>
                                  <p:tgtEl>
                                    <p:spTgt spid="15"/>
                                  </p:tgtEl>
                                </p:cBhvr>
                              </p:animEffect>
                            </p:childTnLst>
                          </p:cTn>
                        </p:par>
                      </p:childTnLst>
                    </p:cTn>
                  </p:par>
                </p:childTnLst>
              </p:cTn>
            </p:seq>
          </p:childTnLst>
        </p:cTn>
      </p:par>
    </p:tnLst>
    <p:bldLst>
      <p:bldP spid="12" grpId="0"/>
      <p:bldP spid="13" grpId="0"/>
      <p:bldP spid="14" grpId="0"/>
      <p:bldP spid="15" grpId="0"/>
      <p:bldP spid="16"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10800000">
            <a:off x="17259300" y="-233820"/>
            <a:ext cx="1940843" cy="970417"/>
            <a:chOff x="0" y="0"/>
            <a:chExt cx="2587790" cy="1293889"/>
          </a:xfrm>
        </p:grpSpPr>
        <p:sp>
          <p:nvSpPr>
            <p:cNvPr id="3" name="Freeform 3"/>
            <p:cNvSpPr/>
            <p:nvPr/>
          </p:nvSpPr>
          <p:spPr>
            <a:xfrm>
              <a:off x="0" y="0"/>
              <a:ext cx="2587752" cy="1293876"/>
            </a:xfrm>
            <a:custGeom>
              <a:avLst/>
              <a:gdLst/>
              <a:ahLst/>
              <a:cxnLst/>
              <a:rect l="l" t="t" r="r" b="b"/>
              <a:pathLst>
                <a:path w="2587752" h="1293876">
                  <a:moveTo>
                    <a:pt x="0" y="0"/>
                  </a:moveTo>
                  <a:lnTo>
                    <a:pt x="2587752" y="0"/>
                  </a:lnTo>
                  <a:lnTo>
                    <a:pt x="2587752" y="1293876"/>
                  </a:lnTo>
                  <a:lnTo>
                    <a:pt x="0" y="1293876"/>
                  </a:lnTo>
                  <a:lnTo>
                    <a:pt x="0" y="0"/>
                  </a:lnTo>
                  <a:close/>
                </a:path>
              </a:pathLst>
            </a:custGeom>
            <a:blipFill>
              <a:blip r:embed="rId2"/>
              <a:stretch>
                <a:fillRect r="-1"/>
              </a:stretch>
            </a:blipFill>
          </p:spPr>
          <p:txBody>
            <a:bodyPr/>
            <a:lstStyle/>
            <a:p>
              <a:endParaRPr lang="en-VN"/>
            </a:p>
          </p:txBody>
        </p:sp>
      </p:grpSp>
      <p:grpSp>
        <p:nvGrpSpPr>
          <p:cNvPr id="4" name="Group 4"/>
          <p:cNvGrpSpPr/>
          <p:nvPr/>
        </p:nvGrpSpPr>
        <p:grpSpPr>
          <a:xfrm>
            <a:off x="-912143" y="9429369"/>
            <a:ext cx="1940843" cy="970417"/>
            <a:chOff x="0" y="0"/>
            <a:chExt cx="2587790" cy="1293889"/>
          </a:xfrm>
        </p:grpSpPr>
        <p:sp>
          <p:nvSpPr>
            <p:cNvPr id="5" name="Freeform 5"/>
            <p:cNvSpPr/>
            <p:nvPr/>
          </p:nvSpPr>
          <p:spPr>
            <a:xfrm>
              <a:off x="0" y="0"/>
              <a:ext cx="2587752" cy="1293876"/>
            </a:xfrm>
            <a:custGeom>
              <a:avLst/>
              <a:gdLst/>
              <a:ahLst/>
              <a:cxnLst/>
              <a:rect l="l" t="t" r="r" b="b"/>
              <a:pathLst>
                <a:path w="2587752" h="1293876">
                  <a:moveTo>
                    <a:pt x="0" y="0"/>
                  </a:moveTo>
                  <a:lnTo>
                    <a:pt x="2587752" y="0"/>
                  </a:lnTo>
                  <a:lnTo>
                    <a:pt x="2587752" y="1293876"/>
                  </a:lnTo>
                  <a:lnTo>
                    <a:pt x="0" y="1293876"/>
                  </a:lnTo>
                  <a:lnTo>
                    <a:pt x="0" y="0"/>
                  </a:lnTo>
                  <a:close/>
                </a:path>
              </a:pathLst>
            </a:custGeom>
            <a:blipFill>
              <a:blip r:embed="rId2"/>
              <a:stretch>
                <a:fillRect r="-1"/>
              </a:stretch>
            </a:blipFill>
          </p:spPr>
          <p:txBody>
            <a:bodyPr/>
            <a:lstStyle/>
            <a:p>
              <a:endParaRPr lang="en-VN"/>
            </a:p>
          </p:txBody>
        </p:sp>
      </p:grpSp>
      <p:grpSp>
        <p:nvGrpSpPr>
          <p:cNvPr id="6" name="Group 6"/>
          <p:cNvGrpSpPr/>
          <p:nvPr/>
        </p:nvGrpSpPr>
        <p:grpSpPr>
          <a:xfrm>
            <a:off x="-3127839" y="9986436"/>
            <a:ext cx="22035035" cy="2837612"/>
            <a:chOff x="0" y="0"/>
            <a:chExt cx="5803466" cy="747355"/>
          </a:xfrm>
        </p:grpSpPr>
        <p:sp>
          <p:nvSpPr>
            <p:cNvPr id="7" name="Freeform 7"/>
            <p:cNvSpPr/>
            <p:nvPr/>
          </p:nvSpPr>
          <p:spPr>
            <a:xfrm>
              <a:off x="0" y="0"/>
              <a:ext cx="5803466" cy="747355"/>
            </a:xfrm>
            <a:custGeom>
              <a:avLst/>
              <a:gdLst/>
              <a:ahLst/>
              <a:cxnLst/>
              <a:rect l="l" t="t" r="r" b="b"/>
              <a:pathLst>
                <a:path w="5803466" h="747355">
                  <a:moveTo>
                    <a:pt x="0" y="0"/>
                  </a:moveTo>
                  <a:lnTo>
                    <a:pt x="5803466" y="0"/>
                  </a:lnTo>
                  <a:lnTo>
                    <a:pt x="5803466" y="747355"/>
                  </a:lnTo>
                  <a:lnTo>
                    <a:pt x="0" y="747355"/>
                  </a:lnTo>
                  <a:close/>
                </a:path>
              </a:pathLst>
            </a:custGeom>
            <a:solidFill>
              <a:srgbClr val="3C4F75"/>
            </a:solidFill>
          </p:spPr>
          <p:txBody>
            <a:bodyPr/>
            <a:lstStyle/>
            <a:p>
              <a:endParaRPr lang="en-VN"/>
            </a:p>
          </p:txBody>
        </p:sp>
        <p:sp>
          <p:nvSpPr>
            <p:cNvPr id="8" name="TextBox 8"/>
            <p:cNvSpPr txBox="1"/>
            <p:nvPr/>
          </p:nvSpPr>
          <p:spPr>
            <a:xfrm>
              <a:off x="0" y="-47625"/>
              <a:ext cx="5803466" cy="794980"/>
            </a:xfrm>
            <a:prstGeom prst="rect">
              <a:avLst/>
            </a:prstGeom>
          </p:spPr>
          <p:txBody>
            <a:bodyPr lIns="50800" tIns="50800" rIns="50800" bIns="50800" rtlCol="0" anchor="ctr"/>
            <a:lstStyle/>
            <a:p>
              <a:pPr algn="ctr">
                <a:lnSpc>
                  <a:spcPts val="2940"/>
                </a:lnSpc>
              </a:pPr>
              <a:endParaRPr/>
            </a:p>
          </p:txBody>
        </p:sp>
      </p:grpSp>
      <p:sp>
        <p:nvSpPr>
          <p:cNvPr id="9" name="Freeform 9"/>
          <p:cNvSpPr/>
          <p:nvPr/>
        </p:nvSpPr>
        <p:spPr>
          <a:xfrm>
            <a:off x="1028700" y="251389"/>
            <a:ext cx="551704" cy="584433"/>
          </a:xfrm>
          <a:custGeom>
            <a:avLst/>
            <a:gdLst/>
            <a:ahLst/>
            <a:cxnLst/>
            <a:rect l="l" t="t" r="r" b="b"/>
            <a:pathLst>
              <a:path w="551704" h="584433">
                <a:moveTo>
                  <a:pt x="0" y="0"/>
                </a:moveTo>
                <a:lnTo>
                  <a:pt x="551704" y="0"/>
                </a:lnTo>
                <a:lnTo>
                  <a:pt x="551704" y="584432"/>
                </a:lnTo>
                <a:lnTo>
                  <a:pt x="0" y="584432"/>
                </a:lnTo>
                <a:lnTo>
                  <a:pt x="0" y="0"/>
                </a:lnTo>
                <a:close/>
              </a:path>
            </a:pathLst>
          </a:custGeom>
          <a:blipFill>
            <a:blip r:embed="rId3"/>
            <a:stretch>
              <a:fillRect/>
            </a:stretch>
          </a:blipFill>
        </p:spPr>
        <p:txBody>
          <a:bodyPr/>
          <a:lstStyle/>
          <a:p>
            <a:endParaRPr lang="en-VN"/>
          </a:p>
        </p:txBody>
      </p:sp>
      <p:sp>
        <p:nvSpPr>
          <p:cNvPr id="10" name="TextBox 10"/>
          <p:cNvSpPr txBox="1"/>
          <p:nvPr/>
        </p:nvSpPr>
        <p:spPr>
          <a:xfrm>
            <a:off x="1028700" y="1095375"/>
            <a:ext cx="11197543" cy="534618"/>
          </a:xfrm>
          <a:prstGeom prst="rect">
            <a:avLst/>
          </a:prstGeom>
        </p:spPr>
        <p:txBody>
          <a:bodyPr lIns="0" tIns="0" rIns="0" bIns="0" rtlCol="0" anchor="t">
            <a:spAutoFit/>
          </a:bodyPr>
          <a:lstStyle/>
          <a:p>
            <a:pPr algn="just">
              <a:lnSpc>
                <a:spcPts val="4039"/>
              </a:lnSpc>
            </a:pPr>
            <a:r>
              <a:rPr lang="en-US" sz="3999" b="1">
                <a:solidFill>
                  <a:srgbClr val="0C1D4B"/>
                </a:solidFill>
                <a:latin typeface="Roboto Slab Bold"/>
                <a:ea typeface="Roboto Slab Bold"/>
                <a:cs typeface="Roboto Slab Bold"/>
                <a:sym typeface="Roboto Slab Bold"/>
              </a:rPr>
              <a:t>4.3. Kết luận</a:t>
            </a:r>
          </a:p>
        </p:txBody>
      </p:sp>
      <p:sp>
        <p:nvSpPr>
          <p:cNvPr id="11" name="TextBox 11"/>
          <p:cNvSpPr txBox="1"/>
          <p:nvPr/>
        </p:nvSpPr>
        <p:spPr>
          <a:xfrm>
            <a:off x="1687249" y="346410"/>
            <a:ext cx="3954904" cy="356289"/>
          </a:xfrm>
          <a:prstGeom prst="rect">
            <a:avLst/>
          </a:prstGeom>
        </p:spPr>
        <p:txBody>
          <a:bodyPr lIns="0" tIns="0" rIns="0" bIns="0" rtlCol="0" anchor="t">
            <a:spAutoFit/>
          </a:bodyPr>
          <a:lstStyle/>
          <a:p>
            <a:pPr algn="l">
              <a:lnSpc>
                <a:spcPts val="2940"/>
              </a:lnSpc>
            </a:pPr>
            <a:r>
              <a:rPr lang="en-US" sz="2100" b="1">
                <a:solidFill>
                  <a:srgbClr val="2C2C2C"/>
                </a:solidFill>
                <a:latin typeface="Roboto Slab Bold"/>
                <a:ea typeface="Roboto Slab Bold"/>
                <a:cs typeface="Roboto Slab Bold"/>
                <a:sym typeface="Roboto Slab Bold"/>
              </a:rPr>
              <a:t>HỌC VIỆN KỸ THUẬT MẬT MÃ</a:t>
            </a:r>
          </a:p>
        </p:txBody>
      </p:sp>
      <p:sp>
        <p:nvSpPr>
          <p:cNvPr id="12" name="TextBox 12"/>
          <p:cNvSpPr txBox="1"/>
          <p:nvPr/>
        </p:nvSpPr>
        <p:spPr>
          <a:xfrm>
            <a:off x="1028700" y="1725243"/>
            <a:ext cx="5955697" cy="685800"/>
          </a:xfrm>
          <a:prstGeom prst="rect">
            <a:avLst/>
          </a:prstGeom>
        </p:spPr>
        <p:txBody>
          <a:bodyPr lIns="0" tIns="0" rIns="0" bIns="0" rtlCol="0" anchor="t">
            <a:spAutoFit/>
          </a:bodyPr>
          <a:lstStyle/>
          <a:p>
            <a:pPr algn="l">
              <a:lnSpc>
                <a:spcPts val="6000"/>
              </a:lnSpc>
            </a:pPr>
            <a:r>
              <a:rPr lang="en-US" sz="3000" b="1">
                <a:solidFill>
                  <a:srgbClr val="0C1D4B"/>
                </a:solidFill>
                <a:latin typeface="Roboto Slab Bold"/>
                <a:ea typeface="Roboto Slab Bold"/>
                <a:cs typeface="Roboto Slab Bold"/>
                <a:sym typeface="Roboto Slab Bold"/>
              </a:rPr>
              <a:t>Kết quả đạt được:</a:t>
            </a:r>
          </a:p>
        </p:txBody>
      </p:sp>
      <p:sp>
        <p:nvSpPr>
          <p:cNvPr id="13" name="TextBox 13"/>
          <p:cNvSpPr txBox="1"/>
          <p:nvPr/>
        </p:nvSpPr>
        <p:spPr>
          <a:xfrm>
            <a:off x="1028700" y="2496768"/>
            <a:ext cx="14344525" cy="2210652"/>
          </a:xfrm>
          <a:prstGeom prst="rect">
            <a:avLst/>
          </a:prstGeom>
        </p:spPr>
        <p:txBody>
          <a:bodyPr lIns="0" tIns="0" rIns="0" bIns="0" rtlCol="0" anchor="t">
            <a:spAutoFit/>
          </a:bodyPr>
          <a:lstStyle/>
          <a:p>
            <a:pPr marL="604519" lvl="1" indent="-302260" algn="l">
              <a:lnSpc>
                <a:spcPts val="4479"/>
              </a:lnSpc>
              <a:buFont typeface="Arial"/>
              <a:buChar char="•"/>
            </a:pPr>
            <a:r>
              <a:rPr lang="en-US" sz="2799">
                <a:solidFill>
                  <a:srgbClr val="0C1D4B"/>
                </a:solidFill>
                <a:latin typeface="Roboto Slab"/>
                <a:ea typeface="Roboto Slab"/>
                <a:cs typeface="Roboto Slab"/>
                <a:sym typeface="Roboto Slab"/>
              </a:rPr>
              <a:t>Tìm hiểu về các khái niệm về chatbot, AI Agent, RAG, LLMs.</a:t>
            </a:r>
          </a:p>
          <a:p>
            <a:pPr marL="604519" lvl="1" indent="-302260" algn="l">
              <a:lnSpc>
                <a:spcPts val="4479"/>
              </a:lnSpc>
              <a:buFont typeface="Arial"/>
              <a:buChar char="•"/>
            </a:pPr>
            <a:r>
              <a:rPr lang="en-US" sz="2799">
                <a:solidFill>
                  <a:srgbClr val="0C1D4B"/>
                </a:solidFill>
                <a:latin typeface="Roboto Slab"/>
                <a:ea typeface="Roboto Slab"/>
                <a:cs typeface="Roboto Slab"/>
                <a:sym typeface="Roboto Slab"/>
              </a:rPr>
              <a:t>Xây dựng được hệ thống trợ lý ảo pháp luật với kiến trúc AI Agent</a:t>
            </a:r>
          </a:p>
          <a:p>
            <a:pPr marL="604519" lvl="1" indent="-302260" algn="l">
              <a:lnSpc>
                <a:spcPts val="4479"/>
              </a:lnSpc>
              <a:buFont typeface="Arial"/>
              <a:buChar char="•"/>
            </a:pPr>
            <a:r>
              <a:rPr lang="en-US" sz="2799">
                <a:solidFill>
                  <a:srgbClr val="0C1D4B"/>
                </a:solidFill>
                <a:latin typeface="Roboto Slab"/>
                <a:ea typeface="Roboto Slab"/>
                <a:cs typeface="Roboto Slab"/>
                <a:sym typeface="Roboto Slab"/>
              </a:rPr>
              <a:t>Ứng dụng thành công kỹ thuật truy vấn RAG vào hệ thống</a:t>
            </a:r>
          </a:p>
          <a:p>
            <a:pPr marL="604519" lvl="1" indent="-302260" algn="l">
              <a:lnSpc>
                <a:spcPts val="4479"/>
              </a:lnSpc>
              <a:buFont typeface="Arial"/>
              <a:buChar char="•"/>
            </a:pPr>
            <a:r>
              <a:rPr lang="en-US" sz="2799">
                <a:solidFill>
                  <a:srgbClr val="0C1D4B"/>
                </a:solidFill>
                <a:latin typeface="Roboto Slab"/>
                <a:ea typeface="Roboto Slab"/>
                <a:cs typeface="Roboto Slab"/>
                <a:sym typeface="Roboto Slab"/>
              </a:rPr>
              <a:t>Xây dựng được ứng dụng Mobile và Web cho hệ thống</a:t>
            </a:r>
          </a:p>
        </p:txBody>
      </p:sp>
      <p:sp>
        <p:nvSpPr>
          <p:cNvPr id="14" name="TextBox 14"/>
          <p:cNvSpPr txBox="1"/>
          <p:nvPr/>
        </p:nvSpPr>
        <p:spPr>
          <a:xfrm>
            <a:off x="1028700" y="4802669"/>
            <a:ext cx="5955697" cy="685800"/>
          </a:xfrm>
          <a:prstGeom prst="rect">
            <a:avLst/>
          </a:prstGeom>
        </p:spPr>
        <p:txBody>
          <a:bodyPr lIns="0" tIns="0" rIns="0" bIns="0" rtlCol="0" anchor="t">
            <a:spAutoFit/>
          </a:bodyPr>
          <a:lstStyle/>
          <a:p>
            <a:pPr algn="l">
              <a:lnSpc>
                <a:spcPts val="6000"/>
              </a:lnSpc>
            </a:pPr>
            <a:r>
              <a:rPr lang="en-US" sz="3000" b="1">
                <a:solidFill>
                  <a:srgbClr val="0C1D4B"/>
                </a:solidFill>
                <a:latin typeface="Roboto Slab Bold"/>
                <a:ea typeface="Roboto Slab Bold"/>
                <a:cs typeface="Roboto Slab Bold"/>
                <a:sym typeface="Roboto Slab Bold"/>
              </a:rPr>
              <a:t>Hạn chế:</a:t>
            </a:r>
          </a:p>
        </p:txBody>
      </p:sp>
      <p:sp>
        <p:nvSpPr>
          <p:cNvPr id="15" name="TextBox 15"/>
          <p:cNvSpPr txBox="1"/>
          <p:nvPr/>
        </p:nvSpPr>
        <p:spPr>
          <a:xfrm>
            <a:off x="1028700" y="5574194"/>
            <a:ext cx="14988879" cy="1086593"/>
          </a:xfrm>
          <a:prstGeom prst="rect">
            <a:avLst/>
          </a:prstGeom>
        </p:spPr>
        <p:txBody>
          <a:bodyPr lIns="0" tIns="0" rIns="0" bIns="0" rtlCol="0" anchor="t">
            <a:spAutoFit/>
          </a:bodyPr>
          <a:lstStyle/>
          <a:p>
            <a:pPr marL="604519" lvl="1" indent="-302260" algn="l">
              <a:lnSpc>
                <a:spcPts val="4479"/>
              </a:lnSpc>
              <a:buFont typeface="Arial"/>
              <a:buChar char="•"/>
            </a:pPr>
            <a:r>
              <a:rPr lang="en-US" sz="2799">
                <a:solidFill>
                  <a:srgbClr val="0C1D4B"/>
                </a:solidFill>
                <a:latin typeface="Roboto Slab"/>
                <a:ea typeface="Roboto Slab"/>
                <a:cs typeface="Roboto Slab"/>
                <a:sym typeface="Roboto Slab"/>
              </a:rPr>
              <a:t>Độ trễ phản hồi của pipeline Agentic RAG còn cao</a:t>
            </a:r>
          </a:p>
          <a:p>
            <a:pPr marL="604519" lvl="1" indent="-302260" algn="l">
              <a:lnSpc>
                <a:spcPts val="4479"/>
              </a:lnSpc>
              <a:buFont typeface="Arial"/>
              <a:buChar char="•"/>
            </a:pPr>
            <a:r>
              <a:rPr lang="en-US" sz="2799">
                <a:solidFill>
                  <a:srgbClr val="0C1D4B"/>
                </a:solidFill>
                <a:latin typeface="Roboto Slab"/>
                <a:ea typeface="Roboto Slab"/>
                <a:cs typeface="Roboto Slab"/>
                <a:sym typeface="Roboto Slab"/>
              </a:rPr>
              <a:t>Bộ kiểm thử còn giới hạn, chưa bao phủ đầy đủ toàn bộ lĩnh vực pháp luật Việt Nam</a:t>
            </a:r>
          </a:p>
        </p:txBody>
      </p:sp>
      <p:sp>
        <p:nvSpPr>
          <p:cNvPr id="16" name="TextBox 16"/>
          <p:cNvSpPr txBox="1"/>
          <p:nvPr/>
        </p:nvSpPr>
        <p:spPr>
          <a:xfrm>
            <a:off x="1028700" y="6756037"/>
            <a:ext cx="5955697" cy="685800"/>
          </a:xfrm>
          <a:prstGeom prst="rect">
            <a:avLst/>
          </a:prstGeom>
        </p:spPr>
        <p:txBody>
          <a:bodyPr lIns="0" tIns="0" rIns="0" bIns="0" rtlCol="0" anchor="t">
            <a:spAutoFit/>
          </a:bodyPr>
          <a:lstStyle/>
          <a:p>
            <a:pPr algn="l">
              <a:lnSpc>
                <a:spcPts val="6000"/>
              </a:lnSpc>
            </a:pPr>
            <a:r>
              <a:rPr lang="en-US" sz="3000" b="1">
                <a:solidFill>
                  <a:srgbClr val="0C1D4B"/>
                </a:solidFill>
                <a:latin typeface="Roboto Slab Bold"/>
                <a:ea typeface="Roboto Slab Bold"/>
                <a:cs typeface="Roboto Slab Bold"/>
                <a:sym typeface="Roboto Slab Bold"/>
              </a:rPr>
              <a:t>Hướng phát triển:</a:t>
            </a:r>
          </a:p>
        </p:txBody>
      </p:sp>
      <p:sp>
        <p:nvSpPr>
          <p:cNvPr id="17" name="TextBox 17"/>
          <p:cNvSpPr txBox="1"/>
          <p:nvPr/>
        </p:nvSpPr>
        <p:spPr>
          <a:xfrm>
            <a:off x="1028700" y="7527562"/>
            <a:ext cx="14988879" cy="1648622"/>
          </a:xfrm>
          <a:prstGeom prst="rect">
            <a:avLst/>
          </a:prstGeom>
        </p:spPr>
        <p:txBody>
          <a:bodyPr lIns="0" tIns="0" rIns="0" bIns="0" rtlCol="0" anchor="t">
            <a:spAutoFit/>
          </a:bodyPr>
          <a:lstStyle/>
          <a:p>
            <a:pPr marL="604519" lvl="1" indent="-302260" algn="l">
              <a:lnSpc>
                <a:spcPts val="4479"/>
              </a:lnSpc>
              <a:buFont typeface="Arial"/>
              <a:buChar char="•"/>
            </a:pPr>
            <a:r>
              <a:rPr lang="en-US" sz="2799">
                <a:solidFill>
                  <a:srgbClr val="0C1D4B"/>
                </a:solidFill>
                <a:latin typeface="Roboto Slab"/>
                <a:ea typeface="Roboto Slab"/>
                <a:cs typeface="Roboto Slab"/>
                <a:sym typeface="Roboto Slab"/>
              </a:rPr>
              <a:t>Tối ưu thời gian phản hồi của luồng Agentic RAG</a:t>
            </a:r>
          </a:p>
          <a:p>
            <a:pPr marL="604519" lvl="1" indent="-302260" algn="l">
              <a:lnSpc>
                <a:spcPts val="4479"/>
              </a:lnSpc>
              <a:buFont typeface="Arial"/>
              <a:buChar char="•"/>
            </a:pPr>
            <a:r>
              <a:rPr lang="en-US" sz="2799">
                <a:solidFill>
                  <a:srgbClr val="0C1D4B"/>
                </a:solidFill>
                <a:latin typeface="Roboto Slab"/>
                <a:ea typeface="Roboto Slab"/>
                <a:cs typeface="Roboto Slab"/>
                <a:sym typeface="Roboto Slab"/>
              </a:rPr>
              <a:t>Mở rộng và cập nhật kho dữ liệu pháp luật nội bộ</a:t>
            </a:r>
          </a:p>
          <a:p>
            <a:pPr marL="604519" lvl="1" indent="-302260" algn="l">
              <a:lnSpc>
                <a:spcPts val="4479"/>
              </a:lnSpc>
              <a:buFont typeface="Arial"/>
              <a:buChar char="•"/>
            </a:pPr>
            <a:r>
              <a:rPr lang="en-US" sz="2799">
                <a:solidFill>
                  <a:srgbClr val="0C1D4B"/>
                </a:solidFill>
                <a:latin typeface="Roboto Slab"/>
                <a:ea typeface="Roboto Slab"/>
                <a:cs typeface="Roboto Slab"/>
                <a:sym typeface="Roboto Slab"/>
              </a:rPr>
              <a:t>Mở rộng thêm tính năng cho hệ thống</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grpId="0" nodeType="withEffect">
                            <p:stCondLst>
                              <p:cond delay="180"/>
                            </p:stCondLst>
                            <p:childTnLst>
                              <p:set>
                                <p:cBhvr>
                                  <p:cTn id="5" dur="1" fill="hold">
                                    <p:stCondLst>
                                      <p:cond delay="0"/>
                                    </p:stCondLst>
                                  </p:cTn>
                                  <p:tgtEl>
                                    <p:spTgt spid="10"/>
                                  </p:tgtEl>
                                  <p:attrNameLst>
                                    <p:attrName>style.visibility</p:attrName>
                                  </p:attrNameLst>
                                </p:cBhvr>
                                <p:to>
                                  <p:strVal val="visible"/>
                                </p:to>
                              </p:set>
                              <p:animEffect transition="in" filter="wipe(left)">
                                <p:cBhvr>
                                  <p:cTn id="6" dur="860"/>
                                  <p:tgtEl>
                                    <p:spTgt spid="10"/>
                                  </p:tgtEl>
                                </p:cBhvr>
                              </p:animEffect>
                            </p:childTnLst>
                          </p:cTn>
                        </p:par>
                        <p:par>
                          <p:cTn id="7" presetID="10" presetClass="entr" presetSubtype="0" fill="hold" grpId="0" nodeType="withEffect">
                            <p:stCondLst>
                              <p:cond delay="350"/>
                            </p:stCondLst>
                            <p:childTnLst>
                              <p:set>
                                <p:cBhvr>
                                  <p:cTn id="8" dur="1" fill="hold">
                                    <p:stCondLst>
                                      <p:cond delay="0"/>
                                    </p:stCondLst>
                                  </p:cTn>
                                  <p:tgtEl>
                                    <p:spTgt spid="12"/>
                                  </p:tgtEl>
                                  <p:attrNameLst>
                                    <p:attrName>style.visibility</p:attrName>
                                  </p:attrNameLst>
                                </p:cBhvr>
                                <p:to>
                                  <p:strVal val="visible"/>
                                </p:to>
                              </p:set>
                              <p:animEffect transition="in" filter="wipe(left)">
                                <p:cBhvr>
                                  <p:cTn id="9" dur="860"/>
                                  <p:tgtEl>
                                    <p:spTgt spid="12"/>
                                  </p:tgtEl>
                                </p:cBhvr>
                              </p:animEffect>
                            </p:childTnLst>
                          </p:cTn>
                        </p:par>
                        <p:par>
                          <p:cTn id="10" presetID="10" presetClass="entr" presetSubtype="0" fill="hold" grpId="0" nodeType="withEffect">
                            <p:stCondLst>
                              <p:cond delay="520"/>
                            </p:stCondLst>
                            <p:childTnLst>
                              <p:set>
                                <p:cBhvr>
                                  <p:cTn id="11" dur="1" fill="hold">
                                    <p:stCondLst>
                                      <p:cond delay="0"/>
                                    </p:stCondLst>
                                  </p:cTn>
                                  <p:tgtEl>
                                    <p:spTgt spid="13"/>
                                  </p:tgtEl>
                                  <p:attrNameLst>
                                    <p:attrName>style.visibility</p:attrName>
                                  </p:attrNameLst>
                                </p:cBhvr>
                                <p:to>
                                  <p:strVal val="visible"/>
                                </p:to>
                              </p:set>
                              <p:animEffect transition="in" filter="wipe(left)">
                                <p:cBhvr>
                                  <p:cTn id="12" dur="860"/>
                                  <p:tgtEl>
                                    <p:spTgt spid="13"/>
                                  </p:tgtEl>
                                </p:cBhvr>
                              </p:animEffect>
                            </p:childTnLst>
                          </p:cTn>
                        </p:par>
                        <p:par>
                          <p:cTn id="13" presetID="10" presetClass="entr" presetSubtype="0" fill="hold" grpId="0" nodeType="withEffect">
                            <p:stCondLst>
                              <p:cond delay="690"/>
                            </p:stCondLst>
                            <p:childTnLst>
                              <p:set>
                                <p:cBhvr>
                                  <p:cTn id="14" dur="1" fill="hold">
                                    <p:stCondLst>
                                      <p:cond delay="0"/>
                                    </p:stCondLst>
                                  </p:cTn>
                                  <p:tgtEl>
                                    <p:spTgt spid="14"/>
                                  </p:tgtEl>
                                  <p:attrNameLst>
                                    <p:attrName>style.visibility</p:attrName>
                                  </p:attrNameLst>
                                </p:cBhvr>
                                <p:to>
                                  <p:strVal val="visible"/>
                                </p:to>
                              </p:set>
                              <p:animEffect transition="in" filter="wipe(left)">
                                <p:cBhvr>
                                  <p:cTn id="15" dur="860"/>
                                  <p:tgtEl>
                                    <p:spTgt spid="14"/>
                                  </p:tgtEl>
                                </p:cBhvr>
                              </p:animEffect>
                            </p:childTnLst>
                          </p:cTn>
                        </p:par>
                        <p:par>
                          <p:cTn id="16" presetID="10" presetClass="entr" presetSubtype="0" fill="hold" grpId="0" nodeType="withEffect">
                            <p:stCondLst>
                              <p:cond delay="860"/>
                            </p:stCondLst>
                            <p:childTnLst>
                              <p:set>
                                <p:cBhvr>
                                  <p:cTn id="17" dur="1" fill="hold">
                                    <p:stCondLst>
                                      <p:cond delay="0"/>
                                    </p:stCondLst>
                                  </p:cTn>
                                  <p:tgtEl>
                                    <p:spTgt spid="15"/>
                                  </p:tgtEl>
                                  <p:attrNameLst>
                                    <p:attrName>style.visibility</p:attrName>
                                  </p:attrNameLst>
                                </p:cBhvr>
                                <p:to>
                                  <p:strVal val="visible"/>
                                </p:to>
                              </p:set>
                              <p:animEffect transition="in" filter="wipe(left)">
                                <p:cBhvr>
                                  <p:cTn id="18" dur="860"/>
                                  <p:tgtEl>
                                    <p:spTgt spid="15"/>
                                  </p:tgtEl>
                                </p:cBhvr>
                              </p:animEffect>
                            </p:childTnLst>
                          </p:cTn>
                        </p:par>
                        <p:par>
                          <p:cTn id="19" presetID="10" presetClass="entr" presetSubtype="0" fill="hold" grpId="0" nodeType="withEffect">
                            <p:stCondLst>
                              <p:cond delay="1030"/>
                            </p:stCondLst>
                            <p:childTnLst>
                              <p:set>
                                <p:cBhvr>
                                  <p:cTn id="20" dur="1" fill="hold">
                                    <p:stCondLst>
                                      <p:cond delay="0"/>
                                    </p:stCondLst>
                                  </p:cTn>
                                  <p:tgtEl>
                                    <p:spTgt spid="16"/>
                                  </p:tgtEl>
                                  <p:attrNameLst>
                                    <p:attrName>style.visibility</p:attrName>
                                  </p:attrNameLst>
                                </p:cBhvr>
                                <p:to>
                                  <p:strVal val="visible"/>
                                </p:to>
                              </p:set>
                              <p:animEffect transition="in" filter="wipe(left)">
                                <p:cBhvr>
                                  <p:cTn id="21" dur="860"/>
                                  <p:tgtEl>
                                    <p:spTgt spid="16"/>
                                  </p:tgtEl>
                                </p:cBhvr>
                              </p:animEffect>
                            </p:childTnLst>
                          </p:cTn>
                        </p:par>
                        <p:par>
                          <p:cTn id="22" presetID="10" presetClass="entr" presetSubtype="0" fill="hold" grpId="0" nodeType="withEffect">
                            <p:stCondLst>
                              <p:cond delay="1200"/>
                            </p:stCondLst>
                            <p:childTnLst>
                              <p:set>
                                <p:cBhvr>
                                  <p:cTn id="23" dur="1" fill="hold">
                                    <p:stCondLst>
                                      <p:cond delay="0"/>
                                    </p:stCondLst>
                                  </p:cTn>
                                  <p:tgtEl>
                                    <p:spTgt spid="17"/>
                                  </p:tgtEl>
                                  <p:attrNameLst>
                                    <p:attrName>style.visibility</p:attrName>
                                  </p:attrNameLst>
                                </p:cBhvr>
                                <p:to>
                                  <p:strVal val="visible"/>
                                </p:to>
                              </p:set>
                              <p:animEffect transition="in" filter="wipe(left)">
                                <p:cBhvr>
                                  <p:cTn id="24" dur="860"/>
                                  <p:tgtEl>
                                    <p:spTgt spid="17"/>
                                  </p:tgtEl>
                                </p:cBhvr>
                              </p:animEffect>
                            </p:childTnLst>
                          </p:cTn>
                        </p:par>
                      </p:childTnLst>
                    </p:cTn>
                  </p:par>
                </p:childTnLst>
              </p:cTn>
            </p:seq>
          </p:childTnLst>
        </p:cTn>
      </p:par>
    </p:tnLst>
    <p:bldLst>
      <p:bldP spid="10" grpId="0"/>
      <p:bldP spid="12" grpId="0"/>
      <p:bldP spid="13" grpId="0"/>
      <p:bldP spid="14" grpId="0"/>
      <p:bldP spid="15" grpId="0"/>
      <p:bldP spid="16" grpId="0"/>
      <p:bldP spid="17"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10800000">
            <a:off x="17259300" y="-233820"/>
            <a:ext cx="1940843" cy="970417"/>
            <a:chOff x="0" y="0"/>
            <a:chExt cx="2587790" cy="1293889"/>
          </a:xfrm>
        </p:grpSpPr>
        <p:sp>
          <p:nvSpPr>
            <p:cNvPr id="3" name="Freeform 3"/>
            <p:cNvSpPr/>
            <p:nvPr/>
          </p:nvSpPr>
          <p:spPr>
            <a:xfrm>
              <a:off x="0" y="0"/>
              <a:ext cx="2587752" cy="1293876"/>
            </a:xfrm>
            <a:custGeom>
              <a:avLst/>
              <a:gdLst/>
              <a:ahLst/>
              <a:cxnLst/>
              <a:rect l="l" t="t" r="r" b="b"/>
              <a:pathLst>
                <a:path w="2587752" h="1293876">
                  <a:moveTo>
                    <a:pt x="0" y="0"/>
                  </a:moveTo>
                  <a:lnTo>
                    <a:pt x="2587752" y="0"/>
                  </a:lnTo>
                  <a:lnTo>
                    <a:pt x="2587752" y="1293876"/>
                  </a:lnTo>
                  <a:lnTo>
                    <a:pt x="0" y="1293876"/>
                  </a:lnTo>
                  <a:lnTo>
                    <a:pt x="0" y="0"/>
                  </a:lnTo>
                  <a:close/>
                </a:path>
              </a:pathLst>
            </a:custGeom>
            <a:blipFill>
              <a:blip r:embed="rId2"/>
              <a:stretch>
                <a:fillRect r="-1"/>
              </a:stretch>
            </a:blipFill>
          </p:spPr>
          <p:txBody>
            <a:bodyPr/>
            <a:lstStyle/>
            <a:p>
              <a:endParaRPr lang="en-VN"/>
            </a:p>
          </p:txBody>
        </p:sp>
      </p:grpSp>
      <p:grpSp>
        <p:nvGrpSpPr>
          <p:cNvPr id="4" name="Group 4"/>
          <p:cNvGrpSpPr/>
          <p:nvPr/>
        </p:nvGrpSpPr>
        <p:grpSpPr>
          <a:xfrm>
            <a:off x="-912143" y="9429369"/>
            <a:ext cx="1940843" cy="970417"/>
            <a:chOff x="0" y="0"/>
            <a:chExt cx="2587790" cy="1293889"/>
          </a:xfrm>
        </p:grpSpPr>
        <p:sp>
          <p:nvSpPr>
            <p:cNvPr id="5" name="Freeform 5"/>
            <p:cNvSpPr/>
            <p:nvPr/>
          </p:nvSpPr>
          <p:spPr>
            <a:xfrm>
              <a:off x="0" y="0"/>
              <a:ext cx="2587752" cy="1293876"/>
            </a:xfrm>
            <a:custGeom>
              <a:avLst/>
              <a:gdLst/>
              <a:ahLst/>
              <a:cxnLst/>
              <a:rect l="l" t="t" r="r" b="b"/>
              <a:pathLst>
                <a:path w="2587752" h="1293876">
                  <a:moveTo>
                    <a:pt x="0" y="0"/>
                  </a:moveTo>
                  <a:lnTo>
                    <a:pt x="2587752" y="0"/>
                  </a:lnTo>
                  <a:lnTo>
                    <a:pt x="2587752" y="1293876"/>
                  </a:lnTo>
                  <a:lnTo>
                    <a:pt x="0" y="1293876"/>
                  </a:lnTo>
                  <a:lnTo>
                    <a:pt x="0" y="0"/>
                  </a:lnTo>
                  <a:close/>
                </a:path>
              </a:pathLst>
            </a:custGeom>
            <a:blipFill>
              <a:blip r:embed="rId2"/>
              <a:stretch>
                <a:fillRect r="-1"/>
              </a:stretch>
            </a:blipFill>
          </p:spPr>
          <p:txBody>
            <a:bodyPr/>
            <a:lstStyle/>
            <a:p>
              <a:endParaRPr lang="en-VN"/>
            </a:p>
          </p:txBody>
        </p:sp>
      </p:grpSp>
      <p:grpSp>
        <p:nvGrpSpPr>
          <p:cNvPr id="6" name="Group 6"/>
          <p:cNvGrpSpPr/>
          <p:nvPr/>
        </p:nvGrpSpPr>
        <p:grpSpPr>
          <a:xfrm>
            <a:off x="-3127839" y="9986436"/>
            <a:ext cx="22035035" cy="2837612"/>
            <a:chOff x="0" y="0"/>
            <a:chExt cx="5803466" cy="747355"/>
          </a:xfrm>
        </p:grpSpPr>
        <p:sp>
          <p:nvSpPr>
            <p:cNvPr id="7" name="Freeform 7"/>
            <p:cNvSpPr/>
            <p:nvPr/>
          </p:nvSpPr>
          <p:spPr>
            <a:xfrm>
              <a:off x="0" y="0"/>
              <a:ext cx="5803466" cy="747355"/>
            </a:xfrm>
            <a:custGeom>
              <a:avLst/>
              <a:gdLst/>
              <a:ahLst/>
              <a:cxnLst/>
              <a:rect l="l" t="t" r="r" b="b"/>
              <a:pathLst>
                <a:path w="5803466" h="747355">
                  <a:moveTo>
                    <a:pt x="0" y="0"/>
                  </a:moveTo>
                  <a:lnTo>
                    <a:pt x="5803466" y="0"/>
                  </a:lnTo>
                  <a:lnTo>
                    <a:pt x="5803466" y="747355"/>
                  </a:lnTo>
                  <a:lnTo>
                    <a:pt x="0" y="747355"/>
                  </a:lnTo>
                  <a:close/>
                </a:path>
              </a:pathLst>
            </a:custGeom>
            <a:solidFill>
              <a:srgbClr val="3C4F75"/>
            </a:solidFill>
          </p:spPr>
          <p:txBody>
            <a:bodyPr/>
            <a:lstStyle/>
            <a:p>
              <a:endParaRPr lang="en-VN"/>
            </a:p>
          </p:txBody>
        </p:sp>
        <p:sp>
          <p:nvSpPr>
            <p:cNvPr id="8" name="TextBox 8"/>
            <p:cNvSpPr txBox="1"/>
            <p:nvPr/>
          </p:nvSpPr>
          <p:spPr>
            <a:xfrm>
              <a:off x="0" y="-47625"/>
              <a:ext cx="5803466" cy="794980"/>
            </a:xfrm>
            <a:prstGeom prst="rect">
              <a:avLst/>
            </a:prstGeom>
          </p:spPr>
          <p:txBody>
            <a:bodyPr lIns="50800" tIns="50800" rIns="50800" bIns="50800" rtlCol="0" anchor="ctr"/>
            <a:lstStyle/>
            <a:p>
              <a:pPr algn="ctr">
                <a:lnSpc>
                  <a:spcPts val="2940"/>
                </a:lnSpc>
              </a:pPr>
              <a:endParaRPr/>
            </a:p>
          </p:txBody>
        </p:sp>
      </p:grpSp>
      <p:sp>
        <p:nvSpPr>
          <p:cNvPr id="9" name="Freeform 9"/>
          <p:cNvSpPr/>
          <p:nvPr/>
        </p:nvSpPr>
        <p:spPr>
          <a:xfrm>
            <a:off x="1028700" y="251389"/>
            <a:ext cx="551704" cy="584433"/>
          </a:xfrm>
          <a:custGeom>
            <a:avLst/>
            <a:gdLst/>
            <a:ahLst/>
            <a:cxnLst/>
            <a:rect l="l" t="t" r="r" b="b"/>
            <a:pathLst>
              <a:path w="551704" h="584433">
                <a:moveTo>
                  <a:pt x="0" y="0"/>
                </a:moveTo>
                <a:lnTo>
                  <a:pt x="551704" y="0"/>
                </a:lnTo>
                <a:lnTo>
                  <a:pt x="551704" y="584432"/>
                </a:lnTo>
                <a:lnTo>
                  <a:pt x="0" y="584432"/>
                </a:lnTo>
                <a:lnTo>
                  <a:pt x="0" y="0"/>
                </a:lnTo>
                <a:close/>
              </a:path>
            </a:pathLst>
          </a:custGeom>
          <a:blipFill>
            <a:blip r:embed="rId3"/>
            <a:stretch>
              <a:fillRect/>
            </a:stretch>
          </a:blipFill>
        </p:spPr>
        <p:txBody>
          <a:bodyPr/>
          <a:lstStyle/>
          <a:p>
            <a:endParaRPr lang="en-VN"/>
          </a:p>
        </p:txBody>
      </p:sp>
      <p:sp>
        <p:nvSpPr>
          <p:cNvPr id="10" name="TextBox 10"/>
          <p:cNvSpPr txBox="1"/>
          <p:nvPr/>
        </p:nvSpPr>
        <p:spPr>
          <a:xfrm>
            <a:off x="1687249" y="346410"/>
            <a:ext cx="3954904" cy="356289"/>
          </a:xfrm>
          <a:prstGeom prst="rect">
            <a:avLst/>
          </a:prstGeom>
        </p:spPr>
        <p:txBody>
          <a:bodyPr lIns="0" tIns="0" rIns="0" bIns="0" rtlCol="0" anchor="t">
            <a:spAutoFit/>
          </a:bodyPr>
          <a:lstStyle/>
          <a:p>
            <a:pPr algn="l">
              <a:lnSpc>
                <a:spcPts val="2940"/>
              </a:lnSpc>
            </a:pPr>
            <a:r>
              <a:rPr lang="en-US" sz="2100" b="1">
                <a:solidFill>
                  <a:srgbClr val="2C2C2C"/>
                </a:solidFill>
                <a:latin typeface="Roboto Slab Bold"/>
                <a:ea typeface="Roboto Slab Bold"/>
                <a:cs typeface="Roboto Slab Bold"/>
                <a:sym typeface="Roboto Slab Bold"/>
              </a:rPr>
              <a:t>HỌC VIỆN KỸ THUẬT MẬT MÃ</a:t>
            </a:r>
          </a:p>
        </p:txBody>
      </p:sp>
      <p:sp>
        <p:nvSpPr>
          <p:cNvPr id="11" name="TextBox 11"/>
          <p:cNvSpPr txBox="1"/>
          <p:nvPr/>
        </p:nvSpPr>
        <p:spPr>
          <a:xfrm>
            <a:off x="3334264" y="3539348"/>
            <a:ext cx="11619472" cy="1459103"/>
          </a:xfrm>
          <a:prstGeom prst="rect">
            <a:avLst/>
          </a:prstGeom>
        </p:spPr>
        <p:txBody>
          <a:bodyPr lIns="0" tIns="0" rIns="0" bIns="0" rtlCol="0" anchor="t">
            <a:spAutoFit/>
          </a:bodyPr>
          <a:lstStyle/>
          <a:p>
            <a:pPr algn="ctr">
              <a:lnSpc>
                <a:spcPts val="5656"/>
              </a:lnSpc>
            </a:pPr>
            <a:r>
              <a:rPr lang="en-US" sz="5600" b="1">
                <a:solidFill>
                  <a:srgbClr val="0C1D4B"/>
                </a:solidFill>
                <a:latin typeface="Roboto Slab Bold"/>
                <a:ea typeface="Roboto Slab Bold"/>
                <a:cs typeface="Roboto Slab Bold"/>
                <a:sym typeface="Roboto Slab Bold"/>
              </a:rPr>
              <a:t>CẢM ƠN THẦY CÔ VÀ CÁC BẠN ĐÃ LẮNG NGHE</a:t>
            </a:r>
          </a:p>
        </p:txBody>
      </p:sp>
      <p:grpSp>
        <p:nvGrpSpPr>
          <p:cNvPr id="12" name="Group 12"/>
          <p:cNvGrpSpPr/>
          <p:nvPr/>
        </p:nvGrpSpPr>
        <p:grpSpPr>
          <a:xfrm>
            <a:off x="5686529" y="5500645"/>
            <a:ext cx="6914943" cy="814121"/>
            <a:chOff x="0" y="0"/>
            <a:chExt cx="1821220" cy="214419"/>
          </a:xfrm>
        </p:grpSpPr>
        <p:sp>
          <p:nvSpPr>
            <p:cNvPr id="13" name="Freeform 13"/>
            <p:cNvSpPr/>
            <p:nvPr/>
          </p:nvSpPr>
          <p:spPr>
            <a:xfrm>
              <a:off x="0" y="0"/>
              <a:ext cx="1821219" cy="214419"/>
            </a:xfrm>
            <a:custGeom>
              <a:avLst/>
              <a:gdLst/>
              <a:ahLst/>
              <a:cxnLst/>
              <a:rect l="l" t="t" r="r" b="b"/>
              <a:pathLst>
                <a:path w="1821219" h="214419">
                  <a:moveTo>
                    <a:pt x="31349" y="0"/>
                  </a:moveTo>
                  <a:lnTo>
                    <a:pt x="1789871" y="0"/>
                  </a:lnTo>
                  <a:cubicBezTo>
                    <a:pt x="1798185" y="0"/>
                    <a:pt x="1806159" y="3303"/>
                    <a:pt x="1812038" y="9182"/>
                  </a:cubicBezTo>
                  <a:cubicBezTo>
                    <a:pt x="1817917" y="15061"/>
                    <a:pt x="1821219" y="23034"/>
                    <a:pt x="1821219" y="31349"/>
                  </a:cubicBezTo>
                  <a:lnTo>
                    <a:pt x="1821219" y="183070"/>
                  </a:lnTo>
                  <a:cubicBezTo>
                    <a:pt x="1821219" y="200384"/>
                    <a:pt x="1807184" y="214419"/>
                    <a:pt x="1789871" y="214419"/>
                  </a:cubicBezTo>
                  <a:lnTo>
                    <a:pt x="31349" y="214419"/>
                  </a:lnTo>
                  <a:cubicBezTo>
                    <a:pt x="23034" y="214419"/>
                    <a:pt x="15061" y="211116"/>
                    <a:pt x="9182" y="205237"/>
                  </a:cubicBezTo>
                  <a:cubicBezTo>
                    <a:pt x="3303" y="199358"/>
                    <a:pt x="0" y="191384"/>
                    <a:pt x="0" y="183070"/>
                  </a:cubicBezTo>
                  <a:lnTo>
                    <a:pt x="0" y="31349"/>
                  </a:lnTo>
                  <a:cubicBezTo>
                    <a:pt x="0" y="14035"/>
                    <a:pt x="14035" y="0"/>
                    <a:pt x="31349" y="0"/>
                  </a:cubicBezTo>
                  <a:close/>
                </a:path>
              </a:pathLst>
            </a:custGeom>
            <a:solidFill>
              <a:srgbClr val="0C1D4B"/>
            </a:solidFill>
          </p:spPr>
          <p:txBody>
            <a:bodyPr/>
            <a:lstStyle/>
            <a:p>
              <a:endParaRPr lang="en-VN"/>
            </a:p>
          </p:txBody>
        </p:sp>
        <p:sp>
          <p:nvSpPr>
            <p:cNvPr id="14" name="TextBox 14"/>
            <p:cNvSpPr txBox="1"/>
            <p:nvPr/>
          </p:nvSpPr>
          <p:spPr>
            <a:xfrm>
              <a:off x="0" y="-47625"/>
              <a:ext cx="1821220" cy="262044"/>
            </a:xfrm>
            <a:prstGeom prst="rect">
              <a:avLst/>
            </a:prstGeom>
          </p:spPr>
          <p:txBody>
            <a:bodyPr lIns="50800" tIns="50800" rIns="50800" bIns="50800" rtlCol="0" anchor="ctr"/>
            <a:lstStyle/>
            <a:p>
              <a:pPr algn="ctr">
                <a:lnSpc>
                  <a:spcPts val="3779"/>
                </a:lnSpc>
              </a:pPr>
              <a:r>
                <a:rPr lang="en-US" sz="2699" b="1" spc="64">
                  <a:solidFill>
                    <a:srgbClr val="FFFFFF"/>
                  </a:solidFill>
                  <a:latin typeface="DM Sans Bold"/>
                  <a:ea typeface="DM Sans Bold"/>
                  <a:cs typeface="DM Sans Bold"/>
                  <a:sym typeface="DM Sans Bold"/>
                </a:rPr>
                <a:t>THANK YOU!</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grpId="0" nodeType="withEffect">
                            <p:stCondLst>
                              <p:cond delay="180"/>
                            </p:stCondLst>
                            <p:childTnLst>
                              <p:set>
                                <p:cBhvr>
                                  <p:cTn id="5" dur="1" fill="hold">
                                    <p:stCondLst>
                                      <p:cond delay="0"/>
                                    </p:stCondLst>
                                  </p:cTn>
                                  <p:tgtEl>
                                    <p:spTgt spid="11"/>
                                  </p:tgtEl>
                                  <p:attrNameLst>
                                    <p:attrName>style.visibility</p:attrName>
                                  </p:attrNameLst>
                                </p:cBhvr>
                                <p:to>
                                  <p:strVal val="visible"/>
                                </p:to>
                              </p:set>
                              <p:animEffect transition="in" filter="wipe(left)">
                                <p:cBhvr>
                                  <p:cTn id="6" dur="860"/>
                                  <p:tgtEl>
                                    <p:spTgt spid="11"/>
                                  </p:tgtEl>
                                </p:cBhvr>
                              </p:animEffect>
                            </p:childTnLst>
                          </p:cTn>
                        </p:par>
                        <p:par>
                          <p:cTn id="7" presetID="10" presetClass="entr" presetSubtype="0" fill="hold" grpId="0" nodeType="withEffect">
                            <p:stCondLst>
                              <p:cond delay="350"/>
                            </p:stCondLst>
                            <p:childTnLst>
                              <p:set>
                                <p:cBhvr>
                                  <p:cTn id="8" dur="1" fill="hold">
                                    <p:stCondLst>
                                      <p:cond delay="0"/>
                                    </p:stCondLst>
                                  </p:cTn>
                                  <p:tgtEl>
                                    <p:spTgt spid="12"/>
                                  </p:tgtEl>
                                  <p:attrNameLst>
                                    <p:attrName>style.visibility</p:attrName>
                                  </p:attrNameLst>
                                </p:cBhvr>
                                <p:to>
                                  <p:strVal val="visible"/>
                                </p:to>
                              </p:set>
                              <p:animEffect transition="in" filter="wipe(left)">
                                <p:cBhvr>
                                  <p:cTn id="9" dur="860"/>
                                  <p:tgtEl>
                                    <p:spTgt spid="12"/>
                                  </p:tgtEl>
                                </p:cBhvr>
                              </p:animEffect>
                            </p:childTnLst>
                          </p:cTn>
                        </p:par>
                      </p:childTnLst>
                    </p:cTn>
                  </p:par>
                </p:childTnLst>
              </p:cTn>
            </p:seq>
          </p:childTnLst>
        </p:cTn>
      </p:par>
    </p:tnLst>
    <p:bldLst>
      <p:bldP spid="11" grpId="0"/>
      <p:bldP spid="12"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178</TotalTime>
  <Words>3252</Words>
  <Application>Microsoft Macintosh PowerPoint</Application>
  <PresentationFormat>Custom</PresentationFormat>
  <Paragraphs>393</Paragraphs>
  <Slides>35</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35</vt:i4>
      </vt:variant>
    </vt:vector>
  </HeadingPairs>
  <TitlesOfParts>
    <vt:vector size="45" baseType="lpstr">
      <vt:lpstr>Calibri</vt:lpstr>
      <vt:lpstr>Roboto Slab</vt:lpstr>
      <vt:lpstr>Courier New</vt:lpstr>
      <vt:lpstr>Roboto Bold Italics</vt:lpstr>
      <vt:lpstr>Roboto Italics</vt:lpstr>
      <vt:lpstr>Arial</vt:lpstr>
      <vt:lpstr>DM Sans Bold</vt:lpstr>
      <vt:lpstr>Roboto Slab Bold</vt:lpstr>
      <vt:lpstr>IBM Plex Mono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Bản sao của Báo cáo đồ án</dc:title>
  <cp:lastModifiedBy>Chris Green</cp:lastModifiedBy>
  <cp:revision>18</cp:revision>
  <dcterms:created xsi:type="dcterms:W3CDTF">2006-08-16T00:00:00Z</dcterms:created>
  <dcterms:modified xsi:type="dcterms:W3CDTF">2026-06-08T16:42:03Z</dcterms:modified>
  <dc:identifier>DAHL5LA9SxM</dc:identifier>
</cp:coreProperties>
</file>