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8288000" cy="10287000"/>
  <p:notesSz cx="6858000" cy="9144000"/>
  <p:embeddedFontLst>
    <p:embeddedFont>
      <p:font typeface="DM Sans Bold" pitchFamily="2" charset="77"/>
      <p:regular r:id="rId37"/>
      <p:bold r:id="rId38"/>
    </p:embeddedFont>
    <p:embeddedFont>
      <p:font typeface="IBM Plex Mono" panose="020B0509050203000203" pitchFamily="49" charset="77"/>
      <p:regular r:id="rId39"/>
      <p:bold r:id="rId40"/>
      <p:italic r:id="rId41"/>
    </p:embeddedFont>
    <p:embeddedFont>
      <p:font typeface="Roboto Bold Italics" panose="02000000000000000000" pitchFamily="2" charset="0"/>
      <p:regular r:id="rId42"/>
      <p:bold r:id="rId43"/>
      <p:italic r:id="rId44"/>
      <p:boldItalic r:id="rId45"/>
    </p:embeddedFont>
    <p:embeddedFont>
      <p:font typeface="Roboto Italics" panose="02000000000000000000" pitchFamily="2" charset="0"/>
      <p:regular r:id="rId46"/>
      <p:italic r:id="rId47"/>
    </p:embeddedFont>
    <p:embeddedFont>
      <p:font typeface="Roboto Slab" pitchFamily="2" charset="0"/>
      <p:regular r:id="rId48"/>
      <p:bold r:id="rId49"/>
    </p:embeddedFont>
    <p:embeddedFont>
      <p:font typeface="Roboto Slab Bold"/>
      <p:regular r:id="rId50"/>
      <p:bold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1D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88" autoAdjust="0"/>
    <p:restoredTop sz="94680" autoAdjust="0"/>
  </p:normalViewPr>
  <p:slideViewPr>
    <p:cSldViewPr>
      <p:cViewPr varScale="1">
        <p:scale>
          <a:sx n="66" d="100"/>
          <a:sy n="66" d="100"/>
        </p:scale>
        <p:origin x="168" y="44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20.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26.svg"/><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5" name="Freeform 5"/>
          <p:cNvSpPr/>
          <p:nvPr/>
        </p:nvSpPr>
        <p:spPr>
          <a:xfrm>
            <a:off x="8761779" y="1102374"/>
            <a:ext cx="2024168" cy="2144246"/>
          </a:xfrm>
          <a:custGeom>
            <a:avLst/>
            <a:gdLst/>
            <a:ahLst/>
            <a:cxnLst/>
            <a:rect l="l" t="t" r="r" b="b"/>
            <a:pathLst>
              <a:path w="2024168" h="2144246">
                <a:moveTo>
                  <a:pt x="0" y="0"/>
                </a:moveTo>
                <a:lnTo>
                  <a:pt x="2024169" y="0"/>
                </a:lnTo>
                <a:lnTo>
                  <a:pt x="2024169" y="2144246"/>
                </a:lnTo>
                <a:lnTo>
                  <a:pt x="0" y="2144246"/>
                </a:lnTo>
                <a:lnTo>
                  <a:pt x="0" y="0"/>
                </a:lnTo>
                <a:close/>
              </a:path>
            </a:pathLst>
          </a:custGeom>
          <a:blipFill>
            <a:blip r:embed="rId2"/>
            <a:stretch>
              <a:fillRect/>
            </a:stretch>
          </a:blipFill>
        </p:spPr>
        <p:txBody>
          <a:bodyPr/>
          <a:lstStyle/>
          <a:p>
            <a:endParaRPr lang="en-VN"/>
          </a:p>
        </p:txBody>
      </p:sp>
      <p:sp>
        <p:nvSpPr>
          <p:cNvPr id="6" name="TextBox 6"/>
          <p:cNvSpPr txBox="1"/>
          <p:nvPr/>
        </p:nvSpPr>
        <p:spPr>
          <a:xfrm>
            <a:off x="7769084" y="199955"/>
            <a:ext cx="4009560" cy="356289"/>
          </a:xfrm>
          <a:prstGeom prst="rect">
            <a:avLst/>
          </a:prstGeom>
        </p:spPr>
        <p:txBody>
          <a:bodyPr lIns="0" tIns="0" rIns="0" bIns="0" rtlCol="0" anchor="t">
            <a:spAutoFit/>
          </a:bodyPr>
          <a:lstStyle/>
          <a:p>
            <a:pPr algn="l">
              <a:lnSpc>
                <a:spcPts val="2940"/>
              </a:lnSpc>
            </a:pPr>
            <a:r>
              <a:rPr lang="en-US" sz="2100" b="1">
                <a:solidFill>
                  <a:srgbClr val="0C1D4B"/>
                </a:solidFill>
                <a:latin typeface="Roboto Slab Bold"/>
                <a:ea typeface="Roboto Slab Bold"/>
                <a:cs typeface="Roboto Slab Bold"/>
                <a:sym typeface="Roboto Slab Bold"/>
              </a:rPr>
              <a:t>HỌC VIỆN KỸ THUẬT MẬT MÃ</a:t>
            </a:r>
          </a:p>
        </p:txBody>
      </p:sp>
      <p:sp>
        <p:nvSpPr>
          <p:cNvPr id="7" name="TextBox 7"/>
          <p:cNvSpPr txBox="1"/>
          <p:nvPr/>
        </p:nvSpPr>
        <p:spPr>
          <a:xfrm>
            <a:off x="3708359" y="5394517"/>
            <a:ext cx="12131009" cy="1247667"/>
          </a:xfrm>
          <a:prstGeom prst="rect">
            <a:avLst/>
          </a:prstGeom>
        </p:spPr>
        <p:txBody>
          <a:bodyPr lIns="0" tIns="0" rIns="0" bIns="0" rtlCol="0" anchor="t">
            <a:spAutoFit/>
          </a:bodyPr>
          <a:lstStyle/>
          <a:p>
            <a:pPr algn="ctr">
              <a:lnSpc>
                <a:spcPts val="4954"/>
              </a:lnSpc>
            </a:pPr>
            <a:r>
              <a:rPr lang="en-US" sz="4129" b="1" spc="111">
                <a:solidFill>
                  <a:srgbClr val="0C1D4B"/>
                </a:solidFill>
                <a:latin typeface="Roboto Slab Bold"/>
                <a:ea typeface="Roboto Slab Bold"/>
                <a:cs typeface="Roboto Slab Bold"/>
                <a:sym typeface="Roboto Slab Bold"/>
              </a:rPr>
              <a:t>NGHIÊN CỨU PHÁT TRIỂN TRỢ LÝ ẢO PHÁP LUẬT CHO CHUYỂN ĐỔI SỐ</a:t>
            </a:r>
          </a:p>
        </p:txBody>
      </p:sp>
      <p:sp>
        <p:nvSpPr>
          <p:cNvPr id="8" name="TextBox 8"/>
          <p:cNvSpPr txBox="1"/>
          <p:nvPr/>
        </p:nvSpPr>
        <p:spPr>
          <a:xfrm>
            <a:off x="3164929" y="7594683"/>
            <a:ext cx="4063812" cy="1530975"/>
          </a:xfrm>
          <a:prstGeom prst="rect">
            <a:avLst/>
          </a:prstGeom>
        </p:spPr>
        <p:txBody>
          <a:bodyPr lIns="0" tIns="0" rIns="0" bIns="0" rtlCol="0" anchor="t">
            <a:spAutoFit/>
          </a:bodyPr>
          <a:lstStyle/>
          <a:p>
            <a:pPr algn="l">
              <a:lnSpc>
                <a:spcPts val="1983"/>
              </a:lnSpc>
            </a:pPr>
            <a:r>
              <a:rPr lang="en-US" sz="2542" spc="61">
                <a:solidFill>
                  <a:srgbClr val="0C1D4B"/>
                </a:solidFill>
                <a:latin typeface="Roboto Slab"/>
                <a:ea typeface="Roboto Slab"/>
                <a:cs typeface="Roboto Slab"/>
                <a:sym typeface="Roboto Slab"/>
              </a:rPr>
              <a:t>Sinh viên thực hiện</a:t>
            </a:r>
          </a:p>
          <a:p>
            <a:pPr marL="548995" lvl="1" indent="-274498" algn="l">
              <a:lnSpc>
                <a:spcPts val="3559"/>
              </a:lnSpc>
              <a:buFont typeface="Arial"/>
              <a:buChar char="•"/>
            </a:pPr>
            <a:r>
              <a:rPr lang="en-US" sz="2542" spc="61">
                <a:solidFill>
                  <a:srgbClr val="0C1D4B"/>
                </a:solidFill>
                <a:latin typeface="Roboto Slab"/>
                <a:ea typeface="Roboto Slab"/>
                <a:cs typeface="Roboto Slab"/>
                <a:sym typeface="Roboto Slab"/>
              </a:rPr>
              <a:t>Vương Văn Duy</a:t>
            </a:r>
          </a:p>
          <a:p>
            <a:pPr algn="l">
              <a:lnSpc>
                <a:spcPts val="3559"/>
              </a:lnSpc>
            </a:pPr>
            <a:r>
              <a:rPr lang="en-US" sz="2542" spc="61">
                <a:solidFill>
                  <a:srgbClr val="0C1D4B"/>
                </a:solidFill>
                <a:latin typeface="Roboto Slab"/>
                <a:ea typeface="Roboto Slab"/>
                <a:cs typeface="Roboto Slab"/>
                <a:sym typeface="Roboto Slab"/>
              </a:rPr>
              <a:t>Giảng viên hướng dẫn</a:t>
            </a:r>
          </a:p>
          <a:p>
            <a:pPr marL="548995" lvl="1" indent="-274498" algn="l">
              <a:lnSpc>
                <a:spcPts val="3559"/>
              </a:lnSpc>
              <a:buFont typeface="Arial"/>
              <a:buChar char="•"/>
            </a:pPr>
            <a:r>
              <a:rPr lang="en-US" sz="2542" spc="61">
                <a:solidFill>
                  <a:srgbClr val="0C1D4B"/>
                </a:solidFill>
                <a:latin typeface="Roboto Slab"/>
                <a:ea typeface="Roboto Slab"/>
                <a:cs typeface="Roboto Slab"/>
                <a:sym typeface="Roboto Slab"/>
              </a:rPr>
              <a:t>ThS. Trần Đức Thịnh</a:t>
            </a:r>
          </a:p>
        </p:txBody>
      </p:sp>
      <p:sp>
        <p:nvSpPr>
          <p:cNvPr id="9" name="TextBox 9"/>
          <p:cNvSpPr txBox="1"/>
          <p:nvPr/>
        </p:nvSpPr>
        <p:spPr>
          <a:xfrm>
            <a:off x="6844389" y="3916574"/>
            <a:ext cx="5858949" cy="346355"/>
          </a:xfrm>
          <a:prstGeom prst="rect">
            <a:avLst/>
          </a:prstGeom>
        </p:spPr>
        <p:txBody>
          <a:bodyPr lIns="0" tIns="0" rIns="0" bIns="0" rtlCol="0" anchor="t">
            <a:spAutoFit/>
          </a:bodyPr>
          <a:lstStyle/>
          <a:p>
            <a:pPr algn="l">
              <a:lnSpc>
                <a:spcPts val="2417"/>
              </a:lnSpc>
            </a:pPr>
            <a:r>
              <a:rPr lang="en-US" sz="3099" b="1" spc="74">
                <a:solidFill>
                  <a:srgbClr val="0C1D4B"/>
                </a:solidFill>
                <a:latin typeface="Roboto Slab Bold"/>
                <a:ea typeface="Roboto Slab Bold"/>
                <a:cs typeface="Roboto Slab Bold"/>
                <a:sym typeface="Roboto Slab Bold"/>
              </a:rPr>
              <a:t>BÁO CÁO ĐỒ ÁN TỐT NGHIỆP</a:t>
            </a:r>
          </a:p>
        </p:txBody>
      </p:sp>
      <p:sp>
        <p:nvSpPr>
          <p:cNvPr id="10" name="TextBox 10"/>
          <p:cNvSpPr txBox="1"/>
          <p:nvPr/>
        </p:nvSpPr>
        <p:spPr>
          <a:xfrm>
            <a:off x="3164929" y="4809801"/>
            <a:ext cx="3577720" cy="333699"/>
          </a:xfrm>
          <a:prstGeom prst="rect">
            <a:avLst/>
          </a:prstGeom>
        </p:spPr>
        <p:txBody>
          <a:bodyPr lIns="0" tIns="0" rIns="0" bIns="0" rtlCol="0" anchor="t">
            <a:spAutoFit/>
          </a:bodyPr>
          <a:lstStyle/>
          <a:p>
            <a:pPr algn="l">
              <a:lnSpc>
                <a:spcPts val="2373"/>
              </a:lnSpc>
            </a:pPr>
            <a:r>
              <a:rPr lang="en-US" sz="3042" spc="73">
                <a:solidFill>
                  <a:srgbClr val="0C1D4B"/>
                </a:solidFill>
                <a:latin typeface="Roboto Slab"/>
                <a:ea typeface="Roboto Slab"/>
                <a:cs typeface="Roboto Slab"/>
                <a:sym typeface="Roboto Slab"/>
              </a:rPr>
              <a:t>ĐỀ TÀI: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6"/>
                                  </p:tgtEl>
                                  <p:attrNameLst>
                                    <p:attrName>style.visibility</p:attrName>
                                  </p:attrNameLst>
                                </p:cBhvr>
                                <p:to>
                                  <p:strVal val="visible"/>
                                </p:to>
                              </p:set>
                              <p:animEffect transition="in" filter="wipe(left)">
                                <p:cBhvr>
                                  <p:cTn id="6" dur="860"/>
                                  <p:tgtEl>
                                    <p:spTgt spid="6"/>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860"/>
                                  <p:tgtEl>
                                    <p:spTgt spid="5"/>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860"/>
                                  <p:tgtEl>
                                    <p:spTgt spid="9"/>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860"/>
                                  <p:tgtEl>
                                    <p:spTgt spid="10"/>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860"/>
                                  <p:tgtEl>
                                    <p:spTgt spid="7"/>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860"/>
                                  <p:tgtEl>
                                    <p:spTgt spid="8"/>
                                  </p:tgtEl>
                                </p:cBhvr>
                              </p:animEffect>
                            </p:childTnLst>
                          </p:cTn>
                        </p:par>
                      </p:childTnLst>
                    </p:cTn>
                  </p:par>
                </p:childTnLst>
              </p:cTn>
            </p:seq>
          </p:childTnLst>
        </p:cTn>
      </p:par>
    </p:tnLst>
    <p:bldLst>
      <p:bldP spid="5" grpId="0" animBg="1"/>
      <p:bldP spid="6" grpId="0"/>
      <p:bldP spid="7" grpId="0"/>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4469617" y="2876965"/>
            <a:ext cx="9348766" cy="975360"/>
            <a:chOff x="0" y="0"/>
            <a:chExt cx="2462276" cy="257048"/>
          </a:xfrm>
        </p:grpSpPr>
        <p:sp>
          <p:nvSpPr>
            <p:cNvPr id="6" name="Freeform 6"/>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7" name="TextBox 7"/>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1. PHÁT BIỂU BÀI TOÁN</a:t>
              </a:r>
            </a:p>
          </p:txBody>
        </p:sp>
      </p:grpSp>
      <p:sp>
        <p:nvSpPr>
          <p:cNvPr id="8" name="TextBox 8"/>
          <p:cNvSpPr txBox="1"/>
          <p:nvPr/>
        </p:nvSpPr>
        <p:spPr>
          <a:xfrm>
            <a:off x="7701061" y="1861633"/>
            <a:ext cx="2885878" cy="477063"/>
          </a:xfrm>
          <a:prstGeom prst="rect">
            <a:avLst/>
          </a:prstGeom>
        </p:spPr>
        <p:txBody>
          <a:bodyPr lIns="0" tIns="0" rIns="0" bIns="0" rtlCol="0" anchor="t">
            <a:spAutoFit/>
          </a:bodyPr>
          <a:lstStyle/>
          <a:p>
            <a:pPr algn="l">
              <a:lnSpc>
                <a:spcPts val="3353"/>
              </a:lnSpc>
            </a:pPr>
            <a:r>
              <a:rPr lang="en-US" sz="4299" b="1" spc="103">
                <a:solidFill>
                  <a:srgbClr val="0C1D4B"/>
                </a:solidFill>
                <a:latin typeface="Roboto Slab Bold"/>
                <a:ea typeface="Roboto Slab Bold"/>
                <a:cs typeface="Roboto Slab Bold"/>
                <a:sym typeface="Roboto Slab Bold"/>
              </a:rPr>
              <a:t>NỘI DUNG</a:t>
            </a:r>
          </a:p>
        </p:txBody>
      </p:sp>
      <p:grpSp>
        <p:nvGrpSpPr>
          <p:cNvPr id="9" name="Group 9"/>
          <p:cNvGrpSpPr/>
          <p:nvPr/>
        </p:nvGrpSpPr>
        <p:grpSpPr>
          <a:xfrm>
            <a:off x="4469617" y="4171115"/>
            <a:ext cx="9348766" cy="975360"/>
            <a:chOff x="0" y="0"/>
            <a:chExt cx="2462276" cy="257048"/>
          </a:xfrm>
        </p:grpSpPr>
        <p:sp>
          <p:nvSpPr>
            <p:cNvPr id="10" name="Freeform 10"/>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1" name="TextBox 11"/>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2. CƠ SỞ LÝ THUYẾT</a:t>
              </a:r>
            </a:p>
          </p:txBody>
        </p:sp>
      </p:grpSp>
      <p:grpSp>
        <p:nvGrpSpPr>
          <p:cNvPr id="12" name="Group 12"/>
          <p:cNvGrpSpPr/>
          <p:nvPr/>
        </p:nvGrpSpPr>
        <p:grpSpPr>
          <a:xfrm>
            <a:off x="4469617" y="5460800"/>
            <a:ext cx="9348766" cy="975360"/>
            <a:chOff x="0" y="0"/>
            <a:chExt cx="2462276" cy="257048"/>
          </a:xfrm>
        </p:grpSpPr>
        <p:sp>
          <p:nvSpPr>
            <p:cNvPr id="13" name="Freeform 13"/>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4" name="TextBox 14"/>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3. XÂY DỰNG HỆ THỐNG</a:t>
              </a:r>
            </a:p>
          </p:txBody>
        </p:sp>
      </p:grpSp>
      <p:grpSp>
        <p:nvGrpSpPr>
          <p:cNvPr id="15" name="Group 15"/>
          <p:cNvGrpSpPr/>
          <p:nvPr/>
        </p:nvGrpSpPr>
        <p:grpSpPr>
          <a:xfrm>
            <a:off x="4469617" y="6750485"/>
            <a:ext cx="9348766" cy="975360"/>
            <a:chOff x="0" y="0"/>
            <a:chExt cx="2462276" cy="257048"/>
          </a:xfrm>
        </p:grpSpPr>
        <p:sp>
          <p:nvSpPr>
            <p:cNvPr id="16" name="Freeform 16"/>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7" name="TextBox 17"/>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4. THỰC NGHIỆM VÀ KẾT LUẬN</a:t>
              </a:r>
            </a:p>
          </p:txBody>
        </p:sp>
      </p:grpSp>
      <p:grpSp>
        <p:nvGrpSpPr>
          <p:cNvPr id="18" name="Group 18"/>
          <p:cNvGrpSpPr/>
          <p:nvPr/>
        </p:nvGrpSpPr>
        <p:grpSpPr>
          <a:xfrm rot="-10800000">
            <a:off x="17259300" y="-233820"/>
            <a:ext cx="1940843" cy="970417"/>
            <a:chOff x="0" y="0"/>
            <a:chExt cx="2587790" cy="1293889"/>
          </a:xfrm>
        </p:grpSpPr>
        <p:sp>
          <p:nvSpPr>
            <p:cNvPr id="19" name="Freeform 19"/>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20" name="Group 20"/>
          <p:cNvGrpSpPr/>
          <p:nvPr/>
        </p:nvGrpSpPr>
        <p:grpSpPr>
          <a:xfrm>
            <a:off x="-912143" y="9429369"/>
            <a:ext cx="1940843" cy="970417"/>
            <a:chOff x="0" y="0"/>
            <a:chExt cx="2587790" cy="1293889"/>
          </a:xfrm>
        </p:grpSpPr>
        <p:sp>
          <p:nvSpPr>
            <p:cNvPr id="21" name="Freeform 21"/>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22" name="TextBox 2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23" name="Freeform 23"/>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23"/>
                                  </p:tgtEl>
                                  <p:attrNameLst>
                                    <p:attrName>style.visibility</p:attrName>
                                  </p:attrNameLst>
                                </p:cBhvr>
                                <p:to>
                                  <p:strVal val="visible"/>
                                </p:to>
                              </p:set>
                              <p:animEffect transition="in" filter="wipe(left)">
                                <p:cBhvr>
                                  <p:cTn id="6" dur="860"/>
                                  <p:tgtEl>
                                    <p:spTgt spid="2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22"/>
                                  </p:tgtEl>
                                  <p:attrNameLst>
                                    <p:attrName>style.visibility</p:attrName>
                                  </p:attrNameLst>
                                </p:cBhvr>
                                <p:to>
                                  <p:strVal val="visible"/>
                                </p:to>
                              </p:set>
                              <p:animEffect transition="in" filter="wipe(left)">
                                <p:cBhvr>
                                  <p:cTn id="9" dur="860"/>
                                  <p:tgtEl>
                                    <p:spTgt spid="2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860"/>
                                  <p:tgtEl>
                                    <p:spTgt spid="8"/>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860"/>
                                  <p:tgtEl>
                                    <p:spTgt spid="5"/>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860"/>
                                  <p:tgtEl>
                                    <p:spTgt spid="9"/>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860"/>
                                  <p:tgtEl>
                                    <p:spTgt spid="12"/>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860"/>
                                  <p:tgtEl>
                                    <p:spTgt spid="15"/>
                                  </p:tgtEl>
                                </p:cBhvr>
                              </p:animEffect>
                            </p:childTnLst>
                          </p:cTn>
                        </p:par>
                      </p:childTnLst>
                    </p:cTn>
                  </p:par>
                </p:childTnLst>
              </p:cTn>
            </p:seq>
          </p:childTnLst>
        </p:cTn>
      </p:par>
    </p:tnLst>
    <p:bldLst>
      <p:bldP spid="5" grpId="0"/>
      <p:bldP spid="8" grpId="0"/>
      <p:bldP spid="9" grpId="0"/>
      <p:bldP spid="12" grpId="0"/>
      <p:bldP spid="15" grpId="0"/>
      <p:bldP spid="22" grpId="0"/>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TextBox 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0" name="Freeform 1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1" name="Group 11"/>
          <p:cNvGrpSpPr/>
          <p:nvPr/>
        </p:nvGrpSpPr>
        <p:grpSpPr>
          <a:xfrm>
            <a:off x="8555428" y="3969707"/>
            <a:ext cx="1177144" cy="1173793"/>
            <a:chOff x="0" y="0"/>
            <a:chExt cx="871377" cy="868896"/>
          </a:xfrm>
        </p:grpSpPr>
        <p:sp>
          <p:nvSpPr>
            <p:cNvPr id="12" name="Freeform 12"/>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3" name="TextBox 13"/>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1</a:t>
              </a:r>
            </a:p>
          </p:txBody>
        </p:sp>
      </p:grpSp>
      <p:sp>
        <p:nvSpPr>
          <p:cNvPr id="14" name="TextBox 14"/>
          <p:cNvSpPr txBox="1"/>
          <p:nvPr/>
        </p:nvSpPr>
        <p:spPr>
          <a:xfrm>
            <a:off x="5839542" y="5360956"/>
            <a:ext cx="6608916"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PHÁT BIỂU BÀI TOÁN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1"/>
                                  </p:tgtEl>
                                  <p:attrNameLst>
                                    <p:attrName>style.visibility</p:attrName>
                                  </p:attrNameLst>
                                </p:cBhvr>
                                <p:to>
                                  <p:strVal val="visible"/>
                                </p:to>
                              </p:set>
                              <p:animEffect transition="in" filter="wipe(left)">
                                <p:cBhvr>
                                  <p:cTn id="6" dur="860"/>
                                  <p:tgtEl>
                                    <p:spTgt spid="11"/>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childTnLst>
                    </p:cTn>
                  </p:par>
                </p:childTnLst>
              </p:cTn>
            </p:seq>
          </p:childTnLst>
        </p:cTn>
      </p:par>
    </p:tnLst>
    <p:bldLst>
      <p:bldP spid="11"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01470" y="9477699"/>
            <a:ext cx="4657830" cy="436883"/>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3" name="TextBox 3"/>
          <p:cNvSpPr txBox="1"/>
          <p:nvPr/>
        </p:nvSpPr>
        <p:spPr>
          <a:xfrm>
            <a:off x="1031276" y="1095375"/>
            <a:ext cx="4921611"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1.1. Lý do chọn đề tài</a:t>
            </a:r>
          </a:p>
        </p:txBody>
      </p:sp>
      <p:sp>
        <p:nvSpPr>
          <p:cNvPr id="4" name="TextBox 4"/>
          <p:cNvSpPr txBox="1"/>
          <p:nvPr/>
        </p:nvSpPr>
        <p:spPr>
          <a:xfrm>
            <a:off x="1040801" y="1839543"/>
            <a:ext cx="9848374" cy="4558463"/>
          </a:xfrm>
          <a:prstGeom prst="rect">
            <a:avLst/>
          </a:prstGeom>
        </p:spPr>
        <p:txBody>
          <a:bodyPr lIns="0" tIns="0" rIns="0" bIns="0" rtlCol="0" anchor="t">
            <a:spAutoFit/>
          </a:bodyPr>
          <a:lstStyle/>
          <a:p>
            <a:pPr algn="just">
              <a:lnSpc>
                <a:spcPts val="4800"/>
              </a:lnSpc>
            </a:pPr>
            <a:r>
              <a:rPr lang="en-US" sz="3000" b="1">
                <a:solidFill>
                  <a:srgbClr val="0C1D4B"/>
                </a:solidFill>
                <a:latin typeface="Roboto Slab Bold"/>
                <a:ea typeface="Roboto Slab Bold"/>
                <a:cs typeface="Roboto Slab Bold"/>
                <a:sym typeface="Roboto Slab Bold"/>
              </a:rPr>
              <a:t>Bắt nguồn từ những khó khăn trong quá trình tra cứu, tiếp cận thông tin về pháp luật của người dân:</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Hệ thống văn bản pháp luật có khối lượng lớn, cấu trúc dài và nhiều điều khoản</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Một quy định có thể thay đổi, bị thay thế hoặc được cập nhật bởi văn bản mới</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Người dùng phổ thông khó xác định văn bản nào đang còn hiệu lực và khó chọn từ khóa tra cứu đúng</a:t>
            </a:r>
          </a:p>
        </p:txBody>
      </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1627444" y="2615298"/>
            <a:ext cx="6036754" cy="4840376"/>
          </a:xfrm>
          <a:custGeom>
            <a:avLst/>
            <a:gdLst/>
            <a:ahLst/>
            <a:cxnLst/>
            <a:rect l="l" t="t" r="r" b="b"/>
            <a:pathLst>
              <a:path w="6036754" h="4840376">
                <a:moveTo>
                  <a:pt x="0" y="0"/>
                </a:moveTo>
                <a:lnTo>
                  <a:pt x="6036754" y="0"/>
                </a:lnTo>
                <a:lnTo>
                  <a:pt x="6036754" y="4840377"/>
                </a:lnTo>
                <a:lnTo>
                  <a:pt x="0" y="4840377"/>
                </a:lnTo>
                <a:lnTo>
                  <a:pt x="0" y="0"/>
                </a:lnTo>
                <a:close/>
              </a:path>
            </a:pathLst>
          </a:custGeom>
          <a:blipFill>
            <a:blip>
              <a:extLst>
                <a:ext uri="{96DAC541-7B7A-43D3-8B79-37D633B846F1}">
                  <asvg:svgBlip xmlns:asvg="http://schemas.microsoft.com/office/drawing/2016/SVG/main" r:embed="rId3"/>
                </a:ext>
              </a:extLst>
            </a:blip>
            <a:stretch>
              <a:fillRect t="-161" b="-162"/>
            </a:stretch>
          </a:blipFill>
        </p:spPr>
        <p:txBody>
          <a:bodyPr/>
          <a:lstStyle/>
          <a:p>
            <a:endParaRPr lang="en-VN"/>
          </a:p>
        </p:txBody>
      </p:sp>
      <p:grpSp>
        <p:nvGrpSpPr>
          <p:cNvPr id="10" name="Group 10"/>
          <p:cNvGrpSpPr/>
          <p:nvPr/>
        </p:nvGrpSpPr>
        <p:grpSpPr>
          <a:xfrm>
            <a:off x="-3127839" y="9986436"/>
            <a:ext cx="22035035" cy="2837612"/>
            <a:chOff x="0" y="0"/>
            <a:chExt cx="5803466" cy="747355"/>
          </a:xfrm>
        </p:grpSpPr>
        <p:sp>
          <p:nvSpPr>
            <p:cNvPr id="11" name="Freeform 11"/>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12" name="TextBox 12"/>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Freeform 14"/>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3"/>
                                  </p:tgtEl>
                                  <p:attrNameLst>
                                    <p:attrName>style.visibility</p:attrName>
                                  </p:attrNameLst>
                                </p:cBhvr>
                                <p:to>
                                  <p:strVal val="visible"/>
                                </p:to>
                              </p:set>
                              <p:animEffect transition="in" filter="wipe(left)">
                                <p:cBhvr>
                                  <p:cTn id="6" dur="860"/>
                                  <p:tgtEl>
                                    <p:spTgt spid="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860"/>
                                  <p:tgtEl>
                                    <p:spTgt spid="4"/>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860"/>
                                  <p:tgtEl>
                                    <p:spTgt spid="9"/>
                                  </p:tgtEl>
                                </p:cBhvr>
                              </p:animEffect>
                            </p:childTnLst>
                          </p:cTn>
                        </p:par>
                      </p:childTnLst>
                    </p:cTn>
                  </p:par>
                </p:childTnLst>
              </p:cTn>
            </p:seq>
          </p:childTnLst>
        </p:cTn>
      </p:par>
    </p:tnLst>
    <p:bldLst>
      <p:bldP spid="3" grpId="0"/>
      <p:bldP spid="4"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95375"/>
            <a:ext cx="447607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1.2. Mục tiêu đề tài</a:t>
            </a:r>
          </a:p>
        </p:txBody>
      </p:sp>
      <p:grpSp>
        <p:nvGrpSpPr>
          <p:cNvPr id="3" name="Group 3"/>
          <p:cNvGrpSpPr/>
          <p:nvPr/>
        </p:nvGrpSpPr>
        <p:grpSpPr>
          <a:xfrm rot="-10800000">
            <a:off x="17259300" y="-233820"/>
            <a:ext cx="1940843" cy="970417"/>
            <a:chOff x="0" y="0"/>
            <a:chExt cx="2587790" cy="1293889"/>
          </a:xfrm>
        </p:grpSpPr>
        <p:sp>
          <p:nvSpPr>
            <p:cNvPr id="4" name="Freeform 4"/>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5" name="Group 5"/>
          <p:cNvGrpSpPr/>
          <p:nvPr/>
        </p:nvGrpSpPr>
        <p:grpSpPr>
          <a:xfrm>
            <a:off x="-912143" y="9429369"/>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3127839" y="9986436"/>
            <a:ext cx="22035035" cy="2837612"/>
            <a:chOff x="0" y="0"/>
            <a:chExt cx="5803466" cy="747355"/>
          </a:xfrm>
        </p:grpSpPr>
        <p:sp>
          <p:nvSpPr>
            <p:cNvPr id="8" name="Freeform 8"/>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9" name="TextBox 9"/>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1028700" y="1725243"/>
            <a:ext cx="16230600"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Mục tiêu xây dựng hệ thống Chatbot pháp luật đáp ứng những yêu cầu sau:</a:t>
            </a:r>
          </a:p>
        </p:txBody>
      </p:sp>
      <p:grpSp>
        <p:nvGrpSpPr>
          <p:cNvPr id="11" name="Group 11"/>
          <p:cNvGrpSpPr/>
          <p:nvPr/>
        </p:nvGrpSpPr>
        <p:grpSpPr>
          <a:xfrm>
            <a:off x="6389385" y="3668453"/>
            <a:ext cx="5253012" cy="3901766"/>
            <a:chOff x="0" y="0"/>
            <a:chExt cx="7004016" cy="5202355"/>
          </a:xfrm>
        </p:grpSpPr>
        <p:sp>
          <p:nvSpPr>
            <p:cNvPr id="12" name="Freeform 12"/>
            <p:cNvSpPr/>
            <p:nvPr/>
          </p:nvSpPr>
          <p:spPr>
            <a:xfrm>
              <a:off x="2105326" y="0"/>
              <a:ext cx="2793365" cy="2793365"/>
            </a:xfrm>
            <a:custGeom>
              <a:avLst/>
              <a:gdLst/>
              <a:ahLst/>
              <a:cxnLst/>
              <a:rect l="l" t="t" r="r" b="b"/>
              <a:pathLst>
                <a:path w="2793365" h="2793365">
                  <a:moveTo>
                    <a:pt x="0" y="0"/>
                  </a:moveTo>
                  <a:lnTo>
                    <a:pt x="2793365" y="0"/>
                  </a:lnTo>
                  <a:lnTo>
                    <a:pt x="2793365" y="2793365"/>
                  </a:lnTo>
                  <a:lnTo>
                    <a:pt x="0" y="27933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3" name="TextBox 13"/>
            <p:cNvSpPr txBox="1"/>
            <p:nvPr/>
          </p:nvSpPr>
          <p:spPr>
            <a:xfrm>
              <a:off x="0" y="2907883"/>
              <a:ext cx="7004016" cy="2294471"/>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Cung cấp câu trả lời có căn cứ, có nguồn tham chiếu và phù hợp với ngữ cảnh câu hỏi</a:t>
              </a:r>
            </a:p>
          </p:txBody>
        </p:sp>
      </p:grpSp>
      <p:grpSp>
        <p:nvGrpSpPr>
          <p:cNvPr id="14" name="Group 14"/>
          <p:cNvGrpSpPr/>
          <p:nvPr/>
        </p:nvGrpSpPr>
        <p:grpSpPr>
          <a:xfrm>
            <a:off x="483980" y="3733676"/>
            <a:ext cx="5253012" cy="3226890"/>
            <a:chOff x="0" y="0"/>
            <a:chExt cx="7004016" cy="4302519"/>
          </a:xfrm>
        </p:grpSpPr>
        <p:sp>
          <p:nvSpPr>
            <p:cNvPr id="15" name="Freeform 15"/>
            <p:cNvSpPr/>
            <p:nvPr/>
          </p:nvSpPr>
          <p:spPr>
            <a:xfrm>
              <a:off x="2139489" y="0"/>
              <a:ext cx="2725039" cy="2619438"/>
            </a:xfrm>
            <a:custGeom>
              <a:avLst/>
              <a:gdLst/>
              <a:ahLst/>
              <a:cxnLst/>
              <a:rect l="l" t="t" r="r" b="b"/>
              <a:pathLst>
                <a:path w="2725039" h="2619438">
                  <a:moveTo>
                    <a:pt x="0" y="0"/>
                  </a:moveTo>
                  <a:lnTo>
                    <a:pt x="2725039" y="0"/>
                  </a:lnTo>
                  <a:lnTo>
                    <a:pt x="2725039" y="2619438"/>
                  </a:lnTo>
                  <a:lnTo>
                    <a:pt x="0" y="2619438"/>
                  </a:lnTo>
                  <a:lnTo>
                    <a:pt x="0" y="0"/>
                  </a:lnTo>
                  <a:close/>
                </a:path>
              </a:pathLst>
            </a:custGeom>
            <a:blipFill>
              <a:blip>
                <a:extLst>
                  <a:ext uri="{96DAC541-7B7A-43D3-8B79-37D633B846F1}">
                    <asvg:svgBlip xmlns:asvg="http://schemas.microsoft.com/office/drawing/2016/SVG/main" r:embed="rId4"/>
                  </a:ext>
                </a:extLst>
              </a:blip>
              <a:stretch>
                <a:fillRect t="-79" b="-80"/>
              </a:stretch>
            </a:blipFill>
          </p:spPr>
          <p:txBody>
            <a:bodyPr/>
            <a:lstStyle/>
            <a:p>
              <a:endParaRPr lang="en-VN"/>
            </a:p>
          </p:txBody>
        </p:sp>
        <p:sp>
          <p:nvSpPr>
            <p:cNvPr id="16" name="TextBox 16"/>
            <p:cNvSpPr txBox="1"/>
            <p:nvPr/>
          </p:nvSpPr>
          <p:spPr>
            <a:xfrm>
              <a:off x="0" y="2820920"/>
              <a:ext cx="7004016" cy="1481599"/>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Hỗ trợ người dùng tra cứu và tư vấn pháp luật bằng ngôn ngữ tự nhiên</a:t>
              </a:r>
            </a:p>
          </p:txBody>
        </p:sp>
      </p:grpSp>
      <p:grpSp>
        <p:nvGrpSpPr>
          <p:cNvPr id="17" name="Group 17"/>
          <p:cNvGrpSpPr/>
          <p:nvPr/>
        </p:nvGrpSpPr>
        <p:grpSpPr>
          <a:xfrm>
            <a:off x="12551008" y="3668453"/>
            <a:ext cx="5253012" cy="3901766"/>
            <a:chOff x="0" y="0"/>
            <a:chExt cx="7004016" cy="5202355"/>
          </a:xfrm>
        </p:grpSpPr>
        <p:sp>
          <p:nvSpPr>
            <p:cNvPr id="18" name="Freeform 18"/>
            <p:cNvSpPr/>
            <p:nvPr/>
          </p:nvSpPr>
          <p:spPr>
            <a:xfrm>
              <a:off x="2382198" y="0"/>
              <a:ext cx="2239620" cy="2619438"/>
            </a:xfrm>
            <a:custGeom>
              <a:avLst/>
              <a:gdLst/>
              <a:ahLst/>
              <a:cxnLst/>
              <a:rect l="l" t="t" r="r" b="b"/>
              <a:pathLst>
                <a:path w="2239620" h="2619438">
                  <a:moveTo>
                    <a:pt x="0" y="0"/>
                  </a:moveTo>
                  <a:lnTo>
                    <a:pt x="2239620" y="0"/>
                  </a:lnTo>
                  <a:lnTo>
                    <a:pt x="2239620" y="2619438"/>
                  </a:lnTo>
                  <a:lnTo>
                    <a:pt x="0" y="2619438"/>
                  </a:lnTo>
                  <a:lnTo>
                    <a:pt x="0" y="0"/>
                  </a:lnTo>
                  <a:close/>
                </a:path>
              </a:pathLst>
            </a:custGeom>
            <a:blipFill>
              <a:blip>
                <a:extLst>
                  <a:ext uri="{96DAC541-7B7A-43D3-8B79-37D633B846F1}">
                    <asvg:svgBlip xmlns:asvg="http://schemas.microsoft.com/office/drawing/2016/SVG/main" r:embed="rId5"/>
                  </a:ext>
                </a:extLst>
              </a:blip>
              <a:stretch>
                <a:fillRect l="-3" r="-4"/>
              </a:stretch>
            </a:blipFill>
          </p:spPr>
          <p:txBody>
            <a:bodyPr/>
            <a:lstStyle/>
            <a:p>
              <a:endParaRPr lang="en-VN"/>
            </a:p>
          </p:txBody>
        </p:sp>
        <p:sp>
          <p:nvSpPr>
            <p:cNvPr id="19" name="TextBox 19"/>
            <p:cNvSpPr txBox="1"/>
            <p:nvPr/>
          </p:nvSpPr>
          <p:spPr>
            <a:xfrm>
              <a:off x="0" y="2907883"/>
              <a:ext cx="7004016" cy="2294471"/>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Tổ chức kho tri thức pháp luật để hệ thống có thể tìm kiếm, truy hồi và cập nhật dữ liệu</a:t>
              </a:r>
            </a:p>
          </p:txBody>
        </p:sp>
      </p:grpSp>
      <p:sp>
        <p:nvSpPr>
          <p:cNvPr id="20" name="TextBox 20"/>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21" name="Freeform 21"/>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6"/>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2"/>
                                  </p:tgtEl>
                                  <p:attrNameLst>
                                    <p:attrName>style.visibility</p:attrName>
                                  </p:attrNameLst>
                                </p:cBhvr>
                                <p:to>
                                  <p:strVal val="visible"/>
                                </p:to>
                              </p:set>
                              <p:animEffect transition="in" filter="wipe(left)">
                                <p:cBhvr>
                                  <p:cTn id="6" dur="860"/>
                                  <p:tgtEl>
                                    <p:spTgt spid="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860"/>
                                  <p:tgtEl>
                                    <p:spTgt spid="10"/>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860"/>
                                  <p:tgtEl>
                                    <p:spTgt spid="11"/>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860"/>
                                  <p:tgtEl>
                                    <p:spTgt spid="17"/>
                                  </p:tgtEl>
                                </p:cBhvr>
                              </p:animEffect>
                            </p:childTnLst>
                          </p:cTn>
                        </p:par>
                      </p:childTnLst>
                    </p:cTn>
                  </p:par>
                </p:childTnLst>
              </p:cTn>
            </p:seq>
          </p:childTnLst>
        </p:cTn>
      </p:par>
    </p:tnLst>
    <p:bldLst>
      <p:bldP spid="2" grpId="0"/>
      <p:bldP spid="10" grpId="0"/>
      <p:bldP spid="11" grpId="0"/>
      <p:bldP spid="14"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TextBox 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0" name="Freeform 1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1" name="Group 11"/>
          <p:cNvGrpSpPr/>
          <p:nvPr/>
        </p:nvGrpSpPr>
        <p:grpSpPr>
          <a:xfrm>
            <a:off x="8555428" y="3969707"/>
            <a:ext cx="1177144" cy="1173793"/>
            <a:chOff x="0" y="0"/>
            <a:chExt cx="871377" cy="868896"/>
          </a:xfrm>
        </p:grpSpPr>
        <p:sp>
          <p:nvSpPr>
            <p:cNvPr id="12" name="Freeform 12"/>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3" name="TextBox 13"/>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2</a:t>
              </a:r>
            </a:p>
          </p:txBody>
        </p:sp>
      </p:grpSp>
      <p:sp>
        <p:nvSpPr>
          <p:cNvPr id="14" name="TextBox 14"/>
          <p:cNvSpPr txBox="1"/>
          <p:nvPr/>
        </p:nvSpPr>
        <p:spPr>
          <a:xfrm>
            <a:off x="5839542" y="5360956"/>
            <a:ext cx="6608916"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CƠ SỞ LÝ THUYẾT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1"/>
                                  </p:tgtEl>
                                  <p:attrNameLst>
                                    <p:attrName>style.visibility</p:attrName>
                                  </p:attrNameLst>
                                </p:cBhvr>
                                <p:to>
                                  <p:strVal val="visible"/>
                                </p:to>
                              </p:set>
                              <p:animEffect transition="in" filter="wipe(left)">
                                <p:cBhvr>
                                  <p:cTn id="6" dur="860"/>
                                  <p:tgtEl>
                                    <p:spTgt spid="11"/>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childTnLst>
                    </p:cTn>
                  </p:par>
                </p:childTnLst>
              </p:cTn>
            </p:seq>
          </p:childTnLst>
        </p:cTn>
      </p:par>
    </p:tnLst>
    <p:bldLst>
      <p:bldP spid="11"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01470" y="9477699"/>
            <a:ext cx="4657830" cy="436883"/>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3" name="TextBox 3"/>
          <p:cNvSpPr txBox="1"/>
          <p:nvPr/>
        </p:nvSpPr>
        <p:spPr>
          <a:xfrm>
            <a:off x="1028700" y="1095375"/>
            <a:ext cx="277591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2.1. Chatbot</a:t>
            </a:r>
          </a:p>
        </p:txBody>
      </p:sp>
      <p:sp>
        <p:nvSpPr>
          <p:cNvPr id="4" name="TextBox 4"/>
          <p:cNvSpPr txBox="1"/>
          <p:nvPr/>
        </p:nvSpPr>
        <p:spPr>
          <a:xfrm>
            <a:off x="1028700" y="1849068"/>
            <a:ext cx="9848374" cy="3896739"/>
          </a:xfrm>
          <a:prstGeom prst="rect">
            <a:avLst/>
          </a:prstGeom>
        </p:spPr>
        <p:txBody>
          <a:bodyPr lIns="0" tIns="0" rIns="0" bIns="0" rtlCol="0" anchor="t">
            <a:spAutoFit/>
          </a:bodyPr>
          <a:lstStyle/>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Chatbot là hệ thống phần mềm mô phỏng hội thoại với người dùng thông qua văn bản hoặc giọng nói</a:t>
            </a:r>
          </a:p>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Chatbot có thể tiếp nhận câu hỏi, phân tích đầu vào và tự động sinh phản hồi.</a:t>
            </a:r>
          </a:p>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Trong các hệ thống hiện đại, chatbot thường được kết hợp với mô hình ngôn ngữ lớn hoặc nguồn dữ liệu riêng để tăng khả năng hiểu ngữ cảnh.</a:t>
            </a:r>
          </a:p>
        </p:txBody>
      </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9" name="Group 9"/>
          <p:cNvGrpSpPr/>
          <p:nvPr/>
        </p:nvGrpSpPr>
        <p:grpSpPr>
          <a:xfrm>
            <a:off x="-3127839" y="9986436"/>
            <a:ext cx="22035035" cy="2837612"/>
            <a:chOff x="0" y="0"/>
            <a:chExt cx="5803466" cy="747355"/>
          </a:xfrm>
        </p:grpSpPr>
        <p:sp>
          <p:nvSpPr>
            <p:cNvPr id="10" name="Freeform 10"/>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11" name="TextBox 11"/>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2" name="Freeform 12"/>
          <p:cNvSpPr/>
          <p:nvPr/>
        </p:nvSpPr>
        <p:spPr>
          <a:xfrm>
            <a:off x="12011385" y="2359114"/>
            <a:ext cx="5575744" cy="5568772"/>
          </a:xfrm>
          <a:custGeom>
            <a:avLst/>
            <a:gdLst/>
            <a:ahLst/>
            <a:cxnLst/>
            <a:rect l="l" t="t" r="r" b="b"/>
            <a:pathLst>
              <a:path w="5575744" h="5568772">
                <a:moveTo>
                  <a:pt x="0" y="0"/>
                </a:moveTo>
                <a:lnTo>
                  <a:pt x="5575744" y="0"/>
                </a:lnTo>
                <a:lnTo>
                  <a:pt x="5575744" y="5568772"/>
                </a:lnTo>
                <a:lnTo>
                  <a:pt x="0" y="5568772"/>
                </a:lnTo>
                <a:lnTo>
                  <a:pt x="0" y="0"/>
                </a:lnTo>
                <a:close/>
              </a:path>
            </a:pathLst>
          </a:custGeom>
          <a:blipFill>
            <a:blip>
              <a:extLst>
                <a:ext uri="{96DAC541-7B7A-43D3-8B79-37D633B846F1}">
                  <asvg:svgBlip xmlns:asvg="http://schemas.microsoft.com/office/drawing/2016/SVG/main" r:embed="rId3"/>
                </a:ext>
              </a:extLst>
            </a:blip>
            <a:stretch>
              <a:fillRect l="-22" r="-22"/>
            </a:stretch>
          </a:blipFill>
        </p:spPr>
        <p:txBody>
          <a:bodyPr/>
          <a:lstStyle/>
          <a:p>
            <a:endParaRPr lang="en-VN"/>
          </a:p>
        </p:txBody>
      </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Freeform 14"/>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3"/>
                                  </p:tgtEl>
                                  <p:attrNameLst>
                                    <p:attrName>style.visibility</p:attrName>
                                  </p:attrNameLst>
                                </p:cBhvr>
                                <p:to>
                                  <p:strVal val="visible"/>
                                </p:to>
                              </p:set>
                              <p:animEffect transition="in" filter="wipe(left)">
                                <p:cBhvr>
                                  <p:cTn id="6" dur="860"/>
                                  <p:tgtEl>
                                    <p:spTgt spid="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860"/>
                                  <p:tgtEl>
                                    <p:spTgt spid="4"/>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childTnLst>
                    </p:cTn>
                  </p:par>
                </p:childTnLst>
              </p:cTn>
            </p:seq>
          </p:childTnLst>
        </p:cTn>
      </p:par>
    </p:tnLst>
    <p:bldLst>
      <p:bldP spid="3" grpId="0"/>
      <p:bldP spid="4" grpId="0"/>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41550" y="2630118"/>
            <a:ext cx="9201207" cy="2210652"/>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Chatbot nhận đầu vào, kiểm tra các kịch bản, tập luật được chuẩn bị sẵn và trả lời tương ứng</a:t>
            </a:r>
          </a:p>
          <a:p>
            <a:pPr algn="l">
              <a:lnSpc>
                <a:spcPts val="4479"/>
              </a:lnSpc>
            </a:pPr>
            <a:r>
              <a:rPr lang="en-US" sz="2799">
                <a:solidFill>
                  <a:srgbClr val="0C1D4B"/>
                </a:solidFill>
                <a:latin typeface="Roboto Slab"/>
                <a:ea typeface="Roboto Slab"/>
                <a:cs typeface="Roboto Slab"/>
                <a:sym typeface="Roboto Slab"/>
              </a:rPr>
              <a:t>→ Thiếu linh hoạt, phục thuộc vào kịch bản được chuẩn bị sẵn.</a:t>
            </a:r>
          </a:p>
        </p:txBody>
      </p:sp>
      <p:sp>
        <p:nvSpPr>
          <p:cNvPr id="10" name="TextBox 10"/>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1" name="TextBox 11"/>
          <p:cNvSpPr txBox="1"/>
          <p:nvPr/>
        </p:nvSpPr>
        <p:spPr>
          <a:xfrm>
            <a:off x="104155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Chatbot dựa trên tập luật</a:t>
            </a:r>
          </a:p>
        </p:txBody>
      </p:sp>
      <p:grpSp>
        <p:nvGrpSpPr>
          <p:cNvPr id="12" name="Group 12"/>
          <p:cNvGrpSpPr/>
          <p:nvPr/>
        </p:nvGrpSpPr>
        <p:grpSpPr>
          <a:xfrm>
            <a:off x="11635993" y="1888127"/>
            <a:ext cx="5496614" cy="7121113"/>
            <a:chOff x="0" y="0"/>
            <a:chExt cx="7328819" cy="9494816"/>
          </a:xfrm>
        </p:grpSpPr>
        <p:sp>
          <p:nvSpPr>
            <p:cNvPr id="13" name="Freeform 13"/>
            <p:cNvSpPr/>
            <p:nvPr/>
          </p:nvSpPr>
          <p:spPr>
            <a:xfrm>
              <a:off x="4424571" y="3713219"/>
              <a:ext cx="2762174" cy="2409990"/>
            </a:xfrm>
            <a:custGeom>
              <a:avLst/>
              <a:gdLst/>
              <a:ahLst/>
              <a:cxnLst/>
              <a:rect l="l" t="t" r="r" b="b"/>
              <a:pathLst>
                <a:path w="2762174" h="2409990">
                  <a:moveTo>
                    <a:pt x="0" y="0"/>
                  </a:moveTo>
                  <a:lnTo>
                    <a:pt x="2762174" y="0"/>
                  </a:lnTo>
                  <a:lnTo>
                    <a:pt x="2762174" y="2409990"/>
                  </a:lnTo>
                  <a:lnTo>
                    <a:pt x="0" y="2409990"/>
                  </a:lnTo>
                  <a:lnTo>
                    <a:pt x="0" y="0"/>
                  </a:lnTo>
                  <a:close/>
                </a:path>
              </a:pathLst>
            </a:custGeom>
            <a:blipFill>
              <a:blip>
                <a:extLst>
                  <a:ext uri="{96DAC541-7B7A-43D3-8B79-37D633B846F1}">
                    <asvg:svgBlip xmlns:asvg="http://schemas.microsoft.com/office/drawing/2016/SVG/main" r:embed="rId3"/>
                  </a:ext>
                </a:extLst>
              </a:blip>
              <a:stretch>
                <a:fillRect l="-53" r="-53"/>
              </a:stretch>
            </a:blipFill>
          </p:spPr>
          <p:txBody>
            <a:bodyPr/>
            <a:lstStyle/>
            <a:p>
              <a:endParaRPr lang="en-VN"/>
            </a:p>
          </p:txBody>
        </p:sp>
        <p:grpSp>
          <p:nvGrpSpPr>
            <p:cNvPr id="20" name="Group 20"/>
            <p:cNvGrpSpPr/>
            <p:nvPr/>
          </p:nvGrpSpPr>
          <p:grpSpPr>
            <a:xfrm>
              <a:off x="0" y="3954332"/>
              <a:ext cx="2996639" cy="1977782"/>
              <a:chOff x="0" y="0"/>
              <a:chExt cx="635000" cy="419100"/>
            </a:xfrm>
          </p:grpSpPr>
          <p:sp>
            <p:nvSpPr>
              <p:cNvPr id="21" name="Freeform 21"/>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0C1D4B"/>
              </a:solidFill>
            </p:spPr>
            <p:txBody>
              <a:bodyPr/>
              <a:lstStyle/>
              <a:p>
                <a:endParaRPr lang="en-VN"/>
              </a:p>
            </p:txBody>
          </p:sp>
          <p:sp>
            <p:nvSpPr>
              <p:cNvPr id="22" name="TextBox 22"/>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KỊCH BẢN 1</a:t>
                </a:r>
              </a:p>
              <a:p>
                <a:pPr algn="ctr">
                  <a:lnSpc>
                    <a:spcPts val="2940"/>
                  </a:lnSpc>
                </a:pPr>
                <a:r>
                  <a:rPr lang="en-US" sz="2100" b="1">
                    <a:solidFill>
                      <a:srgbClr val="FFFFFF"/>
                    </a:solidFill>
                    <a:latin typeface="Roboto Slab Bold"/>
                    <a:ea typeface="Roboto Slab Bold"/>
                    <a:cs typeface="Roboto Slab Bold"/>
                    <a:sym typeface="Roboto Slab Bold"/>
                  </a:rPr>
                  <a:t>KỊCH BẢN 2</a:t>
                </a:r>
              </a:p>
              <a:p>
                <a:pPr algn="ctr">
                  <a:lnSpc>
                    <a:spcPts val="2940"/>
                  </a:lnSpc>
                </a:pPr>
                <a:r>
                  <a:rPr lang="en-US" sz="2100" b="1">
                    <a:solidFill>
                      <a:srgbClr val="FFFFFF"/>
                    </a:solidFill>
                    <a:latin typeface="Roboto Slab Bold"/>
                    <a:ea typeface="Roboto Slab Bold"/>
                    <a:cs typeface="Roboto Slab Bold"/>
                    <a:sym typeface="Roboto Slab Bold"/>
                  </a:rPr>
                  <a:t>...</a:t>
                </a:r>
              </a:p>
            </p:txBody>
          </p:sp>
        </p:grpSp>
        <p:sp>
          <p:nvSpPr>
            <p:cNvPr id="23" name="AutoShape 23"/>
            <p:cNvSpPr/>
            <p:nvPr/>
          </p:nvSpPr>
          <p:spPr>
            <a:xfrm>
              <a:off x="2996639" y="4943222"/>
              <a:ext cx="1452964" cy="0"/>
            </a:xfrm>
            <a:prstGeom prst="line">
              <a:avLst/>
            </a:prstGeom>
            <a:ln w="50800" cap="flat">
              <a:solidFill>
                <a:srgbClr val="000000"/>
              </a:solidFill>
              <a:prstDash val="solid"/>
              <a:headEnd type="none" w="sm" len="sm"/>
              <a:tailEnd type="triangle" w="lg" len="med"/>
            </a:ln>
          </p:spPr>
          <p:txBody>
            <a:bodyPr/>
            <a:lstStyle/>
            <a:p>
              <a:endParaRPr lang="en-VN" dirty="0"/>
            </a:p>
          </p:txBody>
        </p:sp>
        <p:grpSp>
          <p:nvGrpSpPr>
            <p:cNvPr id="24" name="Group 24"/>
            <p:cNvGrpSpPr/>
            <p:nvPr/>
          </p:nvGrpSpPr>
          <p:grpSpPr>
            <a:xfrm>
              <a:off x="4332180" y="0"/>
              <a:ext cx="2996639" cy="1977782"/>
              <a:chOff x="0" y="0"/>
              <a:chExt cx="635000" cy="419100"/>
            </a:xfrm>
          </p:grpSpPr>
          <p:sp>
            <p:nvSpPr>
              <p:cNvPr id="25" name="Freeform 25"/>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FC9BA0"/>
              </a:solidFill>
            </p:spPr>
            <p:txBody>
              <a:bodyPr/>
              <a:lstStyle/>
              <a:p>
                <a:endParaRPr lang="en-VN"/>
              </a:p>
            </p:txBody>
          </p:sp>
          <p:sp>
            <p:nvSpPr>
              <p:cNvPr id="26" name="TextBox 26"/>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CÂU HỎI</a:t>
                </a:r>
              </a:p>
            </p:txBody>
          </p:sp>
        </p:grpSp>
        <p:grpSp>
          <p:nvGrpSpPr>
            <p:cNvPr id="27" name="Group 27"/>
            <p:cNvGrpSpPr/>
            <p:nvPr/>
          </p:nvGrpSpPr>
          <p:grpSpPr>
            <a:xfrm>
              <a:off x="4282307" y="7517034"/>
              <a:ext cx="2996639" cy="1977782"/>
              <a:chOff x="0" y="0"/>
              <a:chExt cx="635000" cy="419100"/>
            </a:xfrm>
          </p:grpSpPr>
          <p:sp>
            <p:nvSpPr>
              <p:cNvPr id="28" name="Freeform 28"/>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38B6FF"/>
              </a:solidFill>
              <a:ln cap="rnd">
                <a:noFill/>
                <a:prstDash val="solid"/>
                <a:round/>
              </a:ln>
            </p:spPr>
            <p:txBody>
              <a:bodyPr/>
              <a:lstStyle/>
              <a:p>
                <a:endParaRPr lang="en-VN"/>
              </a:p>
            </p:txBody>
          </p:sp>
          <p:sp>
            <p:nvSpPr>
              <p:cNvPr id="29" name="TextBox 29"/>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TRẢ LỜI</a:t>
                </a:r>
              </a:p>
            </p:txBody>
          </p:sp>
        </p:grpSp>
        <p:sp>
          <p:nvSpPr>
            <p:cNvPr id="30" name="AutoShape 30"/>
            <p:cNvSpPr/>
            <p:nvPr/>
          </p:nvSpPr>
          <p:spPr>
            <a:xfrm>
              <a:off x="5830499" y="1977782"/>
              <a:ext cx="0" cy="1760456"/>
            </a:xfrm>
            <a:prstGeom prst="line">
              <a:avLst/>
            </a:prstGeom>
            <a:ln w="50800" cap="flat">
              <a:solidFill>
                <a:srgbClr val="000000"/>
              </a:solidFill>
              <a:prstDash val="solid"/>
              <a:headEnd type="none" w="sm" len="sm"/>
              <a:tailEnd type="triangle" w="lg" len="med"/>
            </a:ln>
          </p:spPr>
          <p:txBody>
            <a:bodyPr/>
            <a:lstStyle/>
            <a:p>
              <a:endParaRPr lang="en-VN" dirty="0"/>
            </a:p>
          </p:txBody>
        </p:sp>
        <p:sp>
          <p:nvSpPr>
            <p:cNvPr id="31" name="AutoShape 31"/>
            <p:cNvSpPr/>
            <p:nvPr/>
          </p:nvSpPr>
          <p:spPr>
            <a:xfrm flipH="1">
              <a:off x="5830499" y="6132250"/>
              <a:ext cx="25032" cy="1393825"/>
            </a:xfrm>
            <a:prstGeom prst="line">
              <a:avLst/>
            </a:prstGeom>
            <a:ln w="50800" cap="flat">
              <a:solidFill>
                <a:srgbClr val="000000"/>
              </a:solidFill>
              <a:prstDash val="solid"/>
              <a:headEnd type="none" w="sm" len="sm"/>
              <a:tailEnd type="triangle" w="lg" len="med"/>
            </a:ln>
          </p:spPr>
          <p:txBody>
            <a:bodyPr/>
            <a:lstStyle/>
            <a:p>
              <a:endParaRPr lang="en-VN" dirty="0"/>
            </a:p>
          </p:txBody>
        </p:sp>
      </p:grpSp>
      <p:sp>
        <p:nvSpPr>
          <p:cNvPr id="32" name="TextBox 3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33" name="Freeform 33"/>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1"/>
                                  </p:tgtEl>
                                  <p:attrNameLst>
                                    <p:attrName>style.visibility</p:attrName>
                                  </p:attrNameLst>
                                </p:cBhvr>
                                <p:to>
                                  <p:strVal val="visible"/>
                                </p:to>
                              </p:set>
                              <p:animEffect transition="in" filter="wipe(left)">
                                <p:cBhvr>
                                  <p:cTn id="9" dur="860"/>
                                  <p:tgtEl>
                                    <p:spTgt spid="11"/>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860"/>
                                  <p:tgtEl>
                                    <p:spTgt spid="9"/>
                                  </p:tgtEl>
                                </p:cBhvr>
                              </p:animEffect>
                            </p:childTnLst>
                          </p:cTn>
                        </p:par>
                      </p:childTnLst>
                    </p:cTn>
                  </p:par>
                </p:childTnLst>
              </p:cTn>
            </p:seq>
          </p:childTnLst>
        </p:cTn>
      </p:par>
    </p:tnLst>
    <p:bldLst>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Chatbot dựa trên LLMs</a:t>
            </a:r>
          </a:p>
        </p:txBody>
      </p:sp>
      <p:sp>
        <p:nvSpPr>
          <p:cNvPr id="11" name="TextBox 11"/>
          <p:cNvSpPr txBox="1"/>
          <p:nvPr/>
        </p:nvSpPr>
        <p:spPr>
          <a:xfrm>
            <a:off x="1028700" y="2630118"/>
            <a:ext cx="9079671" cy="2772681"/>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LLMs là các mô hình ngôn ngữ lớn có khả năng xử lý, hiểu và tạo sinh ngôn ngữ tự nhiên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Chatbot nhận đầu vào, sử dụng LLMs để tạo sinh đầu ra</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Trả lời linh hoạt, thấu hiểu ngữ cảnh</a:t>
            </a:r>
          </a:p>
        </p:txBody>
      </p:sp>
      <p:sp>
        <p:nvSpPr>
          <p:cNvPr id="12" name="TextBox 12"/>
          <p:cNvSpPr txBox="1"/>
          <p:nvPr/>
        </p:nvSpPr>
        <p:spPr>
          <a:xfrm>
            <a:off x="10504770" y="9157959"/>
            <a:ext cx="6942696" cy="346683"/>
          </a:xfrm>
          <a:prstGeom prst="rect">
            <a:avLst/>
          </a:prstGeom>
        </p:spPr>
        <p:txBody>
          <a:bodyPr lIns="0" tIns="0" rIns="0" bIns="0" rtlCol="0" anchor="t">
            <a:spAutoFit/>
          </a:bodyPr>
          <a:lstStyle/>
          <a:p>
            <a:pPr algn="ctr">
              <a:lnSpc>
                <a:spcPts val="2880"/>
              </a:lnSpc>
            </a:pPr>
            <a:r>
              <a:rPr lang="en-US" sz="1800" i="1">
                <a:solidFill>
                  <a:srgbClr val="0C1D4B"/>
                </a:solidFill>
                <a:latin typeface="Roboto Italics"/>
                <a:ea typeface="Roboto Italics"/>
                <a:cs typeface="Roboto Italics"/>
                <a:sym typeface="Roboto Italics"/>
              </a:rPr>
              <a:t>** “Bịa” là từ thể hiện việc tự nghĩ ra nội dung không có thật</a:t>
            </a:r>
          </a:p>
        </p:txBody>
      </p:sp>
      <p:grpSp>
        <p:nvGrpSpPr>
          <p:cNvPr id="13" name="Group 13"/>
          <p:cNvGrpSpPr/>
          <p:nvPr/>
        </p:nvGrpSpPr>
        <p:grpSpPr>
          <a:xfrm>
            <a:off x="10189148" y="2474109"/>
            <a:ext cx="7516677" cy="1956573"/>
            <a:chOff x="0" y="0"/>
            <a:chExt cx="10022237" cy="2608765"/>
          </a:xfrm>
        </p:grpSpPr>
        <p:sp>
          <p:nvSpPr>
            <p:cNvPr id="14" name="Freeform 14"/>
            <p:cNvSpPr/>
            <p:nvPr/>
          </p:nvSpPr>
          <p:spPr>
            <a:xfrm>
              <a:off x="4312764" y="0"/>
              <a:ext cx="1398740" cy="1404010"/>
            </a:xfrm>
            <a:custGeom>
              <a:avLst/>
              <a:gdLst/>
              <a:ahLst/>
              <a:cxnLst/>
              <a:rect l="l" t="t" r="r" b="b"/>
              <a:pathLst>
                <a:path w="1398740" h="1404010">
                  <a:moveTo>
                    <a:pt x="0" y="0"/>
                  </a:moveTo>
                  <a:lnTo>
                    <a:pt x="1398740" y="0"/>
                  </a:lnTo>
                  <a:lnTo>
                    <a:pt x="1398740" y="1404010"/>
                  </a:lnTo>
                  <a:lnTo>
                    <a:pt x="0" y="1404010"/>
                  </a:lnTo>
                  <a:lnTo>
                    <a:pt x="0" y="0"/>
                  </a:lnTo>
                  <a:close/>
                </a:path>
              </a:pathLst>
            </a:custGeom>
            <a:blipFill>
              <a:blip>
                <a:extLst>
                  <a:ext uri="{96DAC541-7B7A-43D3-8B79-37D633B846F1}">
                    <asvg:svgBlip xmlns:asvg="http://schemas.microsoft.com/office/drawing/2016/SVG/main" r:embed="rId3"/>
                  </a:ext>
                </a:extLst>
              </a:blip>
              <a:stretch>
                <a:fillRect l="-187" r="-188"/>
              </a:stretch>
            </a:blipFill>
          </p:spPr>
          <p:txBody>
            <a:bodyPr/>
            <a:lstStyle/>
            <a:p>
              <a:endParaRPr lang="en-VN"/>
            </a:p>
          </p:txBody>
        </p:sp>
        <p:grpSp>
          <p:nvGrpSpPr>
            <p:cNvPr id="15" name="Group 15"/>
            <p:cNvGrpSpPr/>
            <p:nvPr/>
          </p:nvGrpSpPr>
          <p:grpSpPr>
            <a:xfrm>
              <a:off x="0" y="1682737"/>
              <a:ext cx="2758266" cy="876752"/>
              <a:chOff x="0" y="0"/>
              <a:chExt cx="544843" cy="173186"/>
            </a:xfrm>
          </p:grpSpPr>
          <p:sp>
            <p:nvSpPr>
              <p:cNvPr id="16" name="Freeform 16"/>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7" name="TextBox 17"/>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hỏi</a:t>
                </a:r>
              </a:p>
            </p:txBody>
          </p:sp>
        </p:grpSp>
        <p:sp>
          <p:nvSpPr>
            <p:cNvPr id="18" name="TextBox 18"/>
            <p:cNvSpPr txBox="1"/>
            <p:nvPr/>
          </p:nvSpPr>
          <p:spPr>
            <a:xfrm>
              <a:off x="3725497" y="1557261"/>
              <a:ext cx="2573274" cy="1051503"/>
            </a:xfrm>
            <a:prstGeom prst="rect">
              <a:avLst/>
            </a:prstGeom>
          </p:spPr>
          <p:txBody>
            <a:bodyPr lIns="0" tIns="0" rIns="0" bIns="0" rtlCol="0" anchor="t">
              <a:spAutoFit/>
            </a:bodyPr>
            <a:lstStyle/>
            <a:p>
              <a:pPr algn="ctr">
                <a:lnSpc>
                  <a:spcPts val="3361"/>
                </a:lnSpc>
              </a:pPr>
              <a:r>
                <a:rPr lang="en-US" sz="2100" b="1">
                  <a:solidFill>
                    <a:srgbClr val="0C1D4B"/>
                  </a:solidFill>
                  <a:latin typeface="Roboto Slab Bold"/>
                  <a:ea typeface="Roboto Slab Bold"/>
                  <a:cs typeface="Roboto Slab Bold"/>
                  <a:sym typeface="Roboto Slab Bold"/>
                </a:rPr>
                <a:t>LLMs sinh câu trả lời</a:t>
              </a:r>
            </a:p>
          </p:txBody>
        </p:sp>
        <p:sp>
          <p:nvSpPr>
            <p:cNvPr id="19" name="AutoShape 19"/>
            <p:cNvSpPr/>
            <p:nvPr/>
          </p:nvSpPr>
          <p:spPr>
            <a:xfrm>
              <a:off x="2758266" y="2121113"/>
              <a:ext cx="967231"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0" name="Group 20"/>
            <p:cNvGrpSpPr/>
            <p:nvPr/>
          </p:nvGrpSpPr>
          <p:grpSpPr>
            <a:xfrm>
              <a:off x="7263971" y="1682737"/>
              <a:ext cx="2758266" cy="876752"/>
              <a:chOff x="0" y="0"/>
              <a:chExt cx="544843" cy="173186"/>
            </a:xfrm>
          </p:grpSpPr>
          <p:sp>
            <p:nvSpPr>
              <p:cNvPr id="21" name="Freeform 21"/>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22" name="TextBox 22"/>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3" name="AutoShape 23"/>
            <p:cNvSpPr/>
            <p:nvPr/>
          </p:nvSpPr>
          <p:spPr>
            <a:xfrm>
              <a:off x="6298771" y="2121113"/>
              <a:ext cx="965200" cy="0"/>
            </a:xfrm>
            <a:prstGeom prst="line">
              <a:avLst/>
            </a:prstGeom>
            <a:ln w="50800" cap="flat">
              <a:solidFill>
                <a:srgbClr val="000000"/>
              </a:solidFill>
              <a:prstDash val="solid"/>
              <a:headEnd type="none" w="sm" len="sm"/>
              <a:tailEnd type="triangle" w="lg" len="med"/>
            </a:ln>
          </p:spPr>
          <p:txBody>
            <a:bodyPr/>
            <a:lstStyle/>
            <a:p>
              <a:endParaRPr lang="en-VN"/>
            </a:p>
          </p:txBody>
        </p:sp>
      </p:grpSp>
      <p:grpSp>
        <p:nvGrpSpPr>
          <p:cNvPr id="24" name="Group 24"/>
          <p:cNvGrpSpPr/>
          <p:nvPr/>
        </p:nvGrpSpPr>
        <p:grpSpPr>
          <a:xfrm>
            <a:off x="10345765" y="5143500"/>
            <a:ext cx="7360061" cy="3707261"/>
            <a:chOff x="0" y="0"/>
            <a:chExt cx="9813414" cy="4943015"/>
          </a:xfrm>
        </p:grpSpPr>
        <p:sp>
          <p:nvSpPr>
            <p:cNvPr id="25" name="TextBox 25"/>
            <p:cNvSpPr txBox="1"/>
            <p:nvPr/>
          </p:nvSpPr>
          <p:spPr>
            <a:xfrm>
              <a:off x="3863372" y="4439316"/>
              <a:ext cx="996239" cy="503699"/>
            </a:xfrm>
            <a:prstGeom prst="rect">
              <a:avLst/>
            </a:prstGeom>
          </p:spPr>
          <p:txBody>
            <a:bodyPr lIns="0" tIns="0" rIns="0" bIns="0" rtlCol="0" anchor="t">
              <a:spAutoFit/>
            </a:bodyPr>
            <a:lstStyle/>
            <a:p>
              <a:pPr algn="just">
                <a:lnSpc>
                  <a:spcPts val="3398"/>
                </a:lnSpc>
              </a:pPr>
              <a:r>
                <a:rPr lang="en-US" sz="2122" b="1">
                  <a:solidFill>
                    <a:srgbClr val="0C1D4B"/>
                  </a:solidFill>
                  <a:latin typeface="Roboto Slab Bold"/>
                  <a:ea typeface="Roboto Slab Bold"/>
                  <a:cs typeface="Roboto Slab Bold"/>
                  <a:sym typeface="Roboto Slab Bold"/>
                </a:rPr>
                <a:t>LLMs</a:t>
              </a:r>
            </a:p>
          </p:txBody>
        </p:sp>
        <p:sp>
          <p:nvSpPr>
            <p:cNvPr id="26" name="Freeform 26"/>
            <p:cNvSpPr/>
            <p:nvPr/>
          </p:nvSpPr>
          <p:spPr>
            <a:xfrm>
              <a:off x="3662115" y="3128435"/>
              <a:ext cx="1398740" cy="1404010"/>
            </a:xfrm>
            <a:custGeom>
              <a:avLst/>
              <a:gdLst/>
              <a:ahLst/>
              <a:cxnLst/>
              <a:rect l="l" t="t" r="r" b="b"/>
              <a:pathLst>
                <a:path w="1398740" h="1404010">
                  <a:moveTo>
                    <a:pt x="0" y="0"/>
                  </a:moveTo>
                  <a:lnTo>
                    <a:pt x="1398740" y="0"/>
                  </a:lnTo>
                  <a:lnTo>
                    <a:pt x="1398740" y="1404010"/>
                  </a:lnTo>
                  <a:lnTo>
                    <a:pt x="0" y="1404010"/>
                  </a:lnTo>
                  <a:lnTo>
                    <a:pt x="0" y="0"/>
                  </a:lnTo>
                  <a:close/>
                </a:path>
              </a:pathLst>
            </a:custGeom>
            <a:blipFill>
              <a:blip>
                <a:extLst>
                  <a:ext uri="{96DAC541-7B7A-43D3-8B79-37D633B846F1}">
                    <asvg:svgBlip xmlns:asvg="http://schemas.microsoft.com/office/drawing/2016/SVG/main" r:embed="rId3"/>
                  </a:ext>
                </a:extLst>
              </a:blip>
              <a:stretch>
                <a:fillRect l="-187" r="-188"/>
              </a:stretch>
            </a:blipFill>
          </p:spPr>
          <p:txBody>
            <a:bodyPr/>
            <a:lstStyle/>
            <a:p>
              <a:endParaRPr lang="en-VN"/>
            </a:p>
          </p:txBody>
        </p:sp>
        <p:sp>
          <p:nvSpPr>
            <p:cNvPr id="27" name="Freeform 27"/>
            <p:cNvSpPr/>
            <p:nvPr/>
          </p:nvSpPr>
          <p:spPr>
            <a:xfrm>
              <a:off x="4668413" y="0"/>
              <a:ext cx="5145001" cy="3125588"/>
            </a:xfrm>
            <a:custGeom>
              <a:avLst/>
              <a:gdLst/>
              <a:ahLst/>
              <a:cxnLst/>
              <a:rect l="l" t="t" r="r" b="b"/>
              <a:pathLst>
                <a:path w="5145001" h="3125588">
                  <a:moveTo>
                    <a:pt x="0" y="0"/>
                  </a:moveTo>
                  <a:lnTo>
                    <a:pt x="5145001" y="0"/>
                  </a:lnTo>
                  <a:lnTo>
                    <a:pt x="5145001" y="3125588"/>
                  </a:lnTo>
                  <a:lnTo>
                    <a:pt x="0" y="3125588"/>
                  </a:lnTo>
                  <a:lnTo>
                    <a:pt x="0" y="0"/>
                  </a:lnTo>
                  <a:close/>
                </a:path>
              </a:pathLst>
            </a:custGeom>
            <a:blipFill>
              <a:blip>
                <a:extLst>
                  <a:ext uri="{96DAC541-7B7A-43D3-8B79-37D633B846F1}">
                    <asvg:svgBlip xmlns:asvg="http://schemas.microsoft.com/office/drawing/2016/SVG/main" r:embed="rId4"/>
                  </a:ext>
                </a:extLst>
              </a:blip>
              <a:stretch>
                <a:fillRect t="-139" b="-139"/>
              </a:stretch>
            </a:blipFill>
          </p:spPr>
          <p:txBody>
            <a:bodyPr/>
            <a:lstStyle/>
            <a:p>
              <a:endParaRPr lang="en-VN"/>
            </a:p>
          </p:txBody>
        </p:sp>
        <p:sp>
          <p:nvSpPr>
            <p:cNvPr id="28" name="TextBox 28"/>
            <p:cNvSpPr txBox="1"/>
            <p:nvPr/>
          </p:nvSpPr>
          <p:spPr>
            <a:xfrm>
              <a:off x="5655050" y="661498"/>
              <a:ext cx="2848216" cy="1243785"/>
            </a:xfrm>
            <a:prstGeom prst="rect">
              <a:avLst/>
            </a:prstGeom>
          </p:spPr>
          <p:txBody>
            <a:bodyPr lIns="0" tIns="0" rIns="0" bIns="0" rtlCol="0" anchor="t">
              <a:spAutoFit/>
            </a:bodyPr>
            <a:lstStyle/>
            <a:p>
              <a:pPr algn="ctr">
                <a:lnSpc>
                  <a:spcPts val="2520"/>
                </a:lnSpc>
              </a:pPr>
              <a:r>
                <a:rPr lang="en-US" sz="1800" b="1" spc="42">
                  <a:solidFill>
                    <a:srgbClr val="0D1D4B"/>
                  </a:solidFill>
                  <a:latin typeface="Roboto Slab Bold"/>
                  <a:ea typeface="Roboto Slab Bold"/>
                  <a:cs typeface="Roboto Slab Bold"/>
                  <a:sym typeface="Roboto Slab Bold"/>
                </a:rPr>
                <a:t>Chưa được huấn luyện dữ liệu này =&gt; “bịa” ra dữ liệu</a:t>
              </a:r>
            </a:p>
          </p:txBody>
        </p:sp>
        <p:grpSp>
          <p:nvGrpSpPr>
            <p:cNvPr id="29" name="Group 29"/>
            <p:cNvGrpSpPr/>
            <p:nvPr/>
          </p:nvGrpSpPr>
          <p:grpSpPr>
            <a:xfrm>
              <a:off x="0" y="3219741"/>
              <a:ext cx="2717839" cy="1221398"/>
              <a:chOff x="0" y="0"/>
              <a:chExt cx="536857" cy="241264"/>
            </a:xfrm>
          </p:grpSpPr>
          <p:sp>
            <p:nvSpPr>
              <p:cNvPr id="30" name="Freeform 30"/>
              <p:cNvSpPr/>
              <p:nvPr/>
            </p:nvSpPr>
            <p:spPr>
              <a:xfrm>
                <a:off x="0" y="0"/>
                <a:ext cx="536857" cy="241264"/>
              </a:xfrm>
              <a:custGeom>
                <a:avLst/>
                <a:gdLst/>
                <a:ahLst/>
                <a:cxnLst/>
                <a:rect l="l" t="t" r="r" b="b"/>
                <a:pathLst>
                  <a:path w="536857" h="241264">
                    <a:moveTo>
                      <a:pt x="106346" y="0"/>
                    </a:moveTo>
                    <a:lnTo>
                      <a:pt x="430511" y="0"/>
                    </a:lnTo>
                    <a:cubicBezTo>
                      <a:pt x="458716" y="0"/>
                      <a:pt x="485765" y="11204"/>
                      <a:pt x="505709" y="31148"/>
                    </a:cubicBezTo>
                    <a:cubicBezTo>
                      <a:pt x="525653" y="51092"/>
                      <a:pt x="536857" y="78141"/>
                      <a:pt x="536857" y="106346"/>
                    </a:cubicBezTo>
                    <a:lnTo>
                      <a:pt x="536857" y="134918"/>
                    </a:lnTo>
                    <a:cubicBezTo>
                      <a:pt x="536857" y="163122"/>
                      <a:pt x="525653" y="190172"/>
                      <a:pt x="505709" y="210116"/>
                    </a:cubicBezTo>
                    <a:cubicBezTo>
                      <a:pt x="485765" y="230060"/>
                      <a:pt x="458716" y="241264"/>
                      <a:pt x="430511" y="241264"/>
                    </a:cubicBezTo>
                    <a:lnTo>
                      <a:pt x="106346" y="241264"/>
                    </a:lnTo>
                    <a:cubicBezTo>
                      <a:pt x="78141" y="241264"/>
                      <a:pt x="51092" y="230060"/>
                      <a:pt x="31148" y="210116"/>
                    </a:cubicBezTo>
                    <a:cubicBezTo>
                      <a:pt x="11204" y="190172"/>
                      <a:pt x="0" y="163122"/>
                      <a:pt x="0" y="134918"/>
                    </a:cubicBezTo>
                    <a:lnTo>
                      <a:pt x="0" y="106346"/>
                    </a:lnTo>
                    <a:cubicBezTo>
                      <a:pt x="0" y="78141"/>
                      <a:pt x="11204" y="51092"/>
                      <a:pt x="31148" y="31148"/>
                    </a:cubicBezTo>
                    <a:cubicBezTo>
                      <a:pt x="51092" y="11204"/>
                      <a:pt x="78141" y="0"/>
                      <a:pt x="106346" y="0"/>
                    </a:cubicBezTo>
                    <a:close/>
                  </a:path>
                </a:pathLst>
              </a:custGeom>
              <a:ln w="28575" cap="rnd">
                <a:solidFill>
                  <a:srgbClr val="000000"/>
                </a:solidFill>
                <a:prstDash val="solid"/>
                <a:round/>
              </a:ln>
            </p:spPr>
            <p:txBody>
              <a:bodyPr/>
              <a:lstStyle/>
              <a:p>
                <a:endParaRPr lang="en-VN"/>
              </a:p>
            </p:txBody>
          </p:sp>
          <p:sp>
            <p:nvSpPr>
              <p:cNvPr id="31" name="TextBox 31"/>
              <p:cNvSpPr txBox="1"/>
              <p:nvPr/>
            </p:nvSpPr>
            <p:spPr>
              <a:xfrm>
                <a:off x="0" y="-38100"/>
                <a:ext cx="536857" cy="27936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Luật mới </a:t>
                </a:r>
              </a:p>
              <a:p>
                <a:pPr algn="ctr">
                  <a:lnSpc>
                    <a:spcPts val="2940"/>
                  </a:lnSpc>
                </a:pPr>
                <a:r>
                  <a:rPr lang="en-US" sz="2100" b="1">
                    <a:solidFill>
                      <a:srgbClr val="000000"/>
                    </a:solidFill>
                    <a:latin typeface="Roboto Slab Bold"/>
                    <a:ea typeface="Roboto Slab Bold"/>
                    <a:cs typeface="Roboto Slab Bold"/>
                    <a:sym typeface="Roboto Slab Bold"/>
                  </a:rPr>
                  <a:t>2027?</a:t>
                </a:r>
              </a:p>
            </p:txBody>
          </p:sp>
        </p:grpSp>
        <p:sp>
          <p:nvSpPr>
            <p:cNvPr id="32" name="AutoShape 32"/>
            <p:cNvSpPr/>
            <p:nvPr/>
          </p:nvSpPr>
          <p:spPr>
            <a:xfrm>
              <a:off x="2717839" y="3830440"/>
              <a:ext cx="944275"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33" name="Group 33"/>
            <p:cNvGrpSpPr/>
            <p:nvPr/>
          </p:nvGrpSpPr>
          <p:grpSpPr>
            <a:xfrm>
              <a:off x="6304264" y="3219741"/>
              <a:ext cx="2913783" cy="1221398"/>
              <a:chOff x="0" y="0"/>
              <a:chExt cx="575562" cy="241264"/>
            </a:xfrm>
          </p:grpSpPr>
          <p:sp>
            <p:nvSpPr>
              <p:cNvPr id="34" name="Freeform 34"/>
              <p:cNvSpPr/>
              <p:nvPr/>
            </p:nvSpPr>
            <p:spPr>
              <a:xfrm>
                <a:off x="0" y="0"/>
                <a:ext cx="575562" cy="241264"/>
              </a:xfrm>
              <a:custGeom>
                <a:avLst/>
                <a:gdLst/>
                <a:ahLst/>
                <a:cxnLst/>
                <a:rect l="l" t="t" r="r" b="b"/>
                <a:pathLst>
                  <a:path w="575562" h="241264">
                    <a:moveTo>
                      <a:pt x="99195" y="0"/>
                    </a:moveTo>
                    <a:lnTo>
                      <a:pt x="476367" y="0"/>
                    </a:lnTo>
                    <a:cubicBezTo>
                      <a:pt x="502676" y="0"/>
                      <a:pt x="527906" y="10451"/>
                      <a:pt x="546509" y="29053"/>
                    </a:cubicBezTo>
                    <a:cubicBezTo>
                      <a:pt x="565111" y="47656"/>
                      <a:pt x="575562" y="72887"/>
                      <a:pt x="575562" y="99195"/>
                    </a:cubicBezTo>
                    <a:lnTo>
                      <a:pt x="575562" y="142069"/>
                    </a:lnTo>
                    <a:cubicBezTo>
                      <a:pt x="575562" y="168377"/>
                      <a:pt x="565111" y="193608"/>
                      <a:pt x="546509" y="212210"/>
                    </a:cubicBezTo>
                    <a:cubicBezTo>
                      <a:pt x="527906" y="230813"/>
                      <a:pt x="502676" y="241264"/>
                      <a:pt x="476367" y="241264"/>
                    </a:cubicBezTo>
                    <a:lnTo>
                      <a:pt x="99195" y="241264"/>
                    </a:lnTo>
                    <a:cubicBezTo>
                      <a:pt x="72887" y="241264"/>
                      <a:pt x="47656" y="230813"/>
                      <a:pt x="29053" y="212210"/>
                    </a:cubicBezTo>
                    <a:cubicBezTo>
                      <a:pt x="10451" y="193608"/>
                      <a:pt x="0" y="168377"/>
                      <a:pt x="0" y="142069"/>
                    </a:cubicBezTo>
                    <a:lnTo>
                      <a:pt x="0" y="99195"/>
                    </a:lnTo>
                    <a:cubicBezTo>
                      <a:pt x="0" y="72887"/>
                      <a:pt x="10451" y="47656"/>
                      <a:pt x="29053" y="29053"/>
                    </a:cubicBezTo>
                    <a:cubicBezTo>
                      <a:pt x="47656" y="10451"/>
                      <a:pt x="72887" y="0"/>
                      <a:pt x="99195" y="0"/>
                    </a:cubicBezTo>
                    <a:close/>
                  </a:path>
                </a:pathLst>
              </a:custGeom>
              <a:ln w="28575" cap="rnd">
                <a:solidFill>
                  <a:srgbClr val="000000"/>
                </a:solidFill>
                <a:prstDash val="solid"/>
                <a:round/>
              </a:ln>
            </p:spPr>
            <p:txBody>
              <a:bodyPr/>
              <a:lstStyle/>
              <a:p>
                <a:endParaRPr lang="en-VN"/>
              </a:p>
            </p:txBody>
          </p:sp>
          <p:sp>
            <p:nvSpPr>
              <p:cNvPr id="35" name="TextBox 35"/>
              <p:cNvSpPr txBox="1"/>
              <p:nvPr/>
            </p:nvSpPr>
            <p:spPr>
              <a:xfrm>
                <a:off x="0" y="-38100"/>
                <a:ext cx="575562" cy="27936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Luật năm 2027 là...</a:t>
                </a:r>
              </a:p>
            </p:txBody>
          </p:sp>
        </p:grpSp>
        <p:sp>
          <p:nvSpPr>
            <p:cNvPr id="36" name="AutoShape 36"/>
            <p:cNvSpPr/>
            <p:nvPr/>
          </p:nvSpPr>
          <p:spPr>
            <a:xfrm flipV="1">
              <a:off x="5060855" y="3830440"/>
              <a:ext cx="1243409" cy="0"/>
            </a:xfrm>
            <a:prstGeom prst="line">
              <a:avLst/>
            </a:prstGeom>
            <a:ln w="50800" cap="flat">
              <a:solidFill>
                <a:srgbClr val="000000"/>
              </a:solidFill>
              <a:prstDash val="solid"/>
              <a:headEnd type="none" w="sm" len="sm"/>
              <a:tailEnd type="triangle" w="lg" len="med"/>
            </a:ln>
          </p:spPr>
          <p:txBody>
            <a:bodyPr/>
            <a:lstStyle/>
            <a:p>
              <a:endParaRPr lang="en-VN"/>
            </a:p>
          </p:txBody>
        </p:sp>
      </p:grpSp>
      <p:sp>
        <p:nvSpPr>
          <p:cNvPr id="37" name="TextBox 37"/>
          <p:cNvSpPr txBox="1"/>
          <p:nvPr/>
        </p:nvSpPr>
        <p:spPr>
          <a:xfrm>
            <a:off x="1028700" y="5741539"/>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Hạn chế</a:t>
            </a:r>
          </a:p>
        </p:txBody>
      </p:sp>
      <p:sp>
        <p:nvSpPr>
          <p:cNvPr id="38" name="TextBox 38"/>
          <p:cNvSpPr txBox="1"/>
          <p:nvPr/>
        </p:nvSpPr>
        <p:spPr>
          <a:xfrm>
            <a:off x="1028700" y="6646414"/>
            <a:ext cx="9079671" cy="2772681"/>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Không tận dụng được những nguồn dữ liệu nội bộ, dữ liệu mới chưa được huấn luyện (văn bản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Hiện tượng ảo giác của LLMs tạo ra nội dung sai sự thật</a:t>
            </a:r>
          </a:p>
        </p:txBody>
      </p:sp>
      <p:sp>
        <p:nvSpPr>
          <p:cNvPr id="39" name="TextBox 3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40" name="Freeform 4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5"/>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860"/>
                                  <p:tgtEl>
                                    <p:spTgt spid="11"/>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860"/>
                                  <p:tgtEl>
                                    <p:spTgt spid="2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37"/>
                                  </p:tgtEl>
                                  <p:attrNameLst>
                                    <p:attrName>style.visibility</p:attrName>
                                  </p:attrNameLst>
                                </p:cBhvr>
                                <p:to>
                                  <p:strVal val="visible"/>
                                </p:to>
                              </p:set>
                              <p:animEffect transition="in" filter="wipe(left)">
                                <p:cBhvr>
                                  <p:cTn id="18" dur="860"/>
                                  <p:tgtEl>
                                    <p:spTgt spid="37"/>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38"/>
                                  </p:tgtEl>
                                  <p:attrNameLst>
                                    <p:attrName>style.visibility</p:attrName>
                                  </p:attrNameLst>
                                </p:cBhvr>
                                <p:to>
                                  <p:strVal val="visible"/>
                                </p:to>
                              </p:set>
                              <p:animEffect transition="in" filter="wipe(left)">
                                <p:cBhvr>
                                  <p:cTn id="21" dur="860"/>
                                  <p:tgtEl>
                                    <p:spTgt spid="38"/>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860"/>
                                  <p:tgtEl>
                                    <p:spTgt spid="12"/>
                                  </p:tgtEl>
                                </p:cBhvr>
                              </p:animEffect>
                            </p:childTnLst>
                          </p:cTn>
                        </p:par>
                      </p:childTnLst>
                    </p:cTn>
                  </p:par>
                </p:childTnLst>
              </p:cTn>
            </p:seq>
          </p:childTnLst>
        </p:cTn>
      </p:par>
    </p:tnLst>
    <p:bldLst>
      <p:bldP spid="10" grpId="0"/>
      <p:bldP spid="11" grpId="0"/>
      <p:bldP spid="12" grpId="0"/>
      <p:bldP spid="13" grpId="0"/>
      <p:bldP spid="24" grpId="0"/>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Hệ thống Chatbot dựa trên mô hình kiến trúc AI Agent</a:t>
            </a:r>
          </a:p>
        </p:txBody>
      </p:sp>
      <p:sp>
        <p:nvSpPr>
          <p:cNvPr id="11" name="TextBox 11"/>
          <p:cNvSpPr txBox="1"/>
          <p:nvPr/>
        </p:nvSpPr>
        <p:spPr>
          <a:xfrm>
            <a:off x="1028700" y="2630118"/>
            <a:ext cx="9079671" cy="3896739"/>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chatbot dựa trên mô hình kiến trúc AI Agent (tác tử thông minh)</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Hệ thống chatbot có khả năng sử dụng các công cụ truy vấn, công cụ tính toán, lập kế hoạch,...</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Khai thác được dữ liệu có sẵn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Đa năng, linh hoạt do được tích hợp nhiều công cụ</a:t>
            </a:r>
          </a:p>
        </p:txBody>
      </p:sp>
      <p:grpSp>
        <p:nvGrpSpPr>
          <p:cNvPr id="12" name="Group 12"/>
          <p:cNvGrpSpPr/>
          <p:nvPr/>
        </p:nvGrpSpPr>
        <p:grpSpPr>
          <a:xfrm>
            <a:off x="12562095" y="1644257"/>
            <a:ext cx="4883508" cy="7298471"/>
            <a:chOff x="0" y="0"/>
            <a:chExt cx="6511344" cy="9731295"/>
          </a:xfrm>
        </p:grpSpPr>
        <p:grpSp>
          <p:nvGrpSpPr>
            <p:cNvPr id="13" name="Group 13"/>
            <p:cNvGrpSpPr/>
            <p:nvPr/>
          </p:nvGrpSpPr>
          <p:grpSpPr>
            <a:xfrm>
              <a:off x="1870594" y="0"/>
              <a:ext cx="2758266" cy="876752"/>
              <a:chOff x="0" y="0"/>
              <a:chExt cx="544843" cy="173186"/>
            </a:xfrm>
          </p:grpSpPr>
          <p:sp>
            <p:nvSpPr>
              <p:cNvPr id="14" name="Freeform 14"/>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5" name="TextBox 15"/>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hỏi</a:t>
                </a:r>
              </a:p>
            </p:txBody>
          </p:sp>
        </p:grpSp>
        <p:sp>
          <p:nvSpPr>
            <p:cNvPr id="16" name="AutoShape 16"/>
            <p:cNvSpPr/>
            <p:nvPr/>
          </p:nvSpPr>
          <p:spPr>
            <a:xfrm>
              <a:off x="3249727" y="876752"/>
              <a:ext cx="5945" cy="106680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17" name="Group 17"/>
            <p:cNvGrpSpPr/>
            <p:nvPr/>
          </p:nvGrpSpPr>
          <p:grpSpPr>
            <a:xfrm>
              <a:off x="1870594" y="8854543"/>
              <a:ext cx="2758266" cy="876752"/>
              <a:chOff x="0" y="0"/>
              <a:chExt cx="544843" cy="173186"/>
            </a:xfrm>
          </p:grpSpPr>
          <p:sp>
            <p:nvSpPr>
              <p:cNvPr id="18" name="Freeform 18"/>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9" name="TextBox 19"/>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0" name="AutoShape 20"/>
            <p:cNvSpPr/>
            <p:nvPr/>
          </p:nvSpPr>
          <p:spPr>
            <a:xfrm flipH="1">
              <a:off x="3249727" y="7839480"/>
              <a:ext cx="5945" cy="1015062"/>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1" name="Group 21"/>
            <p:cNvGrpSpPr/>
            <p:nvPr/>
          </p:nvGrpSpPr>
          <p:grpSpPr>
            <a:xfrm>
              <a:off x="0" y="1943552"/>
              <a:ext cx="6511344" cy="5895928"/>
              <a:chOff x="0" y="0"/>
              <a:chExt cx="1286191" cy="1164628"/>
            </a:xfrm>
          </p:grpSpPr>
          <p:sp>
            <p:nvSpPr>
              <p:cNvPr id="22" name="Freeform 22"/>
              <p:cNvSpPr/>
              <p:nvPr/>
            </p:nvSpPr>
            <p:spPr>
              <a:xfrm>
                <a:off x="0" y="0"/>
                <a:ext cx="1286191" cy="1164628"/>
              </a:xfrm>
              <a:custGeom>
                <a:avLst/>
                <a:gdLst/>
                <a:ahLst/>
                <a:cxnLst/>
                <a:rect l="l" t="t" r="r" b="b"/>
                <a:pathLst>
                  <a:path w="1286191" h="1164628">
                    <a:moveTo>
                      <a:pt x="80851" y="0"/>
                    </a:moveTo>
                    <a:lnTo>
                      <a:pt x="1205340" y="0"/>
                    </a:lnTo>
                    <a:cubicBezTo>
                      <a:pt x="1226783" y="0"/>
                      <a:pt x="1247348" y="8518"/>
                      <a:pt x="1262511" y="23681"/>
                    </a:cubicBezTo>
                    <a:cubicBezTo>
                      <a:pt x="1277673" y="38843"/>
                      <a:pt x="1286191" y="59408"/>
                      <a:pt x="1286191" y="80851"/>
                    </a:cubicBezTo>
                    <a:lnTo>
                      <a:pt x="1286191" y="1083777"/>
                    </a:lnTo>
                    <a:cubicBezTo>
                      <a:pt x="1286191" y="1105220"/>
                      <a:pt x="1277673" y="1125784"/>
                      <a:pt x="1262511" y="1140947"/>
                    </a:cubicBezTo>
                    <a:cubicBezTo>
                      <a:pt x="1247348" y="1156110"/>
                      <a:pt x="1226783" y="1164628"/>
                      <a:pt x="1205340" y="1164628"/>
                    </a:cubicBezTo>
                    <a:lnTo>
                      <a:pt x="80851" y="1164628"/>
                    </a:lnTo>
                    <a:cubicBezTo>
                      <a:pt x="59408" y="1164628"/>
                      <a:pt x="38843" y="1156110"/>
                      <a:pt x="23681" y="1140947"/>
                    </a:cubicBezTo>
                    <a:cubicBezTo>
                      <a:pt x="8518" y="1125784"/>
                      <a:pt x="0" y="1105220"/>
                      <a:pt x="0" y="1083777"/>
                    </a:cubicBezTo>
                    <a:lnTo>
                      <a:pt x="0" y="80851"/>
                    </a:lnTo>
                    <a:cubicBezTo>
                      <a:pt x="0" y="59408"/>
                      <a:pt x="8518" y="38843"/>
                      <a:pt x="23681" y="23681"/>
                    </a:cubicBezTo>
                    <a:cubicBezTo>
                      <a:pt x="38843" y="8518"/>
                      <a:pt x="59408" y="0"/>
                      <a:pt x="80851" y="0"/>
                    </a:cubicBezTo>
                    <a:close/>
                  </a:path>
                </a:pathLst>
              </a:custGeom>
              <a:ln w="28575" cap="rnd">
                <a:solidFill>
                  <a:srgbClr val="000000"/>
                </a:solidFill>
                <a:prstDash val="solid"/>
                <a:round/>
              </a:ln>
            </p:spPr>
            <p:txBody>
              <a:bodyPr/>
              <a:lstStyle/>
              <a:p>
                <a:endParaRPr lang="en-VN"/>
              </a:p>
            </p:txBody>
          </p:sp>
          <p:sp>
            <p:nvSpPr>
              <p:cNvPr id="23" name="TextBox 23"/>
              <p:cNvSpPr txBox="1"/>
              <p:nvPr/>
            </p:nvSpPr>
            <p:spPr>
              <a:xfrm>
                <a:off x="0" y="-38100"/>
                <a:ext cx="1286191" cy="1202728"/>
              </a:xfrm>
              <a:prstGeom prst="rect">
                <a:avLst/>
              </a:prstGeom>
            </p:spPr>
            <p:txBody>
              <a:bodyPr lIns="50800" tIns="50800" rIns="50800" bIns="50800" rtlCol="0" anchor="ctr"/>
              <a:lstStyle/>
              <a:p>
                <a:pPr algn="ctr">
                  <a:lnSpc>
                    <a:spcPts val="2940"/>
                  </a:lnSpc>
                </a:pPr>
                <a:endParaRPr/>
              </a:p>
            </p:txBody>
          </p:sp>
        </p:grpSp>
        <p:sp>
          <p:nvSpPr>
            <p:cNvPr id="24" name="Freeform 24"/>
            <p:cNvSpPr/>
            <p:nvPr/>
          </p:nvSpPr>
          <p:spPr>
            <a:xfrm>
              <a:off x="1362538" y="2577586"/>
              <a:ext cx="1200302" cy="1204824"/>
            </a:xfrm>
            <a:custGeom>
              <a:avLst/>
              <a:gdLst/>
              <a:ahLst/>
              <a:cxnLst/>
              <a:rect l="l" t="t" r="r" b="b"/>
              <a:pathLst>
                <a:path w="1200302" h="1204824">
                  <a:moveTo>
                    <a:pt x="0" y="0"/>
                  </a:moveTo>
                  <a:lnTo>
                    <a:pt x="1200303" y="0"/>
                  </a:lnTo>
                  <a:lnTo>
                    <a:pt x="1200303" y="1204823"/>
                  </a:lnTo>
                  <a:lnTo>
                    <a:pt x="0" y="1204823"/>
                  </a:lnTo>
                  <a:lnTo>
                    <a:pt x="0" y="0"/>
                  </a:lnTo>
                  <a:close/>
                </a:path>
              </a:pathLst>
            </a:custGeom>
            <a:blipFill>
              <a:blip>
                <a:extLst>
                  <a:ext uri="{96DAC541-7B7A-43D3-8B79-37D633B846F1}">
                    <asvg:svgBlip xmlns:asvg="http://schemas.microsoft.com/office/drawing/2016/SVG/main" r:embed="rId3"/>
                  </a:ext>
                </a:extLst>
              </a:blip>
              <a:stretch>
                <a:fillRect l="-188" r="-188"/>
              </a:stretch>
            </a:blipFill>
          </p:spPr>
          <p:txBody>
            <a:bodyPr/>
            <a:lstStyle/>
            <a:p>
              <a:endParaRPr lang="en-VN"/>
            </a:p>
          </p:txBody>
        </p:sp>
        <p:sp>
          <p:nvSpPr>
            <p:cNvPr id="25" name="TextBox 25"/>
            <p:cNvSpPr txBox="1"/>
            <p:nvPr/>
          </p:nvSpPr>
          <p:spPr>
            <a:xfrm>
              <a:off x="1535233" y="3680860"/>
              <a:ext cx="854913" cy="435218"/>
            </a:xfrm>
            <a:prstGeom prst="rect">
              <a:avLst/>
            </a:prstGeom>
          </p:spPr>
          <p:txBody>
            <a:bodyPr lIns="0" tIns="0" rIns="0" bIns="0" rtlCol="0" anchor="t">
              <a:spAutoFit/>
            </a:bodyPr>
            <a:lstStyle/>
            <a:p>
              <a:pPr algn="just">
                <a:lnSpc>
                  <a:spcPts val="2916"/>
                </a:lnSpc>
              </a:pPr>
              <a:r>
                <a:rPr lang="en-US" sz="1822" b="1">
                  <a:solidFill>
                    <a:srgbClr val="0C1D4B"/>
                  </a:solidFill>
                  <a:latin typeface="Roboto Slab Bold"/>
                  <a:ea typeface="Roboto Slab Bold"/>
                  <a:cs typeface="Roboto Slab Bold"/>
                  <a:sym typeface="Roboto Slab Bold"/>
                </a:rPr>
                <a:t>LLMs</a:t>
              </a:r>
            </a:p>
          </p:txBody>
        </p:sp>
        <p:sp>
          <p:nvSpPr>
            <p:cNvPr id="26" name="TextBox 26"/>
            <p:cNvSpPr txBox="1"/>
            <p:nvPr/>
          </p:nvSpPr>
          <p:spPr>
            <a:xfrm>
              <a:off x="3636346" y="3546863"/>
              <a:ext cx="1444473"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Truy vấn CSDL</a:t>
              </a:r>
            </a:p>
          </p:txBody>
        </p:sp>
        <p:sp>
          <p:nvSpPr>
            <p:cNvPr id="27" name="Freeform 27"/>
            <p:cNvSpPr/>
            <p:nvPr/>
          </p:nvSpPr>
          <p:spPr>
            <a:xfrm>
              <a:off x="3838289" y="2240185"/>
              <a:ext cx="1040587" cy="1217054"/>
            </a:xfrm>
            <a:custGeom>
              <a:avLst/>
              <a:gdLst/>
              <a:ahLst/>
              <a:cxnLst/>
              <a:rect l="l" t="t" r="r" b="b"/>
              <a:pathLst>
                <a:path w="1040587" h="1217054">
                  <a:moveTo>
                    <a:pt x="0" y="0"/>
                  </a:moveTo>
                  <a:lnTo>
                    <a:pt x="1040587" y="0"/>
                  </a:lnTo>
                  <a:lnTo>
                    <a:pt x="1040587" y="1217054"/>
                  </a:lnTo>
                  <a:lnTo>
                    <a:pt x="0" y="1217054"/>
                  </a:lnTo>
                  <a:lnTo>
                    <a:pt x="0" y="0"/>
                  </a:lnTo>
                  <a:close/>
                </a:path>
              </a:pathLst>
            </a:custGeom>
            <a:blipFill>
              <a:blip>
                <a:extLst>
                  <a:ext uri="{96DAC541-7B7A-43D3-8B79-37D633B846F1}">
                    <asvg:svgBlip xmlns:asvg="http://schemas.microsoft.com/office/drawing/2016/SVG/main" r:embed="rId4"/>
                  </a:ext>
                </a:extLst>
              </a:blip>
              <a:stretch>
                <a:fillRect t="-49" b="-49"/>
              </a:stretch>
            </a:blipFill>
          </p:spPr>
          <p:txBody>
            <a:bodyPr/>
            <a:lstStyle/>
            <a:p>
              <a:endParaRPr lang="en-VN"/>
            </a:p>
          </p:txBody>
        </p:sp>
        <p:sp>
          <p:nvSpPr>
            <p:cNvPr id="28" name="TextBox 28"/>
            <p:cNvSpPr txBox="1"/>
            <p:nvPr/>
          </p:nvSpPr>
          <p:spPr>
            <a:xfrm>
              <a:off x="2434114" y="6338284"/>
              <a:ext cx="1631226" cy="435218"/>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Tính toán</a:t>
              </a:r>
            </a:p>
          </p:txBody>
        </p:sp>
        <p:sp>
          <p:nvSpPr>
            <p:cNvPr id="29" name="Freeform 29"/>
            <p:cNvSpPr/>
            <p:nvPr/>
          </p:nvSpPr>
          <p:spPr>
            <a:xfrm>
              <a:off x="2606846" y="4881531"/>
              <a:ext cx="1432484" cy="1416368"/>
            </a:xfrm>
            <a:custGeom>
              <a:avLst/>
              <a:gdLst/>
              <a:ahLst/>
              <a:cxnLst/>
              <a:rect l="l" t="t" r="r" b="b"/>
              <a:pathLst>
                <a:path w="1432484" h="1416368">
                  <a:moveTo>
                    <a:pt x="0" y="0"/>
                  </a:moveTo>
                  <a:lnTo>
                    <a:pt x="1432484" y="0"/>
                  </a:lnTo>
                  <a:lnTo>
                    <a:pt x="1432484" y="1416367"/>
                  </a:lnTo>
                  <a:lnTo>
                    <a:pt x="0" y="1416367"/>
                  </a:lnTo>
                  <a:lnTo>
                    <a:pt x="0" y="0"/>
                  </a:lnTo>
                  <a:close/>
                </a:path>
              </a:pathLst>
            </a:custGeom>
            <a:blipFill>
              <a:blip>
                <a:extLst>
                  <a:ext uri="{96DAC541-7B7A-43D3-8B79-37D633B846F1}">
                    <asvg:svgBlip xmlns:asvg="http://schemas.microsoft.com/office/drawing/2016/SVG/main" r:embed="rId5"/>
                  </a:ext>
                </a:extLst>
              </a:blip>
              <a:stretch>
                <a:fillRect t="-568" b="-569"/>
              </a:stretch>
            </a:blipFill>
          </p:spPr>
          <p:txBody>
            <a:bodyPr/>
            <a:lstStyle/>
            <a:p>
              <a:endParaRPr lang="en-VN"/>
            </a:p>
          </p:txBody>
        </p:sp>
        <p:sp>
          <p:nvSpPr>
            <p:cNvPr id="30" name="TextBox 30"/>
            <p:cNvSpPr txBox="1"/>
            <p:nvPr/>
          </p:nvSpPr>
          <p:spPr>
            <a:xfrm>
              <a:off x="4403223" y="6094470"/>
              <a:ext cx="1444473"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Lập kế hoạch</a:t>
              </a:r>
            </a:p>
          </p:txBody>
        </p:sp>
        <p:sp>
          <p:nvSpPr>
            <p:cNvPr id="31" name="Freeform 31"/>
            <p:cNvSpPr/>
            <p:nvPr/>
          </p:nvSpPr>
          <p:spPr>
            <a:xfrm>
              <a:off x="4557554" y="4670203"/>
              <a:ext cx="1135786" cy="1385113"/>
            </a:xfrm>
            <a:custGeom>
              <a:avLst/>
              <a:gdLst/>
              <a:ahLst/>
              <a:cxnLst/>
              <a:rect l="l" t="t" r="r" b="b"/>
              <a:pathLst>
                <a:path w="1135786" h="1385113">
                  <a:moveTo>
                    <a:pt x="0" y="0"/>
                  </a:moveTo>
                  <a:lnTo>
                    <a:pt x="1135786" y="0"/>
                  </a:lnTo>
                  <a:lnTo>
                    <a:pt x="1135786" y="1385113"/>
                  </a:lnTo>
                  <a:lnTo>
                    <a:pt x="0" y="1385113"/>
                  </a:lnTo>
                  <a:lnTo>
                    <a:pt x="0" y="0"/>
                  </a:lnTo>
                  <a:close/>
                </a:path>
              </a:pathLst>
            </a:custGeom>
            <a:blipFill>
              <a:blip>
                <a:extLst>
                  <a:ext uri="{96DAC541-7B7A-43D3-8B79-37D633B846F1}">
                    <asvg:svgBlip xmlns:asvg="http://schemas.microsoft.com/office/drawing/2016/SVG/main" r:embed="rId6"/>
                  </a:ext>
                </a:extLst>
              </a:blip>
              <a:stretch>
                <a:fillRect t="-110" b="-110"/>
              </a:stretch>
            </a:blipFill>
          </p:spPr>
          <p:txBody>
            <a:bodyPr/>
            <a:lstStyle/>
            <a:p>
              <a:endParaRPr lang="en-VN"/>
            </a:p>
          </p:txBody>
        </p:sp>
        <p:sp>
          <p:nvSpPr>
            <p:cNvPr id="32" name="TextBox 32"/>
            <p:cNvSpPr txBox="1"/>
            <p:nvPr/>
          </p:nvSpPr>
          <p:spPr>
            <a:xfrm>
              <a:off x="430244" y="6121927"/>
              <a:ext cx="1477416"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Đánh giá kết quả</a:t>
              </a:r>
            </a:p>
          </p:txBody>
        </p:sp>
        <p:sp>
          <p:nvSpPr>
            <p:cNvPr id="33" name="Freeform 33"/>
            <p:cNvSpPr/>
            <p:nvPr/>
          </p:nvSpPr>
          <p:spPr>
            <a:xfrm>
              <a:off x="521074" y="4670203"/>
              <a:ext cx="1295781" cy="1425893"/>
            </a:xfrm>
            <a:custGeom>
              <a:avLst/>
              <a:gdLst/>
              <a:ahLst/>
              <a:cxnLst/>
              <a:rect l="l" t="t" r="r" b="b"/>
              <a:pathLst>
                <a:path w="1295781" h="1425893">
                  <a:moveTo>
                    <a:pt x="0" y="0"/>
                  </a:moveTo>
                  <a:lnTo>
                    <a:pt x="1295781" y="0"/>
                  </a:lnTo>
                  <a:lnTo>
                    <a:pt x="1295781" y="1425892"/>
                  </a:lnTo>
                  <a:lnTo>
                    <a:pt x="0" y="1425892"/>
                  </a:lnTo>
                  <a:lnTo>
                    <a:pt x="0" y="0"/>
                  </a:lnTo>
                  <a:close/>
                </a:path>
              </a:pathLst>
            </a:custGeom>
            <a:blipFill>
              <a:blip>
                <a:extLst>
                  <a:ext uri="{96DAC541-7B7A-43D3-8B79-37D633B846F1}">
                    <asvg:svgBlip xmlns:asvg="http://schemas.microsoft.com/office/drawing/2016/SVG/main" r:embed="rId7"/>
                  </a:ext>
                </a:extLst>
              </a:blip>
              <a:stretch>
                <a:fillRect l="-151" r="-150"/>
              </a:stretch>
            </a:blipFill>
          </p:spPr>
          <p:txBody>
            <a:bodyPr/>
            <a:lstStyle/>
            <a:p>
              <a:endParaRPr lang="en-VN"/>
            </a:p>
          </p:txBody>
        </p:sp>
      </p:grpSp>
      <p:sp>
        <p:nvSpPr>
          <p:cNvPr id="34" name="TextBox 3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35" name="Freeform 35"/>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8"/>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860"/>
                                  <p:tgtEl>
                                    <p:spTgt spid="10"/>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860"/>
                                  <p:tgtEl>
                                    <p:spTgt spid="11"/>
                                  </p:tgtEl>
                                </p:cBhvr>
                              </p:animEffect>
                            </p:childTnLst>
                          </p:cTn>
                        </p:par>
                      </p:childTnLst>
                    </p:cTn>
                  </p:par>
                </p:childTnLst>
              </p:cTn>
            </p:seq>
          </p:childTnLst>
        </p:cTn>
      </p:par>
    </p:tnLst>
    <p:bldLst>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AI Agent</a:t>
            </a:r>
          </a:p>
        </p:txBody>
      </p:sp>
      <p:sp>
        <p:nvSpPr>
          <p:cNvPr id="11" name="TextBox 11"/>
          <p:cNvSpPr txBox="1"/>
          <p:nvPr/>
        </p:nvSpPr>
        <p:spPr>
          <a:xfrm>
            <a:off x="1028700" y="2630118"/>
            <a:ext cx="9079671" cy="3896739"/>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AI Agent là hệ thống có khả năng nhận yêu cầu, phân tích trạng thái hiện tại, lựa chọn hành động phù hợp và sử dụng công cụ để đạt mục tiêu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AI Agent là Agent được xây dựng với nền tảng các kỹ thuật AI, đặc biệt là LLMs</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LLMs thường được ứng dụng như khối não của AI Agent</a:t>
            </a:r>
          </a:p>
        </p:txBody>
      </p:sp>
      <p:grpSp>
        <p:nvGrpSpPr>
          <p:cNvPr id="12" name="Group 12"/>
          <p:cNvGrpSpPr/>
          <p:nvPr/>
        </p:nvGrpSpPr>
        <p:grpSpPr>
          <a:xfrm>
            <a:off x="11110522" y="2734893"/>
            <a:ext cx="6674961" cy="4480642"/>
            <a:chOff x="0" y="0"/>
            <a:chExt cx="8817826" cy="5919064"/>
          </a:xfrm>
        </p:grpSpPr>
        <p:sp>
          <p:nvSpPr>
            <p:cNvPr id="13" name="Freeform 13"/>
            <p:cNvSpPr/>
            <p:nvPr/>
          </p:nvSpPr>
          <p:spPr>
            <a:xfrm>
              <a:off x="0" y="0"/>
              <a:ext cx="8817864" cy="5919089"/>
            </a:xfrm>
            <a:custGeom>
              <a:avLst/>
              <a:gdLst/>
              <a:ahLst/>
              <a:cxnLst/>
              <a:rect l="l" t="t" r="r" b="b"/>
              <a:pathLst>
                <a:path w="8817864" h="5919089">
                  <a:moveTo>
                    <a:pt x="0" y="0"/>
                  </a:moveTo>
                  <a:lnTo>
                    <a:pt x="8817864" y="0"/>
                  </a:lnTo>
                  <a:lnTo>
                    <a:pt x="8817864" y="5919089"/>
                  </a:lnTo>
                  <a:lnTo>
                    <a:pt x="0" y="5919089"/>
                  </a:lnTo>
                  <a:lnTo>
                    <a:pt x="0" y="0"/>
                  </a:lnTo>
                  <a:close/>
                </a:path>
              </a:pathLst>
            </a:custGeom>
            <a:blipFill>
              <a:blip r:embed="rId3"/>
              <a:stretch>
                <a:fillRect l="-14042" r="-14042"/>
              </a:stretch>
            </a:blipFill>
          </p:spPr>
          <p:txBody>
            <a:bodyPr/>
            <a:lstStyle/>
            <a:p>
              <a:endParaRPr lang="en-VN"/>
            </a:p>
          </p:txBody>
        </p:sp>
      </p:gr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5" name="Freeform 15"/>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1"/>
                                  </p:tgtEl>
                                  <p:attrNameLst>
                                    <p:attrName>style.visibility</p:attrName>
                                  </p:attrNameLst>
                                </p:cBhvr>
                                <p:to>
                                  <p:strVal val="visible"/>
                                </p:to>
                              </p:set>
                              <p:animEffect transition="in" filter="wipe(left)">
                                <p:cBhvr>
                                  <p:cTn id="9" dur="860"/>
                                  <p:tgtEl>
                                    <p:spTgt spid="11"/>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childTnLst>
                    </p:cTn>
                  </p:par>
                </p:childTnLst>
              </p:cTn>
            </p:seq>
          </p:childTnLst>
        </p:cTn>
      </p:par>
    </p:tnLst>
    <p:bldLst>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656071" y="5698966"/>
            <a:ext cx="8935125" cy="3225915"/>
          </a:xfrm>
          <a:custGeom>
            <a:avLst/>
            <a:gdLst/>
            <a:ahLst/>
            <a:cxnLst/>
            <a:rect l="l" t="t" r="r" b="b"/>
            <a:pathLst>
              <a:path w="8935125" h="3225915">
                <a:moveTo>
                  <a:pt x="0" y="0"/>
                </a:moveTo>
                <a:lnTo>
                  <a:pt x="8935125" y="0"/>
                </a:lnTo>
                <a:lnTo>
                  <a:pt x="8935125" y="3225915"/>
                </a:lnTo>
                <a:lnTo>
                  <a:pt x="0" y="3225915"/>
                </a:lnTo>
                <a:lnTo>
                  <a:pt x="0" y="0"/>
                </a:lnTo>
                <a:close/>
              </a:path>
            </a:pathLst>
          </a:custGeom>
          <a:blipFill>
            <a:blip r:embed="rId4"/>
            <a:stretch>
              <a:fillRect t="-335" r="-2023" b="-335"/>
            </a:stretch>
          </a:blipFill>
        </p:spPr>
        <p:txBody>
          <a:bodyPr/>
          <a:lstStyle/>
          <a:p>
            <a:endParaRPr lang="en-VN"/>
          </a:p>
        </p:txBody>
      </p:sp>
      <p:sp>
        <p:nvSpPr>
          <p:cNvPr id="11" name="Freeform 11"/>
          <p:cNvSpPr/>
          <p:nvPr/>
        </p:nvSpPr>
        <p:spPr>
          <a:xfrm>
            <a:off x="10401213" y="5698966"/>
            <a:ext cx="7129094" cy="3225915"/>
          </a:xfrm>
          <a:custGeom>
            <a:avLst/>
            <a:gdLst/>
            <a:ahLst/>
            <a:cxnLst/>
            <a:rect l="l" t="t" r="r" b="b"/>
            <a:pathLst>
              <a:path w="7129094" h="3225915">
                <a:moveTo>
                  <a:pt x="0" y="0"/>
                </a:moveTo>
                <a:lnTo>
                  <a:pt x="7129094" y="0"/>
                </a:lnTo>
                <a:lnTo>
                  <a:pt x="7129094" y="3225915"/>
                </a:lnTo>
                <a:lnTo>
                  <a:pt x="0" y="3225915"/>
                </a:lnTo>
                <a:lnTo>
                  <a:pt x="0" y="0"/>
                </a:lnTo>
                <a:close/>
              </a:path>
            </a:pathLst>
          </a:custGeom>
          <a:blipFill>
            <a:blip r:embed="rId5"/>
            <a:stretch>
              <a:fillRect/>
            </a:stretch>
          </a:blipFill>
        </p:spPr>
        <p:txBody>
          <a:bodyPr/>
          <a:lstStyle/>
          <a:p>
            <a:endParaRPr lang="en-VN"/>
          </a:p>
        </p:txBody>
      </p:sp>
      <p:sp>
        <p:nvSpPr>
          <p:cNvPr id="12" name="TextBox 12"/>
          <p:cNvSpPr txBox="1"/>
          <p:nvPr/>
        </p:nvSpPr>
        <p:spPr>
          <a:xfrm>
            <a:off x="1028700" y="1095375"/>
            <a:ext cx="3954904" cy="512961"/>
          </a:xfrm>
          <a:prstGeom prst="rect">
            <a:avLst/>
          </a:prstGeom>
        </p:spPr>
        <p:txBody>
          <a:bodyPr wrap="square" lIns="0" tIns="0" rIns="0" bIns="0" rtlCol="0" anchor="t">
            <a:spAutoFit/>
          </a:bodyPr>
          <a:lstStyle/>
          <a:p>
            <a:pPr algn="just">
              <a:lnSpc>
                <a:spcPts val="4039"/>
              </a:lnSpc>
            </a:pPr>
            <a:r>
              <a:rPr lang="en-US" sz="3999" b="1" dirty="0">
                <a:solidFill>
                  <a:srgbClr val="0C1D4B"/>
                </a:solidFill>
                <a:latin typeface="Roboto Slab Bold"/>
                <a:ea typeface="Roboto Slab Bold"/>
                <a:cs typeface="Roboto Slab Bold"/>
                <a:sym typeface="Roboto Slab Bold"/>
              </a:rPr>
              <a:t>2.3. </a:t>
            </a:r>
            <a:r>
              <a:rPr lang="en-US" sz="3999" b="1" dirty="0" err="1">
                <a:solidFill>
                  <a:srgbClr val="0C1D4B"/>
                </a:solidFill>
                <a:latin typeface="Roboto Slab Bold"/>
                <a:ea typeface="Roboto Slab Bold"/>
                <a:cs typeface="Roboto Slab Bold"/>
                <a:sym typeface="Roboto Slab Bold"/>
              </a:rPr>
              <a:t>LangGraph</a:t>
            </a:r>
            <a:endParaRPr lang="en-US" sz="3999" b="1" dirty="0">
              <a:solidFill>
                <a:srgbClr val="0C1D4B"/>
              </a:solidFill>
              <a:latin typeface="Roboto Slab Bold"/>
              <a:ea typeface="Roboto Slab Bold"/>
              <a:cs typeface="Roboto Slab Bold"/>
              <a:sym typeface="Roboto Slab Bold"/>
            </a:endParaRPr>
          </a:p>
        </p:txBody>
      </p:sp>
      <p:sp>
        <p:nvSpPr>
          <p:cNvPr id="13" name="TextBox 13"/>
          <p:cNvSpPr txBox="1"/>
          <p:nvPr/>
        </p:nvSpPr>
        <p:spPr>
          <a:xfrm>
            <a:off x="1028700" y="1849068"/>
            <a:ext cx="16230600" cy="3334710"/>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LangGraph là một framework cho phép mô hình hóa luồng xử lý thành graph gồm node, edge và state.</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Node tương ứng với các bước xử lý</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Edge là các cạnh thể hiện hướng di chuyển giữa các node</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State lưu thông tin xuyên suốt quá trình xử lý của Agent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Conditional edge giúp kiểm soát hướng đi của graph theo điều kiện</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860"/>
                                  <p:tgtEl>
                                    <p:spTgt spid="10"/>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860"/>
                                  <p:tgtEl>
                                    <p:spTgt spid="11"/>
                                  </p:tgtEl>
                                </p:cBhvr>
                              </p:animEffect>
                            </p:childTnLst>
                          </p:cTn>
                        </p:par>
                      </p:childTnLst>
                    </p:cTn>
                  </p:par>
                </p:childTnLst>
              </p:cTn>
            </p:seq>
          </p:childTnLst>
        </p:cTn>
      </p:par>
    </p:tnLst>
    <p:bldLst>
      <p:bldP spid="10" grpId="0" animBg="1"/>
      <p:bldP spid="11" grpId="0" animBg="1"/>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0" name="Group 10"/>
          <p:cNvGrpSpPr/>
          <p:nvPr/>
        </p:nvGrpSpPr>
        <p:grpSpPr>
          <a:xfrm>
            <a:off x="8555428" y="3969707"/>
            <a:ext cx="1177144" cy="1173793"/>
            <a:chOff x="0" y="0"/>
            <a:chExt cx="871377" cy="868896"/>
          </a:xfrm>
        </p:grpSpPr>
        <p:sp>
          <p:nvSpPr>
            <p:cNvPr id="11" name="Freeform 11"/>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2" name="TextBox 12"/>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3</a:t>
              </a:r>
            </a:p>
          </p:txBody>
        </p:sp>
      </p:gr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TextBox 14"/>
          <p:cNvSpPr txBox="1"/>
          <p:nvPr/>
        </p:nvSpPr>
        <p:spPr>
          <a:xfrm>
            <a:off x="5839542" y="5360956"/>
            <a:ext cx="6885858" cy="630228"/>
          </a:xfrm>
          <a:prstGeom prst="rect">
            <a:avLst/>
          </a:prstGeom>
        </p:spPr>
        <p:txBody>
          <a:bodyPr wrap="square" lIns="0" tIns="0" rIns="0" bIns="0" rtlCol="0" anchor="t">
            <a:spAutoFit/>
          </a:bodyPr>
          <a:lstStyle/>
          <a:p>
            <a:pPr algn="ctr">
              <a:lnSpc>
                <a:spcPts val="4848"/>
              </a:lnSpc>
            </a:pPr>
            <a:r>
              <a:rPr lang="en-US" sz="4800" b="1" dirty="0">
                <a:solidFill>
                  <a:srgbClr val="0C1D4B"/>
                </a:solidFill>
                <a:latin typeface="Roboto Slab Bold"/>
                <a:ea typeface="Roboto Slab Bold"/>
                <a:cs typeface="Roboto Slab Bold"/>
                <a:sym typeface="Roboto Slab Bold"/>
              </a:rPr>
              <a:t>XÂY DỰNG HỆ THỐNG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childTnLst>
                    </p:cTn>
                  </p:par>
                </p:childTnLst>
              </p:cTn>
            </p:seq>
          </p:childTnLst>
        </p:cTn>
      </p:par>
    </p:tnLst>
    <p:bldLst>
      <p:bldP spid="10"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8332886"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3.1. Xác định môi trường của agent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AutoShape 12"/>
          <p:cNvSpPr/>
          <p:nvPr/>
        </p:nvSpPr>
        <p:spPr>
          <a:xfrm>
            <a:off x="2147797" y="2996784"/>
            <a:ext cx="0" cy="4208097"/>
          </a:xfrm>
          <a:prstGeom prst="line">
            <a:avLst/>
          </a:prstGeom>
          <a:ln w="38100" cap="flat">
            <a:solidFill>
              <a:srgbClr val="000000"/>
            </a:solidFill>
            <a:prstDash val="sysDash"/>
            <a:headEnd type="none" w="sm" len="sm"/>
            <a:tailEnd type="none" w="sm" len="sm"/>
          </a:ln>
        </p:spPr>
        <p:txBody>
          <a:bodyPr/>
          <a:lstStyle/>
          <a:p>
            <a:endParaRPr lang="en-VN"/>
          </a:p>
        </p:txBody>
      </p:sp>
      <p:sp>
        <p:nvSpPr>
          <p:cNvPr id="13" name="AutoShape 13"/>
          <p:cNvSpPr/>
          <p:nvPr/>
        </p:nvSpPr>
        <p:spPr>
          <a:xfrm>
            <a:off x="2147797" y="3703102"/>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14" name="Group 14"/>
          <p:cNvGrpSpPr/>
          <p:nvPr/>
        </p:nvGrpSpPr>
        <p:grpSpPr>
          <a:xfrm>
            <a:off x="3198486" y="3590065"/>
            <a:ext cx="226074" cy="226074"/>
            <a:chOff x="0" y="0"/>
            <a:chExt cx="59542" cy="59542"/>
          </a:xfrm>
        </p:grpSpPr>
        <p:sp>
          <p:nvSpPr>
            <p:cNvPr id="15" name="Freeform 15"/>
            <p:cNvSpPr/>
            <p:nvPr/>
          </p:nvSpPr>
          <p:spPr>
            <a:xfrm>
              <a:off x="0" y="0"/>
              <a:ext cx="59542" cy="59542"/>
            </a:xfrm>
            <a:custGeom>
              <a:avLst/>
              <a:gdLst/>
              <a:ahLst/>
              <a:cxnLst/>
              <a:rect l="l" t="t" r="r" b="b"/>
              <a:pathLst>
                <a:path w="59542" h="59542">
                  <a:moveTo>
                    <a:pt x="29771" y="0"/>
                  </a:moveTo>
                  <a:cubicBezTo>
                    <a:pt x="13329" y="0"/>
                    <a:pt x="0" y="13329"/>
                    <a:pt x="0" y="29771"/>
                  </a:cubicBezTo>
                  <a:cubicBezTo>
                    <a:pt x="0" y="46213"/>
                    <a:pt x="13329" y="59542"/>
                    <a:pt x="29771" y="59542"/>
                  </a:cubicBezTo>
                  <a:cubicBezTo>
                    <a:pt x="46213" y="59542"/>
                    <a:pt x="59542" y="46213"/>
                    <a:pt x="59542" y="29771"/>
                  </a:cubicBezTo>
                  <a:cubicBezTo>
                    <a:pt x="59542" y="13329"/>
                    <a:pt x="46213" y="0"/>
                    <a:pt x="29771" y="0"/>
                  </a:cubicBezTo>
                  <a:close/>
                </a:path>
              </a:pathLst>
            </a:custGeom>
            <a:solidFill>
              <a:srgbClr val="0C1D4B"/>
            </a:solidFill>
          </p:spPr>
          <p:txBody>
            <a:bodyPr/>
            <a:lstStyle/>
            <a:p>
              <a:endParaRPr lang="en-VN"/>
            </a:p>
          </p:txBody>
        </p:sp>
        <p:sp>
          <p:nvSpPr>
            <p:cNvPr id="16" name="TextBox 16"/>
            <p:cNvSpPr txBox="1"/>
            <p:nvPr/>
          </p:nvSpPr>
          <p:spPr>
            <a:xfrm>
              <a:off x="5582" y="-42043"/>
              <a:ext cx="48378" cy="96003"/>
            </a:xfrm>
            <a:prstGeom prst="rect">
              <a:avLst/>
            </a:prstGeom>
          </p:spPr>
          <p:txBody>
            <a:bodyPr lIns="50800" tIns="50800" rIns="50800" bIns="50800" rtlCol="0" anchor="ctr"/>
            <a:lstStyle/>
            <a:p>
              <a:pPr algn="ctr">
                <a:lnSpc>
                  <a:spcPts val="2940"/>
                </a:lnSpc>
              </a:pPr>
              <a:endParaRPr/>
            </a:p>
          </p:txBody>
        </p:sp>
      </p:grpSp>
      <p:sp>
        <p:nvSpPr>
          <p:cNvPr id="17" name="TextBox 17"/>
          <p:cNvSpPr txBox="1"/>
          <p:nvPr/>
        </p:nvSpPr>
        <p:spPr>
          <a:xfrm>
            <a:off x="1028700" y="2264629"/>
            <a:ext cx="2238194" cy="732155"/>
          </a:xfrm>
          <a:prstGeom prst="rect">
            <a:avLst/>
          </a:prstGeom>
        </p:spPr>
        <p:txBody>
          <a:bodyPr lIns="0" tIns="0" rIns="0" bIns="0" rtlCol="0" anchor="t">
            <a:spAutoFit/>
          </a:bodyPr>
          <a:lstStyle/>
          <a:p>
            <a:pPr algn="ctr">
              <a:lnSpc>
                <a:spcPts val="6400"/>
              </a:lnSpc>
            </a:pPr>
            <a:r>
              <a:rPr lang="en-US" sz="3200" b="1" dirty="0" err="1">
                <a:solidFill>
                  <a:srgbClr val="0C1D4B"/>
                </a:solidFill>
                <a:latin typeface="Roboto Slab Bold"/>
                <a:ea typeface="Roboto Slab Bold"/>
                <a:cs typeface="Roboto Slab Bold"/>
                <a:sym typeface="Roboto Slab Bold"/>
              </a:rPr>
              <a:t>Môi</a:t>
            </a:r>
            <a:r>
              <a:rPr lang="en-US" sz="3200" b="1" dirty="0">
                <a:solidFill>
                  <a:srgbClr val="0C1D4B"/>
                </a:solidFill>
                <a:latin typeface="Roboto Slab Bold"/>
                <a:ea typeface="Roboto Slab Bold"/>
                <a:cs typeface="Roboto Slab Bold"/>
                <a:sym typeface="Roboto Slab Bold"/>
              </a:rPr>
              <a:t> </a:t>
            </a:r>
            <a:r>
              <a:rPr lang="en-US" sz="3200" b="1" dirty="0" err="1">
                <a:solidFill>
                  <a:srgbClr val="0C1D4B"/>
                </a:solidFill>
                <a:latin typeface="Roboto Slab Bold"/>
                <a:ea typeface="Roboto Slab Bold"/>
                <a:cs typeface="Roboto Slab Bold"/>
                <a:sym typeface="Roboto Slab Bold"/>
              </a:rPr>
              <a:t>trường</a:t>
            </a:r>
            <a:endParaRPr lang="en-US" sz="3200" b="1" dirty="0">
              <a:solidFill>
                <a:srgbClr val="0C1D4B"/>
              </a:solidFill>
              <a:latin typeface="Roboto Slab Bold"/>
              <a:ea typeface="Roboto Slab Bold"/>
              <a:cs typeface="Roboto Slab Bold"/>
              <a:sym typeface="Roboto Slab Bold"/>
            </a:endParaRPr>
          </a:p>
        </p:txBody>
      </p:sp>
      <p:sp>
        <p:nvSpPr>
          <p:cNvPr id="18" name="TextBox 18"/>
          <p:cNvSpPr txBox="1"/>
          <p:nvPr/>
        </p:nvSpPr>
        <p:spPr>
          <a:xfrm>
            <a:off x="3537597" y="3220766"/>
            <a:ext cx="3337010"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CSDL pháp luật nội bộ</a:t>
            </a:r>
          </a:p>
          <a:p>
            <a:pPr algn="l">
              <a:lnSpc>
                <a:spcPts val="2080"/>
              </a:lnSpc>
            </a:pPr>
            <a:r>
              <a:rPr lang="en-US" sz="1300" i="1">
                <a:solidFill>
                  <a:srgbClr val="0C1D4B"/>
                </a:solidFill>
                <a:latin typeface="Roboto Italics"/>
                <a:ea typeface="Roboto Italics"/>
                <a:cs typeface="Roboto Italics"/>
                <a:sym typeface="Roboto Italics"/>
              </a:rPr>
              <a:t>Thông tin từ dữ liệu pháp luật Việt Nam</a:t>
            </a:r>
          </a:p>
        </p:txBody>
      </p:sp>
      <p:sp>
        <p:nvSpPr>
          <p:cNvPr id="19" name="AutoShape 19"/>
          <p:cNvSpPr/>
          <p:nvPr/>
        </p:nvSpPr>
        <p:spPr>
          <a:xfrm>
            <a:off x="2147797" y="5163075"/>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20" name="Group 20"/>
          <p:cNvGrpSpPr/>
          <p:nvPr/>
        </p:nvGrpSpPr>
        <p:grpSpPr>
          <a:xfrm>
            <a:off x="3198486" y="5050038"/>
            <a:ext cx="205427" cy="226074"/>
            <a:chOff x="0" y="0"/>
            <a:chExt cx="54104" cy="59542"/>
          </a:xfrm>
        </p:grpSpPr>
        <p:sp>
          <p:nvSpPr>
            <p:cNvPr id="21" name="Freeform 21"/>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22" name="TextBox 22"/>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23" name="TextBox 23"/>
          <p:cNvSpPr txBox="1"/>
          <p:nvPr/>
        </p:nvSpPr>
        <p:spPr>
          <a:xfrm>
            <a:off x="3506628" y="4680738"/>
            <a:ext cx="5854958"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Nguồn pháp luật cập nhật từ bên ngoài</a:t>
            </a:r>
          </a:p>
          <a:p>
            <a:pPr algn="l">
              <a:lnSpc>
                <a:spcPts val="2080"/>
              </a:lnSpc>
            </a:pPr>
            <a:r>
              <a:rPr lang="en-US" sz="1300" i="1">
                <a:solidFill>
                  <a:srgbClr val="0C1D4B"/>
                </a:solidFill>
                <a:latin typeface="Roboto Italics"/>
                <a:ea typeface="Roboto Italics"/>
                <a:cs typeface="Roboto Italics"/>
                <a:sym typeface="Roboto Italics"/>
              </a:rPr>
              <a:t>Các website dữ liệu pháp luật Việt Nam: thuvienphapluat.vn, vbpl.vn, v.v..</a:t>
            </a:r>
          </a:p>
        </p:txBody>
      </p:sp>
      <p:sp>
        <p:nvSpPr>
          <p:cNvPr id="24" name="AutoShape 24"/>
          <p:cNvSpPr/>
          <p:nvPr/>
        </p:nvSpPr>
        <p:spPr>
          <a:xfrm>
            <a:off x="2147797" y="6619129"/>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25" name="Group 25"/>
          <p:cNvGrpSpPr/>
          <p:nvPr/>
        </p:nvGrpSpPr>
        <p:grpSpPr>
          <a:xfrm>
            <a:off x="3198486" y="6506092"/>
            <a:ext cx="205427" cy="226074"/>
            <a:chOff x="0" y="0"/>
            <a:chExt cx="54104" cy="59542"/>
          </a:xfrm>
        </p:grpSpPr>
        <p:sp>
          <p:nvSpPr>
            <p:cNvPr id="26" name="Freeform 26"/>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27" name="TextBox 27"/>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28" name="TextBox 28"/>
          <p:cNvSpPr txBox="1"/>
          <p:nvPr/>
        </p:nvSpPr>
        <p:spPr>
          <a:xfrm>
            <a:off x="3506628" y="6136792"/>
            <a:ext cx="5854958"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Nguồn tri thức mới từ quản trị viên</a:t>
            </a:r>
          </a:p>
          <a:p>
            <a:pPr algn="l">
              <a:lnSpc>
                <a:spcPts val="2080"/>
              </a:lnSpc>
            </a:pPr>
            <a:r>
              <a:rPr lang="en-US" sz="1300" i="1">
                <a:solidFill>
                  <a:srgbClr val="0C1D4B"/>
                </a:solidFill>
                <a:latin typeface="Roboto Italics"/>
                <a:ea typeface="Roboto Italics"/>
                <a:cs typeface="Roboto Italics"/>
                <a:sym typeface="Roboto Italics"/>
              </a:rPr>
              <a:t>Văn bản PDF pháp luật đã xử lý</a:t>
            </a:r>
          </a:p>
        </p:txBody>
      </p:sp>
      <p:sp>
        <p:nvSpPr>
          <p:cNvPr id="29" name="AutoShape 29"/>
          <p:cNvSpPr/>
          <p:nvPr/>
        </p:nvSpPr>
        <p:spPr>
          <a:xfrm>
            <a:off x="10823583" y="2996784"/>
            <a:ext cx="0" cy="4374513"/>
          </a:xfrm>
          <a:prstGeom prst="line">
            <a:avLst/>
          </a:prstGeom>
          <a:ln w="38100" cap="flat">
            <a:solidFill>
              <a:srgbClr val="000000"/>
            </a:solidFill>
            <a:prstDash val="sysDash"/>
            <a:headEnd type="none" w="sm" len="sm"/>
            <a:tailEnd type="none" w="sm" len="sm"/>
          </a:ln>
        </p:spPr>
        <p:txBody>
          <a:bodyPr/>
          <a:lstStyle/>
          <a:p>
            <a:endParaRPr lang="en-VN"/>
          </a:p>
        </p:txBody>
      </p:sp>
      <p:sp>
        <p:nvSpPr>
          <p:cNvPr id="30" name="AutoShape 30"/>
          <p:cNvSpPr/>
          <p:nvPr/>
        </p:nvSpPr>
        <p:spPr>
          <a:xfrm>
            <a:off x="10823583" y="3703102"/>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31" name="Group 31"/>
          <p:cNvGrpSpPr/>
          <p:nvPr/>
        </p:nvGrpSpPr>
        <p:grpSpPr>
          <a:xfrm>
            <a:off x="11874273" y="3590065"/>
            <a:ext cx="226074" cy="226074"/>
            <a:chOff x="0" y="0"/>
            <a:chExt cx="59542" cy="59542"/>
          </a:xfrm>
        </p:grpSpPr>
        <p:sp>
          <p:nvSpPr>
            <p:cNvPr id="32" name="Freeform 32"/>
            <p:cNvSpPr/>
            <p:nvPr/>
          </p:nvSpPr>
          <p:spPr>
            <a:xfrm>
              <a:off x="0" y="0"/>
              <a:ext cx="59542" cy="59542"/>
            </a:xfrm>
            <a:custGeom>
              <a:avLst/>
              <a:gdLst/>
              <a:ahLst/>
              <a:cxnLst/>
              <a:rect l="l" t="t" r="r" b="b"/>
              <a:pathLst>
                <a:path w="59542" h="59542">
                  <a:moveTo>
                    <a:pt x="29771" y="0"/>
                  </a:moveTo>
                  <a:cubicBezTo>
                    <a:pt x="13329" y="0"/>
                    <a:pt x="0" y="13329"/>
                    <a:pt x="0" y="29771"/>
                  </a:cubicBezTo>
                  <a:cubicBezTo>
                    <a:pt x="0" y="46213"/>
                    <a:pt x="13329" y="59542"/>
                    <a:pt x="29771" y="59542"/>
                  </a:cubicBezTo>
                  <a:cubicBezTo>
                    <a:pt x="46213" y="59542"/>
                    <a:pt x="59542" y="46213"/>
                    <a:pt x="59542" y="29771"/>
                  </a:cubicBezTo>
                  <a:cubicBezTo>
                    <a:pt x="59542" y="13329"/>
                    <a:pt x="46213" y="0"/>
                    <a:pt x="29771" y="0"/>
                  </a:cubicBezTo>
                  <a:close/>
                </a:path>
              </a:pathLst>
            </a:custGeom>
            <a:solidFill>
              <a:srgbClr val="0C1D4B"/>
            </a:solidFill>
          </p:spPr>
          <p:txBody>
            <a:bodyPr/>
            <a:lstStyle/>
            <a:p>
              <a:endParaRPr lang="en-VN"/>
            </a:p>
          </p:txBody>
        </p:sp>
        <p:sp>
          <p:nvSpPr>
            <p:cNvPr id="33" name="TextBox 33"/>
            <p:cNvSpPr txBox="1"/>
            <p:nvPr/>
          </p:nvSpPr>
          <p:spPr>
            <a:xfrm>
              <a:off x="5582" y="-42043"/>
              <a:ext cx="48378" cy="96003"/>
            </a:xfrm>
            <a:prstGeom prst="rect">
              <a:avLst/>
            </a:prstGeom>
          </p:spPr>
          <p:txBody>
            <a:bodyPr lIns="50800" tIns="50800" rIns="50800" bIns="50800" rtlCol="0" anchor="ctr"/>
            <a:lstStyle/>
            <a:p>
              <a:pPr algn="ctr">
                <a:lnSpc>
                  <a:spcPts val="2940"/>
                </a:lnSpc>
              </a:pPr>
              <a:endParaRPr/>
            </a:p>
          </p:txBody>
        </p:sp>
      </p:grpSp>
      <p:sp>
        <p:nvSpPr>
          <p:cNvPr id="34" name="TextBox 34"/>
          <p:cNvSpPr txBox="1"/>
          <p:nvPr/>
        </p:nvSpPr>
        <p:spPr>
          <a:xfrm>
            <a:off x="9200000" y="2264629"/>
            <a:ext cx="6200000" cy="732155"/>
          </a:xfrm>
          <a:prstGeom prst="rect">
            <a:avLst/>
          </a:prstGeom>
        </p:spPr>
        <p:txBody>
          <a:bodyPr lIns="254000" tIns="0" rIns="254000" bIns="0" rtlCol="0" anchor="t">
            <a:spAutoFit/>
          </a:bodyPr>
          <a:lstStyle/>
          <a:p>
            <a:pPr algn="ctr">
              <a:lnSpc>
                <a:spcPts val="6400"/>
              </a:lnSpc>
            </a:pPr>
            <a:r>
              <a:rPr lang="vi-VN" sz="3200" b="1" dirty="0">
                <a:solidFill>
                  <a:srgbClr val="0C1D4B"/>
                </a:solidFill>
                <a:latin typeface="Roboto Slab" pitchFamily="2" charset="0"/>
                <a:ea typeface="Roboto Slab" pitchFamily="2" charset="0"/>
                <a:cs typeface="Roboto Slab" pitchFamily="2" charset="0"/>
              </a:rPr>
              <a:t>Tập hành động của agent</a:t>
            </a:r>
          </a:p>
        </p:txBody>
      </p:sp>
      <p:sp>
        <p:nvSpPr>
          <p:cNvPr id="35" name="TextBox 35"/>
          <p:cNvSpPr txBox="1"/>
          <p:nvPr/>
        </p:nvSpPr>
        <p:spPr>
          <a:xfrm>
            <a:off x="12214646" y="3390378"/>
            <a:ext cx="3337010"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Trả lời câu hỏi</a:t>
            </a:r>
          </a:p>
        </p:txBody>
      </p:sp>
      <p:sp>
        <p:nvSpPr>
          <p:cNvPr id="36" name="AutoShape 36"/>
          <p:cNvSpPr/>
          <p:nvPr/>
        </p:nvSpPr>
        <p:spPr>
          <a:xfrm>
            <a:off x="10891410" y="4738125"/>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37" name="Group 37"/>
          <p:cNvGrpSpPr/>
          <p:nvPr/>
        </p:nvGrpSpPr>
        <p:grpSpPr>
          <a:xfrm>
            <a:off x="11942099" y="4625088"/>
            <a:ext cx="205427" cy="226074"/>
            <a:chOff x="0" y="0"/>
            <a:chExt cx="54104" cy="59542"/>
          </a:xfrm>
        </p:grpSpPr>
        <p:sp>
          <p:nvSpPr>
            <p:cNvPr id="38" name="Freeform 38"/>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39" name="TextBox 39"/>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40" name="TextBox 40"/>
          <p:cNvSpPr txBox="1"/>
          <p:nvPr/>
        </p:nvSpPr>
        <p:spPr>
          <a:xfrm>
            <a:off x="12214646" y="4453976"/>
            <a:ext cx="5854958"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Truy hồi quy định pháp luật</a:t>
            </a:r>
          </a:p>
        </p:txBody>
      </p:sp>
      <p:sp>
        <p:nvSpPr>
          <p:cNvPr id="41" name="AutoShape 41"/>
          <p:cNvSpPr/>
          <p:nvPr/>
        </p:nvSpPr>
        <p:spPr>
          <a:xfrm flipV="1">
            <a:off x="10819711" y="5801723"/>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42" name="Group 42"/>
          <p:cNvGrpSpPr/>
          <p:nvPr/>
        </p:nvGrpSpPr>
        <p:grpSpPr>
          <a:xfrm>
            <a:off x="11870400" y="5688686"/>
            <a:ext cx="205427" cy="226074"/>
            <a:chOff x="0" y="0"/>
            <a:chExt cx="54104" cy="59542"/>
          </a:xfrm>
        </p:grpSpPr>
        <p:sp>
          <p:nvSpPr>
            <p:cNvPr id="43" name="Freeform 43"/>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44" name="TextBox 44"/>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45" name="TextBox 45"/>
          <p:cNvSpPr txBox="1"/>
          <p:nvPr/>
        </p:nvSpPr>
        <p:spPr>
          <a:xfrm>
            <a:off x="12214646" y="5517574"/>
            <a:ext cx="4848862"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Kiểm chứng và trích dẫn nguồn</a:t>
            </a:r>
          </a:p>
        </p:txBody>
      </p:sp>
      <p:sp>
        <p:nvSpPr>
          <p:cNvPr id="46" name="AutoShape 46"/>
          <p:cNvSpPr/>
          <p:nvPr/>
        </p:nvSpPr>
        <p:spPr>
          <a:xfrm flipV="1">
            <a:off x="10819711" y="6865320"/>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47" name="Group 47"/>
          <p:cNvGrpSpPr/>
          <p:nvPr/>
        </p:nvGrpSpPr>
        <p:grpSpPr>
          <a:xfrm>
            <a:off x="11870400" y="6752283"/>
            <a:ext cx="205427" cy="226074"/>
            <a:chOff x="0" y="0"/>
            <a:chExt cx="54104" cy="59542"/>
          </a:xfrm>
        </p:grpSpPr>
        <p:sp>
          <p:nvSpPr>
            <p:cNvPr id="48" name="Freeform 48"/>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49" name="TextBox 49"/>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50" name="TextBox 50"/>
          <p:cNvSpPr txBox="1"/>
          <p:nvPr/>
        </p:nvSpPr>
        <p:spPr>
          <a:xfrm>
            <a:off x="12210774" y="6581171"/>
            <a:ext cx="4848862"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Đối chiếu nguồn cập nhật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430"/>
                                  <p:tgtEl>
                                    <p:spTgt spid="10"/>
                                  </p:tgtEl>
                                </p:cBhvr>
                              </p:animEffect>
                            </p:childTnLst>
                          </p:cTn>
                        </p:par>
                        <p:par>
                          <p:cTn id="7" presetID="10" presetClass="entr" presetSubtype="0" fill="hold" grpId="0" nodeType="withEffect">
                            <p:stCondLst>
                              <p:cond delay="135"/>
                            </p:stCondLst>
                            <p:childTnLst>
                              <p:set>
                                <p:cBhvr>
                                  <p:cTn id="8" dur="1" fill="hold">
                                    <p:stCondLst>
                                      <p:cond delay="0"/>
                                    </p:stCondLst>
                                  </p:cTn>
                                  <p:tgtEl>
                                    <p:spTgt spid="17"/>
                                  </p:tgtEl>
                                  <p:attrNameLst>
                                    <p:attrName>style.visibility</p:attrName>
                                  </p:attrNameLst>
                                </p:cBhvr>
                                <p:to>
                                  <p:strVal val="visible"/>
                                </p:to>
                              </p:set>
                              <p:animEffect transition="in" filter="wipe(left)">
                                <p:cBhvr>
                                  <p:cTn id="9" dur="430"/>
                                  <p:tgtEl>
                                    <p:spTgt spid="17"/>
                                  </p:tgtEl>
                                </p:cBhvr>
                              </p:animEffect>
                            </p:childTnLst>
                          </p:cTn>
                        </p:par>
                        <p:par>
                          <p:cTn id="10" presetID="10" presetClass="entr" presetSubtype="0" fill="hold" grpId="0" nodeType="withEffect">
                            <p:stCondLst>
                              <p:cond delay="19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430"/>
                                  <p:tgtEl>
                                    <p:spTgt spid="34"/>
                                  </p:tgtEl>
                                </p:cBhvr>
                              </p:animEffect>
                            </p:childTnLst>
                          </p:cTn>
                        </p:par>
                        <p:par>
                          <p:cTn id="13" presetID="10" presetClass="entr" presetSubtype="0" fill="hold" grpId="0" nodeType="withEffect">
                            <p:stCondLst>
                              <p:cond delay="245"/>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430"/>
                                  <p:tgtEl>
                                    <p:spTgt spid="12"/>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430"/>
                                  <p:tgtEl>
                                    <p:spTgt spid="29"/>
                                  </p:tgtEl>
                                </p:cBhvr>
                              </p:animEffect>
                            </p:childTnLst>
                          </p:cTn>
                        </p:par>
                        <p:par>
                          <p:cTn id="19" presetID="10" presetClass="entr" presetSubtype="0" fill="hold" grpId="0" nodeType="withEffect">
                            <p:stCondLst>
                              <p:cond delay="355"/>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430"/>
                                  <p:tgtEl>
                                    <p:spTgt spid="18"/>
                                  </p:tgtEl>
                                </p:cBhvr>
                              </p:animEffect>
                            </p:childTnLst>
                          </p:cTn>
                        </p:par>
                        <p:par>
                          <p:cTn id="22" presetID="10" presetClass="entr" presetSubtype="0" fill="hold" grpId="0" nodeType="withEffect">
                            <p:stCondLst>
                              <p:cond delay="41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430"/>
                                  <p:tgtEl>
                                    <p:spTgt spid="35"/>
                                  </p:tgtEl>
                                </p:cBhvr>
                              </p:animEffect>
                            </p:childTnLst>
                          </p:cTn>
                        </p:par>
                        <p:par>
                          <p:cTn id="25" presetID="10" presetClass="entr" presetSubtype="0" fill="hold" grpId="0" nodeType="withEffect">
                            <p:stCondLst>
                              <p:cond delay="465"/>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430"/>
                                  <p:tgtEl>
                                    <p:spTgt spid="14"/>
                                  </p:tgtEl>
                                </p:cBhvr>
                              </p:animEffect>
                            </p:childTnLst>
                          </p:cTn>
                        </p:par>
                        <p:par>
                          <p:cTn id="28" presetID="10" presetClass="entr" presetSubtype="0" fill="hold" grpId="0" nodeType="withEffect">
                            <p:stCondLst>
                              <p:cond delay="520"/>
                            </p:stCondLst>
                            <p:childTnLst>
                              <p:set>
                                <p:cBhvr>
                                  <p:cTn id="29" dur="1" fill="hold">
                                    <p:stCondLst>
                                      <p:cond delay="0"/>
                                    </p:stCondLst>
                                  </p:cTn>
                                  <p:tgtEl>
                                    <p:spTgt spid="31"/>
                                  </p:tgtEl>
                                  <p:attrNameLst>
                                    <p:attrName>style.visibility</p:attrName>
                                  </p:attrNameLst>
                                </p:cBhvr>
                                <p:to>
                                  <p:strVal val="visible"/>
                                </p:to>
                              </p:set>
                              <p:animEffect transition="in" filter="wipe(left)">
                                <p:cBhvr>
                                  <p:cTn id="30" dur="430"/>
                                  <p:tgtEl>
                                    <p:spTgt spid="31"/>
                                  </p:tgtEl>
                                </p:cBhvr>
                              </p:animEffect>
                            </p:childTnLst>
                          </p:cTn>
                        </p:par>
                        <p:par>
                          <p:cTn id="31" presetID="10" presetClass="entr" presetSubtype="0" fill="hold" grpId="0" nodeType="withEffect">
                            <p:stCondLst>
                              <p:cond delay="575"/>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430"/>
                                  <p:tgtEl>
                                    <p:spTgt spid="13"/>
                                  </p:tgtEl>
                                </p:cBhvr>
                              </p:animEffect>
                            </p:childTnLst>
                          </p:cTn>
                        </p:par>
                        <p:par>
                          <p:cTn id="34" presetID="10" presetClass="entr" presetSubtype="0" fill="hold" grpId="0" nodeType="withEffect">
                            <p:stCondLst>
                              <p:cond delay="630"/>
                            </p:stCondLst>
                            <p:childTnLst>
                              <p:set>
                                <p:cBhvr>
                                  <p:cTn id="35" dur="1" fill="hold">
                                    <p:stCondLst>
                                      <p:cond delay="0"/>
                                    </p:stCondLst>
                                  </p:cTn>
                                  <p:tgtEl>
                                    <p:spTgt spid="30"/>
                                  </p:tgtEl>
                                  <p:attrNameLst>
                                    <p:attrName>style.visibility</p:attrName>
                                  </p:attrNameLst>
                                </p:cBhvr>
                                <p:to>
                                  <p:strVal val="visible"/>
                                </p:to>
                              </p:set>
                              <p:animEffect transition="in" filter="wipe(left)">
                                <p:cBhvr>
                                  <p:cTn id="36" dur="430"/>
                                  <p:tgtEl>
                                    <p:spTgt spid="30"/>
                                  </p:tgtEl>
                                </p:cBhvr>
                              </p:animEffect>
                            </p:childTnLst>
                          </p:cTn>
                        </p:par>
                        <p:par>
                          <p:cTn id="37" presetID="10" presetClass="entr" presetSubtype="0" fill="hold" grpId="0" nodeType="withEffect">
                            <p:stCondLst>
                              <p:cond delay="685"/>
                            </p:stCondLst>
                            <p:childTnLst>
                              <p:set>
                                <p:cBhvr>
                                  <p:cTn id="38" dur="1" fill="hold">
                                    <p:stCondLst>
                                      <p:cond delay="0"/>
                                    </p:stCondLst>
                                  </p:cTn>
                                  <p:tgtEl>
                                    <p:spTgt spid="40"/>
                                  </p:tgtEl>
                                  <p:attrNameLst>
                                    <p:attrName>style.visibility</p:attrName>
                                  </p:attrNameLst>
                                </p:cBhvr>
                                <p:to>
                                  <p:strVal val="visible"/>
                                </p:to>
                              </p:set>
                              <p:animEffect transition="in" filter="wipe(left)">
                                <p:cBhvr>
                                  <p:cTn id="39" dur="430"/>
                                  <p:tgtEl>
                                    <p:spTgt spid="40"/>
                                  </p:tgtEl>
                                </p:cBhvr>
                              </p:animEffect>
                            </p:childTnLst>
                          </p:cTn>
                        </p:par>
                        <p:par>
                          <p:cTn id="40" presetID="10" presetClass="entr" presetSubtype="0" fill="hold" grpId="0" nodeType="withEffect">
                            <p:stCondLst>
                              <p:cond delay="740"/>
                            </p:stCondLst>
                            <p:childTnLst>
                              <p:set>
                                <p:cBhvr>
                                  <p:cTn id="41" dur="1" fill="hold">
                                    <p:stCondLst>
                                      <p:cond delay="0"/>
                                    </p:stCondLst>
                                  </p:cTn>
                                  <p:tgtEl>
                                    <p:spTgt spid="37"/>
                                  </p:tgtEl>
                                  <p:attrNameLst>
                                    <p:attrName>style.visibility</p:attrName>
                                  </p:attrNameLst>
                                </p:cBhvr>
                                <p:to>
                                  <p:strVal val="visible"/>
                                </p:to>
                              </p:set>
                              <p:animEffect transition="in" filter="wipe(left)">
                                <p:cBhvr>
                                  <p:cTn id="42" dur="430"/>
                                  <p:tgtEl>
                                    <p:spTgt spid="37"/>
                                  </p:tgtEl>
                                </p:cBhvr>
                              </p:animEffect>
                            </p:childTnLst>
                          </p:cTn>
                        </p:par>
                        <p:par>
                          <p:cTn id="43" presetID="10" presetClass="entr" presetSubtype="0" fill="hold" grpId="0" nodeType="withEffect">
                            <p:stCondLst>
                              <p:cond delay="795"/>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430"/>
                                  <p:tgtEl>
                                    <p:spTgt spid="23"/>
                                  </p:tgtEl>
                                </p:cBhvr>
                              </p:animEffect>
                            </p:childTnLst>
                          </p:cTn>
                        </p:par>
                        <p:par>
                          <p:cTn id="46" presetID="10" presetClass="entr" presetSubtype="0" fill="hold" grpId="0" nodeType="withEffect">
                            <p:stCondLst>
                              <p:cond delay="850"/>
                            </p:stCondLst>
                            <p:childTnLst>
                              <p:set>
                                <p:cBhvr>
                                  <p:cTn id="47" dur="1" fill="hold">
                                    <p:stCondLst>
                                      <p:cond delay="0"/>
                                    </p:stCondLst>
                                  </p:cTn>
                                  <p:tgtEl>
                                    <p:spTgt spid="36"/>
                                  </p:tgtEl>
                                  <p:attrNameLst>
                                    <p:attrName>style.visibility</p:attrName>
                                  </p:attrNameLst>
                                </p:cBhvr>
                                <p:to>
                                  <p:strVal val="visible"/>
                                </p:to>
                              </p:set>
                              <p:animEffect transition="in" filter="wipe(left)">
                                <p:cBhvr>
                                  <p:cTn id="48" dur="430"/>
                                  <p:tgtEl>
                                    <p:spTgt spid="36"/>
                                  </p:tgtEl>
                                </p:cBhvr>
                              </p:animEffect>
                            </p:childTnLst>
                          </p:cTn>
                        </p:par>
                        <p:par>
                          <p:cTn id="49" presetID="10" presetClass="entr" presetSubtype="0" fill="hold" grpId="0" nodeType="withEffect">
                            <p:stCondLst>
                              <p:cond delay="905"/>
                            </p:stCondLst>
                            <p:childTnLst>
                              <p:set>
                                <p:cBhvr>
                                  <p:cTn id="50" dur="1" fill="hold">
                                    <p:stCondLst>
                                      <p:cond delay="0"/>
                                    </p:stCondLst>
                                  </p:cTn>
                                  <p:tgtEl>
                                    <p:spTgt spid="20"/>
                                  </p:tgtEl>
                                  <p:attrNameLst>
                                    <p:attrName>style.visibility</p:attrName>
                                  </p:attrNameLst>
                                </p:cBhvr>
                                <p:to>
                                  <p:strVal val="visible"/>
                                </p:to>
                              </p:set>
                              <p:animEffect transition="in" filter="wipe(left)">
                                <p:cBhvr>
                                  <p:cTn id="51" dur="430"/>
                                  <p:tgtEl>
                                    <p:spTgt spid="20"/>
                                  </p:tgtEl>
                                </p:cBhvr>
                              </p:animEffect>
                            </p:childTnLst>
                          </p:cTn>
                        </p:par>
                        <p:par>
                          <p:cTn id="52" presetID="10" presetClass="entr" presetSubtype="0" fill="hold" grpId="0" nodeType="withEffect">
                            <p:stCondLst>
                              <p:cond delay="96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430"/>
                                  <p:tgtEl>
                                    <p:spTgt spid="19"/>
                                  </p:tgtEl>
                                </p:cBhvr>
                              </p:animEffect>
                            </p:childTnLst>
                          </p:cTn>
                        </p:par>
                        <p:par>
                          <p:cTn id="55" presetID="10" presetClass="entr" presetSubtype="0" fill="hold" grpId="0" nodeType="withEffect">
                            <p:stCondLst>
                              <p:cond delay="1015"/>
                            </p:stCondLst>
                            <p:childTnLst>
                              <p:set>
                                <p:cBhvr>
                                  <p:cTn id="56" dur="1" fill="hold">
                                    <p:stCondLst>
                                      <p:cond delay="0"/>
                                    </p:stCondLst>
                                  </p:cTn>
                                  <p:tgtEl>
                                    <p:spTgt spid="45"/>
                                  </p:tgtEl>
                                  <p:attrNameLst>
                                    <p:attrName>style.visibility</p:attrName>
                                  </p:attrNameLst>
                                </p:cBhvr>
                                <p:to>
                                  <p:strVal val="visible"/>
                                </p:to>
                              </p:set>
                              <p:animEffect transition="in" filter="wipe(left)">
                                <p:cBhvr>
                                  <p:cTn id="57" dur="430"/>
                                  <p:tgtEl>
                                    <p:spTgt spid="45"/>
                                  </p:tgtEl>
                                </p:cBhvr>
                              </p:animEffect>
                            </p:childTnLst>
                          </p:cTn>
                        </p:par>
                        <p:par>
                          <p:cTn id="58" presetID="10" presetClass="entr" presetSubtype="0" fill="hold" grpId="0" nodeType="withEffect">
                            <p:stCondLst>
                              <p:cond delay="1070"/>
                            </p:stCondLst>
                            <p:childTnLst>
                              <p:set>
                                <p:cBhvr>
                                  <p:cTn id="59" dur="1" fill="hold">
                                    <p:stCondLst>
                                      <p:cond delay="0"/>
                                    </p:stCondLst>
                                  </p:cTn>
                                  <p:tgtEl>
                                    <p:spTgt spid="42"/>
                                  </p:tgtEl>
                                  <p:attrNameLst>
                                    <p:attrName>style.visibility</p:attrName>
                                  </p:attrNameLst>
                                </p:cBhvr>
                                <p:to>
                                  <p:strVal val="visible"/>
                                </p:to>
                              </p:set>
                              <p:animEffect transition="in" filter="wipe(left)">
                                <p:cBhvr>
                                  <p:cTn id="60" dur="430"/>
                                  <p:tgtEl>
                                    <p:spTgt spid="42"/>
                                  </p:tgtEl>
                                </p:cBhvr>
                              </p:animEffect>
                            </p:childTnLst>
                          </p:cTn>
                        </p:par>
                        <p:par>
                          <p:cTn id="61" presetID="10" presetClass="entr" presetSubtype="0" fill="hold" grpId="0" nodeType="withEffect">
                            <p:stCondLst>
                              <p:cond delay="1125"/>
                            </p:stCondLst>
                            <p:childTnLst>
                              <p:set>
                                <p:cBhvr>
                                  <p:cTn id="62" dur="1" fill="hold">
                                    <p:stCondLst>
                                      <p:cond delay="0"/>
                                    </p:stCondLst>
                                  </p:cTn>
                                  <p:tgtEl>
                                    <p:spTgt spid="41"/>
                                  </p:tgtEl>
                                  <p:attrNameLst>
                                    <p:attrName>style.visibility</p:attrName>
                                  </p:attrNameLst>
                                </p:cBhvr>
                                <p:to>
                                  <p:strVal val="visible"/>
                                </p:to>
                              </p:set>
                              <p:animEffect transition="in" filter="wipe(left)">
                                <p:cBhvr>
                                  <p:cTn id="63" dur="430"/>
                                  <p:tgtEl>
                                    <p:spTgt spid="41"/>
                                  </p:tgtEl>
                                </p:cBhvr>
                              </p:animEffect>
                            </p:childTnLst>
                          </p:cTn>
                        </p:par>
                        <p:par>
                          <p:cTn id="64" presetID="10" presetClass="entr" presetSubtype="0" fill="hold" grpId="0" nodeType="withEffect">
                            <p:stCondLst>
                              <p:cond delay="1180"/>
                            </p:stCondLst>
                            <p:childTnLst>
                              <p:set>
                                <p:cBhvr>
                                  <p:cTn id="65" dur="1" fill="hold">
                                    <p:stCondLst>
                                      <p:cond delay="0"/>
                                    </p:stCondLst>
                                  </p:cTn>
                                  <p:tgtEl>
                                    <p:spTgt spid="28"/>
                                  </p:tgtEl>
                                  <p:attrNameLst>
                                    <p:attrName>style.visibility</p:attrName>
                                  </p:attrNameLst>
                                </p:cBhvr>
                                <p:to>
                                  <p:strVal val="visible"/>
                                </p:to>
                              </p:set>
                              <p:animEffect transition="in" filter="wipe(left)">
                                <p:cBhvr>
                                  <p:cTn id="66" dur="430"/>
                                  <p:tgtEl>
                                    <p:spTgt spid="28"/>
                                  </p:tgtEl>
                                </p:cBhvr>
                              </p:animEffect>
                            </p:childTnLst>
                          </p:cTn>
                        </p:par>
                        <p:par>
                          <p:cTn id="67" presetID="10" presetClass="entr" presetSubtype="0" fill="hold" grpId="0" nodeType="withEffect">
                            <p:stCondLst>
                              <p:cond delay="1235"/>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430"/>
                                  <p:tgtEl>
                                    <p:spTgt spid="25"/>
                                  </p:tgtEl>
                                </p:cBhvr>
                              </p:animEffect>
                            </p:childTnLst>
                          </p:cTn>
                        </p:par>
                        <p:par>
                          <p:cTn id="70" presetID="10" presetClass="entr" presetSubtype="0" fill="hold" grpId="0" nodeType="withEffect">
                            <p:stCondLst>
                              <p:cond delay="1290"/>
                            </p:stCondLst>
                            <p:childTnLst>
                              <p:set>
                                <p:cBhvr>
                                  <p:cTn id="71" dur="1" fill="hold">
                                    <p:stCondLst>
                                      <p:cond delay="0"/>
                                    </p:stCondLst>
                                  </p:cTn>
                                  <p:tgtEl>
                                    <p:spTgt spid="50"/>
                                  </p:tgtEl>
                                  <p:attrNameLst>
                                    <p:attrName>style.visibility</p:attrName>
                                  </p:attrNameLst>
                                </p:cBhvr>
                                <p:to>
                                  <p:strVal val="visible"/>
                                </p:to>
                              </p:set>
                              <p:animEffect transition="in" filter="wipe(left)">
                                <p:cBhvr>
                                  <p:cTn id="72" dur="430"/>
                                  <p:tgtEl>
                                    <p:spTgt spid="50"/>
                                  </p:tgtEl>
                                </p:cBhvr>
                              </p:animEffect>
                            </p:childTnLst>
                          </p:cTn>
                        </p:par>
                        <p:par>
                          <p:cTn id="73" presetID="10" presetClass="entr" presetSubtype="0" fill="hold" grpId="0" nodeType="withEffect">
                            <p:stCondLst>
                              <p:cond delay="1345"/>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430"/>
                                  <p:tgtEl>
                                    <p:spTgt spid="24"/>
                                  </p:tgtEl>
                                </p:cBhvr>
                              </p:animEffect>
                            </p:childTnLst>
                          </p:cTn>
                        </p:par>
                        <p:par>
                          <p:cTn id="76" presetID="10" presetClass="entr" presetSubtype="0" fill="hold" grpId="0" nodeType="withEffect">
                            <p:stCondLst>
                              <p:cond delay="1400"/>
                            </p:stCondLst>
                            <p:childTnLst>
                              <p:set>
                                <p:cBhvr>
                                  <p:cTn id="77" dur="1" fill="hold">
                                    <p:stCondLst>
                                      <p:cond delay="0"/>
                                    </p:stCondLst>
                                  </p:cTn>
                                  <p:tgtEl>
                                    <p:spTgt spid="46"/>
                                  </p:tgtEl>
                                  <p:attrNameLst>
                                    <p:attrName>style.visibility</p:attrName>
                                  </p:attrNameLst>
                                </p:cBhvr>
                                <p:to>
                                  <p:strVal val="visible"/>
                                </p:to>
                              </p:set>
                              <p:animEffect transition="in" filter="wipe(left)">
                                <p:cBhvr>
                                  <p:cTn id="78" dur="430"/>
                                  <p:tgtEl>
                                    <p:spTgt spid="46"/>
                                  </p:tgtEl>
                                </p:cBhvr>
                              </p:animEffect>
                            </p:childTnLst>
                          </p:cTn>
                        </p:par>
                        <p:par>
                          <p:cTn id="79" presetID="10" presetClass="entr" presetSubtype="0" fill="hold" grpId="0" nodeType="withEffect">
                            <p:stCondLst>
                              <p:cond delay="1455"/>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430"/>
                                  <p:tgtEl>
                                    <p:spTgt spid="47"/>
                                  </p:tgtEl>
                                </p:cBhvr>
                              </p:animEffect>
                            </p:childTnLst>
                          </p:cTn>
                        </p:par>
                      </p:childTnLst>
                    </p:cTn>
                  </p:par>
                </p:childTnLst>
              </p:cTn>
            </p:seq>
          </p:childTnLst>
        </p:cTn>
      </p:par>
    </p:tnLst>
    <p:bldLst>
      <p:bldP spid="10" grpId="0"/>
      <p:bldP spid="12" grpId="0" animBg="1"/>
      <p:bldP spid="13" grpId="0" animBg="1"/>
      <p:bldP spid="14" grpId="0"/>
      <p:bldP spid="17" grpId="0"/>
      <p:bldP spid="18" grpId="0"/>
      <p:bldP spid="19" grpId="0" animBg="1"/>
      <p:bldP spid="20" grpId="0"/>
      <p:bldP spid="23" grpId="0"/>
      <p:bldP spid="24" grpId="0" animBg="1"/>
      <p:bldP spid="25" grpId="0"/>
      <p:bldP spid="28" grpId="0"/>
      <p:bldP spid="29" grpId="0" animBg="1"/>
      <p:bldP spid="30" grpId="0" animBg="1"/>
      <p:bldP spid="31" grpId="0"/>
      <p:bldP spid="34" grpId="0"/>
      <p:bldP spid="35" grpId="0"/>
      <p:bldP spid="36" grpId="0" animBg="1"/>
      <p:bldP spid="37" grpId="0"/>
      <p:bldP spid="40" grpId="0"/>
      <p:bldP spid="41" grpId="0" animBg="1"/>
      <p:bldP spid="42" grpId="0"/>
      <p:bldP spid="45" grpId="0"/>
      <p:bldP spid="46" grpId="0" animBg="1"/>
      <p:bldP spid="47" grpId="0"/>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0695872"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3.2. Mô hình tổng quan của hệ thống chatbot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1109300" y="2124912"/>
            <a:ext cx="15788284" cy="7304457"/>
            <a:chOff x="0" y="0"/>
            <a:chExt cx="21051045" cy="9739277"/>
          </a:xfrm>
        </p:grpSpPr>
        <p:sp>
          <p:nvSpPr>
            <p:cNvPr id="13" name="Freeform 13"/>
            <p:cNvSpPr/>
            <p:nvPr/>
          </p:nvSpPr>
          <p:spPr>
            <a:xfrm>
              <a:off x="9065146" y="1511175"/>
              <a:ext cx="1154532" cy="1194854"/>
            </a:xfrm>
            <a:custGeom>
              <a:avLst/>
              <a:gdLst/>
              <a:ahLst/>
              <a:cxnLst/>
              <a:rect l="l" t="t" r="r" b="b"/>
              <a:pathLst>
                <a:path w="1154532" h="1194854">
                  <a:moveTo>
                    <a:pt x="0" y="0"/>
                  </a:moveTo>
                  <a:lnTo>
                    <a:pt x="1154531" y="0"/>
                  </a:lnTo>
                  <a:lnTo>
                    <a:pt x="1154531" y="1194854"/>
                  </a:lnTo>
                  <a:lnTo>
                    <a:pt x="0" y="1194854"/>
                  </a:lnTo>
                  <a:lnTo>
                    <a:pt x="0" y="0"/>
                  </a:lnTo>
                  <a:close/>
                </a:path>
              </a:pathLst>
            </a:custGeom>
            <a:blipFill>
              <a:blip>
                <a:extLst>
                  <a:ext uri="{96DAC541-7B7A-43D3-8B79-37D633B846F1}">
                    <asvg:svgBlip xmlns:asvg="http://schemas.microsoft.com/office/drawing/2016/SVG/main" r:embed="rId4"/>
                  </a:ext>
                </a:extLst>
              </a:blip>
              <a:stretch>
                <a:fillRect t="-435" b="-436"/>
              </a:stretch>
            </a:blipFill>
          </p:spPr>
          <p:txBody>
            <a:bodyPr/>
            <a:lstStyle/>
            <a:p>
              <a:endParaRPr lang="en-VN"/>
            </a:p>
          </p:txBody>
        </p:sp>
        <p:sp>
          <p:nvSpPr>
            <p:cNvPr id="14" name="Freeform 14"/>
            <p:cNvSpPr/>
            <p:nvPr/>
          </p:nvSpPr>
          <p:spPr>
            <a:xfrm>
              <a:off x="513179" y="1517995"/>
              <a:ext cx="1092264" cy="1188034"/>
            </a:xfrm>
            <a:custGeom>
              <a:avLst/>
              <a:gdLst/>
              <a:ahLst/>
              <a:cxnLst/>
              <a:rect l="l" t="t" r="r" b="b"/>
              <a:pathLst>
                <a:path w="1092264" h="1188034">
                  <a:moveTo>
                    <a:pt x="0" y="0"/>
                  </a:moveTo>
                  <a:lnTo>
                    <a:pt x="1092264" y="0"/>
                  </a:lnTo>
                  <a:lnTo>
                    <a:pt x="1092264" y="1188034"/>
                  </a:lnTo>
                  <a:lnTo>
                    <a:pt x="0" y="1188034"/>
                  </a:lnTo>
                  <a:lnTo>
                    <a:pt x="0" y="0"/>
                  </a:lnTo>
                  <a:close/>
                </a:path>
              </a:pathLst>
            </a:custGeom>
            <a:blipFill>
              <a:blip>
                <a:extLst>
                  <a:ext uri="{96DAC541-7B7A-43D3-8B79-37D633B846F1}">
                    <asvg:svgBlip xmlns:asvg="http://schemas.microsoft.com/office/drawing/2016/SVG/main" r:embed="rId5"/>
                  </a:ext>
                </a:extLst>
              </a:blip>
              <a:stretch>
                <a:fillRect l="-333" r="-333"/>
              </a:stretch>
            </a:blipFill>
          </p:spPr>
          <p:txBody>
            <a:bodyPr/>
            <a:lstStyle/>
            <a:p>
              <a:endParaRPr lang="en-VN"/>
            </a:p>
          </p:txBody>
        </p:sp>
        <p:sp>
          <p:nvSpPr>
            <p:cNvPr id="15" name="Freeform 15"/>
            <p:cNvSpPr/>
            <p:nvPr/>
          </p:nvSpPr>
          <p:spPr>
            <a:xfrm>
              <a:off x="11966271" y="4533937"/>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16" name="TextBox 16"/>
            <p:cNvSpPr txBox="1"/>
            <p:nvPr/>
          </p:nvSpPr>
          <p:spPr>
            <a:xfrm>
              <a:off x="3518390" y="7129067"/>
              <a:ext cx="1603822" cy="1439740"/>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Vector chunks từ văn bản pháp luật</a:t>
              </a:r>
            </a:p>
          </p:txBody>
        </p:sp>
        <p:sp>
          <p:nvSpPr>
            <p:cNvPr id="17" name="Freeform 17"/>
            <p:cNvSpPr/>
            <p:nvPr/>
          </p:nvSpPr>
          <p:spPr>
            <a:xfrm>
              <a:off x="12083070" y="7308900"/>
              <a:ext cx="873392" cy="1065111"/>
            </a:xfrm>
            <a:custGeom>
              <a:avLst/>
              <a:gdLst/>
              <a:ahLst/>
              <a:cxnLst/>
              <a:rect l="l" t="t" r="r" b="b"/>
              <a:pathLst>
                <a:path w="873392" h="1065111">
                  <a:moveTo>
                    <a:pt x="0" y="0"/>
                  </a:moveTo>
                  <a:lnTo>
                    <a:pt x="873391" y="0"/>
                  </a:lnTo>
                  <a:lnTo>
                    <a:pt x="873391" y="1065111"/>
                  </a:lnTo>
                  <a:lnTo>
                    <a:pt x="0" y="1065111"/>
                  </a:lnTo>
                  <a:lnTo>
                    <a:pt x="0" y="0"/>
                  </a:lnTo>
                  <a:close/>
                </a:path>
              </a:pathLst>
            </a:custGeom>
            <a:blipFill>
              <a:blip>
                <a:extLst>
                  <a:ext uri="{96DAC541-7B7A-43D3-8B79-37D633B846F1}">
                    <asvg:svgBlip xmlns:asvg="http://schemas.microsoft.com/office/drawing/2016/SVG/main" r:embed="rId7"/>
                  </a:ext>
                </a:extLst>
              </a:blip>
              <a:stretch>
                <a:fillRect l="-87" r="-87"/>
              </a:stretch>
            </a:blipFill>
          </p:spPr>
          <p:txBody>
            <a:bodyPr/>
            <a:lstStyle/>
            <a:p>
              <a:endParaRPr lang="en-VN"/>
            </a:p>
          </p:txBody>
        </p:sp>
        <p:sp>
          <p:nvSpPr>
            <p:cNvPr id="18" name="Freeform 18"/>
            <p:cNvSpPr/>
            <p:nvPr/>
          </p:nvSpPr>
          <p:spPr>
            <a:xfrm>
              <a:off x="5999307" y="4715512"/>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19" name="Freeform 19"/>
            <p:cNvSpPr/>
            <p:nvPr/>
          </p:nvSpPr>
          <p:spPr>
            <a:xfrm>
              <a:off x="6101644" y="7308900"/>
              <a:ext cx="873392" cy="1065111"/>
            </a:xfrm>
            <a:custGeom>
              <a:avLst/>
              <a:gdLst/>
              <a:ahLst/>
              <a:cxnLst/>
              <a:rect l="l" t="t" r="r" b="b"/>
              <a:pathLst>
                <a:path w="873392" h="1065111">
                  <a:moveTo>
                    <a:pt x="0" y="0"/>
                  </a:moveTo>
                  <a:lnTo>
                    <a:pt x="873392" y="0"/>
                  </a:lnTo>
                  <a:lnTo>
                    <a:pt x="873392" y="1065111"/>
                  </a:lnTo>
                  <a:lnTo>
                    <a:pt x="0" y="1065111"/>
                  </a:lnTo>
                  <a:lnTo>
                    <a:pt x="0" y="0"/>
                  </a:lnTo>
                  <a:close/>
                </a:path>
              </a:pathLst>
            </a:custGeom>
            <a:blipFill>
              <a:blip>
                <a:extLst>
                  <a:ext uri="{96DAC541-7B7A-43D3-8B79-37D633B846F1}">
                    <asvg:svgBlip xmlns:asvg="http://schemas.microsoft.com/office/drawing/2016/SVG/main" r:embed="rId7"/>
                  </a:ext>
                </a:extLst>
              </a:blip>
              <a:stretch>
                <a:fillRect l="-87" r="-87"/>
              </a:stretch>
            </a:blipFill>
          </p:spPr>
          <p:txBody>
            <a:bodyPr/>
            <a:lstStyle/>
            <a:p>
              <a:endParaRPr lang="en-VN"/>
            </a:p>
          </p:txBody>
        </p:sp>
        <p:grpSp>
          <p:nvGrpSpPr>
            <p:cNvPr id="20" name="Group 20"/>
            <p:cNvGrpSpPr/>
            <p:nvPr/>
          </p:nvGrpSpPr>
          <p:grpSpPr>
            <a:xfrm>
              <a:off x="18292779" y="1673636"/>
              <a:ext cx="2758266" cy="876752"/>
              <a:chOff x="0" y="0"/>
              <a:chExt cx="544843" cy="173186"/>
            </a:xfrm>
          </p:grpSpPr>
          <p:sp>
            <p:nvSpPr>
              <p:cNvPr id="21" name="Freeform 21"/>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22" name="TextBox 22"/>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3" name="AutoShape 23"/>
            <p:cNvSpPr/>
            <p:nvPr/>
          </p:nvSpPr>
          <p:spPr>
            <a:xfrm>
              <a:off x="1605443" y="2112012"/>
              <a:ext cx="7203590"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4" name="AutoShape 24"/>
            <p:cNvSpPr/>
            <p:nvPr/>
          </p:nvSpPr>
          <p:spPr>
            <a:xfrm>
              <a:off x="10521129" y="2108602"/>
              <a:ext cx="7771650" cy="341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5" name="AutoShape 25"/>
            <p:cNvSpPr/>
            <p:nvPr/>
          </p:nvSpPr>
          <p:spPr>
            <a:xfrm flipV="1">
              <a:off x="6538340" y="5757204"/>
              <a:ext cx="0" cy="1551696"/>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6" name="AutoShape 26"/>
            <p:cNvSpPr/>
            <p:nvPr/>
          </p:nvSpPr>
          <p:spPr>
            <a:xfrm flipH="1">
              <a:off x="5122212" y="7841456"/>
              <a:ext cx="979432" cy="170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7" name="AutoShape 27"/>
            <p:cNvSpPr/>
            <p:nvPr/>
          </p:nvSpPr>
          <p:spPr>
            <a:xfrm flipV="1">
              <a:off x="6538340" y="2706029"/>
              <a:ext cx="2526806" cy="2009483"/>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8" name="AutoShape 28"/>
            <p:cNvSpPr/>
            <p:nvPr/>
          </p:nvSpPr>
          <p:spPr>
            <a:xfrm flipH="1" flipV="1">
              <a:off x="12505304" y="5575629"/>
              <a:ext cx="14462" cy="173327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9" name="AutoShape 29"/>
            <p:cNvSpPr/>
            <p:nvPr/>
          </p:nvSpPr>
          <p:spPr>
            <a:xfrm>
              <a:off x="12956461" y="7841456"/>
              <a:ext cx="1050896"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0" name="AutoShape 30"/>
            <p:cNvSpPr/>
            <p:nvPr/>
          </p:nvSpPr>
          <p:spPr>
            <a:xfrm flipH="1" flipV="1">
              <a:off x="10219677" y="2706029"/>
              <a:ext cx="2285626" cy="1827908"/>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31" name="Group 31"/>
            <p:cNvGrpSpPr/>
            <p:nvPr/>
          </p:nvGrpSpPr>
          <p:grpSpPr>
            <a:xfrm>
              <a:off x="2390211" y="0"/>
              <a:ext cx="15117799" cy="9739277"/>
              <a:chOff x="0" y="0"/>
              <a:chExt cx="2986232" cy="1923808"/>
            </a:xfrm>
          </p:grpSpPr>
          <p:sp>
            <p:nvSpPr>
              <p:cNvPr id="32" name="Freeform 32"/>
              <p:cNvSpPr/>
              <p:nvPr/>
            </p:nvSpPr>
            <p:spPr>
              <a:xfrm>
                <a:off x="0" y="0"/>
                <a:ext cx="2986232" cy="1923808"/>
              </a:xfrm>
              <a:custGeom>
                <a:avLst/>
                <a:gdLst/>
                <a:ahLst/>
                <a:cxnLst/>
                <a:rect l="l" t="t" r="r" b="b"/>
                <a:pathLst>
                  <a:path w="2986232" h="1923808">
                    <a:moveTo>
                      <a:pt x="0" y="0"/>
                    </a:moveTo>
                    <a:lnTo>
                      <a:pt x="2986232" y="0"/>
                    </a:lnTo>
                    <a:lnTo>
                      <a:pt x="2986232" y="1923808"/>
                    </a:lnTo>
                    <a:lnTo>
                      <a:pt x="0" y="1923808"/>
                    </a:lnTo>
                    <a:close/>
                  </a:path>
                </a:pathLst>
              </a:custGeom>
              <a:ln w="19050" cap="sq">
                <a:solidFill>
                  <a:srgbClr val="000000"/>
                </a:solidFill>
                <a:prstDash val="solid"/>
                <a:miter/>
              </a:ln>
            </p:spPr>
            <p:txBody>
              <a:bodyPr/>
              <a:lstStyle/>
              <a:p>
                <a:endParaRPr lang="en-VN"/>
              </a:p>
            </p:txBody>
          </p:sp>
          <p:sp>
            <p:nvSpPr>
              <p:cNvPr id="33" name="TextBox 33"/>
              <p:cNvSpPr txBox="1"/>
              <p:nvPr/>
            </p:nvSpPr>
            <p:spPr>
              <a:xfrm>
                <a:off x="0" y="-47625"/>
                <a:ext cx="2986232" cy="1971433"/>
              </a:xfrm>
              <a:prstGeom prst="rect">
                <a:avLst/>
              </a:prstGeom>
            </p:spPr>
            <p:txBody>
              <a:bodyPr lIns="50800" tIns="50800" rIns="50800" bIns="50800" rtlCol="0" anchor="ctr"/>
              <a:lstStyle/>
              <a:p>
                <a:pPr algn="ctr">
                  <a:lnSpc>
                    <a:spcPts val="2940"/>
                  </a:lnSpc>
                </a:pPr>
                <a:endParaRPr/>
              </a:p>
            </p:txBody>
          </p:sp>
        </p:grpSp>
        <p:sp>
          <p:nvSpPr>
            <p:cNvPr id="34" name="TextBox 34"/>
            <p:cNvSpPr txBox="1"/>
            <p:nvPr/>
          </p:nvSpPr>
          <p:spPr>
            <a:xfrm>
              <a:off x="11775030" y="8459557"/>
              <a:ext cx="1489469" cy="723875"/>
            </a:xfrm>
            <a:prstGeom prst="rect">
              <a:avLst/>
            </a:prstGeom>
          </p:spPr>
          <p:txBody>
            <a:bodyPr lIns="0" tIns="0" rIns="0" bIns="0" rtlCol="0" anchor="t">
              <a:spAutoFit/>
            </a:bodyPr>
            <a:lstStyle/>
            <a:p>
              <a:pPr algn="ctr">
                <a:lnSpc>
                  <a:spcPts val="2178"/>
                </a:lnSpc>
              </a:pPr>
              <a:r>
                <a:rPr lang="en-US" sz="1555" b="1" dirty="0">
                  <a:solidFill>
                    <a:srgbClr val="000000"/>
                  </a:solidFill>
                  <a:latin typeface="Roboto Slab Bold"/>
                  <a:ea typeface="Roboto Slab Bold"/>
                  <a:cs typeface="Roboto Slab Bold"/>
                  <a:sym typeface="Roboto Slab Bold"/>
                </a:rPr>
                <a:t>CSDL</a:t>
              </a:r>
            </a:p>
            <a:p>
              <a:pPr algn="ctr">
                <a:lnSpc>
                  <a:spcPts val="2178"/>
                </a:lnSpc>
              </a:pPr>
              <a:r>
                <a:rPr lang="en-US" sz="1555" b="1" dirty="0">
                  <a:solidFill>
                    <a:srgbClr val="000000"/>
                  </a:solidFill>
                  <a:latin typeface="Roboto Slab Bold"/>
                  <a:ea typeface="Roboto Slab Bold"/>
                  <a:cs typeface="Roboto Slab Bold"/>
                  <a:sym typeface="Roboto Slab Bold"/>
                </a:rPr>
                <a:t>PostgreSQL</a:t>
              </a:r>
            </a:p>
          </p:txBody>
        </p:sp>
        <p:sp>
          <p:nvSpPr>
            <p:cNvPr id="35" name="TextBox 35"/>
            <p:cNvSpPr txBox="1"/>
            <p:nvPr/>
          </p:nvSpPr>
          <p:spPr>
            <a:xfrm>
              <a:off x="0" y="2869961"/>
              <a:ext cx="2118622" cy="957615"/>
            </a:xfrm>
            <a:prstGeom prst="rect">
              <a:avLst/>
            </a:prstGeom>
          </p:spPr>
          <p:txBody>
            <a:bodyPr lIns="0" tIns="0" rIns="0" bIns="0" rtlCol="0" anchor="t">
              <a:spAutoFit/>
            </a:bodyPr>
            <a:lstStyle/>
            <a:p>
              <a:pPr algn="ctr">
                <a:lnSpc>
                  <a:spcPts val="2940"/>
                </a:lnSpc>
              </a:pPr>
              <a:r>
                <a:rPr lang="en-US" sz="2100" b="1">
                  <a:solidFill>
                    <a:srgbClr val="000000"/>
                  </a:solidFill>
                  <a:latin typeface="Roboto Slab Bold"/>
                  <a:ea typeface="Roboto Slab Bold"/>
                  <a:cs typeface="Roboto Slab Bold"/>
                  <a:sym typeface="Roboto Slab Bold"/>
                </a:rPr>
                <a:t>Câu hỏi từ người dùng</a:t>
              </a:r>
            </a:p>
          </p:txBody>
        </p:sp>
        <p:sp>
          <p:nvSpPr>
            <p:cNvPr id="36" name="TextBox 36"/>
            <p:cNvSpPr txBox="1"/>
            <p:nvPr/>
          </p:nvSpPr>
          <p:spPr>
            <a:xfrm>
              <a:off x="7042734" y="638772"/>
              <a:ext cx="5493448" cy="791401"/>
            </a:xfrm>
            <a:prstGeom prst="rect">
              <a:avLst/>
            </a:prstGeom>
          </p:spPr>
          <p:txBody>
            <a:bodyPr lIns="0" tIns="0" rIns="0" bIns="0" rtlCol="0" anchor="t">
              <a:spAutoFit/>
            </a:bodyPr>
            <a:lstStyle/>
            <a:p>
              <a:pPr algn="ctr">
                <a:lnSpc>
                  <a:spcPts val="2459"/>
                </a:lnSpc>
              </a:pPr>
              <a:r>
                <a:rPr lang="en-US" sz="1755" b="1">
                  <a:solidFill>
                    <a:srgbClr val="000000"/>
                  </a:solidFill>
                  <a:latin typeface="Roboto Slab Bold"/>
                  <a:ea typeface="Roboto Slab Bold"/>
                  <a:cs typeface="Roboto Slab Bold"/>
                  <a:sym typeface="Roboto Slab Bold"/>
                </a:rPr>
                <a:t>LLMs phân tích câu hỏi, điều phối công cụ và tổng hợp câu trả lời</a:t>
              </a:r>
            </a:p>
          </p:txBody>
        </p:sp>
        <p:sp>
          <p:nvSpPr>
            <p:cNvPr id="37" name="TextBox 37"/>
            <p:cNvSpPr txBox="1"/>
            <p:nvPr/>
          </p:nvSpPr>
          <p:spPr>
            <a:xfrm>
              <a:off x="2630767" y="176938"/>
              <a:ext cx="1683291" cy="515620"/>
            </a:xfrm>
            <a:prstGeom prst="rect">
              <a:avLst/>
            </a:prstGeom>
          </p:spPr>
          <p:txBody>
            <a:bodyPr lIns="0" tIns="0" rIns="0" bIns="0" rtlCol="0" anchor="t">
              <a:spAutoFit/>
            </a:bodyPr>
            <a:lstStyle/>
            <a:p>
              <a:pPr algn="ctr">
                <a:lnSpc>
                  <a:spcPts val="3360"/>
                </a:lnSpc>
              </a:pPr>
              <a:r>
                <a:rPr lang="en-US" sz="2400" b="1">
                  <a:solidFill>
                    <a:srgbClr val="000000"/>
                  </a:solidFill>
                  <a:latin typeface="Roboto Slab Bold"/>
                  <a:ea typeface="Roboto Slab Bold"/>
                  <a:cs typeface="Roboto Slab Bold"/>
                  <a:sym typeface="Roboto Slab Bold"/>
                </a:rPr>
                <a:t>AI Agent</a:t>
              </a:r>
            </a:p>
          </p:txBody>
        </p:sp>
        <p:sp>
          <p:nvSpPr>
            <p:cNvPr id="38" name="TextBox 38"/>
            <p:cNvSpPr txBox="1"/>
            <p:nvPr/>
          </p:nvSpPr>
          <p:spPr>
            <a:xfrm>
              <a:off x="4017352" y="4732403"/>
              <a:ext cx="1805775" cy="1071368"/>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truy hồi pháp luật nội bộ</a:t>
              </a:r>
            </a:p>
          </p:txBody>
        </p:sp>
        <p:sp>
          <p:nvSpPr>
            <p:cNvPr id="39" name="TextBox 39"/>
            <p:cNvSpPr txBox="1"/>
            <p:nvPr/>
          </p:nvSpPr>
          <p:spPr>
            <a:xfrm>
              <a:off x="13352103" y="4858152"/>
              <a:ext cx="2512876" cy="334624"/>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truy vấn CSDL</a:t>
              </a:r>
            </a:p>
          </p:txBody>
        </p:sp>
        <p:sp>
          <p:nvSpPr>
            <p:cNvPr id="40" name="TextBox 40"/>
            <p:cNvSpPr txBox="1"/>
            <p:nvPr/>
          </p:nvSpPr>
          <p:spPr>
            <a:xfrm>
              <a:off x="5823114" y="8476564"/>
              <a:ext cx="1358532"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CSDL</a:t>
              </a:r>
            </a:p>
            <a:p>
              <a:pPr algn="ctr">
                <a:lnSpc>
                  <a:spcPts val="2178"/>
                </a:lnSpc>
              </a:pPr>
              <a:r>
                <a:rPr lang="en-US" sz="1555" b="1">
                  <a:solidFill>
                    <a:srgbClr val="000000"/>
                  </a:solidFill>
                  <a:latin typeface="Roboto Slab Bold"/>
                  <a:ea typeface="Roboto Slab Bold"/>
                  <a:cs typeface="Roboto Slab Bold"/>
                  <a:sym typeface="Roboto Slab Bold"/>
                </a:rPr>
                <a:t>ChromaDB</a:t>
              </a:r>
            </a:p>
          </p:txBody>
        </p:sp>
        <p:sp>
          <p:nvSpPr>
            <p:cNvPr id="41" name="TextBox 41"/>
            <p:cNvSpPr txBox="1"/>
            <p:nvPr/>
          </p:nvSpPr>
          <p:spPr>
            <a:xfrm>
              <a:off x="14007358" y="7480433"/>
              <a:ext cx="1202368"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Lịch sử hội thoại</a:t>
              </a:r>
            </a:p>
          </p:txBody>
        </p:sp>
        <p:sp>
          <p:nvSpPr>
            <p:cNvPr id="42" name="Freeform 42"/>
            <p:cNvSpPr/>
            <p:nvPr/>
          </p:nvSpPr>
          <p:spPr>
            <a:xfrm>
              <a:off x="9096886" y="4629973"/>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43" name="AutoShape 43"/>
            <p:cNvSpPr/>
            <p:nvPr/>
          </p:nvSpPr>
          <p:spPr>
            <a:xfrm flipV="1">
              <a:off x="9635918" y="2706029"/>
              <a:ext cx="6493" cy="1923944"/>
            </a:xfrm>
            <a:prstGeom prst="line">
              <a:avLst/>
            </a:prstGeom>
            <a:ln w="50800" cap="flat">
              <a:solidFill>
                <a:srgbClr val="000000"/>
              </a:solidFill>
              <a:prstDash val="solid"/>
              <a:headEnd type="none" w="sm" len="sm"/>
              <a:tailEnd type="triangle" w="lg" len="med"/>
            </a:ln>
          </p:spPr>
          <p:txBody>
            <a:bodyPr/>
            <a:lstStyle/>
            <a:p>
              <a:endParaRPr lang="en-VN"/>
            </a:p>
          </p:txBody>
        </p:sp>
        <p:sp>
          <p:nvSpPr>
            <p:cNvPr id="44" name="TextBox 44"/>
            <p:cNvSpPr txBox="1"/>
            <p:nvPr/>
          </p:nvSpPr>
          <p:spPr>
            <a:xfrm>
              <a:off x="8974192" y="5784721"/>
              <a:ext cx="1323452"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web search</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childTnLst>
                    </p:cTn>
                  </p:par>
                </p:childTnLst>
              </p:cTn>
            </p:seq>
          </p:childTnLst>
        </p:cTn>
      </p:par>
    </p:tnLst>
    <p:bldLst>
      <p:bldP spid="10"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0695872"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3.2. Mô hình tổng quan của hệ thống chatbot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770560" y="2281885"/>
            <a:ext cx="15631933" cy="7353415"/>
            <a:chOff x="0" y="0"/>
            <a:chExt cx="20842578" cy="9804554"/>
          </a:xfrm>
        </p:grpSpPr>
        <p:sp>
          <p:nvSpPr>
            <p:cNvPr id="13" name="Freeform 13"/>
            <p:cNvSpPr/>
            <p:nvPr/>
          </p:nvSpPr>
          <p:spPr>
            <a:xfrm>
              <a:off x="4674566" y="0"/>
              <a:ext cx="1133754" cy="1382624"/>
            </a:xfrm>
            <a:custGeom>
              <a:avLst/>
              <a:gdLst/>
              <a:ahLst/>
              <a:cxnLst/>
              <a:rect l="l" t="t" r="r" b="b"/>
              <a:pathLst>
                <a:path w="1133754" h="1382624">
                  <a:moveTo>
                    <a:pt x="0" y="0"/>
                  </a:moveTo>
                  <a:lnTo>
                    <a:pt x="1133754" y="0"/>
                  </a:lnTo>
                  <a:lnTo>
                    <a:pt x="1133754" y="1382624"/>
                  </a:lnTo>
                  <a:lnTo>
                    <a:pt x="0" y="1382624"/>
                  </a:lnTo>
                  <a:lnTo>
                    <a:pt x="0" y="0"/>
                  </a:lnTo>
                  <a:close/>
                </a:path>
              </a:pathLst>
            </a:custGeom>
            <a:blipFill>
              <a:blip>
                <a:extLst>
                  <a:ext uri="{96DAC541-7B7A-43D3-8B79-37D633B846F1}">
                    <asvg:svgBlip xmlns:asvg="http://schemas.microsoft.com/office/drawing/2016/SVG/main" r:embed="rId4"/>
                  </a:ext>
                </a:extLst>
              </a:blip>
              <a:stretch>
                <a:fillRect l="-347" r="-346"/>
              </a:stretch>
            </a:blipFill>
          </p:spPr>
          <p:txBody>
            <a:bodyPr/>
            <a:lstStyle/>
            <a:p>
              <a:endParaRPr lang="en-VN"/>
            </a:p>
          </p:txBody>
        </p:sp>
        <p:sp>
          <p:nvSpPr>
            <p:cNvPr id="14" name="Freeform 14"/>
            <p:cNvSpPr/>
            <p:nvPr/>
          </p:nvSpPr>
          <p:spPr>
            <a:xfrm>
              <a:off x="8682331" y="2999156"/>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15" name="Freeform 15"/>
            <p:cNvSpPr/>
            <p:nvPr/>
          </p:nvSpPr>
          <p:spPr>
            <a:xfrm>
              <a:off x="15083225" y="2997695"/>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16" name="Freeform 16"/>
            <p:cNvSpPr/>
            <p:nvPr/>
          </p:nvSpPr>
          <p:spPr>
            <a:xfrm>
              <a:off x="488505" y="2997695"/>
              <a:ext cx="1182560" cy="1286243"/>
            </a:xfrm>
            <a:custGeom>
              <a:avLst/>
              <a:gdLst/>
              <a:ahLst/>
              <a:cxnLst/>
              <a:rect l="l" t="t" r="r" b="b"/>
              <a:pathLst>
                <a:path w="1182560" h="1286243">
                  <a:moveTo>
                    <a:pt x="0" y="0"/>
                  </a:moveTo>
                  <a:lnTo>
                    <a:pt x="1182561" y="0"/>
                  </a:lnTo>
                  <a:lnTo>
                    <a:pt x="1182561" y="1286244"/>
                  </a:lnTo>
                  <a:lnTo>
                    <a:pt x="0" y="1286244"/>
                  </a:lnTo>
                  <a:lnTo>
                    <a:pt x="0" y="0"/>
                  </a:lnTo>
                  <a:close/>
                </a:path>
              </a:pathLst>
            </a:custGeom>
            <a:blipFill>
              <a:blip>
                <a:extLst>
                  <a:ext uri="{96DAC541-7B7A-43D3-8B79-37D633B846F1}">
                    <asvg:svgBlip xmlns:asvg="http://schemas.microsoft.com/office/drawing/2016/SVG/main" r:embed="rId6"/>
                  </a:ext>
                </a:extLst>
              </a:blip>
              <a:stretch>
                <a:fillRect l="-118" r="-118"/>
              </a:stretch>
            </a:blipFill>
          </p:spPr>
          <p:txBody>
            <a:bodyPr/>
            <a:lstStyle/>
            <a:p>
              <a:endParaRPr lang="en-VN"/>
            </a:p>
          </p:txBody>
        </p:sp>
        <p:sp>
          <p:nvSpPr>
            <p:cNvPr id="17" name="Freeform 17"/>
            <p:cNvSpPr/>
            <p:nvPr/>
          </p:nvSpPr>
          <p:spPr>
            <a:xfrm>
              <a:off x="11845659" y="6371432"/>
              <a:ext cx="831355" cy="803300"/>
            </a:xfrm>
            <a:custGeom>
              <a:avLst/>
              <a:gdLst/>
              <a:ahLst/>
              <a:cxnLst/>
              <a:rect l="l" t="t" r="r" b="b"/>
              <a:pathLst>
                <a:path w="831355" h="803300">
                  <a:moveTo>
                    <a:pt x="0" y="0"/>
                  </a:moveTo>
                  <a:lnTo>
                    <a:pt x="831355" y="0"/>
                  </a:lnTo>
                  <a:lnTo>
                    <a:pt x="831355" y="803300"/>
                  </a:lnTo>
                  <a:lnTo>
                    <a:pt x="0" y="803300"/>
                  </a:lnTo>
                  <a:lnTo>
                    <a:pt x="0" y="0"/>
                  </a:lnTo>
                  <a:close/>
                </a:path>
              </a:pathLst>
            </a:custGeom>
            <a:blipFill>
              <a:blip>
                <a:extLst>
                  <a:ext uri="{96DAC541-7B7A-43D3-8B79-37D633B846F1}">
                    <asvg:svgBlip xmlns:asvg="http://schemas.microsoft.com/office/drawing/2016/SVG/main" r:embed="rId7"/>
                  </a:ext>
                </a:extLst>
              </a:blip>
              <a:stretch>
                <a:fillRect t="-178" b="-177"/>
              </a:stretch>
            </a:blipFill>
          </p:spPr>
          <p:txBody>
            <a:bodyPr/>
            <a:lstStyle/>
            <a:p>
              <a:endParaRPr lang="en-VN"/>
            </a:p>
          </p:txBody>
        </p:sp>
        <p:sp>
          <p:nvSpPr>
            <p:cNvPr id="18" name="TextBox 18"/>
            <p:cNvSpPr txBox="1"/>
            <p:nvPr/>
          </p:nvSpPr>
          <p:spPr>
            <a:xfrm>
              <a:off x="0" y="4458360"/>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Tin nhắn mới từ người dùng</a:t>
              </a:r>
            </a:p>
          </p:txBody>
        </p:sp>
        <p:sp>
          <p:nvSpPr>
            <p:cNvPr id="19" name="TextBox 19"/>
            <p:cNvSpPr txBox="1"/>
            <p:nvPr/>
          </p:nvSpPr>
          <p:spPr>
            <a:xfrm>
              <a:off x="8931372" y="4380980"/>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20" name="TextBox 20"/>
            <p:cNvSpPr txBox="1"/>
            <p:nvPr/>
          </p:nvSpPr>
          <p:spPr>
            <a:xfrm>
              <a:off x="2731787" y="207277"/>
              <a:ext cx="1720985" cy="791909"/>
            </a:xfrm>
            <a:prstGeom prst="rect">
              <a:avLst/>
            </a:prstGeom>
          </p:spPr>
          <p:txBody>
            <a:bodyPr wrap="square" lIns="0" tIns="0" rIns="0" bIns="0" rtlCol="0" anchor="t">
              <a:spAutoFit/>
            </a:bodyPr>
            <a:lstStyle/>
            <a:p>
              <a:pPr algn="ctr">
                <a:lnSpc>
                  <a:spcPts val="2443"/>
                </a:lnSpc>
              </a:pPr>
              <a:r>
                <a:rPr lang="en-US" sz="1746" b="1" dirty="0">
                  <a:solidFill>
                    <a:srgbClr val="000000"/>
                  </a:solidFill>
                  <a:latin typeface="Roboto Slab Bold"/>
                  <a:ea typeface="Roboto Slab Bold"/>
                  <a:cs typeface="Roboto Slab Bold"/>
                  <a:sym typeface="Roboto Slab Bold"/>
                </a:rPr>
                <a:t>Database</a:t>
              </a:r>
            </a:p>
            <a:p>
              <a:pPr algn="ctr">
                <a:lnSpc>
                  <a:spcPts val="2443"/>
                </a:lnSpc>
              </a:pPr>
              <a:r>
                <a:rPr lang="en-US" sz="1746" b="1" dirty="0">
                  <a:solidFill>
                    <a:srgbClr val="000000"/>
                  </a:solidFill>
                  <a:latin typeface="Roboto Slab Bold"/>
                  <a:ea typeface="Roboto Slab Bold"/>
                  <a:cs typeface="Roboto Slab Bold"/>
                  <a:sym typeface="Roboto Slab Bold"/>
                </a:rPr>
                <a:t>PostgreSQL</a:t>
              </a:r>
            </a:p>
          </p:txBody>
        </p:sp>
        <p:sp>
          <p:nvSpPr>
            <p:cNvPr id="21" name="TextBox 21"/>
            <p:cNvSpPr txBox="1"/>
            <p:nvPr/>
          </p:nvSpPr>
          <p:spPr>
            <a:xfrm>
              <a:off x="8207414" y="2135658"/>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Phân tích câu hỏi</a:t>
              </a:r>
            </a:p>
          </p:txBody>
        </p:sp>
        <p:sp>
          <p:nvSpPr>
            <p:cNvPr id="22" name="TextBox 22"/>
            <p:cNvSpPr txBox="1"/>
            <p:nvPr/>
          </p:nvSpPr>
          <p:spPr>
            <a:xfrm>
              <a:off x="14592649" y="2135658"/>
              <a:ext cx="2190915"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Verifier kiểm chứng kết quả</a:t>
              </a:r>
            </a:p>
          </p:txBody>
        </p:sp>
        <p:sp>
          <p:nvSpPr>
            <p:cNvPr id="23" name="TextBox 23"/>
            <p:cNvSpPr txBox="1"/>
            <p:nvPr/>
          </p:nvSpPr>
          <p:spPr>
            <a:xfrm>
              <a:off x="13341128" y="5017343"/>
              <a:ext cx="1331354" cy="730149"/>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Cần thực hiện tiếp</a:t>
              </a:r>
            </a:p>
          </p:txBody>
        </p:sp>
        <p:sp>
          <p:nvSpPr>
            <p:cNvPr id="24" name="TextBox 24"/>
            <p:cNvSpPr txBox="1"/>
            <p:nvPr/>
          </p:nvSpPr>
          <p:spPr>
            <a:xfrm>
              <a:off x="11749277" y="7298557"/>
              <a:ext cx="1024118"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Các tool</a:t>
              </a:r>
            </a:p>
          </p:txBody>
        </p:sp>
        <p:sp>
          <p:nvSpPr>
            <p:cNvPr id="25" name="TextBox 25"/>
            <p:cNvSpPr txBox="1"/>
            <p:nvPr/>
          </p:nvSpPr>
          <p:spPr>
            <a:xfrm>
              <a:off x="9966315" y="5201529"/>
              <a:ext cx="1331354" cy="361777"/>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Trả kết quả</a:t>
              </a:r>
            </a:p>
          </p:txBody>
        </p:sp>
        <p:sp>
          <p:nvSpPr>
            <p:cNvPr id="26" name="TextBox 26"/>
            <p:cNvSpPr txBox="1"/>
            <p:nvPr/>
          </p:nvSpPr>
          <p:spPr>
            <a:xfrm>
              <a:off x="2911438" y="1657571"/>
              <a:ext cx="2107222" cy="730149"/>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Lấy lịch sử trò chuyện</a:t>
              </a:r>
            </a:p>
          </p:txBody>
        </p:sp>
        <p:grpSp>
          <p:nvGrpSpPr>
            <p:cNvPr id="27" name="Group 27"/>
            <p:cNvGrpSpPr/>
            <p:nvPr/>
          </p:nvGrpSpPr>
          <p:grpSpPr>
            <a:xfrm>
              <a:off x="3090017" y="2911534"/>
              <a:ext cx="4302852" cy="1438264"/>
              <a:chOff x="0" y="0"/>
              <a:chExt cx="849926" cy="284134"/>
            </a:xfrm>
          </p:grpSpPr>
          <p:sp>
            <p:nvSpPr>
              <p:cNvPr id="28" name="Freeform 28"/>
              <p:cNvSpPr/>
              <p:nvPr/>
            </p:nvSpPr>
            <p:spPr>
              <a:xfrm>
                <a:off x="0" y="0"/>
                <a:ext cx="849926" cy="284134"/>
              </a:xfrm>
              <a:custGeom>
                <a:avLst/>
                <a:gdLst/>
                <a:ahLst/>
                <a:cxnLst/>
                <a:rect l="l" t="t" r="r" b="b"/>
                <a:pathLst>
                  <a:path w="849926" h="284134">
                    <a:moveTo>
                      <a:pt x="849926" y="59975"/>
                    </a:moveTo>
                    <a:lnTo>
                      <a:pt x="849926" y="224159"/>
                    </a:lnTo>
                    <a:cubicBezTo>
                      <a:pt x="849926" y="240065"/>
                      <a:pt x="843608" y="255320"/>
                      <a:pt x="832360" y="266567"/>
                    </a:cubicBezTo>
                    <a:cubicBezTo>
                      <a:pt x="821112" y="277815"/>
                      <a:pt x="805858" y="284134"/>
                      <a:pt x="789951" y="284134"/>
                    </a:cubicBezTo>
                    <a:lnTo>
                      <a:pt x="59975" y="284134"/>
                    </a:lnTo>
                    <a:cubicBezTo>
                      <a:pt x="26852" y="284134"/>
                      <a:pt x="0" y="257282"/>
                      <a:pt x="0" y="224159"/>
                    </a:cubicBezTo>
                    <a:lnTo>
                      <a:pt x="0" y="59975"/>
                    </a:lnTo>
                    <a:cubicBezTo>
                      <a:pt x="0" y="44069"/>
                      <a:pt x="6319" y="28814"/>
                      <a:pt x="17566" y="17566"/>
                    </a:cubicBezTo>
                    <a:cubicBezTo>
                      <a:pt x="28814" y="6319"/>
                      <a:pt x="44069" y="0"/>
                      <a:pt x="59975" y="0"/>
                    </a:cubicBezTo>
                    <a:lnTo>
                      <a:pt x="789951" y="0"/>
                    </a:lnTo>
                    <a:cubicBezTo>
                      <a:pt x="823075" y="0"/>
                      <a:pt x="849926" y="26852"/>
                      <a:pt x="849926" y="59975"/>
                    </a:cubicBezTo>
                    <a:close/>
                  </a:path>
                </a:pathLst>
              </a:custGeom>
              <a:ln w="28575" cap="rnd">
                <a:solidFill>
                  <a:srgbClr val="000000"/>
                </a:solidFill>
                <a:prstDash val="solid"/>
                <a:round/>
              </a:ln>
            </p:spPr>
            <p:txBody>
              <a:bodyPr/>
              <a:lstStyle/>
              <a:p>
                <a:endParaRPr lang="en-VN"/>
              </a:p>
            </p:txBody>
          </p:sp>
          <p:sp>
            <p:nvSpPr>
              <p:cNvPr id="29" name="TextBox 29"/>
              <p:cNvSpPr txBox="1"/>
              <p:nvPr/>
            </p:nvSpPr>
            <p:spPr>
              <a:xfrm>
                <a:off x="0" y="-38100"/>
                <a:ext cx="849926" cy="32223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Tổng hợp context cuộc trò chuyện</a:t>
                </a:r>
              </a:p>
            </p:txBody>
          </p:sp>
        </p:grpSp>
        <p:sp>
          <p:nvSpPr>
            <p:cNvPr id="30" name="AutoShape 30"/>
            <p:cNvSpPr/>
            <p:nvPr/>
          </p:nvSpPr>
          <p:spPr>
            <a:xfrm>
              <a:off x="5241443" y="1382624"/>
              <a:ext cx="0" cy="152891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1" name="AutoShape 31"/>
            <p:cNvSpPr/>
            <p:nvPr/>
          </p:nvSpPr>
          <p:spPr>
            <a:xfrm flipV="1">
              <a:off x="1671066" y="3630666"/>
              <a:ext cx="1419244" cy="1015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2" name="AutoShape 32"/>
            <p:cNvSpPr/>
            <p:nvPr/>
          </p:nvSpPr>
          <p:spPr>
            <a:xfrm flipV="1">
              <a:off x="7392576" y="3625171"/>
              <a:ext cx="1289754" cy="5495"/>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3" name="Freeform 33"/>
            <p:cNvSpPr/>
            <p:nvPr/>
          </p:nvSpPr>
          <p:spPr>
            <a:xfrm>
              <a:off x="11739017" y="2997695"/>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34" name="TextBox 34"/>
            <p:cNvSpPr txBox="1"/>
            <p:nvPr/>
          </p:nvSpPr>
          <p:spPr>
            <a:xfrm>
              <a:off x="11181544" y="1767285"/>
              <a:ext cx="2159584" cy="1079471"/>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Điều phối các tool để thu thập context</a:t>
              </a:r>
            </a:p>
          </p:txBody>
        </p:sp>
        <p:sp>
          <p:nvSpPr>
            <p:cNvPr id="35" name="AutoShape 35"/>
            <p:cNvSpPr/>
            <p:nvPr/>
          </p:nvSpPr>
          <p:spPr>
            <a:xfrm flipV="1">
              <a:off x="9892095" y="3623710"/>
              <a:ext cx="1846922" cy="146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6" name="Freeform 36"/>
            <p:cNvSpPr/>
            <p:nvPr/>
          </p:nvSpPr>
          <p:spPr>
            <a:xfrm>
              <a:off x="12562195" y="4249725"/>
              <a:ext cx="598294" cy="2121707"/>
            </a:xfrm>
            <a:custGeom>
              <a:avLst/>
              <a:gdLst/>
              <a:ahLst/>
              <a:cxnLst/>
              <a:rect l="l" t="t" r="r" b="b"/>
              <a:pathLst>
                <a:path w="598294" h="2121707">
                  <a:moveTo>
                    <a:pt x="386586" y="0"/>
                  </a:moveTo>
                  <a:quadBezTo>
                    <a:pt x="954193" y="1199493"/>
                    <a:pt x="0" y="2121707"/>
                  </a:quadBezTo>
                </a:path>
              </a:pathLst>
            </a:custGeom>
            <a:ln w="50800" cap="flat">
              <a:solidFill>
                <a:srgbClr val="000000"/>
              </a:solidFill>
              <a:prstDash val="solid"/>
              <a:headEnd type="none" w="sm" len="sm"/>
              <a:tailEnd type="arrow" w="med" len="sm"/>
            </a:ln>
          </p:spPr>
          <p:txBody>
            <a:bodyPr/>
            <a:lstStyle/>
            <a:p>
              <a:endParaRPr lang="en-VN"/>
            </a:p>
          </p:txBody>
        </p:sp>
        <p:sp>
          <p:nvSpPr>
            <p:cNvPr id="37" name="Freeform 37"/>
            <p:cNvSpPr/>
            <p:nvPr/>
          </p:nvSpPr>
          <p:spPr>
            <a:xfrm>
              <a:off x="11466733" y="4249725"/>
              <a:ext cx="378926" cy="2121707"/>
            </a:xfrm>
            <a:custGeom>
              <a:avLst/>
              <a:gdLst/>
              <a:ahLst/>
              <a:cxnLst/>
              <a:rect l="l" t="t" r="r" b="b"/>
              <a:pathLst>
                <a:path w="378926" h="2121707">
                  <a:moveTo>
                    <a:pt x="378926" y="2121707"/>
                  </a:moveTo>
                  <a:quadBezTo>
                    <a:pt x="-321209" y="1093364"/>
                    <a:pt x="272284" y="0"/>
                  </a:quadBezTo>
                </a:path>
              </a:pathLst>
            </a:custGeom>
            <a:ln w="50800" cap="flat">
              <a:solidFill>
                <a:srgbClr val="000000"/>
              </a:solidFill>
              <a:prstDash val="solid"/>
              <a:headEnd type="none" w="sm" len="sm"/>
              <a:tailEnd type="arrow" w="med" len="sm"/>
            </a:ln>
          </p:spPr>
          <p:txBody>
            <a:bodyPr/>
            <a:lstStyle/>
            <a:p>
              <a:endParaRPr lang="en-VN"/>
            </a:p>
          </p:txBody>
        </p:sp>
        <p:sp>
          <p:nvSpPr>
            <p:cNvPr id="38" name="TextBox 38"/>
            <p:cNvSpPr txBox="1"/>
            <p:nvPr/>
          </p:nvSpPr>
          <p:spPr>
            <a:xfrm>
              <a:off x="15332273" y="4380980"/>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39" name="AutoShape 39"/>
            <p:cNvSpPr/>
            <p:nvPr/>
          </p:nvSpPr>
          <p:spPr>
            <a:xfrm>
              <a:off x="12948781" y="3623710"/>
              <a:ext cx="2134444"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40" name="AutoShape 40"/>
            <p:cNvSpPr/>
            <p:nvPr/>
          </p:nvSpPr>
          <p:spPr>
            <a:xfrm>
              <a:off x="16292989" y="3623710"/>
              <a:ext cx="1422613"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41" name="Group 41"/>
            <p:cNvGrpSpPr/>
            <p:nvPr/>
          </p:nvGrpSpPr>
          <p:grpSpPr>
            <a:xfrm>
              <a:off x="17715389" y="2904578"/>
              <a:ext cx="3127189" cy="1438264"/>
              <a:chOff x="0" y="0"/>
              <a:chExt cx="617702" cy="284134"/>
            </a:xfrm>
          </p:grpSpPr>
          <p:sp>
            <p:nvSpPr>
              <p:cNvPr id="42" name="Freeform 42"/>
              <p:cNvSpPr/>
              <p:nvPr/>
            </p:nvSpPr>
            <p:spPr>
              <a:xfrm>
                <a:off x="0" y="0"/>
                <a:ext cx="617702" cy="284134"/>
              </a:xfrm>
              <a:custGeom>
                <a:avLst/>
                <a:gdLst/>
                <a:ahLst/>
                <a:cxnLst/>
                <a:rect l="l" t="t" r="r" b="b"/>
                <a:pathLst>
                  <a:path w="617702" h="284134">
                    <a:moveTo>
                      <a:pt x="617702" y="82523"/>
                    </a:moveTo>
                    <a:lnTo>
                      <a:pt x="617702" y="201611"/>
                    </a:lnTo>
                    <a:cubicBezTo>
                      <a:pt x="617702" y="223497"/>
                      <a:pt x="609008" y="244487"/>
                      <a:pt x="593532" y="259963"/>
                    </a:cubicBezTo>
                    <a:cubicBezTo>
                      <a:pt x="578056" y="275439"/>
                      <a:pt x="557066" y="284134"/>
                      <a:pt x="535179" y="284134"/>
                    </a:cubicBezTo>
                    <a:lnTo>
                      <a:pt x="82523" y="284134"/>
                    </a:lnTo>
                    <a:cubicBezTo>
                      <a:pt x="60636" y="284134"/>
                      <a:pt x="39646" y="275439"/>
                      <a:pt x="24170" y="259963"/>
                    </a:cubicBezTo>
                    <a:cubicBezTo>
                      <a:pt x="8694" y="244487"/>
                      <a:pt x="0" y="223497"/>
                      <a:pt x="0" y="201611"/>
                    </a:cubicBezTo>
                    <a:lnTo>
                      <a:pt x="0" y="82523"/>
                    </a:lnTo>
                    <a:cubicBezTo>
                      <a:pt x="0" y="60636"/>
                      <a:pt x="8694" y="39646"/>
                      <a:pt x="24170" y="24170"/>
                    </a:cubicBezTo>
                    <a:cubicBezTo>
                      <a:pt x="39646" y="8694"/>
                      <a:pt x="60636" y="0"/>
                      <a:pt x="82523" y="0"/>
                    </a:cubicBezTo>
                    <a:lnTo>
                      <a:pt x="535179" y="0"/>
                    </a:lnTo>
                    <a:cubicBezTo>
                      <a:pt x="557066" y="0"/>
                      <a:pt x="578056" y="8694"/>
                      <a:pt x="593532" y="24170"/>
                    </a:cubicBezTo>
                    <a:cubicBezTo>
                      <a:pt x="609008" y="39646"/>
                      <a:pt x="617702" y="60636"/>
                      <a:pt x="617702" y="82523"/>
                    </a:cubicBezTo>
                    <a:close/>
                  </a:path>
                </a:pathLst>
              </a:custGeom>
              <a:ln w="28575" cap="rnd">
                <a:solidFill>
                  <a:srgbClr val="000000"/>
                </a:solidFill>
                <a:prstDash val="solid"/>
                <a:round/>
              </a:ln>
            </p:spPr>
            <p:txBody>
              <a:bodyPr/>
              <a:lstStyle/>
              <a:p>
                <a:endParaRPr lang="en-VN"/>
              </a:p>
            </p:txBody>
          </p:sp>
          <p:sp>
            <p:nvSpPr>
              <p:cNvPr id="43" name="TextBox 43"/>
              <p:cNvSpPr txBox="1"/>
              <p:nvPr/>
            </p:nvSpPr>
            <p:spPr>
              <a:xfrm>
                <a:off x="0" y="-38100"/>
                <a:ext cx="617702" cy="32223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trả lời có căn cứ pháp lý</a:t>
                </a:r>
              </a:p>
            </p:txBody>
          </p:sp>
        </p:grpSp>
        <p:sp>
          <p:nvSpPr>
            <p:cNvPr id="44" name="TextBox 44"/>
            <p:cNvSpPr txBox="1"/>
            <p:nvPr/>
          </p:nvSpPr>
          <p:spPr>
            <a:xfrm>
              <a:off x="5667717" y="9320859"/>
              <a:ext cx="8823519" cy="483695"/>
            </a:xfrm>
            <a:prstGeom prst="rect">
              <a:avLst/>
            </a:prstGeom>
          </p:spPr>
          <p:txBody>
            <a:bodyPr lIns="0" tIns="0" rIns="0" bIns="0" rtlCol="0" anchor="t">
              <a:spAutoFit/>
            </a:bodyPr>
            <a:lstStyle/>
            <a:p>
              <a:pPr algn="ctr">
                <a:lnSpc>
                  <a:spcPts val="3199"/>
                </a:lnSpc>
              </a:pPr>
              <a:r>
                <a:rPr lang="en-US" sz="1999" b="1" i="1">
                  <a:solidFill>
                    <a:srgbClr val="0C1D4B"/>
                  </a:solidFill>
                  <a:latin typeface="Roboto Bold Italics"/>
                  <a:ea typeface="Roboto Bold Italics"/>
                  <a:cs typeface="Roboto Bold Italics"/>
                  <a:sym typeface="Roboto Bold Italics"/>
                </a:rPr>
                <a:t>Hành trình của một tin nhắn khi đi qua hệ thống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childTnLst>
                    </p:cTn>
                  </p:par>
                </p:childTnLst>
              </p:cTn>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5617179"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3.3. Đồ thị của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pic>
        <p:nvPicPr>
          <p:cNvPr id="54" name="Picture 53">
            <a:extLst>
              <a:ext uri="{FF2B5EF4-FFF2-40B4-BE49-F238E27FC236}">
                <a16:creationId xmlns:a16="http://schemas.microsoft.com/office/drawing/2014/main" id="{60CCFE10-199A-0BD4-F5D5-B886110E8C99}"/>
              </a:ext>
            </a:extLst>
          </p:cNvPr>
          <p:cNvPicPr>
            <a:picLocks noChangeAspect="1"/>
          </p:cNvPicPr>
          <p:nvPr/>
        </p:nvPicPr>
        <p:blipFill>
          <a:blip r:embed="rId4"/>
          <a:stretch>
            <a:fillRect/>
          </a:stretch>
        </p:blipFill>
        <p:spPr>
          <a:xfrm>
            <a:off x="3368534" y="1862752"/>
            <a:ext cx="11550931" cy="75575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54"/>
                                  </p:tgtEl>
                                  <p:attrNameLst>
                                    <p:attrName>style.visibility</p:attrName>
                                  </p:attrNameLst>
                                </p:cBhvr>
                                <p:to>
                                  <p:strVal val="visible"/>
                                </p:to>
                              </p:set>
                              <p:animEffect transition="in" filter="wipe(left)">
                                <p:cBhvr>
                                  <p:cTn id="9" dur="860"/>
                                  <p:tgtEl>
                                    <p:spTgt spid="54"/>
                                  </p:tgtEl>
                                </p:cBhvr>
                              </p:animEffect>
                            </p:childTnLst>
                          </p:cTn>
                        </p:par>
                      </p:childTnLst>
                    </p:cTn>
                  </p:par>
                </p:childTnLst>
              </p:cTn>
            </p:seq>
          </p:childTnLst>
        </p:cTn>
      </p:par>
    </p:tnLst>
    <p:bldLst>
      <p:bldP spid="10" grpId="0"/>
      <p:bldP spid="54" grpId="0"/>
    </p:bldLst>
  </p:timing>
</p:sld>
</file>

<file path=ppt/slides/slide18.xml><?xml version="1.0" encoding="utf-8"?>
<p:sld xmlns:a="http://schemas.openxmlformats.org/drawingml/2006/main" xmlns:ns3="http://schemas.microsoft.com/office/drawing/2016/SVG/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Guardrail</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Nhiệm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vụ</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kiểm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đầu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loại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bỏ</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yêu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cầu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không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phù</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hợp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hoặc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nằm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ngoài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phạm</a:t>
            </a:r>
            <a:r>
              <a:rPr lang="en-US" sz="2799" dirty="0">
                <a:solidFill>
                  <a:srgbClr val="0C1D4B"/>
                </a:solidFill>
                <a:latin typeface="Roboto Slab"/>
                <a:ea typeface="Roboto Slab"/>
                <a:cs typeface="Roboto Slab"/>
                <a:sym typeface="Roboto Slab"/>
              </a:rPr>
              <a:t> vi </a:t>
            </a:r>
            <a:r>
              <a:rPr lang="en-US" sz="2799" dirty="0" err="1">
                <a:solidFill>
                  <a:srgbClr val="0C1D4B"/>
                </a:solidFill>
                <a:latin typeface="Roboto Slab"/>
                <a:ea typeface="Roboto Slab"/>
                <a:cs typeface="Roboto Slab"/>
                <a:sym typeface="Roboto Slab"/>
              </a:rPr>
              <a:t>tư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PROMPT: “</a:t>
            </a:r>
            <a:r>
              <a:rPr lang="en-US" sz="2799" dirty="0" err="1">
                <a:solidFill>
                  <a:srgbClr val="0C1D4B"/>
                </a:solidFill>
                <a:latin typeface="Roboto Slab"/>
                <a:ea typeface="Roboto Slab"/>
                <a:cs typeface="Roboto Slab"/>
                <a:sym typeface="Roboto Slab"/>
              </a:rPr>
              <a:t>Bạn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một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lọc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kiểm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duyệt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cực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nghiêm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ngặt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thống</a:t>
            </a:r>
            <a:r>
              <a:rPr lang="en-US" sz="2799" dirty="0">
                <a:solidFill>
                  <a:srgbClr val="0C1D4B"/>
                </a:solidFill>
                <a:latin typeface="Roboto Slab"/>
                <a:ea typeface="Roboto Slab"/>
                <a:cs typeface="Roboto Slab"/>
                <a:sym typeface="Roboto Slab"/>
              </a:rPr>
              <a:t> AI </a:t>
            </a:r>
            <a:r>
              <a:rPr lang="en-US" sz="2799" dirty="0" err="1">
                <a:solidFill>
                  <a:srgbClr val="0C1D4B"/>
                </a:solidFill>
                <a:latin typeface="Roboto Slab"/>
                <a:ea typeface="Roboto Slab"/>
                <a:cs typeface="Roboto Slab"/>
                <a:sym typeface="Roboto Slab"/>
              </a:rPr>
              <a:t>Tư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Việt Nam...”</a:t>
            </a:r>
          </a:p>
        </p:txBody>
      </p:sp>
      <p:sp>
        <p:nvSpPr>
          <p:cNvPr id="14" name="TextBox 14"/>
          <p:cNvSpPr txBox="1"/>
          <p:nvPr/>
        </p:nvSpPr>
        <p:spPr>
          <a:xfrm>
            <a:off x="1028700" y="8107037"/>
            <a:ext cx="14190830" cy="432408"/>
          </a:xfrm>
          <a:prstGeom prst="rect">
            <a:avLst/>
          </a:prstGeom>
        </p:spPr>
        <p:txBody>
          <a:bodyPr lIns="0" tIns="0" rIns="0" bIns="0" rtlCol="0" anchor="t">
            <a:spAutoFit/>
          </a:bodyPr>
          <a:lstStyle/>
          <a:p>
            <a:pPr algn="just">
              <a:lnSpc>
                <a:spcPts val="3600"/>
              </a:lnSpc>
            </a:pPr>
            <a:r>
              <a:rPr lang="en-US" sz="2400" b="1">
                <a:solidFill>
                  <a:srgbClr val="0C1D4B"/>
                </a:solidFill>
                <a:latin typeface="Roboto Slab Bold"/>
                <a:ea typeface="Roboto Slab Bold"/>
                <a:cs typeface="Roboto Slab Bold"/>
                <a:sym typeface="Roboto Slab Bold"/>
              </a:rPr>
              <a:t>Khi làm việc với LLMs là ta đang làm việc với PROMPT để cho ra đầu ra mong muốn</a:t>
            </a:r>
          </a:p>
        </p:txBody>
      </p:sp>
      <p:grpSp>
        <p:nvGrpSpPr>
          <p:cNvPr id="15" name="Group 15"/>
          <p:cNvGrpSpPr/>
          <p:nvPr/>
        </p:nvGrpSpPr>
        <p:grpSpPr>
          <a:xfrm>
            <a:off x="2057400" y="5576253"/>
            <a:ext cx="14108375" cy="2159286"/>
            <a:chOff x="0" y="0"/>
            <a:chExt cx="18811166" cy="2879048"/>
          </a:xfrm>
        </p:grpSpPr>
        <p:sp>
          <p:nvSpPr>
            <p:cNvPr id="16" name="Freeform 16"/>
            <p:cNvSpPr/>
            <p:nvPr/>
          </p:nvSpPr>
          <p:spPr>
            <a:xfrm>
              <a:off x="5991105"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ns3:svgBlip r:embed="rId4"/>
                  </a:ext>
                </a:extLst>
              </a:blip>
              <a:stretch>
                <a:fillRect/>
              </a:stretch>
            </a:blipFill>
          </p:spPr>
          <p:txBody>
            <a:bodyPr/>
            <a:lstStyle/>
            <a:p>
              <a:endParaRPr lang="en-VN"/>
            </a:p>
          </p:txBody>
        </p:sp>
        <p:sp>
          <p:nvSpPr>
            <p:cNvPr id="17" name="Freeform 17"/>
            <p:cNvSpPr/>
            <p:nvPr/>
          </p:nvSpPr>
          <p:spPr>
            <a:xfrm>
              <a:off x="10381696" y="722286"/>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a:extLst>
                  <a:ext uri="{96DAC541-7B7A-43D3-8B79-37D633B846F1}">
                    <ns3:svgBlip r:embed="rId5"/>
                  </a:ext>
                </a:extLst>
              </a:blip>
              <a:stretch>
                <a:fillRect/>
              </a:stretch>
            </a:blipFill>
          </p:spPr>
          <p:txBody>
            <a:bodyPr/>
            <a:lstStyle/>
            <a:p>
              <a:endParaRPr lang="en-VN"/>
            </a:p>
          </p:txBody>
        </p:sp>
        <p:sp>
          <p:nvSpPr>
            <p:cNvPr id="18" name="TextBox 18"/>
            <p:cNvSpPr txBox="1"/>
            <p:nvPr/>
          </p:nvSpPr>
          <p:spPr>
            <a:xfrm>
              <a:off x="0" y="930179"/>
              <a:ext cx="3326861" cy="1099026"/>
            </a:xfrm>
            <a:prstGeom prst="rect">
              <a:avLst/>
            </a:prstGeom>
          </p:spPr>
          <p:txBody>
            <a:bodyPr lIns="0" tIns="0" rIns="0" bIns="0" rtlCol="0" anchor="t">
              <a:spAutoFit/>
            </a:bodyPr>
            <a:lstStyle/>
            <a:p>
              <a:pPr algn="l">
                <a:lnSpc>
                  <a:spcPts val="3392"/>
                </a:lnSpc>
                <a:spcBef>
                  <a:spcPct val="0"/>
                </a:spcBef>
              </a:pPr>
              <a:r>
                <a:rPr lang="en-US" sz="2423" b="1">
                  <a:solidFill>
                    <a:srgbClr val="000000"/>
                  </a:solidFill>
                  <a:latin typeface="Roboto Slab Bold"/>
                  <a:ea typeface="Roboto Slab Bold"/>
                  <a:cs typeface="Roboto Slab Bold"/>
                  <a:sym typeface="Roboto Slab Bold"/>
                </a:rPr>
                <a:t>Câu hỏi hiện tại của người dùng</a:t>
              </a:r>
            </a:p>
          </p:txBody>
        </p:sp>
        <p:sp>
          <p:nvSpPr>
            <p:cNvPr id="19" name="AutoShape 19"/>
            <p:cNvSpPr/>
            <p:nvPr/>
          </p:nvSpPr>
          <p:spPr>
            <a:xfrm>
              <a:off x="3326861"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AutoShape 20"/>
            <p:cNvSpPr/>
            <p:nvPr/>
          </p:nvSpPr>
          <p:spPr>
            <a:xfrm flipV="1">
              <a:off x="7459585"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1" name="TextBox 21"/>
            <p:cNvSpPr txBox="1"/>
            <p:nvPr/>
          </p:nvSpPr>
          <p:spPr>
            <a:xfrm>
              <a:off x="476459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2" name="TextBox 22"/>
            <p:cNvSpPr txBox="1"/>
            <p:nvPr/>
          </p:nvSpPr>
          <p:spPr>
            <a:xfrm>
              <a:off x="921689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3" name="AutoShape 23"/>
            <p:cNvSpPr/>
            <p:nvPr/>
          </p:nvSpPr>
          <p:spPr>
            <a:xfrm flipV="1">
              <a:off x="11882196" y="722286"/>
              <a:ext cx="2787081" cy="746124"/>
            </a:xfrm>
            <a:prstGeom prst="line">
              <a:avLst/>
            </a:prstGeom>
            <a:ln w="50800" cap="flat">
              <a:solidFill>
                <a:srgbClr val="0C0C6B"/>
              </a:solidFill>
              <a:prstDash val="solid"/>
              <a:headEnd type="none" w="sm" len="sm"/>
              <a:tailEnd type="arrow" w="med" len="sm"/>
            </a:ln>
          </p:spPr>
          <p:txBody>
            <a:bodyPr/>
            <a:lstStyle/>
            <a:p>
              <a:endParaRPr lang="en-VN" dirty="0"/>
            </a:p>
          </p:txBody>
        </p:sp>
        <p:grpSp>
          <p:nvGrpSpPr>
            <p:cNvPr id="24" name="Group 24"/>
            <p:cNvGrpSpPr/>
            <p:nvPr/>
          </p:nvGrpSpPr>
          <p:grpSpPr>
            <a:xfrm>
              <a:off x="14669278" y="258286"/>
              <a:ext cx="4141889" cy="928000"/>
              <a:chOff x="0" y="0"/>
              <a:chExt cx="818151" cy="183309"/>
            </a:xfrm>
          </p:grpSpPr>
          <p:sp>
            <p:nvSpPr>
              <p:cNvPr id="25" name="Freeform 25"/>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6" name="TextBox 26"/>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END</a:t>
                </a:r>
              </a:p>
            </p:txBody>
          </p:sp>
        </p:grpSp>
        <p:sp>
          <p:nvSpPr>
            <p:cNvPr id="27" name="AutoShape 27"/>
            <p:cNvSpPr/>
            <p:nvPr/>
          </p:nvSpPr>
          <p:spPr>
            <a:xfrm>
              <a:off x="11852051" y="1525854"/>
              <a:ext cx="2817227" cy="905392"/>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8" name="Group 28"/>
            <p:cNvGrpSpPr/>
            <p:nvPr/>
          </p:nvGrpSpPr>
          <p:grpSpPr>
            <a:xfrm>
              <a:off x="14669278" y="1983443"/>
              <a:ext cx="4141889" cy="895606"/>
              <a:chOff x="0" y="0"/>
              <a:chExt cx="847743" cy="183309"/>
            </a:xfrm>
          </p:grpSpPr>
          <p:sp>
            <p:nvSpPr>
              <p:cNvPr id="29" name="Freeform 29"/>
              <p:cNvSpPr/>
              <p:nvPr/>
            </p:nvSpPr>
            <p:spPr>
              <a:xfrm>
                <a:off x="0" y="0"/>
                <a:ext cx="847743" cy="183309"/>
              </a:xfrm>
              <a:custGeom>
                <a:avLst/>
                <a:gdLst/>
                <a:ahLst/>
                <a:cxnLst/>
                <a:rect l="l" t="t" r="r" b="b"/>
                <a:pathLst>
                  <a:path w="847743" h="183309">
                    <a:moveTo>
                      <a:pt x="69783" y="0"/>
                    </a:moveTo>
                    <a:lnTo>
                      <a:pt x="777961" y="0"/>
                    </a:lnTo>
                    <a:cubicBezTo>
                      <a:pt x="796468" y="0"/>
                      <a:pt x="814218" y="7352"/>
                      <a:pt x="827304" y="20439"/>
                    </a:cubicBezTo>
                    <a:cubicBezTo>
                      <a:pt x="840391" y="33526"/>
                      <a:pt x="847743" y="51275"/>
                      <a:pt x="847743" y="69783"/>
                    </a:cubicBezTo>
                    <a:lnTo>
                      <a:pt x="847743" y="113526"/>
                    </a:lnTo>
                    <a:cubicBezTo>
                      <a:pt x="847743" y="132033"/>
                      <a:pt x="840391" y="149783"/>
                      <a:pt x="827304" y="162870"/>
                    </a:cubicBezTo>
                    <a:cubicBezTo>
                      <a:pt x="814218" y="175956"/>
                      <a:pt x="796468" y="183309"/>
                      <a:pt x="777961"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30" name="TextBox 30"/>
              <p:cNvSpPr txBox="1"/>
              <p:nvPr/>
            </p:nvSpPr>
            <p:spPr>
              <a:xfrm>
                <a:off x="0" y="-38100"/>
                <a:ext cx="847743"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Query_Analysis</a:t>
                </a:r>
              </a:p>
            </p:txBody>
          </p:sp>
        </p:grpSp>
      </p:grpSp>
      <p:sp>
        <p:nvSpPr>
          <p:cNvPr id="31" name="RestoredLabel Reject"/>
          <p:cNvSpPr txBox="1"/>
          <p:nvPr/>
        </p:nvSpPr>
        <p:spPr>
          <a:xfrm rot="-1200000">
            <a:off x="11420000" y="5960000"/>
            <a:ext cx="1250000" cy="360000"/>
          </a:xfrm>
          <a:prstGeom prst="rect">
            <a:avLst/>
          </a:prstGeom>
          <a:noFill/>
          <a:ln>
            <a:noFill/>
          </a:ln>
        </p:spPr>
        <p:txBody>
          <a:bodyPr lIns="0" tIns="0" rIns="0" bIns="0" rtlCol="0" anchor="mid" wrap="none">
            <a:spAutoFit/>
          </a:bodyPr>
          <a:lstStyle/>
          <a:p>
            <a:pPr algn="ctr"/>
            <a:r>
              <a:rPr lang="en-US" sz="1850" b="1" i="1">
                <a:solidFill>
                  <a:srgbClr val="0C1D4B"/>
                </a:solidFill>
                <a:latin typeface="Times New Roman"/>
              </a:rPr>
              <a:t>REJECT</a:t>
            </a:r>
            <a:endParaRPr lang="en-US" sz="1850" b="1" i="1">
              <a:solidFill>
                <a:srgbClr val="0C1D4B"/>
              </a:solidFill>
              <a:latin typeface="Times New Roman"/>
            </a:endParaRPr>
          </a:p>
        </p:txBody>
      </p:sp>
      <p:sp>
        <p:nvSpPr>
          <p:cNvPr id="32" name="RestoredLabel Valid"/>
          <p:cNvSpPr txBox="1"/>
          <p:nvPr/>
        </p:nvSpPr>
        <p:spPr>
          <a:xfrm rot="1100000">
            <a:off x="11480000" y="6820000"/>
            <a:ext cx="1100000" cy="360000"/>
          </a:xfrm>
          <a:prstGeom prst="rect">
            <a:avLst/>
          </a:prstGeom>
          <a:noFill/>
          <a:ln>
            <a:noFill/>
          </a:ln>
        </p:spPr>
        <p:txBody>
          <a:bodyPr lIns="0" tIns="0" rIns="0" bIns="0" rtlCol="0" anchor="mid" wrap="none">
            <a:spAutoFit/>
          </a:bodyPr>
          <a:lstStyle/>
          <a:p>
            <a:pPr algn="ctr"/>
            <a:r>
              <a:rPr lang="en-US" sz="1850" b="1" i="1">
                <a:solidFill>
                  <a:srgbClr val="0C1D4B"/>
                </a:solidFill>
                <a:latin typeface="Times New Roman"/>
              </a:rPr>
              <a:t>VALID</a:t>
            </a:r>
            <a:endParaRPr lang="en-US" sz="1850" b="1" i="1">
              <a:solidFill>
                <a:srgbClr val="0C1D4B"/>
              </a:solidFill>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860"/>
                                  <p:tgtEl>
                                    <p:spTgt spid="15"/>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31"/>
                                  </p:tgtEl>
                                  <p:attrNameLst>
                                    <p:attrName>style.visibility</p:attrName>
                                  </p:attrNameLst>
                                </p:cBhvr>
                                <p:to>
                                  <p:strVal val="visible"/>
                                </p:to>
                              </p:set>
                              <p:animEffect transition="in" filter="wipe(left)">
                                <p:cBhvr>
                                  <p:cTn id="18" dur="860"/>
                                  <p:tgtEl>
                                    <p:spTgt spid="31"/>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860"/>
                                  <p:tgtEl>
                                    <p:spTgt spid="32"/>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860"/>
                                  <p:tgtEl>
                                    <p:spTgt spid="14"/>
                                  </p:tgtEl>
                                </p:cBhvr>
                              </p:animEffect>
                            </p:childTnLst>
                          </p:cTn>
                        </p:par>
                      </p:childTnLst>
                    </p:cTn>
                  </p:par>
                </p:childTnLst>
              </p:cTn>
            </p:seq>
          </p:childTnLst>
        </p:cTn>
      </p:par>
    </p:tnLst>
    <p:bldLst>
      <p:bldP spid="10" grpId="0"/>
      <p:bldP spid="12" grpId="0"/>
      <p:bldP spid="13" grpId="0"/>
      <p:bldP spid="15" grpId="0"/>
      <p:bldP spid="31" grpId="0"/>
      <p:bldP spid="32" grpId="0"/>
      <p:bldP spid="14" grpId="0"/>
    </p:bldLst>
  </p:timing>
</p:sld>
</file>

<file path=ppt/slides/slide19.xml><?xml version="1.0" encoding="utf-8"?>
<p:sld xmlns:a="http://schemas.openxmlformats.org/drawingml/2006/main" xmlns:ns3="http://schemas.microsoft.com/office/drawing/2016/SVG/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Query_Analysis</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phân tích câu hỏi, xác định vấn đề pháp lý chính và tạo truy vấn tối ưu cho từng nguồn dữ liệu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“Bạn là chuyên gia phân tích pháp luật Việt Nam. Nhiệm vụ: Phân tích câu hỏi pháp lý của người dùng và tạo ra các truy vấn tìm kiếm TỐI ƯU cho 2 hệ thống khác nhau...”</a:t>
            </a:r>
          </a:p>
        </p:txBody>
      </p:sp>
      <p:grpSp>
        <p:nvGrpSpPr>
          <p:cNvPr id="14" name="Group 14"/>
          <p:cNvGrpSpPr/>
          <p:nvPr/>
        </p:nvGrpSpPr>
        <p:grpSpPr>
          <a:xfrm>
            <a:off x="2543497" y="5269448"/>
            <a:ext cx="14843164" cy="2013203"/>
            <a:chOff x="0" y="0"/>
            <a:chExt cx="19790886" cy="2684271"/>
          </a:xfrm>
        </p:grpSpPr>
        <p:sp>
          <p:nvSpPr>
            <p:cNvPr id="15" name="Freeform 15"/>
            <p:cNvSpPr/>
            <p:nvPr/>
          </p:nvSpPr>
          <p:spPr>
            <a:xfrm>
              <a:off x="5358055" y="1213536"/>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ns3:svgBlip r:embed="rId4"/>
                  </a:ext>
                </a:extLst>
              </a:blip>
              <a:stretch>
                <a:fillRect/>
              </a:stretch>
            </a:blipFill>
          </p:spPr>
          <p:txBody>
            <a:bodyPr/>
            <a:lstStyle/>
            <a:p>
              <a:endParaRPr lang="en-VN"/>
            </a:p>
          </p:txBody>
        </p:sp>
        <p:sp>
          <p:nvSpPr>
            <p:cNvPr id="16" name="Freeform 16"/>
            <p:cNvSpPr/>
            <p:nvPr/>
          </p:nvSpPr>
          <p:spPr>
            <a:xfrm>
              <a:off x="9748647" y="1131359"/>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a:extLst>
                  <a:ext uri="{96DAC541-7B7A-43D3-8B79-37D633B846F1}">
                    <ns3:svgBlip r:embed="rId5"/>
                  </a:ext>
                </a:extLst>
              </a:blip>
              <a:stretch>
                <a:fillRect/>
              </a:stretch>
            </a:blipFill>
          </p:spPr>
          <p:txBody>
            <a:bodyPr/>
            <a:lstStyle/>
            <a:p>
              <a:endParaRPr lang="en-VN"/>
            </a:p>
          </p:txBody>
        </p:sp>
        <p:sp>
          <p:nvSpPr>
            <p:cNvPr id="17" name="TextBox 17"/>
            <p:cNvSpPr txBox="1"/>
            <p:nvPr/>
          </p:nvSpPr>
          <p:spPr>
            <a:xfrm>
              <a:off x="0" y="1339252"/>
              <a:ext cx="2693812" cy="1099026"/>
            </a:xfrm>
            <a:prstGeom prst="rect">
              <a:avLst/>
            </a:prstGeom>
          </p:spPr>
          <p:txBody>
            <a:bodyPr lIns="0" tIns="0" rIns="0" bIns="0" rtlCol="0" anchor="t">
              <a:spAutoFit/>
            </a:bodyPr>
            <a:lstStyle/>
            <a:p>
              <a:pPr algn="l">
                <a:lnSpc>
                  <a:spcPts val="3392"/>
                </a:lnSpc>
                <a:spcBef>
                  <a:spcPct val="0"/>
                </a:spcBef>
              </a:pPr>
              <a:r>
                <a:rPr lang="en-US" sz="2423" b="1">
                  <a:solidFill>
                    <a:srgbClr val="000000"/>
                  </a:solidFill>
                  <a:latin typeface="Roboto Slab Bold"/>
                  <a:ea typeface="Roboto Slab Bold"/>
                  <a:cs typeface="Roboto Slab Bold"/>
                  <a:sym typeface="Roboto Slab Bold"/>
                </a:rPr>
                <a:t>Câu hỏi đã qua kiểm tra</a:t>
              </a:r>
            </a:p>
          </p:txBody>
        </p:sp>
        <p:sp>
          <p:nvSpPr>
            <p:cNvPr id="18" name="AutoShape 18"/>
            <p:cNvSpPr/>
            <p:nvPr/>
          </p:nvSpPr>
          <p:spPr>
            <a:xfrm>
              <a:off x="2693812" y="1907815"/>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6826535" y="1907815"/>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TextBox 20"/>
            <p:cNvSpPr txBox="1"/>
            <p:nvPr/>
          </p:nvSpPr>
          <p:spPr>
            <a:xfrm>
              <a:off x="4131542" y="436387"/>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1" name="TextBox 21"/>
            <p:cNvSpPr txBox="1"/>
            <p:nvPr/>
          </p:nvSpPr>
          <p:spPr>
            <a:xfrm>
              <a:off x="8583846" y="351923"/>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2" name="AutoShape 22"/>
            <p:cNvSpPr/>
            <p:nvPr/>
          </p:nvSpPr>
          <p:spPr>
            <a:xfrm>
              <a:off x="11249147" y="1907815"/>
              <a:ext cx="4399850"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3" name="Group 23"/>
            <p:cNvGrpSpPr/>
            <p:nvPr/>
          </p:nvGrpSpPr>
          <p:grpSpPr>
            <a:xfrm>
              <a:off x="15648997" y="1460012"/>
              <a:ext cx="4141889" cy="895606"/>
              <a:chOff x="0" y="0"/>
              <a:chExt cx="847743" cy="183309"/>
            </a:xfrm>
          </p:grpSpPr>
          <p:sp>
            <p:nvSpPr>
              <p:cNvPr id="24" name="Freeform 24"/>
              <p:cNvSpPr/>
              <p:nvPr/>
            </p:nvSpPr>
            <p:spPr>
              <a:xfrm>
                <a:off x="0" y="0"/>
                <a:ext cx="847743" cy="183309"/>
              </a:xfrm>
              <a:custGeom>
                <a:avLst/>
                <a:gdLst/>
                <a:ahLst/>
                <a:cxnLst/>
                <a:rect l="l" t="t" r="r" b="b"/>
                <a:pathLst>
                  <a:path w="847743" h="183309">
                    <a:moveTo>
                      <a:pt x="69783" y="0"/>
                    </a:moveTo>
                    <a:lnTo>
                      <a:pt x="777961" y="0"/>
                    </a:lnTo>
                    <a:cubicBezTo>
                      <a:pt x="796468" y="0"/>
                      <a:pt x="814218" y="7352"/>
                      <a:pt x="827304" y="20439"/>
                    </a:cubicBezTo>
                    <a:cubicBezTo>
                      <a:pt x="840391" y="33526"/>
                      <a:pt x="847743" y="51275"/>
                      <a:pt x="847743" y="69783"/>
                    </a:cubicBezTo>
                    <a:lnTo>
                      <a:pt x="847743" y="113526"/>
                    </a:lnTo>
                    <a:cubicBezTo>
                      <a:pt x="847743" y="132033"/>
                      <a:pt x="840391" y="149783"/>
                      <a:pt x="827304" y="162870"/>
                    </a:cubicBezTo>
                    <a:cubicBezTo>
                      <a:pt x="814218" y="175956"/>
                      <a:pt x="796468" y="183309"/>
                      <a:pt x="777961"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5" name="TextBox 25"/>
              <p:cNvSpPr txBox="1"/>
              <p:nvPr/>
            </p:nvSpPr>
            <p:spPr>
              <a:xfrm>
                <a:off x="0" y="-38100"/>
                <a:ext cx="847743"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Agent</a:t>
                </a:r>
              </a:p>
            </p:txBody>
          </p:sp>
        </p:grpSp>
        <p:sp>
          <p:nvSpPr>
            <p:cNvPr id="26" name="TextBox 26"/>
            <p:cNvSpPr txBox="1"/>
            <p:nvPr/>
          </p:nvSpPr>
          <p:spPr>
            <a:xfrm>
              <a:off x="12113362" y="-76200"/>
              <a:ext cx="2671420" cy="1884536"/>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Các thuật ngữ pháp lý chính </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Tóm tắt nhu cầu tra cứu</a:t>
              </a:r>
            </a:p>
          </p:txBody>
        </p:sp>
      </p:grpSp>
      <p:sp>
        <p:nvSpPr>
          <p:cNvPr id="27" name="RestoredJsonSample QueryAnalysis"/>
          <p:cNvSpPr txBox="1"/>
          <p:nvPr/>
        </p:nvSpPr>
        <p:spPr>
          <a:xfrm>
            <a:off x="2800000" y="7500000"/>
            <a:ext cx="12300000" cy="2050000"/>
          </a:xfrm>
          <a:prstGeom prst="roundRect">
            <a:avLst/>
          </a:prstGeom>
          <a:solidFill>
            <a:srgbClr val="FFFFFF"/>
          </a:solidFill>
          <a:ln w="19050">
            <a:solidFill>
              <a:srgbClr val="0C1D4B"/>
            </a:solidFill>
          </a:ln>
        </p:spPr>
        <p:txBody>
          <a:bodyPr lIns="170000" tIns="120000" rIns="170000" bIns="90000" rtlCol="0" anchor="t" wrap="square">
            <a:spAutoFit/>
          </a:bodyPr>
          <a:lstStyle/>
          <a:p>
            <a:pPr algn="l"/>
            <a:r>
              <a:rPr lang="vi-VN" sz="1450" b="1">
                <a:solidFill>
                  <a:srgbClr val="0C1D4B"/>
                </a:solidFill>
                <a:latin typeface="Times New Roman"/>
              </a:rPr>
              <a:t>Kết quả JSON mẫu LLMs trả về sau Query Analysis</a:t>
            </a:r>
          </a:p>
          <a:p>
            <a:pPr algn="l"/>
            <a:r>
              <a:rPr lang="vi-VN" sz="980">
                <a:solidFill>
                  <a:srgbClr val="111111"/>
                </a:solidFill>
                <a:latin typeface="Courier New"/>
              </a:rPr>
              <a:t>{</a:t>
            </a:r>
          </a:p>
          <a:p>
            <a:pPr algn="l"/>
            <a:r>
              <a:rPr lang="vi-VN" sz="980">
                <a:solidFill>
                  <a:srgbClr val="111111"/>
                </a:solidFill>
                <a:latin typeface="Courier New"/>
              </a:rPr>
              <a:t>  "legal_topic": "Tội trộm cắp tài sản",</a:t>
            </a:r>
          </a:p>
          <a:p>
            <a:pPr algn="l"/>
            <a:r>
              <a:rPr lang="vi-VN" sz="980">
                <a:solidFill>
                  <a:srgbClr val="111111"/>
                </a:solidFill>
                <a:latin typeface="Courier New"/>
              </a:rPr>
              <a:t>  "legal_domain": "Hình sự",</a:t>
            </a:r>
          </a:p>
          <a:p>
            <a:pPr algn="l"/>
            <a:r>
              <a:rPr lang="vi-VN" sz="980">
                <a:solidFill>
                  <a:srgbClr val="111111"/>
                </a:solidFill>
                <a:latin typeface="Courier New"/>
              </a:rPr>
              <a:t>  "relevant_laws": ["Bộ luật Hình sự 2015"],</a:t>
            </a:r>
          </a:p>
          <a:p>
            <a:pPr algn="l"/>
            <a:r>
              <a:rPr lang="vi-VN" sz="980">
                <a:solidFill>
                  <a:srgbClr val="111111"/>
                </a:solidFill>
                <a:latin typeface="Courier New"/>
              </a:rPr>
              <a:t>  "internal_search_query": "tội trộm cắp tài sản khung hình phạt",</a:t>
            </a:r>
          </a:p>
          <a:p>
            <a:pPr algn="l"/>
            <a:r>
              <a:rPr lang="vi-VN" sz="980">
                <a:solidFill>
                  <a:srgbClr val="111111"/>
                </a:solidFill>
                <a:latin typeface="Courier New"/>
              </a:rPr>
              <a:t>  "web_search_query": "Điều 173 Bộ luật Hình sự 2015 quy định mới nhất",</a:t>
            </a:r>
          </a:p>
          <a:p>
            <a:pPr algn="l"/>
            <a:r>
              <a:rPr lang="vi-VN" sz="980">
                <a:solidFill>
                  <a:srgbClr val="111111"/>
                </a:solidFill>
                <a:latin typeface="Courier New"/>
              </a:rPr>
              <a:t>  "key_legal_terms": ["trộm cắp tài sản", "khung hình phạt"],</a:t>
            </a:r>
          </a:p>
          <a:p>
            <a:pPr algn="l"/>
            <a:r>
              <a:rPr lang="vi-VN" sz="980">
                <a:solidFill>
                  <a:srgbClr val="111111"/>
                </a:solidFill>
                <a:latin typeface="Courier New"/>
              </a:rPr>
              <a:t>  "analysis_summary": "Tạo truy vấn tối ưu cho ChromaDB và web search"</a:t>
            </a:r>
          </a:p>
          <a:p>
            <a:pPr algn="l"/>
            <a:r>
              <a:rPr lang="vi-VN" sz="980">
                <a:solidFill>
                  <a:srgbClr val="111111"/>
                </a:solidFill>
                <a:latin typeface="Courier New"/>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860"/>
                                  <p:tgtEl>
                                    <p:spTgt spid="27"/>
                                  </p:tgtEl>
                                </p:cBhvr>
                              </p:animEffect>
                            </p:childTnLst>
                          </p:cTn>
                        </p:par>
                      </p:childTnLst>
                    </p:cTn>
                  </p:par>
                </p:childTnLst>
              </p:cTn>
            </p:seq>
          </p:childTnLst>
        </p:cTn>
      </p:par>
    </p:tnLst>
    <p:bldLst>
      <p:bldP spid="12" grpId="0"/>
      <p:bldP spid="13" grpId="0"/>
      <p:bldP spid="14" grpId="0"/>
      <p:bldP spid="27" grpId="0"/>
    </p:bldLst>
  </p:timing>
</p:sld>
</file>

<file path=ppt/slides/slide20.xml><?xml version="1.0" encoding="utf-8"?>
<p:sld xmlns:a="http://schemas.openxmlformats.org/drawingml/2006/main" xmlns:ns3="http://schemas.microsoft.com/office/drawing/2016/SVG/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Agent</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là thành phần suy luận trung tâm, quyết định khi nào cần gọi công cụ truy hồi nội bộ hoặc tìm kiếm nguồn cập nhật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“Bạn là một Luật sư Tư vấn Pháp luật Việt Nam cấp cao với hơn nhiều năm kinh nghiệm hành nghề...”</a:t>
            </a:r>
          </a:p>
        </p:txBody>
      </p:sp>
      <p:grpSp>
        <p:nvGrpSpPr>
          <p:cNvPr id="14" name="Group 14"/>
          <p:cNvGrpSpPr/>
          <p:nvPr/>
        </p:nvGrpSpPr>
        <p:grpSpPr>
          <a:xfrm>
            <a:off x="1028700" y="5576253"/>
            <a:ext cx="13692416" cy="3609131"/>
            <a:chOff x="0" y="0"/>
            <a:chExt cx="18256555" cy="4812175"/>
          </a:xfrm>
        </p:grpSpPr>
        <p:sp>
          <p:nvSpPr>
            <p:cNvPr id="15" name="Freeform 15"/>
            <p:cNvSpPr/>
            <p:nvPr/>
          </p:nvSpPr>
          <p:spPr>
            <a:xfrm>
              <a:off x="7377784"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ns3:svgBlip r:embed="rId4"/>
                  </a:ext>
                </a:extLst>
              </a:blip>
              <a:stretch>
                <a:fillRect/>
              </a:stretch>
            </a:blipFill>
          </p:spPr>
          <p:txBody>
            <a:bodyPr/>
            <a:lstStyle/>
            <a:p>
              <a:endParaRPr lang="en-VN"/>
            </a:p>
          </p:txBody>
        </p:sp>
        <p:sp>
          <p:nvSpPr>
            <p:cNvPr id="16" name="Freeform 16"/>
            <p:cNvSpPr/>
            <p:nvPr/>
          </p:nvSpPr>
          <p:spPr>
            <a:xfrm>
              <a:off x="11768375" y="72228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a:extLst>
                  <a:ext uri="{96DAC541-7B7A-43D3-8B79-37D633B846F1}">
                    <ns3:svgBlip r:embed="rId5"/>
                  </a:ext>
                </a:extLst>
              </a:blip>
              <a:stretch>
                <a:fillRect/>
              </a:stretch>
            </a:blipFill>
          </p:spPr>
          <p:txBody>
            <a:bodyPr/>
            <a:lstStyle/>
            <a:p>
              <a:endParaRPr lang="en-VN"/>
            </a:p>
          </p:txBody>
        </p:sp>
        <p:sp>
          <p:nvSpPr>
            <p:cNvPr id="17" name="TextBox 17"/>
            <p:cNvSpPr txBox="1"/>
            <p:nvPr/>
          </p:nvSpPr>
          <p:spPr>
            <a:xfrm>
              <a:off x="0" y="100041"/>
              <a:ext cx="4713540" cy="2813526"/>
            </a:xfrm>
            <a:prstGeom prst="rect">
              <a:avLst/>
            </a:prstGeom>
          </p:spPr>
          <p:txBody>
            <a:bodyPr lIns="0" tIns="0" rIns="0" bIns="0" rtlCol="0" anchor="t">
              <a:spAutoFit/>
            </a:bodyPr>
            <a:lstStyle/>
            <a:p>
              <a:pPr marL="523223" lvl="1" indent="-261612" algn="l">
                <a:lnSpc>
                  <a:spcPts val="3392"/>
                </a:lnSpc>
                <a:buFont typeface="Arial"/>
                <a:buChar char="•"/>
              </a:pPr>
              <a:r>
                <a:rPr lang="en-US" sz="2423" b="1">
                  <a:solidFill>
                    <a:srgbClr val="000000"/>
                  </a:solidFill>
                  <a:latin typeface="Roboto Slab Bold"/>
                  <a:ea typeface="Roboto Slab Bold"/>
                  <a:cs typeface="Roboto Slab Bold"/>
                  <a:sym typeface="Roboto Slab Bold"/>
                </a:rPr>
                <a:t>Kết quả phân tích truy vấn </a:t>
              </a:r>
            </a:p>
            <a:p>
              <a:pPr marL="523223" lvl="1" indent="-261612" algn="l">
                <a:lnSpc>
                  <a:spcPts val="3392"/>
                </a:lnSpc>
                <a:buFont typeface="Arial"/>
                <a:buChar char="•"/>
              </a:pPr>
              <a:r>
                <a:rPr lang="en-US" sz="2423" b="1">
                  <a:solidFill>
                    <a:srgbClr val="000000"/>
                  </a:solidFill>
                  <a:latin typeface="Roboto Slab Bold"/>
                  <a:ea typeface="Roboto Slab Bold"/>
                  <a:cs typeface="Roboto Slab Bold"/>
                  <a:sym typeface="Roboto Slab Bold"/>
                </a:rPr>
                <a:t>Kết quả từ các công cụ nếu đã có</a:t>
              </a:r>
            </a:p>
            <a:p>
              <a:pPr marL="523223" lvl="1" indent="-261612" algn="l">
                <a:lnSpc>
                  <a:spcPts val="3392"/>
                </a:lnSpc>
                <a:buFont typeface="Arial"/>
                <a:buChar char="•"/>
              </a:pPr>
              <a:r>
                <a:rPr lang="en-US" sz="2423" b="1">
                  <a:solidFill>
                    <a:srgbClr val="000000"/>
                  </a:solidFill>
                  <a:latin typeface="Roboto Slab Bold"/>
                  <a:ea typeface="Roboto Slab Bold"/>
                  <a:cs typeface="Roboto Slab Bold"/>
                  <a:sym typeface="Roboto Slab Bold"/>
                </a:rPr>
                <a:t>Lịch sử hội thoại</a:t>
              </a:r>
            </a:p>
          </p:txBody>
        </p:sp>
        <p:sp>
          <p:nvSpPr>
            <p:cNvPr id="18" name="AutoShape 18"/>
            <p:cNvSpPr/>
            <p:nvPr/>
          </p:nvSpPr>
          <p:spPr>
            <a:xfrm>
              <a:off x="4713540"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8846264"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TextBox 20"/>
            <p:cNvSpPr txBox="1"/>
            <p:nvPr/>
          </p:nvSpPr>
          <p:spPr>
            <a:xfrm>
              <a:off x="615127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1" name="TextBox 21"/>
            <p:cNvSpPr txBox="1"/>
            <p:nvPr/>
          </p:nvSpPr>
          <p:spPr>
            <a:xfrm>
              <a:off x="1060357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grpSp>
          <p:nvGrpSpPr>
            <p:cNvPr id="22" name="Group 22"/>
            <p:cNvGrpSpPr/>
            <p:nvPr/>
          </p:nvGrpSpPr>
          <p:grpSpPr>
            <a:xfrm>
              <a:off x="10483827" y="3916569"/>
              <a:ext cx="4069598" cy="895606"/>
              <a:chOff x="0" y="0"/>
              <a:chExt cx="832947" cy="183309"/>
            </a:xfrm>
          </p:grpSpPr>
          <p:sp>
            <p:nvSpPr>
              <p:cNvPr id="23" name="Freeform 23"/>
              <p:cNvSpPr/>
              <p:nvPr/>
            </p:nvSpPr>
            <p:spPr>
              <a:xfrm>
                <a:off x="0" y="0"/>
                <a:ext cx="832947" cy="183309"/>
              </a:xfrm>
              <a:custGeom>
                <a:avLst/>
                <a:gdLst/>
                <a:ahLst/>
                <a:cxnLst/>
                <a:rect l="l" t="t" r="r" b="b"/>
                <a:pathLst>
                  <a:path w="832947" h="183309">
                    <a:moveTo>
                      <a:pt x="71022" y="0"/>
                    </a:moveTo>
                    <a:lnTo>
                      <a:pt x="761925" y="0"/>
                    </a:lnTo>
                    <a:cubicBezTo>
                      <a:pt x="801149" y="0"/>
                      <a:pt x="832947" y="31798"/>
                      <a:pt x="832947" y="71022"/>
                    </a:cubicBezTo>
                    <a:lnTo>
                      <a:pt x="832947" y="112286"/>
                    </a:lnTo>
                    <a:cubicBezTo>
                      <a:pt x="832947" y="151511"/>
                      <a:pt x="801149" y="183309"/>
                      <a:pt x="761925" y="183309"/>
                    </a:cubicBezTo>
                    <a:lnTo>
                      <a:pt x="71022" y="183309"/>
                    </a:lnTo>
                    <a:cubicBezTo>
                      <a:pt x="31798" y="183309"/>
                      <a:pt x="0" y="151511"/>
                      <a:pt x="0" y="112286"/>
                    </a:cubicBezTo>
                    <a:lnTo>
                      <a:pt x="0" y="71022"/>
                    </a:lnTo>
                    <a:cubicBezTo>
                      <a:pt x="0" y="31798"/>
                      <a:pt x="31798" y="0"/>
                      <a:pt x="71022" y="0"/>
                    </a:cubicBezTo>
                    <a:close/>
                  </a:path>
                </a:pathLst>
              </a:custGeom>
              <a:solidFill>
                <a:srgbClr val="0D1D4B"/>
              </a:solidFill>
            </p:spPr>
            <p:txBody>
              <a:bodyPr/>
              <a:lstStyle/>
              <a:p>
                <a:endParaRPr lang="en-VN"/>
              </a:p>
            </p:txBody>
          </p:sp>
          <p:sp>
            <p:nvSpPr>
              <p:cNvPr id="24" name="TextBox 24"/>
              <p:cNvSpPr txBox="1"/>
              <p:nvPr/>
            </p:nvSpPr>
            <p:spPr>
              <a:xfrm>
                <a:off x="0" y="-38100"/>
                <a:ext cx="832947"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Verifier</a:t>
                </a:r>
              </a:p>
            </p:txBody>
          </p:sp>
        </p:grpSp>
        <p:sp>
          <p:nvSpPr>
            <p:cNvPr id="25" name="AutoShape 25"/>
            <p:cNvSpPr/>
            <p:nvPr/>
          </p:nvSpPr>
          <p:spPr>
            <a:xfrm>
              <a:off x="13268876" y="1091782"/>
              <a:ext cx="3298156" cy="0"/>
            </a:xfrm>
            <a:prstGeom prst="line">
              <a:avLst/>
            </a:prstGeom>
            <a:ln w="50800" cap="flat">
              <a:solidFill>
                <a:srgbClr val="0C0C6B"/>
              </a:solidFill>
              <a:prstDash val="solid"/>
              <a:headEnd type="arrow" w="med" len="sm"/>
              <a:tailEnd type="arrow" w="med" len="sm"/>
            </a:ln>
          </p:spPr>
          <p:txBody>
            <a:bodyPr/>
            <a:lstStyle/>
            <a:p>
              <a:endParaRPr lang="en-VN"/>
            </a:p>
          </p:txBody>
        </p:sp>
        <p:sp>
          <p:nvSpPr>
            <p:cNvPr id="26" name="AutoShape 26"/>
            <p:cNvSpPr/>
            <p:nvPr/>
          </p:nvSpPr>
          <p:spPr>
            <a:xfrm>
              <a:off x="12518626" y="2275198"/>
              <a:ext cx="0" cy="1641371"/>
            </a:xfrm>
            <a:prstGeom prst="line">
              <a:avLst/>
            </a:prstGeom>
            <a:ln w="50800" cap="flat">
              <a:solidFill>
                <a:srgbClr val="0C0C6B"/>
              </a:solidFill>
              <a:prstDash val="solid"/>
              <a:headEnd type="none" w="sm" len="sm"/>
              <a:tailEnd type="arrow" w="med" len="sm"/>
            </a:ln>
          </p:spPr>
          <p:txBody>
            <a:bodyPr/>
            <a:lstStyle/>
            <a:p>
              <a:endParaRPr lang="en-VN"/>
            </a:p>
          </p:txBody>
        </p:sp>
        <p:sp>
          <p:nvSpPr>
            <p:cNvPr id="27" name="Freeform 27"/>
            <p:cNvSpPr/>
            <p:nvPr/>
          </p:nvSpPr>
          <p:spPr>
            <a:xfrm>
              <a:off x="16567032" y="256524"/>
              <a:ext cx="1689522" cy="1670515"/>
            </a:xfrm>
            <a:custGeom>
              <a:avLst/>
              <a:gdLst/>
              <a:ahLst/>
              <a:cxnLst/>
              <a:rect l="l" t="t" r="r" b="b"/>
              <a:pathLst>
                <a:path w="1689522" h="1670515">
                  <a:moveTo>
                    <a:pt x="0" y="0"/>
                  </a:moveTo>
                  <a:lnTo>
                    <a:pt x="1689523" y="0"/>
                  </a:lnTo>
                  <a:lnTo>
                    <a:pt x="1689523" y="1670515"/>
                  </a:lnTo>
                  <a:lnTo>
                    <a:pt x="0" y="1670515"/>
                  </a:lnTo>
                  <a:lnTo>
                    <a:pt x="0" y="0"/>
                  </a:lnTo>
                  <a:close/>
                </a:path>
              </a:pathLst>
            </a:custGeom>
            <a:blipFill>
              <a:blip>
                <a:extLst>
                  <a:ext uri="{96DAC541-7B7A-43D3-8B79-37D633B846F1}">
                    <ns3:svgBlip r:embed="rId6"/>
                  </a:ext>
                </a:extLst>
              </a:blip>
              <a:stretch>
                <a:fillRect/>
              </a:stretch>
            </a:blipFill>
          </p:spPr>
          <p:txBody>
            <a:bodyPr/>
            <a:lstStyle/>
            <a:p>
              <a:endParaRPr lang="en-VN"/>
            </a:p>
          </p:txBody>
        </p:sp>
        <p:sp>
          <p:nvSpPr>
            <p:cNvPr id="28" name="TextBox 28"/>
            <p:cNvSpPr txBox="1"/>
            <p:nvPr/>
          </p:nvSpPr>
          <p:spPr>
            <a:xfrm>
              <a:off x="12640903" y="2657045"/>
              <a:ext cx="2671420" cy="436844"/>
            </a:xfrm>
            <a:prstGeom prst="rect">
              <a:avLst/>
            </a:prstGeom>
          </p:spPr>
          <p:txBody>
            <a:bodyPr lIns="0" tIns="0" rIns="0" bIns="0" rtlCol="0" anchor="t">
              <a:spAutoFit/>
            </a:bodyPr>
            <a:lstStyle/>
            <a:p>
              <a:pPr algn="l">
                <a:lnSpc>
                  <a:spcPts val="2880"/>
                </a:lnSpc>
              </a:pPr>
              <a:r>
                <a:rPr lang="en-US" sz="1800" b="1">
                  <a:solidFill>
                    <a:srgbClr val="0C1D4B"/>
                  </a:solidFill>
                  <a:latin typeface="Roboto Slab Bold"/>
                  <a:ea typeface="Roboto Slab Bold"/>
                  <a:cs typeface="Roboto Slab Bold"/>
                  <a:sym typeface="Roboto Slab Bold"/>
                </a:rPr>
                <a:t>Enough evidence</a:t>
              </a:r>
            </a:p>
          </p:txBody>
        </p:sp>
      </p:grpSp>
      <p:sp>
        <p:nvSpPr>
          <p:cNvPr id="29" name="RestoredLabel Call tools"/>
          <p:cNvSpPr txBox="1"/>
          <p:nvPr/>
        </p:nvSpPr>
        <p:spPr>
          <a:xfrm>
            <a:off x="9420000" y="7840000"/>
            <a:ext cx="1600000" cy="380000"/>
          </a:xfrm>
          <a:prstGeom prst="rect">
            <a:avLst/>
          </a:prstGeom>
          <a:noFill/>
          <a:ln>
            <a:noFill/>
          </a:ln>
        </p:spPr>
        <p:txBody>
          <a:bodyPr lIns="0" tIns="0" rIns="0" bIns="0" rtlCol="0" anchor="mid" wrap="none">
            <a:spAutoFit/>
          </a:bodyPr>
          <a:lstStyle/>
          <a:p>
            <a:pPr algn="ctr"/>
            <a:r>
              <a:rPr lang="en-US" sz="1850" b="1" i="1">
                <a:solidFill>
                  <a:srgbClr val="0C1D4B"/>
                </a:solidFill>
                <a:latin typeface="Times New Roman"/>
              </a:rPr>
              <a:t>Call tools</a:t>
            </a:r>
            <a:endParaRPr lang="en-US" sz="1850" b="1" i="1">
              <a:solidFill>
                <a:srgbClr val="0C1D4B"/>
              </a:solidFill>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860"/>
                                  <p:tgtEl>
                                    <p:spTgt spid="29"/>
                                  </p:tgtEl>
                                </p:cBhvr>
                              </p:animEffect>
                            </p:childTnLst>
                          </p:cTn>
                        </p:par>
                      </p:childTnLst>
                    </p:cTn>
                  </p:par>
                </p:childTnLst>
              </p:cTn>
            </p:seq>
          </p:childTnLst>
        </p:cTn>
      </p:par>
    </p:tnLst>
    <p:bldLst>
      <p:bldP spid="12" grpId="0"/>
      <p:bldP spid="13" grpId="0"/>
      <p:bldP spid="14"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Verifier</a:t>
            </a:r>
          </a:p>
        </p:txBody>
      </p:sp>
      <p:sp>
        <p:nvSpPr>
          <p:cNvPr id="13" name="TextBox 13"/>
          <p:cNvSpPr txBox="1"/>
          <p:nvPr/>
        </p:nvSpPr>
        <p:spPr>
          <a:xfrm>
            <a:off x="1028700" y="2496768"/>
            <a:ext cx="16230600" cy="164862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kiểm tra lại câu trả lời cuối cùng trước khi phản hồi cho người dùng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“Kiểm tra câu trả lời pháp luật có bịa đặt không dựa trên dữ liệu đã thu thập được...”</a:t>
            </a:r>
          </a:p>
        </p:txBody>
      </p:sp>
      <p:grpSp>
        <p:nvGrpSpPr>
          <p:cNvPr id="14" name="Group 14"/>
          <p:cNvGrpSpPr/>
          <p:nvPr/>
        </p:nvGrpSpPr>
        <p:grpSpPr>
          <a:xfrm>
            <a:off x="1028700" y="5576253"/>
            <a:ext cx="15894478" cy="1736216"/>
            <a:chOff x="0" y="0"/>
            <a:chExt cx="21192638" cy="2314955"/>
          </a:xfrm>
        </p:grpSpPr>
        <p:sp>
          <p:nvSpPr>
            <p:cNvPr id="15" name="Freeform 15"/>
            <p:cNvSpPr/>
            <p:nvPr/>
          </p:nvSpPr>
          <p:spPr>
            <a:xfrm>
              <a:off x="7377784"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11768375" y="72228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644429"/>
              <a:ext cx="4713540" cy="1670526"/>
            </a:xfrm>
            <a:prstGeom prst="rect">
              <a:avLst/>
            </a:prstGeom>
          </p:spPr>
          <p:txBody>
            <a:bodyPr lIns="0" tIns="0" rIns="0" bIns="0" rtlCol="0" anchor="t">
              <a:spAutoFit/>
            </a:bodyPr>
            <a:lstStyle/>
            <a:p>
              <a:pPr algn="l">
                <a:lnSpc>
                  <a:spcPts val="3392"/>
                </a:lnSpc>
              </a:pPr>
              <a:r>
                <a:rPr lang="en-US" sz="2423" b="1">
                  <a:solidFill>
                    <a:srgbClr val="000000"/>
                  </a:solidFill>
                  <a:latin typeface="Roboto Slab Bold"/>
                  <a:ea typeface="Roboto Slab Bold"/>
                  <a:cs typeface="Roboto Slab Bold"/>
                  <a:sym typeface="Roboto Slab Bold"/>
                </a:rPr>
                <a:t>Câu trả lời của Agent và toàn bộ kết quả công cụ đã sử dụng</a:t>
              </a:r>
            </a:p>
          </p:txBody>
        </p:sp>
        <p:sp>
          <p:nvSpPr>
            <p:cNvPr id="18" name="AutoShape 18"/>
            <p:cNvSpPr/>
            <p:nvPr/>
          </p:nvSpPr>
          <p:spPr>
            <a:xfrm>
              <a:off x="4713540"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8846264"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AutoShape 20"/>
            <p:cNvSpPr/>
            <p:nvPr/>
          </p:nvSpPr>
          <p:spPr>
            <a:xfrm>
              <a:off x="13268876" y="1498742"/>
              <a:ext cx="3781873"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1" name="TextBox 21"/>
            <p:cNvSpPr txBox="1"/>
            <p:nvPr/>
          </p:nvSpPr>
          <p:spPr>
            <a:xfrm>
              <a:off x="615127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2" name="TextBox 22"/>
            <p:cNvSpPr txBox="1"/>
            <p:nvPr/>
          </p:nvSpPr>
          <p:spPr>
            <a:xfrm>
              <a:off x="1060357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grpSp>
          <p:nvGrpSpPr>
            <p:cNvPr id="23" name="Group 23"/>
            <p:cNvGrpSpPr/>
            <p:nvPr/>
          </p:nvGrpSpPr>
          <p:grpSpPr>
            <a:xfrm>
              <a:off x="17050749" y="1061854"/>
              <a:ext cx="4141889" cy="928000"/>
              <a:chOff x="0" y="0"/>
              <a:chExt cx="818151" cy="183309"/>
            </a:xfrm>
          </p:grpSpPr>
          <p:sp>
            <p:nvSpPr>
              <p:cNvPr id="24" name="Freeform 24"/>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5" name="TextBox 25"/>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END</a:t>
                </a:r>
              </a:p>
            </p:txBody>
          </p:sp>
        </p:grpSp>
        <p:sp>
          <p:nvSpPr>
            <p:cNvPr id="26" name="TextBox 26"/>
            <p:cNvSpPr txBox="1"/>
            <p:nvPr/>
          </p:nvSpPr>
          <p:spPr>
            <a:xfrm>
              <a:off x="13733667" y="-16800"/>
              <a:ext cx="2671420" cy="1401972"/>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Tự sửa đổi và cập nhật nội dung sai sót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childTnLst>
                    </p:cTn>
                  </p:par>
                </p:childTnLst>
              </p:cTn>
            </p:seq>
          </p:childTnLst>
        </p:cTn>
      </p:par>
    </p:tnLst>
    <p:bldLst>
      <p:bldP spid="12" grpId="0"/>
      <p:bldP spid="13"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Xây dựng dữ liệu pháp luật</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Dữ liệu pháp luật được chuẩn hóa theo đơn vị điều luật thay vì lưu toàn bộ văn bản thành một khối lớn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Mỗi điều luật gồm các thông tin chính: law_id, article_id, title, text, year, topics, keywords, summary</a:t>
            </a:r>
          </a:p>
        </p:txBody>
      </p:sp>
      <p:grpSp>
        <p:nvGrpSpPr>
          <p:cNvPr id="14" name="Group 14"/>
          <p:cNvGrpSpPr/>
          <p:nvPr/>
        </p:nvGrpSpPr>
        <p:grpSpPr>
          <a:xfrm>
            <a:off x="592355" y="4897919"/>
            <a:ext cx="16769608" cy="4467298"/>
            <a:chOff x="0" y="0"/>
            <a:chExt cx="22359478" cy="5956398"/>
          </a:xfrm>
        </p:grpSpPr>
        <p:grpSp>
          <p:nvGrpSpPr>
            <p:cNvPr id="15" name="Group 15"/>
            <p:cNvGrpSpPr/>
            <p:nvPr/>
          </p:nvGrpSpPr>
          <p:grpSpPr>
            <a:xfrm>
              <a:off x="0" y="2233656"/>
              <a:ext cx="4333698" cy="2530487"/>
              <a:chOff x="0" y="0"/>
              <a:chExt cx="856039" cy="499849"/>
            </a:xfrm>
          </p:grpSpPr>
          <p:sp>
            <p:nvSpPr>
              <p:cNvPr id="16" name="Freeform 16"/>
              <p:cNvSpPr/>
              <p:nvPr/>
            </p:nvSpPr>
            <p:spPr>
              <a:xfrm>
                <a:off x="0" y="0"/>
                <a:ext cx="856039" cy="499849"/>
              </a:xfrm>
              <a:custGeom>
                <a:avLst/>
                <a:gdLst/>
                <a:ahLst/>
                <a:cxnLst/>
                <a:rect l="l" t="t" r="r" b="b"/>
                <a:pathLst>
                  <a:path w="856039" h="499849">
                    <a:moveTo>
                      <a:pt x="66694" y="0"/>
                    </a:moveTo>
                    <a:lnTo>
                      <a:pt x="789345" y="0"/>
                    </a:lnTo>
                    <a:cubicBezTo>
                      <a:pt x="826179" y="0"/>
                      <a:pt x="856039" y="29860"/>
                      <a:pt x="856039" y="66694"/>
                    </a:cubicBezTo>
                    <a:lnTo>
                      <a:pt x="856039" y="433155"/>
                    </a:lnTo>
                    <a:cubicBezTo>
                      <a:pt x="856039" y="469989"/>
                      <a:pt x="826179" y="499849"/>
                      <a:pt x="789345" y="499849"/>
                    </a:cubicBezTo>
                    <a:lnTo>
                      <a:pt x="66694" y="499849"/>
                    </a:lnTo>
                    <a:cubicBezTo>
                      <a:pt x="29860" y="499849"/>
                      <a:pt x="0" y="469989"/>
                      <a:pt x="0" y="433155"/>
                    </a:cubicBezTo>
                    <a:lnTo>
                      <a:pt x="0" y="66694"/>
                    </a:lnTo>
                    <a:cubicBezTo>
                      <a:pt x="0" y="29860"/>
                      <a:pt x="29860" y="0"/>
                      <a:pt x="66694" y="0"/>
                    </a:cubicBezTo>
                    <a:close/>
                  </a:path>
                </a:pathLst>
              </a:custGeom>
              <a:ln w="19050" cap="rnd">
                <a:solidFill>
                  <a:srgbClr val="000000"/>
                </a:solidFill>
                <a:prstDash val="solid"/>
                <a:round/>
              </a:ln>
            </p:spPr>
            <p:txBody>
              <a:bodyPr/>
              <a:lstStyle/>
              <a:p>
                <a:endParaRPr lang="en-VN"/>
              </a:p>
            </p:txBody>
          </p:sp>
          <p:sp>
            <p:nvSpPr>
              <p:cNvPr id="17" name="TextBox 17"/>
              <p:cNvSpPr txBox="1"/>
              <p:nvPr/>
            </p:nvSpPr>
            <p:spPr>
              <a:xfrm>
                <a:off x="0" y="-19050"/>
                <a:ext cx="856039" cy="518899"/>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"content":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a:t>
                </a:r>
              </a:p>
            </p:txBody>
          </p:sp>
        </p:grpSp>
        <p:grpSp>
          <p:nvGrpSpPr>
            <p:cNvPr id="18" name="Group 18"/>
            <p:cNvGrpSpPr/>
            <p:nvPr/>
          </p:nvGrpSpPr>
          <p:grpSpPr>
            <a:xfrm>
              <a:off x="10504313" y="1041400"/>
              <a:ext cx="4596946" cy="4914998"/>
              <a:chOff x="0" y="0"/>
              <a:chExt cx="908039" cy="970864"/>
            </a:xfrm>
          </p:grpSpPr>
          <p:sp>
            <p:nvSpPr>
              <p:cNvPr id="19" name="Freeform 19"/>
              <p:cNvSpPr/>
              <p:nvPr/>
            </p:nvSpPr>
            <p:spPr>
              <a:xfrm>
                <a:off x="0" y="0"/>
                <a:ext cx="908039" cy="970864"/>
              </a:xfrm>
              <a:custGeom>
                <a:avLst/>
                <a:gdLst/>
                <a:ahLst/>
                <a:cxnLst/>
                <a:rect l="l" t="t" r="r" b="b"/>
                <a:pathLst>
                  <a:path w="908039" h="970864">
                    <a:moveTo>
                      <a:pt x="62875" y="0"/>
                    </a:moveTo>
                    <a:lnTo>
                      <a:pt x="845164" y="0"/>
                    </a:lnTo>
                    <a:cubicBezTo>
                      <a:pt x="879889" y="0"/>
                      <a:pt x="908039" y="28150"/>
                      <a:pt x="908039" y="62875"/>
                    </a:cubicBezTo>
                    <a:lnTo>
                      <a:pt x="908039" y="907989"/>
                    </a:lnTo>
                    <a:cubicBezTo>
                      <a:pt x="908039" y="942714"/>
                      <a:pt x="879889" y="970864"/>
                      <a:pt x="845164" y="970864"/>
                    </a:cubicBezTo>
                    <a:lnTo>
                      <a:pt x="62875" y="970864"/>
                    </a:lnTo>
                    <a:cubicBezTo>
                      <a:pt x="28150" y="970864"/>
                      <a:pt x="0" y="942714"/>
                      <a:pt x="0" y="907989"/>
                    </a:cubicBezTo>
                    <a:lnTo>
                      <a:pt x="0" y="62875"/>
                    </a:lnTo>
                    <a:cubicBezTo>
                      <a:pt x="0" y="28150"/>
                      <a:pt x="28150" y="0"/>
                      <a:pt x="62875" y="0"/>
                    </a:cubicBezTo>
                    <a:close/>
                  </a:path>
                </a:pathLst>
              </a:custGeom>
              <a:ln w="19050" cap="rnd">
                <a:solidFill>
                  <a:srgbClr val="000000"/>
                </a:solidFill>
                <a:prstDash val="solid"/>
                <a:round/>
              </a:ln>
            </p:spPr>
            <p:txBody>
              <a:bodyPr/>
              <a:lstStyle/>
              <a:p>
                <a:endParaRPr lang="en-VN"/>
              </a:p>
            </p:txBody>
          </p:sp>
          <p:sp>
            <p:nvSpPr>
              <p:cNvPr id="20" name="TextBox 20"/>
              <p:cNvSpPr txBox="1"/>
              <p:nvPr/>
            </p:nvSpPr>
            <p:spPr>
              <a:xfrm>
                <a:off x="0" y="-19050"/>
                <a:ext cx="908039" cy="989914"/>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"text":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1" name="AutoShape 21"/>
            <p:cNvSpPr/>
            <p:nvPr/>
          </p:nvSpPr>
          <p:spPr>
            <a:xfrm flipV="1">
              <a:off x="4333698" y="3498899"/>
              <a:ext cx="1212404" cy="0"/>
            </a:xfrm>
            <a:prstGeom prst="line">
              <a:avLst/>
            </a:prstGeom>
            <a:ln w="50800" cap="flat">
              <a:solidFill>
                <a:srgbClr val="0C0C6B"/>
              </a:solidFill>
              <a:prstDash val="solid"/>
              <a:headEnd type="none" w="sm" len="sm"/>
              <a:tailEnd type="arrow" w="med" len="sm"/>
            </a:ln>
          </p:spPr>
          <p:txBody>
            <a:bodyPr/>
            <a:lstStyle/>
            <a:p>
              <a:endParaRPr lang="en-VN"/>
            </a:p>
          </p:txBody>
        </p:sp>
        <p:sp>
          <p:nvSpPr>
            <p:cNvPr id="22" name="Freeform 22"/>
            <p:cNvSpPr/>
            <p:nvPr/>
          </p:nvSpPr>
          <p:spPr>
            <a:xfrm>
              <a:off x="5633212" y="3058777"/>
              <a:ext cx="1500501" cy="1552911"/>
            </a:xfrm>
            <a:custGeom>
              <a:avLst/>
              <a:gdLst/>
              <a:ahLst/>
              <a:cxnLst/>
              <a:rect l="l" t="t" r="r" b="b"/>
              <a:pathLst>
                <a:path w="1500501" h="1552911">
                  <a:moveTo>
                    <a:pt x="0" y="0"/>
                  </a:moveTo>
                  <a:lnTo>
                    <a:pt x="1500500" y="0"/>
                  </a:lnTo>
                  <a:lnTo>
                    <a:pt x="1500500" y="1552911"/>
                  </a:lnTo>
                  <a:lnTo>
                    <a:pt x="0" y="15529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23" name="TextBox 23"/>
            <p:cNvSpPr txBox="1"/>
            <p:nvPr/>
          </p:nvSpPr>
          <p:spPr>
            <a:xfrm>
              <a:off x="5546102" y="2328960"/>
              <a:ext cx="1674719"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4" name="AutoShape 24"/>
            <p:cNvSpPr/>
            <p:nvPr/>
          </p:nvSpPr>
          <p:spPr>
            <a:xfrm flipV="1">
              <a:off x="7220822" y="3498899"/>
              <a:ext cx="3283491" cy="0"/>
            </a:xfrm>
            <a:prstGeom prst="line">
              <a:avLst/>
            </a:prstGeom>
            <a:ln w="50800" cap="flat">
              <a:solidFill>
                <a:srgbClr val="0C0C6B"/>
              </a:solidFill>
              <a:prstDash val="solid"/>
              <a:headEnd type="none" w="sm" len="sm"/>
              <a:tailEnd type="arrow" w="med" len="sm"/>
            </a:ln>
          </p:spPr>
          <p:txBody>
            <a:bodyPr/>
            <a:lstStyle/>
            <a:p>
              <a:endParaRPr lang="en-VN"/>
            </a:p>
          </p:txBody>
        </p:sp>
        <p:sp>
          <p:nvSpPr>
            <p:cNvPr id="25" name="TextBox 25"/>
            <p:cNvSpPr txBox="1"/>
            <p:nvPr/>
          </p:nvSpPr>
          <p:spPr>
            <a:xfrm>
              <a:off x="7528093" y="1997097"/>
              <a:ext cx="2671420" cy="1401972"/>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Làm sạch dữ liệu</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Gắn metadata</a:t>
              </a:r>
            </a:p>
          </p:txBody>
        </p:sp>
        <p:grpSp>
          <p:nvGrpSpPr>
            <p:cNvPr id="26" name="Group 26"/>
            <p:cNvGrpSpPr/>
            <p:nvPr/>
          </p:nvGrpSpPr>
          <p:grpSpPr>
            <a:xfrm>
              <a:off x="18217589" y="2272183"/>
              <a:ext cx="4141889" cy="928000"/>
              <a:chOff x="0" y="0"/>
              <a:chExt cx="818151" cy="183309"/>
            </a:xfrm>
          </p:grpSpPr>
          <p:sp>
            <p:nvSpPr>
              <p:cNvPr id="27" name="Freeform 27"/>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8" name="TextBox 28"/>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ChromaDB</a:t>
                </a:r>
              </a:p>
            </p:txBody>
          </p:sp>
        </p:grpSp>
        <p:sp>
          <p:nvSpPr>
            <p:cNvPr id="29" name="AutoShape 29"/>
            <p:cNvSpPr/>
            <p:nvPr/>
          </p:nvSpPr>
          <p:spPr>
            <a:xfrm flipV="1">
              <a:off x="15101259" y="2736183"/>
              <a:ext cx="3116330" cy="762716"/>
            </a:xfrm>
            <a:prstGeom prst="line">
              <a:avLst/>
            </a:prstGeom>
            <a:ln w="50800" cap="flat">
              <a:solidFill>
                <a:srgbClr val="0C0C6B"/>
              </a:solidFill>
              <a:prstDash val="solid"/>
              <a:headEnd type="none" w="sm" len="sm"/>
              <a:tailEnd type="arrow" w="med" len="sm"/>
            </a:ln>
          </p:spPr>
          <p:txBody>
            <a:bodyPr/>
            <a:lstStyle/>
            <a:p>
              <a:endParaRPr lang="en-VN"/>
            </a:p>
          </p:txBody>
        </p:sp>
        <p:sp>
          <p:nvSpPr>
            <p:cNvPr id="30" name="TextBox 30"/>
            <p:cNvSpPr txBox="1"/>
            <p:nvPr/>
          </p:nvSpPr>
          <p:spPr>
            <a:xfrm rot="-860574">
              <a:off x="15314276" y="2127951"/>
              <a:ext cx="2671420" cy="919408"/>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Chunking </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Vector hoá </a:t>
              </a:r>
            </a:p>
          </p:txBody>
        </p:sp>
        <p:sp>
          <p:nvSpPr>
            <p:cNvPr id="31" name="TextBox 31"/>
            <p:cNvSpPr txBox="1"/>
            <p:nvPr/>
          </p:nvSpPr>
          <p:spPr>
            <a:xfrm>
              <a:off x="1320998" y="1636453"/>
              <a:ext cx="1691701" cy="436844"/>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thô</a:t>
              </a:r>
            </a:p>
          </p:txBody>
        </p:sp>
        <p:sp>
          <p:nvSpPr>
            <p:cNvPr id="32" name="TextBox 32"/>
            <p:cNvSpPr txBox="1"/>
            <p:nvPr/>
          </p:nvSpPr>
          <p:spPr>
            <a:xfrm>
              <a:off x="11127942" y="-76200"/>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sau khi làm sạch và gắn metadata</a:t>
              </a:r>
            </a:p>
          </p:txBody>
        </p:sp>
        <p:grpSp>
          <p:nvGrpSpPr>
            <p:cNvPr id="33" name="Group 33"/>
            <p:cNvGrpSpPr/>
            <p:nvPr/>
          </p:nvGrpSpPr>
          <p:grpSpPr>
            <a:xfrm>
              <a:off x="18217589" y="3917271"/>
              <a:ext cx="4141889" cy="928000"/>
              <a:chOff x="0" y="0"/>
              <a:chExt cx="818151" cy="183309"/>
            </a:xfrm>
          </p:grpSpPr>
          <p:sp>
            <p:nvSpPr>
              <p:cNvPr id="34" name="Freeform 34"/>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35" name="TextBox 35"/>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MongoDB</a:t>
                </a:r>
              </a:p>
            </p:txBody>
          </p:sp>
        </p:grpSp>
        <p:sp>
          <p:nvSpPr>
            <p:cNvPr id="36" name="AutoShape 36"/>
            <p:cNvSpPr/>
            <p:nvPr/>
          </p:nvSpPr>
          <p:spPr>
            <a:xfrm>
              <a:off x="15101259" y="3498899"/>
              <a:ext cx="3116330" cy="882372"/>
            </a:xfrm>
            <a:prstGeom prst="line">
              <a:avLst/>
            </a:prstGeom>
            <a:ln w="50800" cap="flat">
              <a:solidFill>
                <a:srgbClr val="0C0C6B"/>
              </a:solidFill>
              <a:prstDash val="solid"/>
              <a:headEnd type="none" w="sm" len="sm"/>
              <a:tailEnd type="arrow" w="med" len="sm"/>
            </a:ln>
          </p:spPr>
          <p:txBody>
            <a:bodyPr/>
            <a:lstStyle/>
            <a:p>
              <a:endParaRPr lang="en-V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childTnLst>
                    </p:cTn>
                  </p:par>
                </p:childTnLst>
              </p:cTn>
            </p:seq>
          </p:childTnLst>
        </p:cTn>
      </p:par>
    </p:tnLst>
    <p:bldLst>
      <p:bldP spid="10" grpId="0"/>
      <p:bldP spid="12" grpId="0"/>
      <p:bldP spid="13" grpId="0"/>
      <p:bldP spid="14" grpId="0"/>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Chunking, Embedding và lưu trữ ChromaDB</a:t>
            </a:r>
          </a:p>
        </p:txBody>
      </p:sp>
      <p:sp>
        <p:nvSpPr>
          <p:cNvPr id="13" name="TextBox 13"/>
          <p:cNvSpPr txBox="1"/>
          <p:nvPr/>
        </p:nvSpPr>
        <p:spPr>
          <a:xfrm>
            <a:off x="1028700" y="2515818"/>
            <a:ext cx="13822752" cy="1906688"/>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Chiến thuật chunking lai: điều luật ngắn được giữ nguyên, điều luật dài mới được chia nhỏ</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Ngưỡng chia được cấu hình tối đa 1000 từ với overlap 150 từ</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Embedding dùng để tìm kiếm tương đồng ngữ nghĩa</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Document và metadata được trả về làm context pháp lý cho Agent</a:t>
            </a:r>
          </a:p>
        </p:txBody>
      </p:sp>
      <p:grpSp>
        <p:nvGrpSpPr>
          <p:cNvPr id="14" name="Group 14"/>
          <p:cNvGrpSpPr/>
          <p:nvPr/>
        </p:nvGrpSpPr>
        <p:grpSpPr>
          <a:xfrm>
            <a:off x="-912143" y="9429369"/>
            <a:ext cx="1940843" cy="970417"/>
            <a:chOff x="0" y="0"/>
            <a:chExt cx="2587790" cy="1293889"/>
          </a:xfrm>
        </p:grpSpPr>
        <p:sp>
          <p:nvSpPr>
            <p:cNvPr id="15" name="Freeform 1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16" name="Group 16"/>
          <p:cNvGrpSpPr/>
          <p:nvPr/>
        </p:nvGrpSpPr>
        <p:grpSpPr>
          <a:xfrm>
            <a:off x="1290150" y="4606260"/>
            <a:ext cx="15707699" cy="5196422"/>
            <a:chOff x="0" y="0"/>
            <a:chExt cx="20943599" cy="6928562"/>
          </a:xfrm>
        </p:grpSpPr>
        <p:grpSp>
          <p:nvGrpSpPr>
            <p:cNvPr id="17" name="Group 17"/>
            <p:cNvGrpSpPr/>
            <p:nvPr/>
          </p:nvGrpSpPr>
          <p:grpSpPr>
            <a:xfrm>
              <a:off x="0" y="1463004"/>
              <a:ext cx="4596946" cy="4914998"/>
              <a:chOff x="0" y="0"/>
              <a:chExt cx="908039" cy="970864"/>
            </a:xfrm>
          </p:grpSpPr>
          <p:sp>
            <p:nvSpPr>
              <p:cNvPr id="18" name="Freeform 18"/>
              <p:cNvSpPr/>
              <p:nvPr/>
            </p:nvSpPr>
            <p:spPr>
              <a:xfrm>
                <a:off x="0" y="0"/>
                <a:ext cx="908039" cy="970864"/>
              </a:xfrm>
              <a:custGeom>
                <a:avLst/>
                <a:gdLst/>
                <a:ahLst/>
                <a:cxnLst/>
                <a:rect l="l" t="t" r="r" b="b"/>
                <a:pathLst>
                  <a:path w="908039" h="970864">
                    <a:moveTo>
                      <a:pt x="62875" y="0"/>
                    </a:moveTo>
                    <a:lnTo>
                      <a:pt x="845164" y="0"/>
                    </a:lnTo>
                    <a:cubicBezTo>
                      <a:pt x="879889" y="0"/>
                      <a:pt x="908039" y="28150"/>
                      <a:pt x="908039" y="62875"/>
                    </a:cubicBezTo>
                    <a:lnTo>
                      <a:pt x="908039" y="907989"/>
                    </a:lnTo>
                    <a:cubicBezTo>
                      <a:pt x="908039" y="942714"/>
                      <a:pt x="879889" y="970864"/>
                      <a:pt x="845164" y="970864"/>
                    </a:cubicBezTo>
                    <a:lnTo>
                      <a:pt x="62875" y="970864"/>
                    </a:lnTo>
                    <a:cubicBezTo>
                      <a:pt x="28150" y="970864"/>
                      <a:pt x="0" y="942714"/>
                      <a:pt x="0" y="907989"/>
                    </a:cubicBezTo>
                    <a:lnTo>
                      <a:pt x="0" y="62875"/>
                    </a:lnTo>
                    <a:cubicBezTo>
                      <a:pt x="0" y="28150"/>
                      <a:pt x="28150" y="0"/>
                      <a:pt x="62875" y="0"/>
                    </a:cubicBezTo>
                    <a:close/>
                  </a:path>
                </a:pathLst>
              </a:custGeom>
              <a:ln w="19050" cap="rnd">
                <a:solidFill>
                  <a:srgbClr val="000000"/>
                </a:solidFill>
                <a:prstDash val="solid"/>
                <a:round/>
              </a:ln>
            </p:spPr>
            <p:txBody>
              <a:bodyPr/>
              <a:lstStyle/>
              <a:p>
                <a:endParaRPr lang="en-VN"/>
              </a:p>
            </p:txBody>
          </p:sp>
          <p:sp>
            <p:nvSpPr>
              <p:cNvPr id="19" name="TextBox 19"/>
              <p:cNvSpPr txBox="1"/>
              <p:nvPr/>
            </p:nvSpPr>
            <p:spPr>
              <a:xfrm>
                <a:off x="0" y="-19050"/>
                <a:ext cx="908039" cy="989914"/>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"text":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0" name="TextBox 20"/>
            <p:cNvSpPr txBox="1"/>
            <p:nvPr/>
          </p:nvSpPr>
          <p:spPr>
            <a:xfrm>
              <a:off x="623629" y="345404"/>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sau khi làm sạch và gắn metadata</a:t>
              </a:r>
            </a:p>
          </p:txBody>
        </p:sp>
        <p:sp>
          <p:nvSpPr>
            <p:cNvPr id="21" name="AutoShape 21"/>
            <p:cNvSpPr/>
            <p:nvPr/>
          </p:nvSpPr>
          <p:spPr>
            <a:xfrm>
              <a:off x="4596946" y="3920503"/>
              <a:ext cx="3024838"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2" name="Group 22"/>
            <p:cNvGrpSpPr/>
            <p:nvPr/>
          </p:nvGrpSpPr>
          <p:grpSpPr>
            <a:xfrm>
              <a:off x="7621784" y="2874129"/>
              <a:ext cx="3056661" cy="2092748"/>
              <a:chOff x="0" y="0"/>
              <a:chExt cx="603785" cy="413382"/>
            </a:xfrm>
          </p:grpSpPr>
          <p:sp>
            <p:nvSpPr>
              <p:cNvPr id="23" name="Freeform 23"/>
              <p:cNvSpPr/>
              <p:nvPr/>
            </p:nvSpPr>
            <p:spPr>
              <a:xfrm>
                <a:off x="0" y="0"/>
                <a:ext cx="603785" cy="413382"/>
              </a:xfrm>
              <a:custGeom>
                <a:avLst/>
                <a:gdLst/>
                <a:ahLst/>
                <a:cxnLst/>
                <a:rect l="l" t="t" r="r" b="b"/>
                <a:pathLst>
                  <a:path w="603785" h="413382">
                    <a:moveTo>
                      <a:pt x="94558" y="0"/>
                    </a:moveTo>
                    <a:lnTo>
                      <a:pt x="509227" y="0"/>
                    </a:lnTo>
                    <a:cubicBezTo>
                      <a:pt x="561450" y="0"/>
                      <a:pt x="603785" y="42335"/>
                      <a:pt x="603785" y="94558"/>
                    </a:cubicBezTo>
                    <a:lnTo>
                      <a:pt x="603785" y="318824"/>
                    </a:lnTo>
                    <a:cubicBezTo>
                      <a:pt x="603785" y="371047"/>
                      <a:pt x="561450" y="413382"/>
                      <a:pt x="509227" y="413382"/>
                    </a:cubicBezTo>
                    <a:lnTo>
                      <a:pt x="94558" y="413382"/>
                    </a:lnTo>
                    <a:cubicBezTo>
                      <a:pt x="42335" y="413382"/>
                      <a:pt x="0" y="371047"/>
                      <a:pt x="0" y="318824"/>
                    </a:cubicBezTo>
                    <a:lnTo>
                      <a:pt x="0" y="94558"/>
                    </a:lnTo>
                    <a:cubicBezTo>
                      <a:pt x="0" y="42335"/>
                      <a:pt x="42335" y="0"/>
                      <a:pt x="94558" y="0"/>
                    </a:cubicBezTo>
                    <a:close/>
                  </a:path>
                </a:pathLst>
              </a:custGeom>
              <a:solidFill>
                <a:srgbClr val="0D1D4B"/>
              </a:solidFill>
            </p:spPr>
            <p:txBody>
              <a:bodyPr/>
              <a:lstStyle/>
              <a:p>
                <a:endParaRPr lang="en-VN"/>
              </a:p>
            </p:txBody>
          </p:sp>
          <p:sp>
            <p:nvSpPr>
              <p:cNvPr id="24" name="TextBox 24"/>
              <p:cNvSpPr txBox="1"/>
              <p:nvPr/>
            </p:nvSpPr>
            <p:spPr>
              <a:xfrm>
                <a:off x="0" y="-38100"/>
                <a:ext cx="603785" cy="451482"/>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Chunk 0</a:t>
                </a:r>
              </a:p>
              <a:p>
                <a:pPr algn="ctr">
                  <a:lnSpc>
                    <a:spcPts val="2940"/>
                  </a:lnSpc>
                </a:pPr>
                <a:r>
                  <a:rPr lang="en-US" sz="2100" b="1" spc="50">
                    <a:solidFill>
                      <a:srgbClr val="FFFFFF"/>
                    </a:solidFill>
                    <a:latin typeface="Roboto Slab Bold"/>
                    <a:ea typeface="Roboto Slab Bold"/>
                    <a:cs typeface="Roboto Slab Bold"/>
                    <a:sym typeface="Roboto Slab Bold"/>
                  </a:rPr>
                  <a:t>Chung 1</a:t>
                </a:r>
              </a:p>
              <a:p>
                <a:pPr algn="ctr">
                  <a:lnSpc>
                    <a:spcPts val="2940"/>
                  </a:lnSpc>
                </a:pPr>
                <a:r>
                  <a:rPr lang="en-US" sz="2100" b="1" spc="50">
                    <a:solidFill>
                      <a:srgbClr val="FFFFFF"/>
                    </a:solidFill>
                    <a:latin typeface="Roboto Slab Bold"/>
                    <a:ea typeface="Roboto Slab Bold"/>
                    <a:cs typeface="Roboto Slab Bold"/>
                    <a:sym typeface="Roboto Slab Bold"/>
                  </a:rPr>
                  <a:t>...</a:t>
                </a:r>
              </a:p>
            </p:txBody>
          </p:sp>
        </p:grpSp>
        <p:sp>
          <p:nvSpPr>
            <p:cNvPr id="25" name="AutoShape 25"/>
            <p:cNvSpPr/>
            <p:nvPr/>
          </p:nvSpPr>
          <p:spPr>
            <a:xfrm flipV="1">
              <a:off x="10678445" y="3920503"/>
              <a:ext cx="4266456"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6" name="Group 26"/>
            <p:cNvGrpSpPr/>
            <p:nvPr/>
          </p:nvGrpSpPr>
          <p:grpSpPr>
            <a:xfrm>
              <a:off x="14944901" y="912443"/>
              <a:ext cx="5998698" cy="6016119"/>
              <a:chOff x="0" y="0"/>
              <a:chExt cx="1184928" cy="1188369"/>
            </a:xfrm>
          </p:grpSpPr>
          <p:sp>
            <p:nvSpPr>
              <p:cNvPr id="27" name="Freeform 27"/>
              <p:cNvSpPr/>
              <p:nvPr/>
            </p:nvSpPr>
            <p:spPr>
              <a:xfrm>
                <a:off x="0" y="0"/>
                <a:ext cx="1184928" cy="1188369"/>
              </a:xfrm>
              <a:custGeom>
                <a:avLst/>
                <a:gdLst/>
                <a:ahLst/>
                <a:cxnLst/>
                <a:rect l="l" t="t" r="r" b="b"/>
                <a:pathLst>
                  <a:path w="1184928" h="1188369">
                    <a:moveTo>
                      <a:pt x="48182" y="0"/>
                    </a:moveTo>
                    <a:lnTo>
                      <a:pt x="1136746" y="0"/>
                    </a:lnTo>
                    <a:cubicBezTo>
                      <a:pt x="1149524" y="0"/>
                      <a:pt x="1161780" y="5076"/>
                      <a:pt x="1170816" y="14112"/>
                    </a:cubicBezTo>
                    <a:cubicBezTo>
                      <a:pt x="1179852" y="23148"/>
                      <a:pt x="1184928" y="35404"/>
                      <a:pt x="1184928" y="48182"/>
                    </a:cubicBezTo>
                    <a:lnTo>
                      <a:pt x="1184928" y="1140187"/>
                    </a:lnTo>
                    <a:cubicBezTo>
                      <a:pt x="1184928" y="1152966"/>
                      <a:pt x="1179852" y="1165221"/>
                      <a:pt x="1170816" y="1174257"/>
                    </a:cubicBezTo>
                    <a:cubicBezTo>
                      <a:pt x="1161780" y="1183293"/>
                      <a:pt x="1149524" y="1188369"/>
                      <a:pt x="1136746" y="1188369"/>
                    </a:cubicBezTo>
                    <a:lnTo>
                      <a:pt x="48182" y="1188369"/>
                    </a:lnTo>
                    <a:cubicBezTo>
                      <a:pt x="35404" y="1188369"/>
                      <a:pt x="23148" y="1183293"/>
                      <a:pt x="14112" y="1174257"/>
                    </a:cubicBezTo>
                    <a:cubicBezTo>
                      <a:pt x="5076" y="1165221"/>
                      <a:pt x="0" y="1152966"/>
                      <a:pt x="0" y="1140187"/>
                    </a:cubicBezTo>
                    <a:lnTo>
                      <a:pt x="0" y="48182"/>
                    </a:lnTo>
                    <a:cubicBezTo>
                      <a:pt x="0" y="35404"/>
                      <a:pt x="5076" y="23148"/>
                      <a:pt x="14112" y="14112"/>
                    </a:cubicBezTo>
                    <a:cubicBezTo>
                      <a:pt x="23148" y="5076"/>
                      <a:pt x="35404" y="0"/>
                      <a:pt x="48182" y="0"/>
                    </a:cubicBezTo>
                    <a:close/>
                  </a:path>
                </a:pathLst>
              </a:custGeom>
              <a:ln w="19050" cap="rnd">
                <a:solidFill>
                  <a:srgbClr val="000000"/>
                </a:solidFill>
                <a:prstDash val="solid"/>
                <a:round/>
              </a:ln>
            </p:spPr>
            <p:txBody>
              <a:bodyPr/>
              <a:lstStyle/>
              <a:p>
                <a:endParaRPr lang="en-VN"/>
              </a:p>
            </p:txBody>
          </p:sp>
          <p:sp>
            <p:nvSpPr>
              <p:cNvPr id="28" name="TextBox 28"/>
              <p:cNvSpPr txBox="1"/>
              <p:nvPr/>
            </p:nvSpPr>
            <p:spPr>
              <a:xfrm>
                <a:off x="0" y="-19050"/>
                <a:ext cx="1184928" cy="1207419"/>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"id": "100/2015/QH13_173_chunk0",</a:t>
                </a:r>
              </a:p>
              <a:p>
                <a:pPr algn="l">
                  <a:lnSpc>
                    <a:spcPts val="1679"/>
                  </a:lnSpc>
                </a:pPr>
                <a:endParaRPr lang="en-US" sz="1200" spc="28">
                  <a:solidFill>
                    <a:srgbClr val="0C1D4B"/>
                  </a:solidFill>
                  <a:latin typeface="IBM Plex Mono"/>
                  <a:ea typeface="IBM Plex Mono"/>
                  <a:cs typeface="IBM Plex Mono"/>
                  <a:sym typeface="IBM Plex Mono"/>
                </a:endParaRPr>
              </a:p>
              <a:p>
                <a:pPr algn="l">
                  <a:lnSpc>
                    <a:spcPts val="1679"/>
                  </a:lnSpc>
                </a:pPr>
                <a:r>
                  <a:rPr lang="en-US" sz="1200" spc="28">
                    <a:solidFill>
                      <a:srgbClr val="0C1D4B"/>
                    </a:solidFill>
                    <a:latin typeface="IBM Plex Mono"/>
                    <a:ea typeface="IBM Plex Mono"/>
                    <a:cs typeface="IBM Plex Mono"/>
                    <a:sym typeface="IBM Plex Mono"/>
                  </a:rPr>
                  <a:t>  "document": "Điều 173. Tội trộm cắp tài sản\n\nNgười nào trộm cắp tài sản...",</a:t>
                </a:r>
              </a:p>
              <a:p>
                <a:pPr algn="l">
                  <a:lnSpc>
                    <a:spcPts val="1679"/>
                  </a:lnSpc>
                </a:pPr>
                <a:r>
                  <a:rPr lang="en-US" sz="1200" spc="28">
                    <a:solidFill>
                      <a:srgbClr val="0C1D4B"/>
                    </a:solidFill>
                    <a:latin typeface="IBM Plex Mono"/>
                    <a:ea typeface="IBM Plex Mono"/>
                    <a:cs typeface="IBM Plex Mono"/>
                    <a:sym typeface="IBM Plex Mono"/>
                  </a:rPr>
                  <a:t>  "embedding": [0.12, -0.04, 0.31, "..."],</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"chunk_index": 0,</a:t>
                </a:r>
              </a:p>
              <a:p>
                <a:pPr algn="l">
                  <a:lnSpc>
                    <a:spcPts val="1679"/>
                  </a:lnSpc>
                </a:pPr>
                <a:r>
                  <a:rPr lang="en-US" sz="1200" spc="28">
                    <a:solidFill>
                      <a:srgbClr val="0C1D4B"/>
                    </a:solidFill>
                    <a:latin typeface="IBM Plex Mono"/>
                    <a:ea typeface="IBM Plex Mono"/>
                    <a:cs typeface="IBM Plex Mono"/>
                    <a:sym typeface="IBM Plex Mono"/>
                  </a:rPr>
                  <a:t>    "total_chunks": 1,</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9" name="TextBox 29"/>
            <p:cNvSpPr txBox="1"/>
            <p:nvPr/>
          </p:nvSpPr>
          <p:spPr>
            <a:xfrm>
              <a:off x="16269407" y="-76200"/>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lưu trữ trong ChromaDB</a:t>
              </a:r>
            </a:p>
          </p:txBody>
        </p:sp>
      </p:grpSp>
      <p:sp>
        <p:nvSpPr>
          <p:cNvPr id="30" name="RestoredLabel Chunking"/>
          <p:cNvSpPr txBox="1"/>
          <p:nvPr/>
        </p:nvSpPr>
        <p:spPr>
          <a:xfrm>
            <a:off x="5550000" y="7420000"/>
            <a:ext cx="1500000" cy="360000"/>
          </a:xfrm>
          <a:prstGeom prst="rect">
            <a:avLst/>
          </a:prstGeom>
          <a:noFill/>
          <a:ln>
            <a:noFill/>
          </a:ln>
        </p:spPr>
        <p:txBody>
          <a:bodyPr lIns="0" tIns="0" rIns="0" bIns="0" rtlCol="0" anchor="mid" wrap="none">
            <a:spAutoFit/>
          </a:bodyPr>
          <a:lstStyle/>
          <a:p>
            <a:pPr algn="ctr"/>
            <a:r>
              <a:rPr lang="vi-VN" sz="1800" b="1">
                <a:solidFill>
                  <a:srgbClr val="0C1D4B"/>
                </a:solidFill>
                <a:latin typeface="Times New Roman"/>
              </a:rPr>
              <a:t>Chunking</a:t>
            </a:r>
            <a:endParaRPr lang="vi-VN" sz="1800" b="1">
              <a:solidFill>
                <a:srgbClr val="0C1D4B"/>
              </a:solidFill>
              <a:latin typeface="Times New Roman"/>
            </a:endParaRPr>
          </a:p>
        </p:txBody>
      </p:sp>
      <p:sp>
        <p:nvSpPr>
          <p:cNvPr id="31" name="RestoredLabel Vector hoa"/>
          <p:cNvSpPr txBox="1"/>
          <p:nvPr/>
        </p:nvSpPr>
        <p:spPr>
          <a:xfrm>
            <a:off x="10630000" y="7210000"/>
            <a:ext cx="3300000" cy="700000"/>
          </a:xfrm>
          <a:prstGeom prst="rect">
            <a:avLst/>
          </a:prstGeom>
          <a:noFill/>
          <a:ln>
            <a:noFill/>
          </a:ln>
        </p:spPr>
        <p:txBody>
          <a:bodyPr lIns="0" tIns="0" rIns="0" bIns="0" rtlCol="0" anchor="mid" wrap="none">
            <a:spAutoFit/>
          </a:bodyPr>
          <a:lstStyle/>
          <a:p>
            <a:pPr algn="ctr"/>
            <a:r>
              <a:rPr lang="vi-VN" sz="1650" b="1">
                <a:solidFill>
                  <a:srgbClr val="0C1D4B"/>
                </a:solidFill>
                <a:latin typeface="Times New Roman"/>
              </a:rPr>
              <a:t>Vector hóa</a:t>
            </a:r>
            <a:br/>
            <a:r>
              <a:rPr lang="vi-VN" sz="1650" b="1">
                <a:solidFill>
                  <a:srgbClr val="0C1D4B"/>
                </a:solidFill>
                <a:latin typeface="Times New Roman"/>
              </a:rPr>
              <a:t>(vietnamese-bi-encoder)</a:t>
            </a:r>
            <a:endParaRPr lang="vi-VN" sz="1650" b="1">
              <a:solidFill>
                <a:srgbClr val="0C1D4B"/>
              </a:solidFill>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860"/>
                                  <p:tgtEl>
                                    <p:spTgt spid="16"/>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860"/>
                                  <p:tgtEl>
                                    <p:spTgt spid="31"/>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30"/>
                                  </p:tgtEl>
                                  <p:attrNameLst>
                                    <p:attrName>style.visibility</p:attrName>
                                  </p:attrNameLst>
                                </p:cBhvr>
                                <p:to>
                                  <p:strVal val="visible"/>
                                </p:to>
                              </p:set>
                              <p:animEffect transition="in" filter="wipe(left)">
                                <p:cBhvr>
                                  <p:cTn id="18" dur="860"/>
                                  <p:tgtEl>
                                    <p:spTgt spid="30"/>
                                  </p:tgtEl>
                                </p:cBhvr>
                              </p:animEffect>
                            </p:childTnLst>
                          </p:cTn>
                        </p:par>
                      </p:childTnLst>
                    </p:cTn>
                  </p:par>
                </p:childTnLst>
              </p:cTn>
            </p:seq>
          </p:childTnLst>
        </p:cTn>
      </p:par>
    </p:tnLst>
    <p:bldLst>
      <p:bldP spid="12" grpId="0"/>
      <p:bldP spid="13" grpId="0"/>
      <p:bldP spid="16" grpId="0"/>
      <p:bldP spid="31" grpId="0"/>
      <p:bldP spid="3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Retrieve, Rerank và đóng gói Context</a:t>
            </a:r>
          </a:p>
        </p:txBody>
      </p:sp>
      <p:sp>
        <p:nvSpPr>
          <p:cNvPr id="13" name="TextBox 13"/>
          <p:cNvSpPr txBox="1"/>
          <p:nvPr/>
        </p:nvSpPr>
        <p:spPr>
          <a:xfrm>
            <a:off x="1028700" y="2515818"/>
            <a:ext cx="9493147" cy="3849572"/>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Sử dụng internal_search_query được tạo từ node Query_Analysis tối ưu cho truy hồi nội bộ</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Hệ thống encode truy vấn thành vector và tìm kiếm trong ChromaDB bằng độ tương đồng vector</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Cross-encoder rerank lại các candidate chunks bằng cách chấm điểm trực tiếp từng cặp query - chunk</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Kết quả sau đó được kiểm tra xung đột luật cũ - luật mới</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Cuối cùng được đóng gói thành context pháp lý cho Agent</a:t>
            </a:r>
          </a:p>
        </p:txBody>
      </p:sp>
      <p:grpSp>
        <p:nvGrpSpPr>
          <p:cNvPr id="14" name="Group 14"/>
          <p:cNvGrpSpPr/>
          <p:nvPr/>
        </p:nvGrpSpPr>
        <p:grpSpPr>
          <a:xfrm>
            <a:off x="11281427" y="1981987"/>
            <a:ext cx="5456191" cy="6905305"/>
            <a:chOff x="0" y="0"/>
            <a:chExt cx="7274921" cy="9207073"/>
          </a:xfrm>
        </p:grpSpPr>
        <p:grpSp>
          <p:nvGrpSpPr>
            <p:cNvPr id="15" name="Group 15"/>
            <p:cNvGrpSpPr/>
            <p:nvPr/>
          </p:nvGrpSpPr>
          <p:grpSpPr>
            <a:xfrm>
              <a:off x="0" y="0"/>
              <a:ext cx="5251376" cy="1548488"/>
              <a:chOff x="0" y="0"/>
              <a:chExt cx="1037309" cy="305874"/>
            </a:xfrm>
          </p:grpSpPr>
          <p:sp>
            <p:nvSpPr>
              <p:cNvPr id="16" name="Freeform 16"/>
              <p:cNvSpPr/>
              <p:nvPr/>
            </p:nvSpPr>
            <p:spPr>
              <a:xfrm>
                <a:off x="0" y="0"/>
                <a:ext cx="1037309" cy="305874"/>
              </a:xfrm>
              <a:custGeom>
                <a:avLst/>
                <a:gdLst/>
                <a:ahLst/>
                <a:cxnLst/>
                <a:rect l="l" t="t" r="r" b="b"/>
                <a:pathLst>
                  <a:path w="1037309" h="305874">
                    <a:moveTo>
                      <a:pt x="55039" y="0"/>
                    </a:moveTo>
                    <a:lnTo>
                      <a:pt x="982270" y="0"/>
                    </a:lnTo>
                    <a:cubicBezTo>
                      <a:pt x="996867" y="0"/>
                      <a:pt x="1010866" y="5799"/>
                      <a:pt x="1021188" y="16121"/>
                    </a:cubicBezTo>
                    <a:cubicBezTo>
                      <a:pt x="1031510" y="26442"/>
                      <a:pt x="1037309" y="40442"/>
                      <a:pt x="1037309" y="55039"/>
                    </a:cubicBezTo>
                    <a:lnTo>
                      <a:pt x="1037309" y="250835"/>
                    </a:lnTo>
                    <a:cubicBezTo>
                      <a:pt x="1037309" y="281232"/>
                      <a:pt x="1012667" y="305874"/>
                      <a:pt x="982270" y="305874"/>
                    </a:cubicBezTo>
                    <a:lnTo>
                      <a:pt x="55039" y="305874"/>
                    </a:lnTo>
                    <a:cubicBezTo>
                      <a:pt x="24642" y="305874"/>
                      <a:pt x="0" y="281232"/>
                      <a:pt x="0" y="250835"/>
                    </a:cubicBezTo>
                    <a:lnTo>
                      <a:pt x="0" y="55039"/>
                    </a:lnTo>
                    <a:cubicBezTo>
                      <a:pt x="0" y="24642"/>
                      <a:pt x="24642" y="0"/>
                      <a:pt x="55039" y="0"/>
                    </a:cubicBezTo>
                    <a:close/>
                  </a:path>
                </a:pathLst>
              </a:custGeom>
              <a:ln w="19050" cap="rnd">
                <a:solidFill>
                  <a:srgbClr val="000000"/>
                </a:solidFill>
                <a:prstDash val="solid"/>
                <a:round/>
              </a:ln>
            </p:spPr>
            <p:txBody>
              <a:bodyPr/>
              <a:lstStyle/>
              <a:p>
                <a:endParaRPr lang="en-VN"/>
              </a:p>
            </p:txBody>
          </p:sp>
          <p:sp>
            <p:nvSpPr>
              <p:cNvPr id="17" name="TextBox 17"/>
              <p:cNvSpPr txBox="1"/>
              <p:nvPr/>
            </p:nvSpPr>
            <p:spPr>
              <a:xfrm>
                <a:off x="0" y="-38100"/>
                <a:ext cx="1037309" cy="343974"/>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internal_search_query</a:t>
                </a:r>
              </a:p>
              <a:p>
                <a:pPr algn="ctr">
                  <a:lnSpc>
                    <a:spcPts val="2380"/>
                  </a:lnSpc>
                </a:pPr>
                <a:r>
                  <a:rPr lang="en-US" sz="1700" b="1" spc="40">
                    <a:solidFill>
                      <a:srgbClr val="0C1D4B"/>
                    </a:solidFill>
                    <a:latin typeface="Roboto Slab Bold"/>
                    <a:ea typeface="Roboto Slab Bold"/>
                    <a:cs typeface="Roboto Slab Bold"/>
                    <a:sym typeface="Roboto Slab Bold"/>
                  </a:rPr>
                  <a:t>(“tội trộm cắp tài sản khung hình phạt”)</a:t>
                </a:r>
              </a:p>
            </p:txBody>
          </p:sp>
        </p:grpSp>
        <p:sp>
          <p:nvSpPr>
            <p:cNvPr id="18" name="AutoShape 18"/>
            <p:cNvSpPr/>
            <p:nvPr/>
          </p:nvSpPr>
          <p:spPr>
            <a:xfrm flipH="1">
              <a:off x="2625688" y="1548488"/>
              <a:ext cx="0" cy="1797321"/>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19" name="Group 19"/>
            <p:cNvGrpSpPr/>
            <p:nvPr/>
          </p:nvGrpSpPr>
          <p:grpSpPr>
            <a:xfrm>
              <a:off x="833587" y="5451162"/>
              <a:ext cx="3584202" cy="1704987"/>
              <a:chOff x="0" y="0"/>
              <a:chExt cx="707991" cy="336788"/>
            </a:xfrm>
          </p:grpSpPr>
          <p:sp>
            <p:nvSpPr>
              <p:cNvPr id="20" name="Freeform 20"/>
              <p:cNvSpPr/>
              <p:nvPr/>
            </p:nvSpPr>
            <p:spPr>
              <a:xfrm>
                <a:off x="0" y="0"/>
                <a:ext cx="707991" cy="336788"/>
              </a:xfrm>
              <a:custGeom>
                <a:avLst/>
                <a:gdLst/>
                <a:ahLst/>
                <a:cxnLst/>
                <a:rect l="l" t="t" r="r" b="b"/>
                <a:pathLst>
                  <a:path w="707991" h="336788">
                    <a:moveTo>
                      <a:pt x="80640" y="0"/>
                    </a:moveTo>
                    <a:lnTo>
                      <a:pt x="627350" y="0"/>
                    </a:lnTo>
                    <a:cubicBezTo>
                      <a:pt x="671887" y="0"/>
                      <a:pt x="707991" y="36104"/>
                      <a:pt x="707991" y="80640"/>
                    </a:cubicBezTo>
                    <a:lnTo>
                      <a:pt x="707991" y="256147"/>
                    </a:lnTo>
                    <a:cubicBezTo>
                      <a:pt x="707991" y="300684"/>
                      <a:pt x="671887" y="336788"/>
                      <a:pt x="627350" y="336788"/>
                    </a:cubicBezTo>
                    <a:lnTo>
                      <a:pt x="80640" y="336788"/>
                    </a:lnTo>
                    <a:cubicBezTo>
                      <a:pt x="36104" y="336788"/>
                      <a:pt x="0" y="300684"/>
                      <a:pt x="0" y="256147"/>
                    </a:cubicBezTo>
                    <a:lnTo>
                      <a:pt x="0" y="80640"/>
                    </a:lnTo>
                    <a:cubicBezTo>
                      <a:pt x="0" y="36104"/>
                      <a:pt x="36104" y="0"/>
                      <a:pt x="80640" y="0"/>
                    </a:cubicBezTo>
                    <a:close/>
                  </a:path>
                </a:pathLst>
              </a:custGeom>
              <a:ln w="19050" cap="rnd">
                <a:solidFill>
                  <a:srgbClr val="000000"/>
                </a:solidFill>
                <a:prstDash val="solid"/>
                <a:round/>
              </a:ln>
            </p:spPr>
            <p:txBody>
              <a:bodyPr/>
              <a:lstStyle/>
              <a:p>
                <a:endParaRPr lang="en-VN"/>
              </a:p>
            </p:txBody>
          </p:sp>
          <p:sp>
            <p:nvSpPr>
              <p:cNvPr id="21" name="TextBox 21"/>
              <p:cNvSpPr txBox="1"/>
              <p:nvPr/>
            </p:nvSpPr>
            <p:spPr>
              <a:xfrm>
                <a:off x="0" y="-38100"/>
                <a:ext cx="707991" cy="374888"/>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Top 10 Documents</a:t>
                </a:r>
              </a:p>
            </p:txBody>
          </p:sp>
        </p:grpSp>
        <p:sp>
          <p:nvSpPr>
            <p:cNvPr id="22" name="AutoShape 22"/>
            <p:cNvSpPr/>
            <p:nvPr/>
          </p:nvSpPr>
          <p:spPr>
            <a:xfrm>
              <a:off x="2625688" y="4607918"/>
              <a:ext cx="0" cy="843244"/>
            </a:xfrm>
            <a:prstGeom prst="line">
              <a:avLst/>
            </a:prstGeom>
            <a:ln w="50800" cap="flat">
              <a:solidFill>
                <a:srgbClr val="0C0C6B"/>
              </a:solidFill>
              <a:prstDash val="solid"/>
              <a:headEnd type="none" w="sm" len="sm"/>
              <a:tailEnd type="arrow" w="med" len="sm"/>
            </a:ln>
          </p:spPr>
          <p:txBody>
            <a:bodyPr/>
            <a:lstStyle/>
            <a:p>
              <a:endParaRPr lang="en-VN"/>
            </a:p>
          </p:txBody>
        </p:sp>
        <p:sp>
          <p:nvSpPr>
            <p:cNvPr id="23" name="TextBox 23"/>
            <p:cNvSpPr txBox="1"/>
            <p:nvPr/>
          </p:nvSpPr>
          <p:spPr>
            <a:xfrm>
              <a:off x="2625688" y="1721574"/>
              <a:ext cx="4649233" cy="1401972"/>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Encode query (vietnamese-bi-encoder)</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Vector search</a:t>
              </a:r>
            </a:p>
          </p:txBody>
        </p:sp>
        <p:sp>
          <p:nvSpPr>
            <p:cNvPr id="24" name="TextBox 24"/>
            <p:cNvSpPr txBox="1"/>
            <p:nvPr/>
          </p:nvSpPr>
          <p:spPr>
            <a:xfrm>
              <a:off x="2742945" y="4760318"/>
              <a:ext cx="3349687" cy="436844"/>
            </a:xfrm>
            <a:prstGeom prst="rect">
              <a:avLst/>
            </a:prstGeom>
          </p:spPr>
          <p:txBody>
            <a:bodyPr lIns="0" tIns="0" rIns="0" bIns="0" rtlCol="0" anchor="t">
              <a:spAutoFit/>
            </a:bodyPr>
            <a:lstStyle/>
            <a:p>
              <a:pPr algn="l">
                <a:lnSpc>
                  <a:spcPts val="2880"/>
                </a:lnSpc>
              </a:pPr>
              <a:r>
                <a:rPr lang="en-US" sz="1800">
                  <a:solidFill>
                    <a:srgbClr val="0C1D4B"/>
                  </a:solidFill>
                  <a:latin typeface="Roboto Slab"/>
                  <a:ea typeface="Roboto Slab"/>
                  <a:cs typeface="Roboto Slab"/>
                  <a:sym typeface="Roboto Slab"/>
                </a:rPr>
                <a:t>Cross-Encoder Rerank</a:t>
              </a:r>
            </a:p>
          </p:txBody>
        </p:sp>
        <p:sp>
          <p:nvSpPr>
            <p:cNvPr id="25" name="AutoShape 25"/>
            <p:cNvSpPr/>
            <p:nvPr/>
          </p:nvSpPr>
          <p:spPr>
            <a:xfrm>
              <a:off x="2625688" y="7156150"/>
              <a:ext cx="0" cy="1342137"/>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6" name="Group 26"/>
            <p:cNvGrpSpPr/>
            <p:nvPr/>
          </p:nvGrpSpPr>
          <p:grpSpPr>
            <a:xfrm>
              <a:off x="685803" y="3345810"/>
              <a:ext cx="3879769" cy="1262109"/>
              <a:chOff x="0" y="0"/>
              <a:chExt cx="766374" cy="249305"/>
            </a:xfrm>
          </p:grpSpPr>
          <p:sp>
            <p:nvSpPr>
              <p:cNvPr id="27" name="Freeform 27"/>
              <p:cNvSpPr/>
              <p:nvPr/>
            </p:nvSpPr>
            <p:spPr>
              <a:xfrm>
                <a:off x="0" y="0"/>
                <a:ext cx="766374" cy="249305"/>
              </a:xfrm>
              <a:custGeom>
                <a:avLst/>
                <a:gdLst/>
                <a:ahLst/>
                <a:cxnLst/>
                <a:rect l="l" t="t" r="r" b="b"/>
                <a:pathLst>
                  <a:path w="766374" h="249305">
                    <a:moveTo>
                      <a:pt x="74497" y="0"/>
                    </a:moveTo>
                    <a:lnTo>
                      <a:pt x="691877" y="0"/>
                    </a:lnTo>
                    <a:cubicBezTo>
                      <a:pt x="711635" y="0"/>
                      <a:pt x="730583" y="7849"/>
                      <a:pt x="744554" y="21820"/>
                    </a:cubicBezTo>
                    <a:cubicBezTo>
                      <a:pt x="758525" y="35791"/>
                      <a:pt x="766374" y="54739"/>
                      <a:pt x="766374" y="74497"/>
                    </a:cubicBezTo>
                    <a:lnTo>
                      <a:pt x="766374" y="174808"/>
                    </a:lnTo>
                    <a:cubicBezTo>
                      <a:pt x="766374" y="194566"/>
                      <a:pt x="758525" y="213515"/>
                      <a:pt x="744554" y="227486"/>
                    </a:cubicBezTo>
                    <a:cubicBezTo>
                      <a:pt x="730583" y="241457"/>
                      <a:pt x="711635" y="249305"/>
                      <a:pt x="691877" y="249305"/>
                    </a:cubicBezTo>
                    <a:lnTo>
                      <a:pt x="74497" y="249305"/>
                    </a:lnTo>
                    <a:cubicBezTo>
                      <a:pt x="54739" y="249305"/>
                      <a:pt x="35791" y="241457"/>
                      <a:pt x="21820" y="227486"/>
                    </a:cubicBezTo>
                    <a:cubicBezTo>
                      <a:pt x="7849" y="213515"/>
                      <a:pt x="0" y="194566"/>
                      <a:pt x="0" y="174808"/>
                    </a:cubicBezTo>
                    <a:lnTo>
                      <a:pt x="0" y="74497"/>
                    </a:lnTo>
                    <a:cubicBezTo>
                      <a:pt x="0" y="54739"/>
                      <a:pt x="7849" y="35791"/>
                      <a:pt x="21820" y="21820"/>
                    </a:cubicBezTo>
                    <a:cubicBezTo>
                      <a:pt x="35791" y="7849"/>
                      <a:pt x="54739" y="0"/>
                      <a:pt x="74497" y="0"/>
                    </a:cubicBezTo>
                    <a:close/>
                  </a:path>
                </a:pathLst>
              </a:custGeom>
              <a:ln w="19050" cap="rnd">
                <a:solidFill>
                  <a:srgbClr val="000000"/>
                </a:solidFill>
                <a:prstDash val="solid"/>
                <a:round/>
              </a:ln>
            </p:spPr>
            <p:txBody>
              <a:bodyPr/>
              <a:lstStyle/>
              <a:p>
                <a:endParaRPr lang="en-VN"/>
              </a:p>
            </p:txBody>
          </p:sp>
          <p:sp>
            <p:nvSpPr>
              <p:cNvPr id="28" name="TextBox 28"/>
              <p:cNvSpPr txBox="1"/>
              <p:nvPr/>
            </p:nvSpPr>
            <p:spPr>
              <a:xfrm>
                <a:off x="0" y="-38100"/>
                <a:ext cx="766374" cy="287405"/>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Candidate chunks</a:t>
                </a:r>
              </a:p>
              <a:p>
                <a:pPr algn="ctr">
                  <a:lnSpc>
                    <a:spcPts val="2940"/>
                  </a:lnSpc>
                </a:pPr>
                <a:r>
                  <a:rPr lang="en-US" sz="2100" b="1" spc="50">
                    <a:solidFill>
                      <a:srgbClr val="0C1D4B"/>
                    </a:solidFill>
                    <a:latin typeface="Roboto Slab Bold"/>
                    <a:ea typeface="Roboto Slab Bold"/>
                    <a:cs typeface="Roboto Slab Bold"/>
                    <a:sym typeface="Roboto Slab Bold"/>
                  </a:rPr>
                  <a:t>top 60</a:t>
                </a:r>
              </a:p>
            </p:txBody>
          </p:sp>
        </p:grpSp>
        <p:grpSp>
          <p:nvGrpSpPr>
            <p:cNvPr id="29" name="Group 29"/>
            <p:cNvGrpSpPr/>
            <p:nvPr/>
          </p:nvGrpSpPr>
          <p:grpSpPr>
            <a:xfrm>
              <a:off x="1003316" y="8498287"/>
              <a:ext cx="3244744" cy="708786"/>
              <a:chOff x="0" y="0"/>
              <a:chExt cx="640937" cy="140007"/>
            </a:xfrm>
          </p:grpSpPr>
          <p:sp>
            <p:nvSpPr>
              <p:cNvPr id="30" name="Freeform 30"/>
              <p:cNvSpPr/>
              <p:nvPr/>
            </p:nvSpPr>
            <p:spPr>
              <a:xfrm>
                <a:off x="0" y="0"/>
                <a:ext cx="640937" cy="140007"/>
              </a:xfrm>
              <a:custGeom>
                <a:avLst/>
                <a:gdLst/>
                <a:ahLst/>
                <a:cxnLst/>
                <a:rect l="l" t="t" r="r" b="b"/>
                <a:pathLst>
                  <a:path w="640937" h="140007">
                    <a:moveTo>
                      <a:pt x="70004" y="0"/>
                    </a:moveTo>
                    <a:lnTo>
                      <a:pt x="570933" y="0"/>
                    </a:lnTo>
                    <a:cubicBezTo>
                      <a:pt x="609595" y="0"/>
                      <a:pt x="640937" y="31342"/>
                      <a:pt x="640937" y="70004"/>
                    </a:cubicBezTo>
                    <a:lnTo>
                      <a:pt x="640937" y="70004"/>
                    </a:lnTo>
                    <a:cubicBezTo>
                      <a:pt x="640937" y="88570"/>
                      <a:pt x="633562" y="106375"/>
                      <a:pt x="620433" y="119504"/>
                    </a:cubicBezTo>
                    <a:cubicBezTo>
                      <a:pt x="607305" y="132632"/>
                      <a:pt x="589500" y="140007"/>
                      <a:pt x="570933" y="140007"/>
                    </a:cubicBezTo>
                    <a:lnTo>
                      <a:pt x="70004" y="140007"/>
                    </a:lnTo>
                    <a:cubicBezTo>
                      <a:pt x="51437" y="140007"/>
                      <a:pt x="33632" y="132632"/>
                      <a:pt x="20504" y="119504"/>
                    </a:cubicBezTo>
                    <a:cubicBezTo>
                      <a:pt x="7375" y="106375"/>
                      <a:pt x="0" y="88570"/>
                      <a:pt x="0" y="70004"/>
                    </a:cubicBezTo>
                    <a:lnTo>
                      <a:pt x="0" y="70004"/>
                    </a:lnTo>
                    <a:cubicBezTo>
                      <a:pt x="0" y="51437"/>
                      <a:pt x="7375" y="33632"/>
                      <a:pt x="20504" y="20504"/>
                    </a:cubicBezTo>
                    <a:cubicBezTo>
                      <a:pt x="33632" y="7375"/>
                      <a:pt x="51437" y="0"/>
                      <a:pt x="70004" y="0"/>
                    </a:cubicBezTo>
                    <a:close/>
                  </a:path>
                </a:pathLst>
              </a:custGeom>
              <a:solidFill>
                <a:srgbClr val="0C1D4B"/>
              </a:solidFill>
              <a:ln cap="rnd">
                <a:noFill/>
                <a:prstDash val="solid"/>
                <a:round/>
              </a:ln>
            </p:spPr>
            <p:txBody>
              <a:bodyPr/>
              <a:lstStyle/>
              <a:p>
                <a:endParaRPr lang="en-VN"/>
              </a:p>
            </p:txBody>
          </p:sp>
          <p:sp>
            <p:nvSpPr>
              <p:cNvPr id="31" name="TextBox 31"/>
              <p:cNvSpPr txBox="1"/>
              <p:nvPr/>
            </p:nvSpPr>
            <p:spPr>
              <a:xfrm>
                <a:off x="0" y="-38100"/>
                <a:ext cx="640937" cy="178107"/>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Agent</a:t>
                </a:r>
              </a:p>
            </p:txBody>
          </p:sp>
        </p:grpSp>
        <p:sp>
          <p:nvSpPr>
            <p:cNvPr id="32" name="TextBox 32"/>
            <p:cNvSpPr txBox="1"/>
            <p:nvPr/>
          </p:nvSpPr>
          <p:spPr>
            <a:xfrm>
              <a:off x="2742945" y="7553443"/>
              <a:ext cx="3349687" cy="436844"/>
            </a:xfrm>
            <a:prstGeom prst="rect">
              <a:avLst/>
            </a:prstGeom>
          </p:spPr>
          <p:txBody>
            <a:bodyPr lIns="0" tIns="0" rIns="0" bIns="0" rtlCol="0" anchor="t">
              <a:spAutoFit/>
            </a:bodyPr>
            <a:lstStyle/>
            <a:p>
              <a:pPr algn="l">
                <a:lnSpc>
                  <a:spcPts val="2880"/>
                </a:lnSpc>
              </a:pPr>
              <a:r>
                <a:rPr lang="en-US" sz="1800">
                  <a:solidFill>
                    <a:srgbClr val="0C1D4B"/>
                  </a:solidFill>
                  <a:latin typeface="Roboto Slab"/>
                  <a:ea typeface="Roboto Slab"/>
                  <a:cs typeface="Roboto Slab"/>
                  <a:sym typeface="Roboto Slab"/>
                </a:rPr>
                <a:t>Formatted Context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childTnLst>
                    </p:cTn>
                  </p:par>
                </p:childTnLst>
              </p:cTn>
            </p:seq>
          </p:childTnLst>
        </p:cTn>
      </p:par>
    </p:tnLst>
    <p:bldLst>
      <p:bldP spid="12" grpId="0"/>
      <p:bldP spid="13" grpId="0"/>
      <p:bldP spid="14" grpId="0"/>
    </p:bldLst>
  </p:timing>
</p:sld>
</file>

<file path=ppt/slides/slide25.xml><?xml version="1.0" encoding="utf-8"?>
<p:sld xmlns:a="http://schemas.openxmlformats.org/drawingml/2006/main" xmlns:ns3="http://schemas.microsoft.com/office/drawing/2016/SVG/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3.6. Cập nhật văn bản pháp luật từ Web Admin</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3328355" y="5380893"/>
            <a:ext cx="11631289" cy="2648006"/>
            <a:chOff x="0" y="0"/>
            <a:chExt cx="15508386" cy="3530675"/>
          </a:xfrm>
        </p:grpSpPr>
        <p:sp>
          <p:nvSpPr>
            <p:cNvPr id="13" name="AutoShape 13"/>
            <p:cNvSpPr/>
            <p:nvPr/>
          </p:nvSpPr>
          <p:spPr>
            <a:xfrm flipV="1">
              <a:off x="1671066" y="1984926"/>
              <a:ext cx="2046613" cy="171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14" name="AutoShape 14"/>
            <p:cNvSpPr/>
            <p:nvPr/>
          </p:nvSpPr>
          <p:spPr>
            <a:xfrm>
              <a:off x="5834374" y="1984926"/>
              <a:ext cx="3052901" cy="171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15" name="Freeform 15"/>
            <p:cNvSpPr/>
            <p:nvPr/>
          </p:nvSpPr>
          <p:spPr>
            <a:xfrm>
              <a:off x="510147" y="1286725"/>
              <a:ext cx="1139290" cy="1430615"/>
            </a:xfrm>
            <a:custGeom>
              <a:avLst/>
              <a:gdLst/>
              <a:ahLst/>
              <a:cxnLst/>
              <a:rect l="l" t="t" r="r" b="b"/>
              <a:pathLst>
                <a:path w="1139290" h="1430615">
                  <a:moveTo>
                    <a:pt x="0" y="0"/>
                  </a:moveTo>
                  <a:lnTo>
                    <a:pt x="1139290" y="0"/>
                  </a:lnTo>
                  <a:lnTo>
                    <a:pt x="1139290" y="1430615"/>
                  </a:lnTo>
                  <a:lnTo>
                    <a:pt x="0" y="1430615"/>
                  </a:lnTo>
                  <a:lnTo>
                    <a:pt x="0" y="0"/>
                  </a:lnTo>
                  <a:close/>
                </a:path>
              </a:pathLst>
            </a:custGeom>
            <a:blipFill>
              <a:blip>
                <a:extLst>
                  <a:ext uri="{96DAC541-7B7A-43D3-8B79-37D633B846F1}">
                    <ns3:svgBlip r:embed="rId4"/>
                  </a:ext>
                </a:extLst>
              </a:blip>
              <a:stretch>
                <a:fillRect/>
              </a:stretch>
            </a:blipFill>
          </p:spPr>
          <p:txBody>
            <a:bodyPr/>
            <a:lstStyle/>
            <a:p>
              <a:endParaRPr lang="en-VN"/>
            </a:p>
          </p:txBody>
        </p:sp>
        <p:sp>
          <p:nvSpPr>
            <p:cNvPr id="16" name="Freeform 16"/>
            <p:cNvSpPr/>
            <p:nvPr/>
          </p:nvSpPr>
          <p:spPr>
            <a:xfrm>
              <a:off x="3717679" y="926578"/>
              <a:ext cx="2116695" cy="2116695"/>
            </a:xfrm>
            <a:custGeom>
              <a:avLst/>
              <a:gdLst/>
              <a:ahLst/>
              <a:cxnLst/>
              <a:rect l="l" t="t" r="r" b="b"/>
              <a:pathLst>
                <a:path w="2116695" h="2116695">
                  <a:moveTo>
                    <a:pt x="0" y="0"/>
                  </a:moveTo>
                  <a:lnTo>
                    <a:pt x="2116695" y="0"/>
                  </a:lnTo>
                  <a:lnTo>
                    <a:pt x="2116695" y="2116695"/>
                  </a:lnTo>
                  <a:lnTo>
                    <a:pt x="0" y="2116695"/>
                  </a:lnTo>
                  <a:lnTo>
                    <a:pt x="0" y="0"/>
                  </a:lnTo>
                  <a:close/>
                </a:path>
              </a:pathLst>
            </a:custGeom>
            <a:blipFill>
              <a:blip>
                <a:extLst>
                  <a:ext uri="{96DAC541-7B7A-43D3-8B79-37D633B846F1}">
                    <ns3:svgBlip r:embed="rId5"/>
                  </a:ext>
                </a:extLst>
              </a:blip>
              <a:stretch>
                <a:fillRect/>
              </a:stretch>
            </a:blipFill>
          </p:spPr>
          <p:txBody>
            <a:bodyPr/>
            <a:lstStyle/>
            <a:p>
              <a:endParaRPr lang="en-VN"/>
            </a:p>
          </p:txBody>
        </p:sp>
        <p:sp>
          <p:nvSpPr>
            <p:cNvPr id="17" name="TextBox 17"/>
            <p:cNvSpPr txBox="1"/>
            <p:nvPr/>
          </p:nvSpPr>
          <p:spPr>
            <a:xfrm>
              <a:off x="0" y="2819576"/>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Văn bản pháp luật mới</a:t>
              </a:r>
            </a:p>
          </p:txBody>
        </p:sp>
        <p:sp>
          <p:nvSpPr>
            <p:cNvPr id="18" name="TextBox 18"/>
            <p:cNvSpPr txBox="1"/>
            <p:nvPr/>
          </p:nvSpPr>
          <p:spPr>
            <a:xfrm>
              <a:off x="9136323" y="2819576"/>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19" name="TextBox 19"/>
            <p:cNvSpPr txBox="1"/>
            <p:nvPr/>
          </p:nvSpPr>
          <p:spPr>
            <a:xfrm>
              <a:off x="8254103" y="128501"/>
              <a:ext cx="2476109" cy="1079471"/>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Cấu trúc, làm sạch và gắn metadata cho dữ liệu</a:t>
              </a:r>
            </a:p>
          </p:txBody>
        </p:sp>
        <p:sp>
          <p:nvSpPr>
            <p:cNvPr id="20" name="Freeform 20"/>
            <p:cNvSpPr/>
            <p:nvPr/>
          </p:nvSpPr>
          <p:spPr>
            <a:xfrm>
              <a:off x="8887275" y="1376018"/>
              <a:ext cx="1209764" cy="1252030"/>
            </a:xfrm>
            <a:custGeom>
              <a:avLst/>
              <a:gdLst/>
              <a:ahLst/>
              <a:cxnLst/>
              <a:rect l="l" t="t" r="r" b="b"/>
              <a:pathLst>
                <a:path w="1209764" h="1252030">
                  <a:moveTo>
                    <a:pt x="0" y="0"/>
                  </a:moveTo>
                  <a:lnTo>
                    <a:pt x="1209764" y="0"/>
                  </a:lnTo>
                  <a:lnTo>
                    <a:pt x="1209764" y="1252029"/>
                  </a:lnTo>
                  <a:lnTo>
                    <a:pt x="0" y="1252029"/>
                  </a:lnTo>
                  <a:lnTo>
                    <a:pt x="0" y="0"/>
                  </a:lnTo>
                  <a:close/>
                </a:path>
              </a:pathLst>
            </a:custGeom>
            <a:blipFill>
              <a:blip>
                <a:extLst>
                  <a:ext uri="{96DAC541-7B7A-43D3-8B79-37D633B846F1}">
                    <ns3:svgBlip r:embed="rId6"/>
                  </a:ext>
                </a:extLst>
              </a:blip>
              <a:stretch>
                <a:fillRect l="-178" r="-178"/>
              </a:stretch>
            </a:blipFill>
          </p:spPr>
          <p:txBody>
            <a:bodyPr/>
            <a:lstStyle/>
            <a:p>
              <a:endParaRPr lang="en-VN"/>
            </a:p>
          </p:txBody>
        </p:sp>
        <p:sp>
          <p:nvSpPr>
            <p:cNvPr id="21" name="TextBox 21"/>
            <p:cNvSpPr txBox="1"/>
            <p:nvPr/>
          </p:nvSpPr>
          <p:spPr>
            <a:xfrm>
              <a:off x="3696234" y="-28575"/>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OCR/Parse file PDF</a:t>
              </a:r>
            </a:p>
          </p:txBody>
        </p:sp>
        <p:sp>
          <p:nvSpPr>
            <p:cNvPr id="22" name="AutoShape 22"/>
            <p:cNvSpPr/>
            <p:nvPr/>
          </p:nvSpPr>
          <p:spPr>
            <a:xfrm>
              <a:off x="10097039" y="2002032"/>
              <a:ext cx="1269458" cy="15316"/>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3" name="Group 23"/>
            <p:cNvGrpSpPr/>
            <p:nvPr/>
          </p:nvGrpSpPr>
          <p:grpSpPr>
            <a:xfrm>
              <a:off x="11366497" y="1406649"/>
              <a:ext cx="4141889" cy="1221398"/>
              <a:chOff x="0" y="0"/>
              <a:chExt cx="818151" cy="241264"/>
            </a:xfrm>
          </p:grpSpPr>
          <p:sp>
            <p:nvSpPr>
              <p:cNvPr id="24" name="Freeform 24"/>
              <p:cNvSpPr/>
              <p:nvPr/>
            </p:nvSpPr>
            <p:spPr>
              <a:xfrm>
                <a:off x="0" y="0"/>
                <a:ext cx="818151" cy="241264"/>
              </a:xfrm>
              <a:custGeom>
                <a:avLst/>
                <a:gdLst/>
                <a:ahLst/>
                <a:cxnLst/>
                <a:rect l="l" t="t" r="r" b="b"/>
                <a:pathLst>
                  <a:path w="818151" h="241264">
                    <a:moveTo>
                      <a:pt x="69783" y="0"/>
                    </a:moveTo>
                    <a:lnTo>
                      <a:pt x="748368" y="0"/>
                    </a:lnTo>
                    <a:cubicBezTo>
                      <a:pt x="786908" y="0"/>
                      <a:pt x="818151" y="31243"/>
                      <a:pt x="818151" y="69783"/>
                    </a:cubicBezTo>
                    <a:lnTo>
                      <a:pt x="818151" y="171481"/>
                    </a:lnTo>
                    <a:cubicBezTo>
                      <a:pt x="818151" y="189989"/>
                      <a:pt x="810799" y="207738"/>
                      <a:pt x="797712" y="220825"/>
                    </a:cubicBezTo>
                    <a:cubicBezTo>
                      <a:pt x="784625" y="233912"/>
                      <a:pt x="766876" y="241264"/>
                      <a:pt x="748368" y="241264"/>
                    </a:cubicBezTo>
                    <a:lnTo>
                      <a:pt x="69783" y="241264"/>
                    </a:lnTo>
                    <a:cubicBezTo>
                      <a:pt x="51275" y="241264"/>
                      <a:pt x="33526" y="233912"/>
                      <a:pt x="20439" y="220825"/>
                    </a:cubicBezTo>
                    <a:cubicBezTo>
                      <a:pt x="7352" y="207738"/>
                      <a:pt x="0" y="189989"/>
                      <a:pt x="0" y="171481"/>
                    </a:cubicBezTo>
                    <a:lnTo>
                      <a:pt x="0" y="69783"/>
                    </a:lnTo>
                    <a:cubicBezTo>
                      <a:pt x="0" y="51275"/>
                      <a:pt x="7352" y="33526"/>
                      <a:pt x="20439" y="20439"/>
                    </a:cubicBezTo>
                    <a:cubicBezTo>
                      <a:pt x="33526" y="7352"/>
                      <a:pt x="51275" y="0"/>
                      <a:pt x="69783" y="0"/>
                    </a:cubicBezTo>
                    <a:close/>
                  </a:path>
                </a:pathLst>
              </a:custGeom>
              <a:ln w="28575" cap="rnd">
                <a:solidFill>
                  <a:srgbClr val="000000"/>
                </a:solidFill>
                <a:prstDash val="solid"/>
                <a:round/>
              </a:ln>
            </p:spPr>
            <p:txBody>
              <a:bodyPr/>
              <a:lstStyle/>
              <a:p>
                <a:endParaRPr lang="en-VN"/>
              </a:p>
            </p:txBody>
          </p:sp>
          <p:sp>
            <p:nvSpPr>
              <p:cNvPr id="25" name="TextBox 25"/>
              <p:cNvSpPr txBox="1"/>
              <p:nvPr/>
            </p:nvSpPr>
            <p:spPr>
              <a:xfrm>
                <a:off x="0" y="-38100"/>
                <a:ext cx="818151" cy="279364"/>
              </a:xfrm>
              <a:prstGeom prst="rect">
                <a:avLst/>
              </a:prstGeom>
            </p:spPr>
            <p:txBody>
              <a:bodyPr lIns="50800" tIns="50800" rIns="50800" bIns="50800" rtlCol="0" anchor="ctr"/>
              <a:lstStyle/>
              <a:p>
                <a:pPr algn="ctr">
                  <a:lnSpc>
                    <a:spcPts val="2940"/>
                  </a:lnSpc>
                </a:pPr>
                <a:r>
                  <a:rPr lang="en-US" sz="2100" b="1" spc="50">
                    <a:solidFill>
                      <a:srgbClr val="000000"/>
                    </a:solidFill>
                    <a:latin typeface="Roboto Slab Bold"/>
                    <a:ea typeface="Roboto Slab Bold"/>
                    <a:cs typeface="Roboto Slab Bold"/>
                    <a:sym typeface="Roboto Slab Bold"/>
                  </a:rPr>
                  <a:t>Dữ liệu sau khi được xử lý</a:t>
                </a:r>
              </a:p>
            </p:txBody>
          </p:sp>
        </p:grpSp>
      </p:grpSp>
      <p:sp>
        <p:nvSpPr>
          <p:cNvPr id="26" name="TextBox 26"/>
          <p:cNvSpPr txBox="1"/>
          <p:nvPr/>
        </p:nvSpPr>
        <p:spPr>
          <a:xfrm>
            <a:off x="949843" y="1868118"/>
            <a:ext cx="12056408" cy="1906688"/>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Admin upload file PDF văn bản pháp luật mới</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Hệ thống tạo task xử lý để theo dõi trạng thái cập nhật</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PDF được trích xuất nội dung bằng OCR và chuẩn hóa thành dữ liệu chuẩn sau đó được xử lý đưa vào MongoDB và ChromaDB</a:t>
            </a:r>
          </a:p>
        </p:txBody>
      </p:sp>
      <p:sp>
        <p:nvSpPr>
          <p:cNvPr id="27" name="RestoredLabel Du lieu tho"/>
          <p:cNvSpPr txBox="1"/>
          <p:nvPr/>
        </p:nvSpPr>
        <p:spPr>
          <a:xfrm>
            <a:off x="6500000" y="7200000"/>
            <a:ext cx="1800000" cy="380000"/>
          </a:xfrm>
          <a:prstGeom prst="rect">
            <a:avLst/>
          </a:prstGeom>
          <a:noFill/>
          <a:ln>
            <a:noFill/>
          </a:ln>
        </p:spPr>
        <p:txBody>
          <a:bodyPr lIns="0" tIns="0" rIns="0" bIns="0" rtlCol="0" anchor="mid" wrap="none">
            <a:spAutoFit/>
          </a:bodyPr>
          <a:lstStyle/>
          <a:p>
            <a:pPr algn="ctr"/>
            <a:r>
              <a:rPr lang="vi-VN" sz="1800" b="1">
                <a:solidFill>
                  <a:srgbClr val="0C1D4B"/>
                </a:solidFill>
                <a:latin typeface="Times New Roman"/>
              </a:rPr>
              <a:t>Dữ liệu thô</a:t>
            </a:r>
            <a:endParaRPr lang="vi-VN" sz="1800" b="1">
              <a:solidFill>
                <a:srgbClr val="0C1D4B"/>
              </a:solidFill>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26"/>
                                  </p:tgtEl>
                                  <p:attrNameLst>
                                    <p:attrName>style.visibility</p:attrName>
                                  </p:attrNameLst>
                                </p:cBhvr>
                                <p:to>
                                  <p:strVal val="visible"/>
                                </p:to>
                              </p:set>
                              <p:animEffect transition="in" filter="wipe(left)">
                                <p:cBhvr>
                                  <p:cTn id="9" dur="860"/>
                                  <p:tgtEl>
                                    <p:spTgt spid="26"/>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860"/>
                                  <p:tgtEl>
                                    <p:spTgt spid="27"/>
                                  </p:tgtEl>
                                </p:cBhvr>
                              </p:animEffect>
                            </p:childTnLst>
                          </p:cTn>
                        </p:par>
                      </p:childTnLst>
                    </p:cTn>
                  </p:par>
                </p:childTnLst>
              </p:cTn>
            </p:seq>
          </p:childTnLst>
        </p:cTn>
      </p:par>
    </p:tnLst>
    <p:bldLst>
      <p:bldP spid="10" grpId="0"/>
      <p:bldP spid="26" grpId="0"/>
      <p:bldP spid="12" grpId="0"/>
      <p:bldP spid="27" grpId="0"/>
    </p:bldLst>
  </p:timing>
</p:sld>
</file>

<file path=ppt/slides/slide26.xml><?xml version="1.0" encoding="utf-8"?>
<p:sld xmlns:a="http://schemas.openxmlformats.org/drawingml/2006/main" xmlns:ns3="http://schemas.microsoft.com/office/drawing/2016/SVG/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3.7. Mô hình tổng quan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1687249" y="1629993"/>
            <a:ext cx="13868931" cy="7876659"/>
            <a:chOff x="0" y="0"/>
            <a:chExt cx="18491908" cy="10502211"/>
          </a:xfrm>
        </p:grpSpPr>
        <p:sp>
          <p:nvSpPr>
            <p:cNvPr id="13" name="Freeform 13"/>
            <p:cNvSpPr/>
            <p:nvPr/>
          </p:nvSpPr>
          <p:spPr>
            <a:xfrm>
              <a:off x="499293" y="4470125"/>
              <a:ext cx="1160998" cy="1917564"/>
            </a:xfrm>
            <a:custGeom>
              <a:avLst/>
              <a:gdLst/>
              <a:ahLst/>
              <a:cxnLst/>
              <a:rect l="l" t="t" r="r" b="b"/>
              <a:pathLst>
                <a:path w="1160998" h="1917564">
                  <a:moveTo>
                    <a:pt x="0" y="0"/>
                  </a:moveTo>
                  <a:lnTo>
                    <a:pt x="1160998" y="0"/>
                  </a:lnTo>
                  <a:lnTo>
                    <a:pt x="1160998" y="1917564"/>
                  </a:lnTo>
                  <a:lnTo>
                    <a:pt x="0" y="1917564"/>
                  </a:lnTo>
                  <a:lnTo>
                    <a:pt x="0" y="0"/>
                  </a:lnTo>
                  <a:close/>
                </a:path>
              </a:pathLst>
            </a:custGeom>
            <a:blipFill>
              <a:blip>
                <a:extLst>
                  <a:ext uri="{96DAC541-7B7A-43D3-8B79-37D633B846F1}">
                    <ns3:svgBlip r:embed="rId4"/>
                  </a:ext>
                </a:extLst>
              </a:blip>
              <a:stretch>
                <a:fillRect/>
              </a:stretch>
            </a:blipFill>
          </p:spPr>
          <p:txBody>
            <a:bodyPr/>
            <a:lstStyle/>
            <a:p>
              <a:endParaRPr lang="en-VN"/>
            </a:p>
          </p:txBody>
        </p:sp>
        <p:sp>
          <p:nvSpPr>
            <p:cNvPr id="14" name="TextBox 14"/>
            <p:cNvSpPr txBox="1"/>
            <p:nvPr/>
          </p:nvSpPr>
          <p:spPr>
            <a:xfrm>
              <a:off x="0" y="6613114"/>
              <a:ext cx="2159584"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Mobile App</a:t>
              </a:r>
            </a:p>
          </p:txBody>
        </p:sp>
        <p:sp>
          <p:nvSpPr>
            <p:cNvPr id="15" name="Freeform 15"/>
            <p:cNvSpPr/>
            <p:nvPr/>
          </p:nvSpPr>
          <p:spPr>
            <a:xfrm>
              <a:off x="76285" y="1810686"/>
              <a:ext cx="2007014" cy="1784418"/>
            </a:xfrm>
            <a:custGeom>
              <a:avLst/>
              <a:gdLst/>
              <a:ahLst/>
              <a:cxnLst/>
              <a:rect l="l" t="t" r="r" b="b"/>
              <a:pathLst>
                <a:path w="2007014" h="1784418">
                  <a:moveTo>
                    <a:pt x="0" y="0"/>
                  </a:moveTo>
                  <a:lnTo>
                    <a:pt x="2007014" y="0"/>
                  </a:lnTo>
                  <a:lnTo>
                    <a:pt x="2007014" y="1784418"/>
                  </a:lnTo>
                  <a:lnTo>
                    <a:pt x="0" y="1784418"/>
                  </a:lnTo>
                  <a:lnTo>
                    <a:pt x="0" y="0"/>
                  </a:lnTo>
                  <a:close/>
                </a:path>
              </a:pathLst>
            </a:custGeom>
            <a:blipFill>
              <a:blip>
                <a:extLst>
                  <a:ext uri="{96DAC541-7B7A-43D3-8B79-37D633B846F1}">
                    <ns3:svgBlip r:embed="rId5"/>
                  </a:ext>
                </a:extLst>
              </a:blip>
              <a:stretch>
                <a:fillRect/>
              </a:stretch>
            </a:blipFill>
          </p:spPr>
          <p:txBody>
            <a:bodyPr/>
            <a:lstStyle/>
            <a:p>
              <a:endParaRPr lang="en-VN"/>
            </a:p>
          </p:txBody>
        </p:sp>
        <p:sp>
          <p:nvSpPr>
            <p:cNvPr id="16" name="TextBox 16"/>
            <p:cNvSpPr txBox="1"/>
            <p:nvPr/>
          </p:nvSpPr>
          <p:spPr>
            <a:xfrm>
              <a:off x="0" y="3695598"/>
              <a:ext cx="2159584"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Admin Web</a:t>
              </a:r>
            </a:p>
          </p:txBody>
        </p:sp>
        <p:sp>
          <p:nvSpPr>
            <p:cNvPr id="17" name="Freeform 17"/>
            <p:cNvSpPr/>
            <p:nvPr/>
          </p:nvSpPr>
          <p:spPr>
            <a:xfrm>
              <a:off x="11484344" y="6230470"/>
              <a:ext cx="1822684" cy="2066961"/>
            </a:xfrm>
            <a:custGeom>
              <a:avLst/>
              <a:gdLst/>
              <a:ahLst/>
              <a:cxnLst/>
              <a:rect l="l" t="t" r="r" b="b"/>
              <a:pathLst>
                <a:path w="1822684" h="2066961">
                  <a:moveTo>
                    <a:pt x="0" y="0"/>
                  </a:moveTo>
                  <a:lnTo>
                    <a:pt x="1822684" y="0"/>
                  </a:lnTo>
                  <a:lnTo>
                    <a:pt x="1822684" y="2066962"/>
                  </a:lnTo>
                  <a:lnTo>
                    <a:pt x="0" y="2066962"/>
                  </a:lnTo>
                  <a:lnTo>
                    <a:pt x="0" y="0"/>
                  </a:lnTo>
                  <a:close/>
                </a:path>
              </a:pathLst>
            </a:custGeom>
            <a:blipFill>
              <a:blip>
                <a:extLst>
                  <a:ext uri="{96DAC541-7B7A-43D3-8B79-37D633B846F1}">
                    <ns3:svgBlip r:embed="rId6"/>
                  </a:ext>
                </a:extLst>
              </a:blip>
              <a:stretch>
                <a:fillRect/>
              </a:stretch>
            </a:blipFill>
          </p:spPr>
          <p:txBody>
            <a:bodyPr/>
            <a:lstStyle/>
            <a:p>
              <a:endParaRPr lang="en-VN"/>
            </a:p>
          </p:txBody>
        </p:sp>
        <p:sp>
          <p:nvSpPr>
            <p:cNvPr id="18" name="TextBox 18"/>
            <p:cNvSpPr txBox="1"/>
            <p:nvPr/>
          </p:nvSpPr>
          <p:spPr>
            <a:xfrm>
              <a:off x="11067196" y="8435725"/>
              <a:ext cx="2656980" cy="711133"/>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Chatbot backend</a:t>
              </a:r>
            </a:p>
            <a:p>
              <a:pPr algn="ctr">
                <a:lnSpc>
                  <a:spcPts val="2238"/>
                </a:lnSpc>
              </a:pPr>
              <a:r>
                <a:rPr lang="en-US" sz="1599" b="1">
                  <a:solidFill>
                    <a:srgbClr val="000000"/>
                  </a:solidFill>
                  <a:latin typeface="Roboto Slab Bold"/>
                  <a:ea typeface="Roboto Slab Bold"/>
                  <a:cs typeface="Roboto Slab Bold"/>
                  <a:sym typeface="Roboto Slab Bold"/>
                </a:rPr>
                <a:t>(RAG Service)</a:t>
              </a:r>
            </a:p>
          </p:txBody>
        </p:sp>
        <p:sp>
          <p:nvSpPr>
            <p:cNvPr id="19" name="Freeform 19"/>
            <p:cNvSpPr/>
            <p:nvPr/>
          </p:nvSpPr>
          <p:spPr>
            <a:xfrm>
              <a:off x="6374013" y="3057170"/>
              <a:ext cx="1822684" cy="2066961"/>
            </a:xfrm>
            <a:custGeom>
              <a:avLst/>
              <a:gdLst/>
              <a:ahLst/>
              <a:cxnLst/>
              <a:rect l="l" t="t" r="r" b="b"/>
              <a:pathLst>
                <a:path w="1822684" h="2066961">
                  <a:moveTo>
                    <a:pt x="0" y="0"/>
                  </a:moveTo>
                  <a:lnTo>
                    <a:pt x="1822684" y="0"/>
                  </a:lnTo>
                  <a:lnTo>
                    <a:pt x="1822684" y="2066961"/>
                  </a:lnTo>
                  <a:lnTo>
                    <a:pt x="0" y="2066961"/>
                  </a:lnTo>
                  <a:lnTo>
                    <a:pt x="0" y="0"/>
                  </a:lnTo>
                  <a:close/>
                </a:path>
              </a:pathLst>
            </a:custGeom>
            <a:blipFill>
              <a:blip>
                <a:extLst>
                  <a:ext uri="{96DAC541-7B7A-43D3-8B79-37D633B846F1}">
                    <ns3:svgBlip r:embed="rId6"/>
                  </a:ext>
                </a:extLst>
              </a:blip>
              <a:stretch>
                <a:fillRect/>
              </a:stretch>
            </a:blipFill>
          </p:spPr>
          <p:txBody>
            <a:bodyPr/>
            <a:lstStyle/>
            <a:p>
              <a:endParaRPr lang="en-VN"/>
            </a:p>
          </p:txBody>
        </p:sp>
        <p:sp>
          <p:nvSpPr>
            <p:cNvPr id="20" name="TextBox 20"/>
            <p:cNvSpPr txBox="1"/>
            <p:nvPr/>
          </p:nvSpPr>
          <p:spPr>
            <a:xfrm>
              <a:off x="5956865" y="5171947"/>
              <a:ext cx="2656980" cy="711133"/>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Backend</a:t>
              </a:r>
            </a:p>
            <a:p>
              <a:pPr algn="ctr">
                <a:lnSpc>
                  <a:spcPts val="2238"/>
                </a:lnSpc>
              </a:pPr>
              <a:r>
                <a:rPr lang="en-US" sz="1599" b="1">
                  <a:solidFill>
                    <a:srgbClr val="000000"/>
                  </a:solidFill>
                  <a:latin typeface="Roboto Slab Bold"/>
                  <a:ea typeface="Roboto Slab Bold"/>
                  <a:cs typeface="Roboto Slab Bold"/>
                  <a:sym typeface="Roboto Slab Bold"/>
                </a:rPr>
                <a:t>(Main Service)</a:t>
              </a:r>
            </a:p>
          </p:txBody>
        </p:sp>
        <p:sp>
          <p:nvSpPr>
            <p:cNvPr id="21" name="Freeform 21"/>
            <p:cNvSpPr/>
            <p:nvPr/>
          </p:nvSpPr>
          <p:spPr>
            <a:xfrm>
              <a:off x="11828809" y="3132695"/>
              <a:ext cx="1133754" cy="1382624"/>
            </a:xfrm>
            <a:custGeom>
              <a:avLst/>
              <a:gdLst/>
              <a:ahLst/>
              <a:cxnLst/>
              <a:rect l="l" t="t" r="r" b="b"/>
              <a:pathLst>
                <a:path w="1133754" h="1382624">
                  <a:moveTo>
                    <a:pt x="0" y="0"/>
                  </a:moveTo>
                  <a:lnTo>
                    <a:pt x="1133755" y="0"/>
                  </a:lnTo>
                  <a:lnTo>
                    <a:pt x="1133755" y="1382623"/>
                  </a:lnTo>
                  <a:lnTo>
                    <a:pt x="0" y="1382623"/>
                  </a:lnTo>
                  <a:lnTo>
                    <a:pt x="0" y="0"/>
                  </a:lnTo>
                  <a:close/>
                </a:path>
              </a:pathLst>
            </a:custGeom>
            <a:blipFill>
              <a:blip>
                <a:extLst>
                  <a:ext uri="{96DAC541-7B7A-43D3-8B79-37D633B846F1}">
                    <ns3:svgBlip r:embed="rId7"/>
                  </a:ext>
                </a:extLst>
              </a:blip>
              <a:stretch>
                <a:fillRect l="-347" r="-346"/>
              </a:stretch>
            </a:blipFill>
          </p:spPr>
          <p:txBody>
            <a:bodyPr/>
            <a:lstStyle/>
            <a:p>
              <a:endParaRPr lang="en-VN"/>
            </a:p>
          </p:txBody>
        </p:sp>
        <p:sp>
          <p:nvSpPr>
            <p:cNvPr id="22" name="TextBox 22"/>
            <p:cNvSpPr txBox="1"/>
            <p:nvPr/>
          </p:nvSpPr>
          <p:spPr>
            <a:xfrm>
              <a:off x="11429075" y="4646514"/>
              <a:ext cx="1933223"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(PostgreSQL)</a:t>
              </a:r>
            </a:p>
          </p:txBody>
        </p:sp>
        <p:sp>
          <p:nvSpPr>
            <p:cNvPr id="23" name="Freeform 23"/>
            <p:cNvSpPr/>
            <p:nvPr/>
          </p:nvSpPr>
          <p:spPr>
            <a:xfrm>
              <a:off x="16996101" y="4915220"/>
              <a:ext cx="1133754" cy="1382624"/>
            </a:xfrm>
            <a:custGeom>
              <a:avLst/>
              <a:gdLst/>
              <a:ahLst/>
              <a:cxnLst/>
              <a:rect l="l" t="t" r="r" b="b"/>
              <a:pathLst>
                <a:path w="1133754" h="1382624">
                  <a:moveTo>
                    <a:pt x="0" y="0"/>
                  </a:moveTo>
                  <a:lnTo>
                    <a:pt x="1133754" y="0"/>
                  </a:lnTo>
                  <a:lnTo>
                    <a:pt x="1133754" y="1382623"/>
                  </a:lnTo>
                  <a:lnTo>
                    <a:pt x="0" y="1382623"/>
                  </a:lnTo>
                  <a:lnTo>
                    <a:pt x="0" y="0"/>
                  </a:lnTo>
                  <a:close/>
                </a:path>
              </a:pathLst>
            </a:custGeom>
            <a:blipFill>
              <a:blip>
                <a:extLst>
                  <a:ext uri="{96DAC541-7B7A-43D3-8B79-37D633B846F1}">
                    <ns3:svgBlip r:embed="rId7"/>
                  </a:ext>
                </a:extLst>
              </a:blip>
              <a:stretch>
                <a:fillRect l="-347" r="-346"/>
              </a:stretch>
            </a:blipFill>
          </p:spPr>
          <p:txBody>
            <a:bodyPr/>
            <a:lstStyle/>
            <a:p>
              <a:endParaRPr lang="en-VN"/>
            </a:p>
          </p:txBody>
        </p:sp>
        <p:sp>
          <p:nvSpPr>
            <p:cNvPr id="24" name="TextBox 24"/>
            <p:cNvSpPr txBox="1"/>
            <p:nvPr/>
          </p:nvSpPr>
          <p:spPr>
            <a:xfrm>
              <a:off x="16634048" y="6456143"/>
              <a:ext cx="1857860"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(ChromaDB)</a:t>
              </a:r>
            </a:p>
          </p:txBody>
        </p:sp>
        <p:sp>
          <p:nvSpPr>
            <p:cNvPr id="25" name="Freeform 25"/>
            <p:cNvSpPr/>
            <p:nvPr/>
          </p:nvSpPr>
          <p:spPr>
            <a:xfrm>
              <a:off x="11828809" y="0"/>
              <a:ext cx="1133754" cy="1382624"/>
            </a:xfrm>
            <a:custGeom>
              <a:avLst/>
              <a:gdLst/>
              <a:ahLst/>
              <a:cxnLst/>
              <a:rect l="l" t="t" r="r" b="b"/>
              <a:pathLst>
                <a:path w="1133754" h="1382624">
                  <a:moveTo>
                    <a:pt x="0" y="0"/>
                  </a:moveTo>
                  <a:lnTo>
                    <a:pt x="1133755" y="0"/>
                  </a:lnTo>
                  <a:lnTo>
                    <a:pt x="1133755" y="1382624"/>
                  </a:lnTo>
                  <a:lnTo>
                    <a:pt x="0" y="1382624"/>
                  </a:lnTo>
                  <a:lnTo>
                    <a:pt x="0" y="0"/>
                  </a:lnTo>
                  <a:close/>
                </a:path>
              </a:pathLst>
            </a:custGeom>
            <a:blipFill>
              <a:blip>
                <a:extLst>
                  <a:ext uri="{96DAC541-7B7A-43D3-8B79-37D633B846F1}">
                    <ns3:svgBlip r:embed="rId7"/>
                  </a:ext>
                </a:extLst>
              </a:blip>
              <a:stretch>
                <a:fillRect l="-347" r="-346"/>
              </a:stretch>
            </a:blipFill>
          </p:spPr>
          <p:txBody>
            <a:bodyPr/>
            <a:lstStyle/>
            <a:p>
              <a:endParaRPr lang="en-VN"/>
            </a:p>
          </p:txBody>
        </p:sp>
        <p:sp>
          <p:nvSpPr>
            <p:cNvPr id="26" name="TextBox 26"/>
            <p:cNvSpPr txBox="1"/>
            <p:nvPr/>
          </p:nvSpPr>
          <p:spPr>
            <a:xfrm>
              <a:off x="11564728" y="1548738"/>
              <a:ext cx="1661916"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(MongoDB)</a:t>
              </a:r>
            </a:p>
          </p:txBody>
        </p:sp>
        <p:sp>
          <p:nvSpPr>
            <p:cNvPr id="27" name="AutoShape 27"/>
            <p:cNvSpPr/>
            <p:nvPr/>
          </p:nvSpPr>
          <p:spPr>
            <a:xfrm>
              <a:off x="2159584" y="2924506"/>
              <a:ext cx="3797281" cy="1226435"/>
            </a:xfrm>
            <a:prstGeom prst="line">
              <a:avLst/>
            </a:prstGeom>
            <a:ln w="50800" cap="flat">
              <a:solidFill>
                <a:srgbClr val="000000"/>
              </a:solidFill>
              <a:prstDash val="solid"/>
              <a:headEnd type="arrow" w="med" len="sm"/>
              <a:tailEnd type="arrow" w="med" len="sm"/>
            </a:ln>
          </p:spPr>
          <p:txBody>
            <a:bodyPr/>
            <a:lstStyle/>
            <a:p>
              <a:endParaRPr lang="en-VN"/>
            </a:p>
          </p:txBody>
        </p:sp>
        <p:sp>
          <p:nvSpPr>
            <p:cNvPr id="28" name="AutoShape 28"/>
            <p:cNvSpPr/>
            <p:nvPr/>
          </p:nvSpPr>
          <p:spPr>
            <a:xfrm flipV="1">
              <a:off x="2159584" y="4470125"/>
              <a:ext cx="3797281" cy="1242858"/>
            </a:xfrm>
            <a:prstGeom prst="line">
              <a:avLst/>
            </a:prstGeom>
            <a:ln w="50800" cap="flat">
              <a:solidFill>
                <a:srgbClr val="000000"/>
              </a:solidFill>
              <a:prstDash val="solid"/>
              <a:headEnd type="arrow" w="med" len="sm"/>
              <a:tailEnd type="arrow" w="med" len="sm"/>
            </a:ln>
          </p:spPr>
          <p:txBody>
            <a:bodyPr/>
            <a:lstStyle/>
            <a:p>
              <a:endParaRPr lang="en-VN"/>
            </a:p>
          </p:txBody>
        </p:sp>
        <p:sp>
          <p:nvSpPr>
            <p:cNvPr id="29" name="AutoShape 29"/>
            <p:cNvSpPr/>
            <p:nvPr/>
          </p:nvSpPr>
          <p:spPr>
            <a:xfrm>
              <a:off x="8613845" y="4470125"/>
              <a:ext cx="2453352" cy="2959625"/>
            </a:xfrm>
            <a:prstGeom prst="line">
              <a:avLst/>
            </a:prstGeom>
            <a:ln w="50800" cap="flat">
              <a:solidFill>
                <a:srgbClr val="000000"/>
              </a:solidFill>
              <a:prstDash val="solid"/>
              <a:headEnd type="arrow" w="med" len="sm"/>
              <a:tailEnd type="arrow" w="med" len="sm"/>
            </a:ln>
          </p:spPr>
          <p:txBody>
            <a:bodyPr/>
            <a:lstStyle/>
            <a:p>
              <a:endParaRPr lang="en-VN"/>
            </a:p>
          </p:txBody>
        </p:sp>
        <p:sp>
          <p:nvSpPr>
            <p:cNvPr id="30" name="AutoShape 30"/>
            <p:cNvSpPr/>
            <p:nvPr/>
          </p:nvSpPr>
          <p:spPr>
            <a:xfrm flipV="1">
              <a:off x="13724176" y="6081636"/>
              <a:ext cx="2909871" cy="1607028"/>
            </a:xfrm>
            <a:prstGeom prst="line">
              <a:avLst/>
            </a:prstGeom>
            <a:ln w="50800" cap="flat">
              <a:solidFill>
                <a:srgbClr val="000000"/>
              </a:solidFill>
              <a:prstDash val="solid"/>
              <a:headEnd type="arrow" w="med" len="sm"/>
              <a:tailEnd type="arrow" w="med" len="sm"/>
            </a:ln>
          </p:spPr>
          <p:txBody>
            <a:bodyPr/>
            <a:lstStyle/>
            <a:p>
              <a:endParaRPr lang="en-VN"/>
            </a:p>
          </p:txBody>
        </p:sp>
        <p:sp>
          <p:nvSpPr>
            <p:cNvPr id="31" name="Freeform 31"/>
            <p:cNvSpPr/>
            <p:nvPr/>
          </p:nvSpPr>
          <p:spPr>
            <a:xfrm>
              <a:off x="16868159" y="8137156"/>
              <a:ext cx="1389637" cy="1420632"/>
            </a:xfrm>
            <a:custGeom>
              <a:avLst/>
              <a:gdLst/>
              <a:ahLst/>
              <a:cxnLst/>
              <a:rect l="l" t="t" r="r" b="b"/>
              <a:pathLst>
                <a:path w="1389637" h="1420632">
                  <a:moveTo>
                    <a:pt x="0" y="0"/>
                  </a:moveTo>
                  <a:lnTo>
                    <a:pt x="1389637" y="0"/>
                  </a:lnTo>
                  <a:lnTo>
                    <a:pt x="1389637" y="1420633"/>
                  </a:lnTo>
                  <a:lnTo>
                    <a:pt x="0" y="1420633"/>
                  </a:lnTo>
                  <a:lnTo>
                    <a:pt x="0" y="0"/>
                  </a:lnTo>
                  <a:close/>
                </a:path>
              </a:pathLst>
            </a:custGeom>
            <a:blipFill>
              <a:blip>
                <a:extLst>
                  <a:ext uri="{96DAC541-7B7A-43D3-8B79-37D633B846F1}">
                    <ns3:svgBlip r:embed="rId8"/>
                  </a:ext>
                </a:extLst>
              </a:blip>
              <a:stretch>
                <a:fillRect/>
              </a:stretch>
            </a:blipFill>
          </p:spPr>
          <p:txBody>
            <a:bodyPr/>
            <a:lstStyle/>
            <a:p>
              <a:endParaRPr lang="en-VN"/>
            </a:p>
          </p:txBody>
        </p:sp>
        <p:sp>
          <p:nvSpPr>
            <p:cNvPr id="32" name="TextBox 32"/>
            <p:cNvSpPr txBox="1"/>
            <p:nvPr/>
          </p:nvSpPr>
          <p:spPr>
            <a:xfrm>
              <a:off x="16634048" y="9710189"/>
              <a:ext cx="1857860" cy="792023"/>
            </a:xfrm>
            <a:prstGeom prst="rect">
              <a:avLst/>
            </a:prstGeom>
          </p:spPr>
          <p:txBody>
            <a:bodyPr lIns="0" tIns="0" rIns="0" bIns="0" rtlCol="0" anchor="t">
              <a:spAutoFit/>
            </a:bodyPr>
            <a:lstStyle/>
            <a:p>
              <a:pPr algn="ctr">
                <a:lnSpc>
                  <a:spcPts val="2442"/>
                </a:lnSpc>
              </a:pPr>
              <a:r>
                <a:rPr lang="en-US" sz="1746" b="1">
                  <a:solidFill>
                    <a:srgbClr val="000000"/>
                  </a:solidFill>
                  <a:latin typeface="Roboto Slab Bold"/>
                  <a:ea typeface="Roboto Slab Bold"/>
                  <a:cs typeface="Roboto Slab Bold"/>
                  <a:sym typeface="Roboto Slab Bold"/>
                </a:rPr>
                <a:t>LLMs</a:t>
              </a:r>
            </a:p>
            <a:p>
              <a:pPr algn="ctr">
                <a:lnSpc>
                  <a:spcPts val="2443"/>
                </a:lnSpc>
              </a:pPr>
              <a:r>
                <a:rPr lang="en-US" sz="1746" b="1">
                  <a:solidFill>
                    <a:srgbClr val="000000"/>
                  </a:solidFill>
                  <a:latin typeface="Roboto Slab Bold"/>
                  <a:ea typeface="Roboto Slab Bold"/>
                  <a:cs typeface="Roboto Slab Bold"/>
                  <a:sym typeface="Roboto Slab Bold"/>
                </a:rPr>
                <a:t>(Gemini API)</a:t>
              </a:r>
            </a:p>
          </p:txBody>
        </p:sp>
        <p:sp>
          <p:nvSpPr>
            <p:cNvPr id="33" name="AutoShape 33"/>
            <p:cNvSpPr/>
            <p:nvPr/>
          </p:nvSpPr>
          <p:spPr>
            <a:xfrm>
              <a:off x="13724176" y="7997372"/>
              <a:ext cx="2909871" cy="1322312"/>
            </a:xfrm>
            <a:prstGeom prst="line">
              <a:avLst/>
            </a:prstGeom>
            <a:ln w="50800" cap="flat">
              <a:solidFill>
                <a:srgbClr val="000000"/>
              </a:solidFill>
              <a:prstDash val="solid"/>
              <a:headEnd type="arrow" w="med" len="sm"/>
              <a:tailEnd type="arrow" w="med" len="sm"/>
            </a:ln>
          </p:spPr>
          <p:txBody>
            <a:bodyPr/>
            <a:lstStyle/>
            <a:p>
              <a:endParaRPr lang="en-VN"/>
            </a:p>
          </p:txBody>
        </p:sp>
        <p:sp>
          <p:nvSpPr>
            <p:cNvPr id="34" name="AutoShape 34"/>
            <p:cNvSpPr/>
            <p:nvPr/>
          </p:nvSpPr>
          <p:spPr>
            <a:xfrm>
              <a:off x="8613845" y="4070421"/>
              <a:ext cx="2815230" cy="215138"/>
            </a:xfrm>
            <a:prstGeom prst="line">
              <a:avLst/>
            </a:prstGeom>
            <a:ln w="50800" cap="flat">
              <a:solidFill>
                <a:srgbClr val="000000"/>
              </a:solidFill>
              <a:prstDash val="solid"/>
              <a:headEnd type="arrow" w="med" len="sm"/>
              <a:tailEnd type="arrow" w="med" len="sm"/>
            </a:ln>
          </p:spPr>
          <p:txBody>
            <a:bodyPr/>
            <a:lstStyle/>
            <a:p>
              <a:endParaRPr lang="en-VN"/>
            </a:p>
          </p:txBody>
        </p:sp>
        <p:sp>
          <p:nvSpPr>
            <p:cNvPr id="35" name="AutoShape 35"/>
            <p:cNvSpPr/>
            <p:nvPr/>
          </p:nvSpPr>
          <p:spPr>
            <a:xfrm flipV="1">
              <a:off x="8613845" y="1215592"/>
              <a:ext cx="2882777" cy="2304399"/>
            </a:xfrm>
            <a:prstGeom prst="line">
              <a:avLst/>
            </a:prstGeom>
            <a:ln w="50800" cap="flat">
              <a:solidFill>
                <a:srgbClr val="000000"/>
              </a:solidFill>
              <a:prstDash val="solid"/>
              <a:headEnd type="arrow" w="med" len="sm"/>
              <a:tailEnd type="arrow" w="med" len="sm"/>
            </a:ln>
          </p:spPr>
          <p:txBody>
            <a:bodyPr/>
            <a:lstStyle/>
            <a:p>
              <a:endParaRPr lang="en-VN"/>
            </a:p>
          </p:txBody>
        </p:sp>
      </p:grpSp>
      <p:sp>
        <p:nvSpPr>
          <p:cNvPr id="36" name="RestoredLabel API WebSocket"/>
          <p:cNvSpPr txBox="1"/>
          <p:nvPr/>
        </p:nvSpPr>
        <p:spPr>
          <a:xfrm>
            <a:off x="3900000" y="4050000"/>
            <a:ext cx="2100000" cy="360000"/>
          </a:xfrm>
          <a:prstGeom prst="roundRect">
            <a:avLst/>
          </a:prstGeom>
          <a:solidFill>
            <a:srgbClr val="FFFFFF"/>
          </a:solidFill>
          <a:ln w="9525">
            <a:solidFill>
              <a:srgbClr val="0C1D4B"/>
            </a:solidFill>
          </a:ln>
        </p:spPr>
        <p:txBody>
          <a:bodyPr lIns="70000" tIns="25000" rIns="70000" bIns="25000" rtlCol="0" anchor="mid" wrap="none">
            <a:spAutoFit/>
          </a:bodyPr>
          <a:lstStyle/>
          <a:p>
            <a:pPr algn="ctr"/>
            <a:r>
              <a:rPr lang="en-US" sz="1550" b="1">
                <a:solidFill>
                  <a:srgbClr val="0C1D4B"/>
                </a:solidFill>
                <a:latin typeface="Times New Roman"/>
              </a:rPr>
              <a:t>API + WebSocket</a:t>
            </a:r>
          </a:p>
        </p:txBody>
      </p:sp>
      <p:sp>
        <p:nvSpPr>
          <p:cNvPr id="37" name="RestoredLabel API SSE"/>
          <p:cNvSpPr txBox="1"/>
          <p:nvPr/>
        </p:nvSpPr>
        <p:spPr>
          <a:xfrm>
            <a:off x="4100000" y="5350000"/>
            <a:ext cx="1450000" cy="360000"/>
          </a:xfrm>
          <a:prstGeom prst="roundRect">
            <a:avLst/>
          </a:prstGeom>
          <a:solidFill>
            <a:srgbClr val="FFFFFF"/>
          </a:solidFill>
          <a:ln w="9525">
            <a:solidFill>
              <a:srgbClr val="0C1D4B"/>
            </a:solidFill>
          </a:ln>
        </p:spPr>
        <p:txBody>
          <a:bodyPr lIns="70000" tIns="25000" rIns="70000" bIns="25000" rtlCol="0" anchor="mid" wrap="none">
            <a:spAutoFit/>
          </a:bodyPr>
          <a:lstStyle/>
          <a:p>
            <a:pPr algn="ctr"/>
            <a:r>
              <a:rPr lang="en-US" sz="1550" b="1">
                <a:solidFill>
                  <a:srgbClr val="0C1D4B"/>
                </a:solidFill>
                <a:latin typeface="Times New Roman"/>
              </a:rPr>
              <a:t>API + 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860"/>
                                  <p:tgtEl>
                                    <p:spTgt spid="36"/>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860"/>
                                  <p:tgtEl>
                                    <p:spTgt spid="37"/>
                                  </p:tgtEl>
                                </p:cBhvr>
                              </p:animEffect>
                            </p:childTnLst>
                          </p:cTn>
                        </p:par>
                      </p:childTnLst>
                    </p:cTn>
                  </p:par>
                </p:childTnLst>
              </p:cTn>
            </p:seq>
          </p:childTnLst>
        </p:cTn>
      </p:par>
    </p:tnLst>
    <p:bldLst>
      <p:bldP spid="10" grpId="0"/>
      <p:bldP spid="12" grpId="0"/>
      <p:bldP spid="36" grpId="0"/>
      <p:bldP spid="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3.8. Các chức năng của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Hình thức của hệ thống</a:t>
            </a:r>
          </a:p>
        </p:txBody>
      </p:sp>
      <p:sp>
        <p:nvSpPr>
          <p:cNvPr id="13" name="TextBox 13"/>
          <p:cNvSpPr txBox="1"/>
          <p:nvPr/>
        </p:nvSpPr>
        <p:spPr>
          <a:xfrm>
            <a:off x="1028700" y="2630118"/>
            <a:ext cx="9079671"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Mobile App dành cho người dùng tra cứu và tư vấn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Web Admin dành cho quản trị viên quản lý, cập nhật dữ liệu pháp luật</a:t>
            </a:r>
          </a:p>
        </p:txBody>
      </p:sp>
      <p:sp>
        <p:nvSpPr>
          <p:cNvPr id="14" name="TextBox 14"/>
          <p:cNvSpPr txBox="1"/>
          <p:nvPr/>
        </p:nvSpPr>
        <p:spPr>
          <a:xfrm>
            <a:off x="1028700" y="5051968"/>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Chức năng của hệ thống</a:t>
            </a:r>
          </a:p>
        </p:txBody>
      </p:sp>
      <p:sp>
        <p:nvSpPr>
          <p:cNvPr id="15" name="TextBox 15"/>
          <p:cNvSpPr txBox="1"/>
          <p:nvPr/>
        </p:nvSpPr>
        <p:spPr>
          <a:xfrm>
            <a:off x="1028700" y="5956843"/>
            <a:ext cx="9079671" cy="3334710"/>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Chat tư vấn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Tư vấn có hướng dẫn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Tra cứu văn bản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Quản lý hội thoại và nguồn tham chiếu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Cập nhật văn bản pháp luật mới từ PDF</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Quản lý kho tri thức phục vụ RAG</a:t>
            </a:r>
          </a:p>
        </p:txBody>
      </p:sp>
      <p:sp>
        <p:nvSpPr>
          <p:cNvPr id="16" name="Freeform 16"/>
          <p:cNvSpPr/>
          <p:nvPr/>
        </p:nvSpPr>
        <p:spPr>
          <a:xfrm rot="801521">
            <a:off x="11385359" y="2916698"/>
            <a:ext cx="5006522" cy="5374801"/>
          </a:xfrm>
          <a:custGeom>
            <a:avLst/>
            <a:gdLst/>
            <a:ahLst/>
            <a:cxnLst/>
            <a:rect l="l" t="t" r="r" b="b"/>
            <a:pathLst>
              <a:path w="5006522" h="5374801">
                <a:moveTo>
                  <a:pt x="0" y="0"/>
                </a:moveTo>
                <a:lnTo>
                  <a:pt x="5006521" y="0"/>
                </a:lnTo>
                <a:lnTo>
                  <a:pt x="5006521" y="5374801"/>
                </a:lnTo>
                <a:lnTo>
                  <a:pt x="0" y="53748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860"/>
                                  <p:tgtEl>
                                    <p:spTgt spid="16"/>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860"/>
                                  <p:tgtEl>
                                    <p:spTgt spid="14"/>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860"/>
                                  <p:tgtEl>
                                    <p:spTgt spid="15"/>
                                  </p:tgtEl>
                                </p:cBhvr>
                              </p:animEffect>
                            </p:childTnLst>
                          </p:cTn>
                        </p:par>
                      </p:childTnLst>
                    </p:cTn>
                  </p:par>
                </p:childTnLst>
              </p:cTn>
            </p:seq>
          </p:childTnLst>
        </p:cTn>
      </p:par>
    </p:tnLst>
    <p:bldLst>
      <p:bldP spid="10" grpId="0"/>
      <p:bldP spid="12" grpId="0"/>
      <p:bldP spid="13" grpId="0"/>
      <p:bldP spid="14" grpId="0"/>
      <p:bldP spid="15" grpId="0"/>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4221591" y="2734893"/>
            <a:ext cx="9844818" cy="6694476"/>
          </a:xfrm>
          <a:custGeom>
            <a:avLst/>
            <a:gdLst/>
            <a:ahLst/>
            <a:cxnLst/>
            <a:rect l="l" t="t" r="r" b="b"/>
            <a:pathLst>
              <a:path w="9844818" h="6694476">
                <a:moveTo>
                  <a:pt x="0" y="0"/>
                </a:moveTo>
                <a:lnTo>
                  <a:pt x="9844818" y="0"/>
                </a:lnTo>
                <a:lnTo>
                  <a:pt x="9844818" y="6694476"/>
                </a:lnTo>
                <a:lnTo>
                  <a:pt x="0" y="6694476"/>
                </a:lnTo>
                <a:lnTo>
                  <a:pt x="0" y="0"/>
                </a:lnTo>
                <a:close/>
              </a:path>
            </a:pathLst>
          </a:custGeom>
          <a:blipFill>
            <a:blip r:embed="rId4"/>
            <a:stretch>
              <a:fillRect/>
            </a:stretch>
          </a:blipFill>
        </p:spPr>
        <p:txBody>
          <a:bodyPr/>
          <a:lstStyle/>
          <a:p>
            <a:endParaRPr lang="en-VN"/>
          </a:p>
        </p:txBody>
      </p:sp>
      <p:sp>
        <p:nvSpPr>
          <p:cNvPr id="11" name="TextBox 11"/>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3.8. Các chức năng của hệ thống</a:t>
            </a:r>
          </a:p>
        </p:txBody>
      </p:sp>
      <p:sp>
        <p:nvSpPr>
          <p:cNvPr id="12" name="TextBox 1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3" name="TextBox 13"/>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Usecase tổng quát của hệ thống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3"/>
                                  </p:tgtEl>
                                  <p:attrNameLst>
                                    <p:attrName>style.visibility</p:attrName>
                                  </p:attrNameLst>
                                </p:cBhvr>
                                <p:to>
                                  <p:strVal val="visible"/>
                                </p:to>
                              </p:set>
                              <p:animEffect transition="in" filter="wipe(left)">
                                <p:cBhvr>
                                  <p:cTn id="6" dur="860"/>
                                  <p:tgtEl>
                                    <p:spTgt spid="1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860"/>
                                  <p:tgtEl>
                                    <p:spTgt spid="10"/>
                                  </p:tgtEl>
                                </p:cBhvr>
                              </p:animEffect>
                            </p:childTnLst>
                          </p:cTn>
                        </p:par>
                      </p:childTnLst>
                    </p:cTn>
                  </p:par>
                </p:childTnLst>
              </p:cTn>
            </p:seq>
          </p:childTnLst>
        </p:cTn>
      </p:par>
    </p:tnLst>
    <p:bldLst>
      <p:bldP spid="10" grpId="0" animBg="1"/>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0" name="Group 10"/>
          <p:cNvGrpSpPr/>
          <p:nvPr/>
        </p:nvGrpSpPr>
        <p:grpSpPr>
          <a:xfrm>
            <a:off x="8555428" y="3969707"/>
            <a:ext cx="1177144" cy="1173793"/>
            <a:chOff x="0" y="0"/>
            <a:chExt cx="871377" cy="868896"/>
          </a:xfrm>
        </p:grpSpPr>
        <p:sp>
          <p:nvSpPr>
            <p:cNvPr id="11" name="Freeform 11"/>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2" name="TextBox 12"/>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4</a:t>
              </a:r>
            </a:p>
          </p:txBody>
        </p:sp>
      </p:grpSp>
      <p:sp>
        <p:nvSpPr>
          <p:cNvPr id="13" name="TextBox 13"/>
          <p:cNvSpPr txBox="1"/>
          <p:nvPr/>
        </p:nvSpPr>
        <p:spPr>
          <a:xfrm>
            <a:off x="4641270" y="5430926"/>
            <a:ext cx="8784503"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THỰC NGHIỆM VÀ KẾT LUẬN</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childTnLst>
                    </p:cTn>
                  </p:par>
                </p:childTnLst>
              </p:cTn>
            </p:seq>
          </p:childTnLst>
        </p:cTn>
      </p:par>
    </p:tnLst>
    <p:bldLst>
      <p:bldP spid="10"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5485915" y="1953843"/>
            <a:ext cx="3360050" cy="7304457"/>
          </a:xfrm>
          <a:custGeom>
            <a:avLst/>
            <a:gdLst/>
            <a:ahLst/>
            <a:cxnLst/>
            <a:rect l="l" t="t" r="r" b="b"/>
            <a:pathLst>
              <a:path w="3360050" h="7304457">
                <a:moveTo>
                  <a:pt x="0" y="0"/>
                </a:moveTo>
                <a:lnTo>
                  <a:pt x="3360051" y="0"/>
                </a:lnTo>
                <a:lnTo>
                  <a:pt x="3360051" y="7304457"/>
                </a:lnTo>
                <a:lnTo>
                  <a:pt x="0" y="7304457"/>
                </a:lnTo>
                <a:lnTo>
                  <a:pt x="0" y="0"/>
                </a:lnTo>
                <a:close/>
              </a:path>
            </a:pathLst>
          </a:custGeom>
          <a:blipFill>
            <a:blip r:embed="rId4"/>
            <a:stretch>
              <a:fillRect/>
            </a:stretch>
          </a:blipFill>
        </p:spPr>
        <p:txBody>
          <a:bodyPr/>
          <a:lstStyle/>
          <a:p>
            <a:endParaRPr lang="en-VN"/>
          </a:p>
        </p:txBody>
      </p:sp>
      <p:sp>
        <p:nvSpPr>
          <p:cNvPr id="11" name="Freeform 11"/>
          <p:cNvSpPr/>
          <p:nvPr/>
        </p:nvSpPr>
        <p:spPr>
          <a:xfrm>
            <a:off x="1028700" y="1953843"/>
            <a:ext cx="3360050" cy="7304457"/>
          </a:xfrm>
          <a:custGeom>
            <a:avLst/>
            <a:gdLst/>
            <a:ahLst/>
            <a:cxnLst/>
            <a:rect l="l" t="t" r="r" b="b"/>
            <a:pathLst>
              <a:path w="3360050" h="7304457">
                <a:moveTo>
                  <a:pt x="0" y="0"/>
                </a:moveTo>
                <a:lnTo>
                  <a:pt x="3360050" y="0"/>
                </a:lnTo>
                <a:lnTo>
                  <a:pt x="3360050" y="7304457"/>
                </a:lnTo>
                <a:lnTo>
                  <a:pt x="0" y="7304457"/>
                </a:lnTo>
                <a:lnTo>
                  <a:pt x="0" y="0"/>
                </a:lnTo>
                <a:close/>
              </a:path>
            </a:pathLst>
          </a:custGeom>
          <a:blipFill>
            <a:blip r:embed="rId5"/>
            <a:stretch>
              <a:fillRect/>
            </a:stretch>
          </a:blipFill>
        </p:spPr>
        <p:txBody>
          <a:bodyPr/>
          <a:lstStyle/>
          <a:p>
            <a:endParaRPr lang="en-VN"/>
          </a:p>
        </p:txBody>
      </p:sp>
      <p:sp>
        <p:nvSpPr>
          <p:cNvPr id="12" name="Freeform 12"/>
          <p:cNvSpPr/>
          <p:nvPr/>
        </p:nvSpPr>
        <p:spPr>
          <a:xfrm>
            <a:off x="9575165" y="3699190"/>
            <a:ext cx="8404988" cy="3813764"/>
          </a:xfrm>
          <a:custGeom>
            <a:avLst/>
            <a:gdLst/>
            <a:ahLst/>
            <a:cxnLst/>
            <a:rect l="l" t="t" r="r" b="b"/>
            <a:pathLst>
              <a:path w="8404988" h="3813764">
                <a:moveTo>
                  <a:pt x="0" y="0"/>
                </a:moveTo>
                <a:lnTo>
                  <a:pt x="8404989" y="0"/>
                </a:lnTo>
                <a:lnTo>
                  <a:pt x="8404989" y="3813763"/>
                </a:lnTo>
                <a:lnTo>
                  <a:pt x="0" y="3813763"/>
                </a:lnTo>
                <a:lnTo>
                  <a:pt x="0" y="0"/>
                </a:lnTo>
                <a:close/>
              </a:path>
            </a:pathLst>
          </a:custGeom>
          <a:blipFill>
            <a:blip r:embed="rId6"/>
            <a:stretch>
              <a:fillRect/>
            </a:stretch>
          </a:blipFill>
        </p:spPr>
        <p:txBody>
          <a:bodyPr/>
          <a:lstStyle/>
          <a:p>
            <a:endParaRPr lang="en-VN"/>
          </a:p>
        </p:txBody>
      </p:sp>
      <p:sp>
        <p:nvSpPr>
          <p:cNvPr id="13" name="TextBox 13"/>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4.1. Demo các chức năng</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3"/>
                                  </p:tgtEl>
                                  <p:attrNameLst>
                                    <p:attrName>style.visibility</p:attrName>
                                  </p:attrNameLst>
                                </p:cBhvr>
                                <p:to>
                                  <p:strVal val="visible"/>
                                </p:to>
                              </p:set>
                              <p:animEffect transition="in" filter="wipe(left)">
                                <p:cBhvr>
                                  <p:cTn id="6" dur="860"/>
                                  <p:tgtEl>
                                    <p:spTgt spid="1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1"/>
                                  </p:tgtEl>
                                  <p:attrNameLst>
                                    <p:attrName>style.visibility</p:attrName>
                                  </p:attrNameLst>
                                </p:cBhvr>
                                <p:to>
                                  <p:strVal val="visible"/>
                                </p:to>
                              </p:set>
                              <p:animEffect transition="in" filter="wipe(left)">
                                <p:cBhvr>
                                  <p:cTn id="9" dur="860"/>
                                  <p:tgtEl>
                                    <p:spTgt spid="11"/>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860"/>
                                  <p:tgtEl>
                                    <p:spTgt spid="10"/>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860"/>
                                  <p:tgtEl>
                                    <p:spTgt spid="12"/>
                                  </p:tgtEl>
                                </p:cBhvr>
                              </p:animEffect>
                            </p:childTnLst>
                          </p:cTn>
                        </p:par>
                      </p:childTnLst>
                    </p:cTn>
                  </p:par>
                </p:childTnLst>
              </p:cTn>
            </p:seq>
          </p:childTnLst>
        </p:cTn>
      </p:par>
    </p:tnLst>
    <p:bldLst>
      <p:bldP spid="10" grpId="0" animBg="1"/>
      <p:bldP spid="11" grpId="0" animBg="1"/>
      <p:bldP spid="12" grpId="0" animBg="1"/>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2467061"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Bộ kiểm thử gồm 100 câu hỏi pháp luật, chia thành hai nhóm chính:</a:t>
            </a:r>
          </a:p>
        </p:txBody>
      </p:sp>
      <p:sp>
        <p:nvSpPr>
          <p:cNvPr id="13" name="TextBox 13"/>
          <p:cNvSpPr txBox="1"/>
          <p:nvPr/>
        </p:nvSpPr>
        <p:spPr>
          <a:xfrm>
            <a:off x="1028700" y="2496768"/>
            <a:ext cx="12467061"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Nhóm N1 - Factual Questions: 50 câu hỏi có đáp án xác định, dùng để đánh giá độ chính xác thông tin, điều khoản và nguồn trích dẫn.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Nhóm N2 - Open Questions: 50 câu hỏi tình huống mở, dùng để đánh giá chất lượng câu trả lời, khả năng phân tích và tổng hợp tư vấn.</a:t>
            </a:r>
          </a:p>
        </p:txBody>
      </p:sp>
      <p:sp>
        <p:nvSpPr>
          <p:cNvPr id="14" name="TextBox 14"/>
          <p:cNvSpPr txBox="1"/>
          <p:nvPr/>
        </p:nvSpPr>
        <p:spPr>
          <a:xfrm>
            <a:off x="1028700" y="4802669"/>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Phương pháp đánh giá</a:t>
            </a:r>
          </a:p>
        </p:txBody>
      </p:sp>
      <p:sp>
        <p:nvSpPr>
          <p:cNvPr id="15" name="TextBox 15"/>
          <p:cNvSpPr txBox="1"/>
          <p:nvPr/>
        </p:nvSpPr>
        <p:spPr>
          <a:xfrm>
            <a:off x="1028700" y="5707544"/>
            <a:ext cx="15755813" cy="3896739"/>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Thực nghiệm đo đạc các chỉ số phản ánh độ chính xác, chất lượng câu trả lời và hiệu năng phản hồi của hệ thống: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Accuracy@1</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Citation Accuracy</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Temporal Conflict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Answer Quality</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Response Latency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860"/>
                                  <p:tgtEl>
                                    <p:spTgt spid="15"/>
                                  </p:tgtEl>
                                </p:cBhvr>
                              </p:animEffect>
                            </p:childTnLst>
                          </p:cTn>
                        </p:par>
                      </p:childTnLst>
                    </p:cTn>
                  </p:par>
                </p:childTnLst>
              </p:cTn>
            </p:seq>
          </p:childTnLst>
        </p:cTn>
      </p:par>
    </p:tnLst>
    <p:bldLst>
      <p:bldP spid="10" grpId="0"/>
      <p:bldP spid="12" grpId="0"/>
      <p:bldP spid="13" grpId="0"/>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849068"/>
            <a:ext cx="12467061"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Accuracy@1:</a:t>
            </a:r>
            <a:r>
              <a:rPr lang="en-US" sz="2799">
                <a:solidFill>
                  <a:srgbClr val="0C1D4B"/>
                </a:solidFill>
                <a:latin typeface="Roboto Slab"/>
                <a:ea typeface="Roboto Slab"/>
                <a:cs typeface="Roboto Slab"/>
                <a:sym typeface="Roboto Slab"/>
              </a:rPr>
              <a:t> tỷ lệ câu trả lời đầu tiên chứa đúng thông tin kỳ vọng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Accuracy@1 = số câu trả lời đúng / tổng số câu thực tế</a:t>
            </a:r>
          </a:p>
        </p:txBody>
      </p:sp>
      <p:sp>
        <p:nvSpPr>
          <p:cNvPr id="13" name="TextBox 13"/>
          <p:cNvSpPr txBox="1"/>
          <p:nvPr/>
        </p:nvSpPr>
        <p:spPr>
          <a:xfrm>
            <a:off x="1028700" y="3154736"/>
            <a:ext cx="14388818"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Citation Accuracy:</a:t>
            </a:r>
            <a:r>
              <a:rPr lang="en-US" sz="2799">
                <a:solidFill>
                  <a:srgbClr val="0C1D4B"/>
                </a:solidFill>
                <a:latin typeface="Roboto Slab"/>
                <a:ea typeface="Roboto Slab"/>
                <a:cs typeface="Roboto Slab"/>
                <a:sym typeface="Roboto Slab"/>
              </a:rPr>
              <a:t> tỷ lệ câu trả lời trích dẫn đúng văn bản pháp luật chứa đáp án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Công thức: Citation Accuracy = số câu trích dẫn đúng nguồn / tổng số câu thực tế</a:t>
            </a:r>
          </a:p>
        </p:txBody>
      </p:sp>
      <p:sp>
        <p:nvSpPr>
          <p:cNvPr id="14" name="TextBox 14"/>
          <p:cNvSpPr txBox="1"/>
          <p:nvPr/>
        </p:nvSpPr>
        <p:spPr>
          <a:xfrm>
            <a:off x="1028700" y="4460404"/>
            <a:ext cx="16230600"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Answer Quality:</a:t>
            </a:r>
            <a:r>
              <a:rPr lang="en-US" sz="2799">
                <a:solidFill>
                  <a:srgbClr val="0C1D4B"/>
                </a:solidFill>
                <a:latin typeface="Roboto Slab"/>
                <a:ea typeface="Roboto Slab"/>
                <a:cs typeface="Roboto Slab"/>
                <a:sym typeface="Roboto Slab"/>
              </a:rPr>
              <a:t> Đánh giá câu hỏi tình huống mở theo thang 1-5 dựa trên độ đúng pháp lý, độ đầy đủ, khả năng áp dụng vào tình huống và cách trình bày câu trả lời</a:t>
            </a:r>
          </a:p>
        </p:txBody>
      </p:sp>
      <p:sp>
        <p:nvSpPr>
          <p:cNvPr id="15" name="TextBox 15"/>
          <p:cNvSpPr txBox="1"/>
          <p:nvPr/>
        </p:nvSpPr>
        <p:spPr>
          <a:xfrm>
            <a:off x="1028700" y="5766073"/>
            <a:ext cx="16230600"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Response Latency:</a:t>
            </a:r>
            <a:r>
              <a:rPr lang="en-US" sz="2799">
                <a:solidFill>
                  <a:srgbClr val="0C1D4B"/>
                </a:solidFill>
                <a:latin typeface="Roboto Slab"/>
                <a:ea typeface="Roboto Slab"/>
                <a:cs typeface="Roboto Slab"/>
                <a:sym typeface="Roboto Slab"/>
              </a:rPr>
              <a:t> Đo thời gian từ lúc gửi câu hỏi đến khi hệ thống hoàn tất phản hồi</a:t>
            </a:r>
          </a:p>
          <a:p>
            <a:pPr algn="l">
              <a:lnSpc>
                <a:spcPts val="4479"/>
              </a:lnSpc>
            </a:pPr>
            <a:r>
              <a:rPr lang="en-US" sz="2799">
                <a:solidFill>
                  <a:srgbClr val="0C1D4B"/>
                </a:solidFill>
                <a:latin typeface="Roboto Slab"/>
                <a:ea typeface="Roboto Slab"/>
                <a:cs typeface="Roboto Slab"/>
                <a:sym typeface="Roboto Slab"/>
              </a:rPr>
              <a:t>Sử dụng P50 và P95 để đánh giá độ trễ trung vị và độ trễ ở nhóm câu hỏi chậm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860"/>
                                  <p:tgtEl>
                                    <p:spTgt spid="15"/>
                                  </p:tgtEl>
                                </p:cBhvr>
                              </p:animEffect>
                            </p:childTnLst>
                          </p:cTn>
                        </p:par>
                      </p:childTnLst>
                    </p:cTn>
                  </p:par>
                </p:childTnLst>
              </p:cTn>
            </p:seq>
          </p:childTnLst>
        </p:cTn>
      </p:par>
    </p:tnLst>
    <p:bldLst>
      <p:bldP spid="12" grpId="0"/>
      <p:bldP spid="13" grpId="0"/>
      <p:bldP spid="14"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Kết quả thực nghiệm:</a:t>
            </a:r>
          </a:p>
        </p:txBody>
      </p:sp>
      <p:sp>
        <p:nvSpPr>
          <p:cNvPr id="13" name="TextBox 13"/>
          <p:cNvSpPr txBox="1"/>
          <p:nvPr/>
        </p:nvSpPr>
        <p:spPr>
          <a:xfrm>
            <a:off x="1028700" y="2496768"/>
            <a:ext cx="5797435" cy="2829621"/>
          </a:xfrm>
          <a:prstGeom prst="rect">
            <a:avLst/>
          </a:prstGeom>
        </p:spPr>
        <p:txBody>
          <a:bodyPr lIns="0" tIns="0" rIns="0" bIns="0" rtlCol="0" anchor="t">
            <a:spAutoFit/>
          </a:bodyPr>
          <a:lstStyle/>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Accuracy@1: 90,0%</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Citation Accuracy: 56,7%</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Answer Quality: 3,67/5,0</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Latency P50: 65,5 </a:t>
            </a:r>
            <a:r>
              <a:rPr lang="en-US" sz="2799" dirty="0" err="1">
                <a:solidFill>
                  <a:srgbClr val="0C1D4B"/>
                </a:solidFill>
                <a:latin typeface="Roboto Slab"/>
                <a:ea typeface="Roboto Slab"/>
                <a:cs typeface="Roboto Slab"/>
                <a:sym typeface="Roboto Slab"/>
              </a:rPr>
              <a:t>giây</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Latency P95: 100,6 </a:t>
            </a:r>
            <a:r>
              <a:rPr lang="en-US" sz="2799" dirty="0" err="1">
                <a:solidFill>
                  <a:srgbClr val="0C1D4B"/>
                </a:solidFill>
                <a:latin typeface="Roboto Slab"/>
                <a:ea typeface="Roboto Slab"/>
                <a:cs typeface="Roboto Slab"/>
                <a:sym typeface="Roboto Slab"/>
              </a:rPr>
              <a:t>giây</a:t>
            </a:r>
            <a:endParaRPr lang="en-US" sz="2799" dirty="0">
              <a:solidFill>
                <a:srgbClr val="0C1D4B"/>
              </a:solidFill>
              <a:latin typeface="Roboto Slab"/>
              <a:ea typeface="Roboto Slab"/>
              <a:cs typeface="Roboto Slab"/>
              <a:sym typeface="Roboto Slab"/>
            </a:endParaRPr>
          </a:p>
        </p:txBody>
      </p:sp>
      <p:sp>
        <p:nvSpPr>
          <p:cNvPr id="14" name="TextBox 14"/>
          <p:cNvSpPr txBox="1"/>
          <p:nvPr/>
        </p:nvSpPr>
        <p:spPr>
          <a:xfrm>
            <a:off x="1028700" y="5364698"/>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Nhận xét:</a:t>
            </a:r>
          </a:p>
        </p:txBody>
      </p:sp>
      <p:sp>
        <p:nvSpPr>
          <p:cNvPr id="15" name="TextBox 15"/>
          <p:cNvSpPr txBox="1"/>
          <p:nvPr/>
        </p:nvSpPr>
        <p:spPr>
          <a:xfrm>
            <a:off x="1028700" y="6269573"/>
            <a:ext cx="11800099"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Hệ thống đạt độ chính xác tốt ở nhóm câu hỏi factual</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Chất lượng câu trả lời ở mức tốt, phù hợp với tư vấn pháp luật có căn cứ</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Hạn chế chính nằm ở thời gian phản hồi</a:t>
            </a:r>
          </a:p>
        </p:txBody>
      </p:sp>
      <p:sp>
        <p:nvSpPr>
          <p:cNvPr id="16" name="Freeform 16"/>
          <p:cNvSpPr/>
          <p:nvPr/>
        </p:nvSpPr>
        <p:spPr>
          <a:xfrm>
            <a:off x="12955966" y="1953843"/>
            <a:ext cx="4303334" cy="4407511"/>
          </a:xfrm>
          <a:custGeom>
            <a:avLst/>
            <a:gdLst/>
            <a:ahLst/>
            <a:cxnLst/>
            <a:rect l="l" t="t" r="r" b="b"/>
            <a:pathLst>
              <a:path w="4303334" h="4407511">
                <a:moveTo>
                  <a:pt x="0" y="0"/>
                </a:moveTo>
                <a:lnTo>
                  <a:pt x="4303334" y="0"/>
                </a:lnTo>
                <a:lnTo>
                  <a:pt x="4303334" y="4407511"/>
                </a:lnTo>
                <a:lnTo>
                  <a:pt x="0" y="44075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6"/>
                                  </p:tgtEl>
                                  <p:attrNameLst>
                                    <p:attrName>style.visibility</p:attrName>
                                  </p:attrNameLst>
                                </p:cBhvr>
                                <p:to>
                                  <p:strVal val="visible"/>
                                </p:to>
                              </p:set>
                              <p:animEffect transition="in" filter="wipe(left)">
                                <p:cBhvr>
                                  <p:cTn id="9" dur="860"/>
                                  <p:tgtEl>
                                    <p:spTgt spid="16"/>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860"/>
                                  <p:tgtEl>
                                    <p:spTgt spid="15"/>
                                  </p:tgtEl>
                                </p:cBhvr>
                              </p:animEffect>
                            </p:childTnLst>
                          </p:cTn>
                        </p:par>
                      </p:childTnLst>
                    </p:cTn>
                  </p:par>
                </p:childTnLst>
              </p:cTn>
            </p:seq>
          </p:childTnLst>
        </p:cTn>
      </p:par>
    </p:tnLst>
    <p:bldLst>
      <p:bldP spid="12" grpId="0"/>
      <p:bldP spid="13" grpId="0"/>
      <p:bldP spid="14" grpId="0"/>
      <p:bldP spid="15" grpId="0"/>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4.3. Kết luận</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Kết quả đạt được:</a:t>
            </a:r>
          </a:p>
        </p:txBody>
      </p:sp>
      <p:sp>
        <p:nvSpPr>
          <p:cNvPr id="13" name="TextBox 13"/>
          <p:cNvSpPr txBox="1"/>
          <p:nvPr/>
        </p:nvSpPr>
        <p:spPr>
          <a:xfrm>
            <a:off x="1028700" y="2496768"/>
            <a:ext cx="14344525"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Tìm hiểu về các khái niệm về chatbot, AI Agent, RAG, LLMs.</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được hệ thống trợ lý ảo pháp luật với kiến trúc AI Agent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Ứng dụng thành công kỹ thuật truy vấn RAG vào hệ thống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được ứng dụng Mobile và Web cho hệ thống</a:t>
            </a:r>
          </a:p>
        </p:txBody>
      </p:sp>
      <p:sp>
        <p:nvSpPr>
          <p:cNvPr id="14" name="TextBox 14"/>
          <p:cNvSpPr txBox="1"/>
          <p:nvPr/>
        </p:nvSpPr>
        <p:spPr>
          <a:xfrm>
            <a:off x="1028700" y="4802669"/>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Hạn chế:</a:t>
            </a:r>
          </a:p>
        </p:txBody>
      </p:sp>
      <p:sp>
        <p:nvSpPr>
          <p:cNvPr id="15" name="TextBox 15"/>
          <p:cNvSpPr txBox="1"/>
          <p:nvPr/>
        </p:nvSpPr>
        <p:spPr>
          <a:xfrm>
            <a:off x="1028700" y="5574194"/>
            <a:ext cx="14988879" cy="1086593"/>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Độ trễ phản hồi của pipeline Agentic RAG còn cao</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Bộ kiểm thử còn giới hạn, chưa bao phủ đầy đủ toàn bộ lĩnh vực pháp luật Việt Nam</a:t>
            </a:r>
          </a:p>
        </p:txBody>
      </p:sp>
      <p:sp>
        <p:nvSpPr>
          <p:cNvPr id="16" name="TextBox 16"/>
          <p:cNvSpPr txBox="1"/>
          <p:nvPr/>
        </p:nvSpPr>
        <p:spPr>
          <a:xfrm>
            <a:off x="1028700" y="6756037"/>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Hướng phát triển:</a:t>
            </a:r>
          </a:p>
        </p:txBody>
      </p:sp>
      <p:sp>
        <p:nvSpPr>
          <p:cNvPr id="17" name="TextBox 17"/>
          <p:cNvSpPr txBox="1"/>
          <p:nvPr/>
        </p:nvSpPr>
        <p:spPr>
          <a:xfrm>
            <a:off x="1028700" y="7527562"/>
            <a:ext cx="14988879" cy="164862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Tối ưu thời gian phản hồi của luồng Agentic RAG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Mở rộng và cập nhật kho dữ liệu pháp luật nội bộ</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Mở rộng thêm tính năng cho hệ thống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860"/>
                                  <p:tgtEl>
                                    <p:spTgt spid="15"/>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860"/>
                                  <p:tgtEl>
                                    <p:spTgt spid="16"/>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860"/>
                                  <p:tgtEl>
                                    <p:spTgt spid="17"/>
                                  </p:tgtEl>
                                </p:cBhvr>
                              </p:animEffect>
                            </p:childTnLst>
                          </p:cTn>
                        </p:par>
                      </p:childTnLst>
                    </p:cTn>
                  </p:par>
                </p:childTnLst>
              </p:cTn>
            </p:seq>
          </p:childTnLst>
        </p:cTn>
      </p:par>
    </p:tnLst>
    <p:bldLst>
      <p:bldP spid="10" grpId="0"/>
      <p:bldP spid="12" grpId="0"/>
      <p:bldP spid="13" grpId="0"/>
      <p:bldP spid="14" grpId="0"/>
      <p:bldP spid="15" grpId="0"/>
      <p:bldP spid="16"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1" name="TextBox 11"/>
          <p:cNvSpPr txBox="1"/>
          <p:nvPr/>
        </p:nvSpPr>
        <p:spPr>
          <a:xfrm>
            <a:off x="3334264" y="3539348"/>
            <a:ext cx="11619472" cy="1459103"/>
          </a:xfrm>
          <a:prstGeom prst="rect">
            <a:avLst/>
          </a:prstGeom>
        </p:spPr>
        <p:txBody>
          <a:bodyPr lIns="0" tIns="0" rIns="0" bIns="0" rtlCol="0" anchor="t">
            <a:spAutoFit/>
          </a:bodyPr>
          <a:lstStyle/>
          <a:p>
            <a:pPr algn="ctr">
              <a:lnSpc>
                <a:spcPts val="5656"/>
              </a:lnSpc>
            </a:pPr>
            <a:r>
              <a:rPr lang="en-US" sz="5600" b="1">
                <a:solidFill>
                  <a:srgbClr val="0C1D4B"/>
                </a:solidFill>
                <a:latin typeface="Roboto Slab Bold"/>
                <a:ea typeface="Roboto Slab Bold"/>
                <a:cs typeface="Roboto Slab Bold"/>
                <a:sym typeface="Roboto Slab Bold"/>
              </a:rPr>
              <a:t>CẢM ƠN THẦY CÔ VÀ CÁC BẠN ĐÃ LẮNG NGHE</a:t>
            </a:r>
          </a:p>
        </p:txBody>
      </p:sp>
      <p:grpSp>
        <p:nvGrpSpPr>
          <p:cNvPr id="12" name="Group 12"/>
          <p:cNvGrpSpPr/>
          <p:nvPr/>
        </p:nvGrpSpPr>
        <p:grpSpPr>
          <a:xfrm>
            <a:off x="5686529" y="5500645"/>
            <a:ext cx="6914943" cy="814121"/>
            <a:chOff x="0" y="0"/>
            <a:chExt cx="1821220" cy="214419"/>
          </a:xfrm>
        </p:grpSpPr>
        <p:sp>
          <p:nvSpPr>
            <p:cNvPr id="13" name="Freeform 13"/>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0C1D4B"/>
            </a:solidFill>
          </p:spPr>
          <p:txBody>
            <a:bodyPr/>
            <a:lstStyle/>
            <a:p>
              <a:endParaRPr lang="en-VN"/>
            </a:p>
          </p:txBody>
        </p:sp>
        <p:sp>
          <p:nvSpPr>
            <p:cNvPr id="14" name="TextBox 14"/>
            <p:cNvSpPr txBox="1"/>
            <p:nvPr/>
          </p:nvSpPr>
          <p:spPr>
            <a:xfrm>
              <a:off x="0" y="-47625"/>
              <a:ext cx="1821220" cy="262044"/>
            </a:xfrm>
            <a:prstGeom prst="rect">
              <a:avLst/>
            </a:prstGeom>
          </p:spPr>
          <p:txBody>
            <a:bodyPr lIns="50800" tIns="50800" rIns="50800" bIns="50800" rtlCol="0" anchor="ctr"/>
            <a:lstStyle/>
            <a:p>
              <a:pPr algn="ctr">
                <a:lnSpc>
                  <a:spcPts val="3779"/>
                </a:lnSpc>
              </a:pPr>
              <a:r>
                <a:rPr lang="en-US" sz="2699" b="1" spc="64">
                  <a:solidFill>
                    <a:srgbClr val="FFFFFF"/>
                  </a:solidFill>
                  <a:latin typeface="DM Sans Bold"/>
                  <a:ea typeface="DM Sans Bold"/>
                  <a:cs typeface="DM Sans Bold"/>
                  <a:sym typeface="DM Sans Bold"/>
                </a:rPr>
                <a:t>THANK YOU!</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1"/>
                                  </p:tgtEl>
                                  <p:attrNameLst>
                                    <p:attrName>style.visibility</p:attrName>
                                  </p:attrNameLst>
                                </p:cBhvr>
                                <p:to>
                                  <p:strVal val="visible"/>
                                </p:to>
                              </p:set>
                              <p:animEffect transition="in" filter="wipe(left)">
                                <p:cBhvr>
                                  <p:cTn id="6" dur="860"/>
                                  <p:tgtEl>
                                    <p:spTgt spid="11"/>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childTnLst>
                    </p:cTn>
                  </p:par>
                </p:childTnLst>
              </p:cTn>
            </p:seq>
          </p:childTnLst>
        </p:cTn>
      </p:par>
    </p:tnLst>
    <p:bldLst>
      <p:bldP spid="11" grpId="0"/>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3057</Words>
  <Application>Microsoft Macintosh PowerPoint</Application>
  <PresentationFormat>Custom</PresentationFormat>
  <Paragraphs>375</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Calibri</vt:lpstr>
      <vt:lpstr>Roboto Slab</vt:lpstr>
      <vt:lpstr>Roboto Bold Italics</vt:lpstr>
      <vt:lpstr>Roboto Italics</vt:lpstr>
      <vt:lpstr>Arial</vt:lpstr>
      <vt:lpstr>DM Sans Bold</vt:lpstr>
      <vt:lpstr>Roboto Slab Bold</vt:lpstr>
      <vt:lpstr>IBM Plex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sao của Báo cáo đồ án</dc:title>
  <cp:lastModifiedBy>Chris Green</cp:lastModifiedBy>
  <cp:revision>8</cp:revision>
  <dcterms:created xsi:type="dcterms:W3CDTF">2006-08-16T00:00:00Z</dcterms:created>
  <dcterms:modified xsi:type="dcterms:W3CDTF">2026-06-08T14:22:05Z</dcterms:modified>
  <dc:identifier>DAHL5LA9SxM</dc:identifier>
</cp:coreProperties>
</file>