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8288000" cy="10287000"/>
  <p:notesSz cx="6858000" cy="9144000"/>
  <p:embeddedFontLst>
    <p:embeddedFont>
      <p:font typeface="DM Sans Bold" pitchFamily="2" charset="77"/>
      <p:regular r:id="rId37"/>
      <p:bold r:id="rId38"/>
    </p:embeddedFont>
    <p:embeddedFont>
      <p:font typeface="IBM Plex Mono" panose="020B0509050203000203" pitchFamily="49" charset="77"/>
      <p:regular r:id="rId39"/>
      <p:bold r:id="rId40"/>
      <p:italic r:id="rId41"/>
    </p:embeddedFont>
    <p:embeddedFont>
      <p:font typeface="Roboto Bold Italics" panose="02000000000000000000"/>
      <p:regular r:id="rId42"/>
      <p:bold r:id="rId43"/>
      <p:italic r:id="rId44"/>
      <p:boldItalic r:id="rId45"/>
    </p:embeddedFont>
    <p:embeddedFont>
      <p:font typeface="Roboto Italics" panose="02000000000000000000"/>
      <p:regular r:id="rId46"/>
      <p:italic r:id="rId47"/>
    </p:embeddedFont>
    <p:embeddedFont>
      <p:font typeface="Roboto Slab" pitchFamily="2" charset="0"/>
      <p:regular r:id="rId48"/>
      <p:bold r:id="rId49"/>
    </p:embeddedFont>
    <p:embeddedFont>
      <p:font typeface="Roboto Slab Bold"/>
      <p:regular r:id="rId50"/>
      <p:bold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49" autoAdjust="0"/>
    <p:restoredTop sz="94677" autoAdjust="0"/>
  </p:normalViewPr>
  <p:slideViewPr>
    <p:cSldViewPr>
      <p:cViewPr varScale="1">
        <p:scale>
          <a:sx n="140" d="100"/>
          <a:sy n="140" d="100"/>
        </p:scale>
        <p:origin x="1224" y="3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sv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0.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20.sv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sv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sv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sv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3.sv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26.svg"/><Relationship Id="rId4" Type="http://schemas.openxmlformats.org/officeDocument/2006/relationships/image" Target="../media/image25.svg"/></Relationships>
</file>

<file path=ppt/slides/_rels/slide26.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1.png"/><Relationship Id="rId7" Type="http://schemas.openxmlformats.org/officeDocument/2006/relationships/image" Target="../media/image20.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1.sv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6.sv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27839" y="9986436"/>
            <a:ext cx="22035035" cy="2837612"/>
            <a:chOff x="0" y="0"/>
            <a:chExt cx="5803466" cy="747355"/>
          </a:xfrm>
        </p:grpSpPr>
        <p:sp>
          <p:nvSpPr>
            <p:cNvPr id="3" name="Freeform 3"/>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4" name="TextBox 4"/>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5" name="Freeform 5"/>
          <p:cNvSpPr/>
          <p:nvPr/>
        </p:nvSpPr>
        <p:spPr>
          <a:xfrm>
            <a:off x="8761779" y="1102374"/>
            <a:ext cx="2024168" cy="2144246"/>
          </a:xfrm>
          <a:custGeom>
            <a:avLst/>
            <a:gdLst/>
            <a:ahLst/>
            <a:cxnLst/>
            <a:rect l="l" t="t" r="r" b="b"/>
            <a:pathLst>
              <a:path w="2024168" h="2144246">
                <a:moveTo>
                  <a:pt x="0" y="0"/>
                </a:moveTo>
                <a:lnTo>
                  <a:pt x="2024169" y="0"/>
                </a:lnTo>
                <a:lnTo>
                  <a:pt x="2024169" y="2144246"/>
                </a:lnTo>
                <a:lnTo>
                  <a:pt x="0" y="2144246"/>
                </a:lnTo>
                <a:lnTo>
                  <a:pt x="0" y="0"/>
                </a:lnTo>
                <a:close/>
              </a:path>
            </a:pathLst>
          </a:custGeom>
          <a:blipFill>
            <a:blip r:embed="rId2"/>
            <a:stretch>
              <a:fillRect/>
            </a:stretch>
          </a:blipFill>
        </p:spPr>
        <p:txBody>
          <a:bodyPr/>
          <a:lstStyle/>
          <a:p>
            <a:endParaRPr lang="en-VN"/>
          </a:p>
        </p:txBody>
      </p:sp>
      <p:sp>
        <p:nvSpPr>
          <p:cNvPr id="6" name="TextBox 6"/>
          <p:cNvSpPr txBox="1"/>
          <p:nvPr/>
        </p:nvSpPr>
        <p:spPr>
          <a:xfrm>
            <a:off x="7769084" y="199955"/>
            <a:ext cx="4009560" cy="356289"/>
          </a:xfrm>
          <a:prstGeom prst="rect">
            <a:avLst/>
          </a:prstGeom>
        </p:spPr>
        <p:txBody>
          <a:bodyPr lIns="0" tIns="0" rIns="0" bIns="0" rtlCol="0" anchor="t">
            <a:spAutoFit/>
          </a:bodyPr>
          <a:lstStyle/>
          <a:p>
            <a:pPr algn="l">
              <a:lnSpc>
                <a:spcPts val="2940"/>
              </a:lnSpc>
            </a:pPr>
            <a:r>
              <a:rPr lang="en-US" sz="2100" b="1">
                <a:solidFill>
                  <a:srgbClr val="0C1D4B"/>
                </a:solidFill>
                <a:latin typeface="Roboto Slab Bold"/>
                <a:ea typeface="Roboto Slab Bold"/>
                <a:cs typeface="Roboto Slab Bold"/>
                <a:sym typeface="Roboto Slab Bold"/>
              </a:rPr>
              <a:t>HỌC VIỆN KỸ THUẬT MẬT MÃ</a:t>
            </a:r>
          </a:p>
        </p:txBody>
      </p:sp>
      <p:sp>
        <p:nvSpPr>
          <p:cNvPr id="7" name="TextBox 7"/>
          <p:cNvSpPr txBox="1"/>
          <p:nvPr/>
        </p:nvSpPr>
        <p:spPr>
          <a:xfrm>
            <a:off x="3708359" y="5394517"/>
            <a:ext cx="12131009" cy="1247667"/>
          </a:xfrm>
          <a:prstGeom prst="rect">
            <a:avLst/>
          </a:prstGeom>
        </p:spPr>
        <p:txBody>
          <a:bodyPr lIns="0" tIns="0" rIns="0" bIns="0" rtlCol="0" anchor="t">
            <a:spAutoFit/>
          </a:bodyPr>
          <a:lstStyle/>
          <a:p>
            <a:pPr algn="ctr">
              <a:lnSpc>
                <a:spcPts val="4954"/>
              </a:lnSpc>
            </a:pPr>
            <a:r>
              <a:rPr lang="en-US" sz="4129" b="1" spc="111">
                <a:solidFill>
                  <a:srgbClr val="0C1D4B"/>
                </a:solidFill>
                <a:latin typeface="Roboto Slab Bold"/>
                <a:ea typeface="Roboto Slab Bold"/>
                <a:cs typeface="Roboto Slab Bold"/>
                <a:sym typeface="Roboto Slab Bold"/>
              </a:rPr>
              <a:t>NGHIÊN CỨU PHÁT TRIỂN TRỢ LÝ ẢO PHÁP LUẬT CHO CHUYỂN ĐỔI SỐ</a:t>
            </a:r>
          </a:p>
        </p:txBody>
      </p:sp>
      <p:sp>
        <p:nvSpPr>
          <p:cNvPr id="8" name="TextBox 8"/>
          <p:cNvSpPr txBox="1"/>
          <p:nvPr/>
        </p:nvSpPr>
        <p:spPr>
          <a:xfrm>
            <a:off x="3164929" y="7594683"/>
            <a:ext cx="4063812" cy="1530975"/>
          </a:xfrm>
          <a:prstGeom prst="rect">
            <a:avLst/>
          </a:prstGeom>
        </p:spPr>
        <p:txBody>
          <a:bodyPr lIns="0" tIns="0" rIns="0" bIns="0" rtlCol="0" anchor="t">
            <a:spAutoFit/>
          </a:bodyPr>
          <a:lstStyle/>
          <a:p>
            <a:pPr algn="l">
              <a:lnSpc>
                <a:spcPts val="1983"/>
              </a:lnSpc>
            </a:pPr>
            <a:r>
              <a:rPr lang="en-US" sz="2542" spc="61">
                <a:solidFill>
                  <a:srgbClr val="0C1D4B"/>
                </a:solidFill>
                <a:latin typeface="Roboto Slab"/>
                <a:ea typeface="Roboto Slab"/>
                <a:cs typeface="Roboto Slab"/>
                <a:sym typeface="Roboto Slab"/>
              </a:rPr>
              <a:t>Sinh viên thực hiện</a:t>
            </a:r>
          </a:p>
          <a:p>
            <a:pPr marL="548995" lvl="1" indent="-274498" algn="l">
              <a:lnSpc>
                <a:spcPts val="3559"/>
              </a:lnSpc>
              <a:buFont typeface="Arial"/>
              <a:buChar char="•"/>
            </a:pPr>
            <a:r>
              <a:rPr lang="en-US" sz="2542" spc="61">
                <a:solidFill>
                  <a:srgbClr val="0C1D4B"/>
                </a:solidFill>
                <a:latin typeface="Roboto Slab"/>
                <a:ea typeface="Roboto Slab"/>
                <a:cs typeface="Roboto Slab"/>
                <a:sym typeface="Roboto Slab"/>
              </a:rPr>
              <a:t>Vương Văn Duy</a:t>
            </a:r>
          </a:p>
          <a:p>
            <a:pPr algn="l">
              <a:lnSpc>
                <a:spcPts val="3559"/>
              </a:lnSpc>
            </a:pPr>
            <a:r>
              <a:rPr lang="en-US" sz="2542" spc="61">
                <a:solidFill>
                  <a:srgbClr val="0C1D4B"/>
                </a:solidFill>
                <a:latin typeface="Roboto Slab"/>
                <a:ea typeface="Roboto Slab"/>
                <a:cs typeface="Roboto Slab"/>
                <a:sym typeface="Roboto Slab"/>
              </a:rPr>
              <a:t>Giảng viên hướng dẫn</a:t>
            </a:r>
          </a:p>
          <a:p>
            <a:pPr marL="548995" lvl="1" indent="-274498" algn="l">
              <a:lnSpc>
                <a:spcPts val="3559"/>
              </a:lnSpc>
              <a:buFont typeface="Arial"/>
              <a:buChar char="•"/>
            </a:pPr>
            <a:r>
              <a:rPr lang="en-US" sz="2542" spc="61">
                <a:solidFill>
                  <a:srgbClr val="0C1D4B"/>
                </a:solidFill>
                <a:latin typeface="Roboto Slab"/>
                <a:ea typeface="Roboto Slab"/>
                <a:cs typeface="Roboto Slab"/>
                <a:sym typeface="Roboto Slab"/>
              </a:rPr>
              <a:t>ThS. Trần Đức Thịnh</a:t>
            </a:r>
          </a:p>
        </p:txBody>
      </p:sp>
      <p:sp>
        <p:nvSpPr>
          <p:cNvPr id="9" name="TextBox 9"/>
          <p:cNvSpPr txBox="1"/>
          <p:nvPr/>
        </p:nvSpPr>
        <p:spPr>
          <a:xfrm>
            <a:off x="6844389" y="3916574"/>
            <a:ext cx="5858949" cy="346355"/>
          </a:xfrm>
          <a:prstGeom prst="rect">
            <a:avLst/>
          </a:prstGeom>
        </p:spPr>
        <p:txBody>
          <a:bodyPr lIns="0" tIns="0" rIns="0" bIns="0" rtlCol="0" anchor="t">
            <a:spAutoFit/>
          </a:bodyPr>
          <a:lstStyle/>
          <a:p>
            <a:pPr algn="l">
              <a:lnSpc>
                <a:spcPts val="2417"/>
              </a:lnSpc>
            </a:pPr>
            <a:r>
              <a:rPr lang="en-US" sz="3099" b="1" spc="74">
                <a:solidFill>
                  <a:srgbClr val="0C1D4B"/>
                </a:solidFill>
                <a:latin typeface="Roboto Slab Bold"/>
                <a:ea typeface="Roboto Slab Bold"/>
                <a:cs typeface="Roboto Slab Bold"/>
                <a:sym typeface="Roboto Slab Bold"/>
              </a:rPr>
              <a:t>BÁO CÁO ĐỒ ÁN TỐT NGHIỆP</a:t>
            </a:r>
          </a:p>
        </p:txBody>
      </p:sp>
      <p:sp>
        <p:nvSpPr>
          <p:cNvPr id="10" name="TextBox 10"/>
          <p:cNvSpPr txBox="1"/>
          <p:nvPr/>
        </p:nvSpPr>
        <p:spPr>
          <a:xfrm>
            <a:off x="3164929" y="4809801"/>
            <a:ext cx="3577720" cy="333699"/>
          </a:xfrm>
          <a:prstGeom prst="rect">
            <a:avLst/>
          </a:prstGeom>
        </p:spPr>
        <p:txBody>
          <a:bodyPr lIns="0" tIns="0" rIns="0" bIns="0" rtlCol="0" anchor="t">
            <a:spAutoFit/>
          </a:bodyPr>
          <a:lstStyle/>
          <a:p>
            <a:pPr algn="l">
              <a:lnSpc>
                <a:spcPts val="2373"/>
              </a:lnSpc>
            </a:pPr>
            <a:r>
              <a:rPr lang="en-US" sz="3042" spc="73">
                <a:solidFill>
                  <a:srgbClr val="0C1D4B"/>
                </a:solidFill>
                <a:latin typeface="Roboto Slab"/>
                <a:ea typeface="Roboto Slab"/>
                <a:cs typeface="Roboto Slab"/>
                <a:sym typeface="Roboto Slab"/>
              </a:rPr>
              <a:t>ĐỀ TÀI: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27839" y="9986436"/>
            <a:ext cx="22035035" cy="2837612"/>
            <a:chOff x="0" y="0"/>
            <a:chExt cx="5803466" cy="747355"/>
          </a:xfrm>
        </p:grpSpPr>
        <p:sp>
          <p:nvSpPr>
            <p:cNvPr id="3" name="Freeform 3"/>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4" name="TextBox 4"/>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4469617" y="2876965"/>
            <a:ext cx="9348766" cy="975360"/>
            <a:chOff x="0" y="0"/>
            <a:chExt cx="2462276" cy="257048"/>
          </a:xfrm>
        </p:grpSpPr>
        <p:sp>
          <p:nvSpPr>
            <p:cNvPr id="6" name="Freeform 6"/>
            <p:cNvSpPr/>
            <p:nvPr/>
          </p:nvSpPr>
          <p:spPr>
            <a:xfrm>
              <a:off x="0" y="0"/>
              <a:ext cx="2462276" cy="257048"/>
            </a:xfrm>
            <a:custGeom>
              <a:avLst/>
              <a:gdLst/>
              <a:ahLst/>
              <a:cxnLst/>
              <a:rect l="l" t="t" r="r" b="b"/>
              <a:pathLst>
                <a:path w="2462276" h="257048">
                  <a:moveTo>
                    <a:pt x="2462276" y="19047"/>
                  </a:moveTo>
                  <a:lnTo>
                    <a:pt x="2462276" y="238001"/>
                  </a:lnTo>
                  <a:cubicBezTo>
                    <a:pt x="2462276" y="243053"/>
                    <a:pt x="2460269" y="247897"/>
                    <a:pt x="2456697" y="251469"/>
                  </a:cubicBezTo>
                  <a:cubicBezTo>
                    <a:pt x="2453125" y="255041"/>
                    <a:pt x="2448281" y="257048"/>
                    <a:pt x="2443229" y="257048"/>
                  </a:cubicBezTo>
                  <a:lnTo>
                    <a:pt x="19047" y="257048"/>
                  </a:lnTo>
                  <a:cubicBezTo>
                    <a:pt x="13995" y="257048"/>
                    <a:pt x="9151" y="255041"/>
                    <a:pt x="5579" y="251469"/>
                  </a:cubicBezTo>
                  <a:cubicBezTo>
                    <a:pt x="2007" y="247897"/>
                    <a:pt x="0" y="243053"/>
                    <a:pt x="0" y="238001"/>
                  </a:cubicBezTo>
                  <a:lnTo>
                    <a:pt x="0" y="19047"/>
                  </a:lnTo>
                  <a:cubicBezTo>
                    <a:pt x="0" y="13995"/>
                    <a:pt x="2007" y="9151"/>
                    <a:pt x="5579" y="5579"/>
                  </a:cubicBezTo>
                  <a:cubicBezTo>
                    <a:pt x="9151" y="2007"/>
                    <a:pt x="13995" y="0"/>
                    <a:pt x="19047" y="0"/>
                  </a:cubicBezTo>
                  <a:lnTo>
                    <a:pt x="2443229" y="0"/>
                  </a:lnTo>
                  <a:cubicBezTo>
                    <a:pt x="2448281" y="0"/>
                    <a:pt x="2453125" y="2007"/>
                    <a:pt x="2456697" y="5579"/>
                  </a:cubicBezTo>
                  <a:cubicBezTo>
                    <a:pt x="2460269" y="9151"/>
                    <a:pt x="2462276" y="13995"/>
                    <a:pt x="2462276" y="19047"/>
                  </a:cubicBezTo>
                  <a:close/>
                </a:path>
              </a:pathLst>
            </a:custGeom>
            <a:solidFill>
              <a:srgbClr val="0C1D4B"/>
            </a:solidFill>
          </p:spPr>
          <p:txBody>
            <a:bodyPr/>
            <a:lstStyle/>
            <a:p>
              <a:endParaRPr lang="en-VN"/>
            </a:p>
          </p:txBody>
        </p:sp>
        <p:sp>
          <p:nvSpPr>
            <p:cNvPr id="7" name="TextBox 7"/>
            <p:cNvSpPr txBox="1"/>
            <p:nvPr/>
          </p:nvSpPr>
          <p:spPr>
            <a:xfrm>
              <a:off x="0" y="-57150"/>
              <a:ext cx="2462276" cy="314198"/>
            </a:xfrm>
            <a:prstGeom prst="rect">
              <a:avLst/>
            </a:prstGeom>
          </p:spPr>
          <p:txBody>
            <a:bodyPr lIns="50800" tIns="50800" rIns="50800" bIns="50800" rtlCol="0" anchor="ctr"/>
            <a:lstStyle/>
            <a:p>
              <a:pPr algn="ctr">
                <a:lnSpc>
                  <a:spcPts val="3919"/>
                </a:lnSpc>
              </a:pPr>
              <a:r>
                <a:rPr lang="en-US" sz="2799" b="1">
                  <a:solidFill>
                    <a:srgbClr val="FFFFFF"/>
                  </a:solidFill>
                  <a:latin typeface="Roboto Slab Bold"/>
                  <a:ea typeface="Roboto Slab Bold"/>
                  <a:cs typeface="Roboto Slab Bold"/>
                  <a:sym typeface="Roboto Slab Bold"/>
                </a:rPr>
                <a:t>1. PHÁT BIỂU BÀI TOÁN</a:t>
              </a:r>
            </a:p>
          </p:txBody>
        </p:sp>
      </p:grpSp>
      <p:sp>
        <p:nvSpPr>
          <p:cNvPr id="8" name="TextBox 8"/>
          <p:cNvSpPr txBox="1"/>
          <p:nvPr/>
        </p:nvSpPr>
        <p:spPr>
          <a:xfrm>
            <a:off x="7701061" y="1861633"/>
            <a:ext cx="2885878" cy="477063"/>
          </a:xfrm>
          <a:prstGeom prst="rect">
            <a:avLst/>
          </a:prstGeom>
        </p:spPr>
        <p:txBody>
          <a:bodyPr lIns="0" tIns="0" rIns="0" bIns="0" rtlCol="0" anchor="t">
            <a:spAutoFit/>
          </a:bodyPr>
          <a:lstStyle/>
          <a:p>
            <a:pPr algn="l">
              <a:lnSpc>
                <a:spcPts val="3353"/>
              </a:lnSpc>
            </a:pPr>
            <a:r>
              <a:rPr lang="en-US" sz="4299" b="1" spc="103">
                <a:solidFill>
                  <a:srgbClr val="0C1D4B"/>
                </a:solidFill>
                <a:latin typeface="Roboto Slab Bold"/>
                <a:ea typeface="Roboto Slab Bold"/>
                <a:cs typeface="Roboto Slab Bold"/>
                <a:sym typeface="Roboto Slab Bold"/>
              </a:rPr>
              <a:t>NỘI DUNG</a:t>
            </a:r>
          </a:p>
        </p:txBody>
      </p:sp>
      <p:grpSp>
        <p:nvGrpSpPr>
          <p:cNvPr id="9" name="Group 9"/>
          <p:cNvGrpSpPr/>
          <p:nvPr/>
        </p:nvGrpSpPr>
        <p:grpSpPr>
          <a:xfrm>
            <a:off x="4469617" y="4171115"/>
            <a:ext cx="9348766" cy="975360"/>
            <a:chOff x="0" y="0"/>
            <a:chExt cx="2462276" cy="257048"/>
          </a:xfrm>
        </p:grpSpPr>
        <p:sp>
          <p:nvSpPr>
            <p:cNvPr id="10" name="Freeform 10"/>
            <p:cNvSpPr/>
            <p:nvPr/>
          </p:nvSpPr>
          <p:spPr>
            <a:xfrm>
              <a:off x="0" y="0"/>
              <a:ext cx="2462276" cy="257048"/>
            </a:xfrm>
            <a:custGeom>
              <a:avLst/>
              <a:gdLst/>
              <a:ahLst/>
              <a:cxnLst/>
              <a:rect l="l" t="t" r="r" b="b"/>
              <a:pathLst>
                <a:path w="2462276" h="257048">
                  <a:moveTo>
                    <a:pt x="2462276" y="19047"/>
                  </a:moveTo>
                  <a:lnTo>
                    <a:pt x="2462276" y="238001"/>
                  </a:lnTo>
                  <a:cubicBezTo>
                    <a:pt x="2462276" y="243053"/>
                    <a:pt x="2460269" y="247897"/>
                    <a:pt x="2456697" y="251469"/>
                  </a:cubicBezTo>
                  <a:cubicBezTo>
                    <a:pt x="2453125" y="255041"/>
                    <a:pt x="2448281" y="257048"/>
                    <a:pt x="2443229" y="257048"/>
                  </a:cubicBezTo>
                  <a:lnTo>
                    <a:pt x="19047" y="257048"/>
                  </a:lnTo>
                  <a:cubicBezTo>
                    <a:pt x="13995" y="257048"/>
                    <a:pt x="9151" y="255041"/>
                    <a:pt x="5579" y="251469"/>
                  </a:cubicBezTo>
                  <a:cubicBezTo>
                    <a:pt x="2007" y="247897"/>
                    <a:pt x="0" y="243053"/>
                    <a:pt x="0" y="238001"/>
                  </a:cubicBezTo>
                  <a:lnTo>
                    <a:pt x="0" y="19047"/>
                  </a:lnTo>
                  <a:cubicBezTo>
                    <a:pt x="0" y="13995"/>
                    <a:pt x="2007" y="9151"/>
                    <a:pt x="5579" y="5579"/>
                  </a:cubicBezTo>
                  <a:cubicBezTo>
                    <a:pt x="9151" y="2007"/>
                    <a:pt x="13995" y="0"/>
                    <a:pt x="19047" y="0"/>
                  </a:cubicBezTo>
                  <a:lnTo>
                    <a:pt x="2443229" y="0"/>
                  </a:lnTo>
                  <a:cubicBezTo>
                    <a:pt x="2448281" y="0"/>
                    <a:pt x="2453125" y="2007"/>
                    <a:pt x="2456697" y="5579"/>
                  </a:cubicBezTo>
                  <a:cubicBezTo>
                    <a:pt x="2460269" y="9151"/>
                    <a:pt x="2462276" y="13995"/>
                    <a:pt x="2462276" y="19047"/>
                  </a:cubicBezTo>
                  <a:close/>
                </a:path>
              </a:pathLst>
            </a:custGeom>
            <a:solidFill>
              <a:srgbClr val="0C1D4B"/>
            </a:solidFill>
          </p:spPr>
          <p:txBody>
            <a:bodyPr/>
            <a:lstStyle/>
            <a:p>
              <a:endParaRPr lang="en-VN"/>
            </a:p>
          </p:txBody>
        </p:sp>
        <p:sp>
          <p:nvSpPr>
            <p:cNvPr id="11" name="TextBox 11"/>
            <p:cNvSpPr txBox="1"/>
            <p:nvPr/>
          </p:nvSpPr>
          <p:spPr>
            <a:xfrm>
              <a:off x="0" y="-57150"/>
              <a:ext cx="2462276" cy="314198"/>
            </a:xfrm>
            <a:prstGeom prst="rect">
              <a:avLst/>
            </a:prstGeom>
          </p:spPr>
          <p:txBody>
            <a:bodyPr lIns="50800" tIns="50800" rIns="50800" bIns="50800" rtlCol="0" anchor="ctr"/>
            <a:lstStyle/>
            <a:p>
              <a:pPr algn="ctr">
                <a:lnSpc>
                  <a:spcPts val="3919"/>
                </a:lnSpc>
              </a:pPr>
              <a:r>
                <a:rPr lang="en-US" sz="2799" b="1">
                  <a:solidFill>
                    <a:srgbClr val="FFFFFF"/>
                  </a:solidFill>
                  <a:latin typeface="Roboto Slab Bold"/>
                  <a:ea typeface="Roboto Slab Bold"/>
                  <a:cs typeface="Roboto Slab Bold"/>
                  <a:sym typeface="Roboto Slab Bold"/>
                </a:rPr>
                <a:t>2. CƠ SỞ LÝ THUYẾT</a:t>
              </a:r>
            </a:p>
          </p:txBody>
        </p:sp>
      </p:grpSp>
      <p:grpSp>
        <p:nvGrpSpPr>
          <p:cNvPr id="12" name="Group 12"/>
          <p:cNvGrpSpPr/>
          <p:nvPr/>
        </p:nvGrpSpPr>
        <p:grpSpPr>
          <a:xfrm>
            <a:off x="4469617" y="5460800"/>
            <a:ext cx="9348766" cy="975360"/>
            <a:chOff x="0" y="0"/>
            <a:chExt cx="2462276" cy="257048"/>
          </a:xfrm>
        </p:grpSpPr>
        <p:sp>
          <p:nvSpPr>
            <p:cNvPr id="13" name="Freeform 13"/>
            <p:cNvSpPr/>
            <p:nvPr/>
          </p:nvSpPr>
          <p:spPr>
            <a:xfrm>
              <a:off x="0" y="0"/>
              <a:ext cx="2462276" cy="257048"/>
            </a:xfrm>
            <a:custGeom>
              <a:avLst/>
              <a:gdLst/>
              <a:ahLst/>
              <a:cxnLst/>
              <a:rect l="l" t="t" r="r" b="b"/>
              <a:pathLst>
                <a:path w="2462276" h="257048">
                  <a:moveTo>
                    <a:pt x="2462276" y="19047"/>
                  </a:moveTo>
                  <a:lnTo>
                    <a:pt x="2462276" y="238001"/>
                  </a:lnTo>
                  <a:cubicBezTo>
                    <a:pt x="2462276" y="243053"/>
                    <a:pt x="2460269" y="247897"/>
                    <a:pt x="2456697" y="251469"/>
                  </a:cubicBezTo>
                  <a:cubicBezTo>
                    <a:pt x="2453125" y="255041"/>
                    <a:pt x="2448281" y="257048"/>
                    <a:pt x="2443229" y="257048"/>
                  </a:cubicBezTo>
                  <a:lnTo>
                    <a:pt x="19047" y="257048"/>
                  </a:lnTo>
                  <a:cubicBezTo>
                    <a:pt x="13995" y="257048"/>
                    <a:pt x="9151" y="255041"/>
                    <a:pt x="5579" y="251469"/>
                  </a:cubicBezTo>
                  <a:cubicBezTo>
                    <a:pt x="2007" y="247897"/>
                    <a:pt x="0" y="243053"/>
                    <a:pt x="0" y="238001"/>
                  </a:cubicBezTo>
                  <a:lnTo>
                    <a:pt x="0" y="19047"/>
                  </a:lnTo>
                  <a:cubicBezTo>
                    <a:pt x="0" y="13995"/>
                    <a:pt x="2007" y="9151"/>
                    <a:pt x="5579" y="5579"/>
                  </a:cubicBezTo>
                  <a:cubicBezTo>
                    <a:pt x="9151" y="2007"/>
                    <a:pt x="13995" y="0"/>
                    <a:pt x="19047" y="0"/>
                  </a:cubicBezTo>
                  <a:lnTo>
                    <a:pt x="2443229" y="0"/>
                  </a:lnTo>
                  <a:cubicBezTo>
                    <a:pt x="2448281" y="0"/>
                    <a:pt x="2453125" y="2007"/>
                    <a:pt x="2456697" y="5579"/>
                  </a:cubicBezTo>
                  <a:cubicBezTo>
                    <a:pt x="2460269" y="9151"/>
                    <a:pt x="2462276" y="13995"/>
                    <a:pt x="2462276" y="19047"/>
                  </a:cubicBezTo>
                  <a:close/>
                </a:path>
              </a:pathLst>
            </a:custGeom>
            <a:solidFill>
              <a:srgbClr val="0C1D4B"/>
            </a:solidFill>
          </p:spPr>
          <p:txBody>
            <a:bodyPr/>
            <a:lstStyle/>
            <a:p>
              <a:endParaRPr lang="en-VN"/>
            </a:p>
          </p:txBody>
        </p:sp>
        <p:sp>
          <p:nvSpPr>
            <p:cNvPr id="14" name="TextBox 14"/>
            <p:cNvSpPr txBox="1"/>
            <p:nvPr/>
          </p:nvSpPr>
          <p:spPr>
            <a:xfrm>
              <a:off x="0" y="-57150"/>
              <a:ext cx="2462276" cy="314198"/>
            </a:xfrm>
            <a:prstGeom prst="rect">
              <a:avLst/>
            </a:prstGeom>
          </p:spPr>
          <p:txBody>
            <a:bodyPr lIns="50800" tIns="50800" rIns="50800" bIns="50800" rtlCol="0" anchor="ctr"/>
            <a:lstStyle/>
            <a:p>
              <a:pPr algn="ctr">
                <a:lnSpc>
                  <a:spcPts val="3919"/>
                </a:lnSpc>
              </a:pPr>
              <a:r>
                <a:rPr lang="en-US" sz="2799" b="1">
                  <a:solidFill>
                    <a:srgbClr val="FFFFFF"/>
                  </a:solidFill>
                  <a:latin typeface="Roboto Slab Bold"/>
                  <a:ea typeface="Roboto Slab Bold"/>
                  <a:cs typeface="Roboto Slab Bold"/>
                  <a:sym typeface="Roboto Slab Bold"/>
                </a:rPr>
                <a:t>3. XÂY DỰNG HỆ THỐNG</a:t>
              </a:r>
            </a:p>
          </p:txBody>
        </p:sp>
      </p:grpSp>
      <p:grpSp>
        <p:nvGrpSpPr>
          <p:cNvPr id="15" name="Group 15"/>
          <p:cNvGrpSpPr/>
          <p:nvPr/>
        </p:nvGrpSpPr>
        <p:grpSpPr>
          <a:xfrm>
            <a:off x="4469617" y="6750485"/>
            <a:ext cx="9348766" cy="975360"/>
            <a:chOff x="0" y="0"/>
            <a:chExt cx="2462276" cy="257048"/>
          </a:xfrm>
        </p:grpSpPr>
        <p:sp>
          <p:nvSpPr>
            <p:cNvPr id="16" name="Freeform 16"/>
            <p:cNvSpPr/>
            <p:nvPr/>
          </p:nvSpPr>
          <p:spPr>
            <a:xfrm>
              <a:off x="0" y="0"/>
              <a:ext cx="2462276" cy="257048"/>
            </a:xfrm>
            <a:custGeom>
              <a:avLst/>
              <a:gdLst/>
              <a:ahLst/>
              <a:cxnLst/>
              <a:rect l="l" t="t" r="r" b="b"/>
              <a:pathLst>
                <a:path w="2462276" h="257048">
                  <a:moveTo>
                    <a:pt x="2462276" y="19047"/>
                  </a:moveTo>
                  <a:lnTo>
                    <a:pt x="2462276" y="238001"/>
                  </a:lnTo>
                  <a:cubicBezTo>
                    <a:pt x="2462276" y="243053"/>
                    <a:pt x="2460269" y="247897"/>
                    <a:pt x="2456697" y="251469"/>
                  </a:cubicBezTo>
                  <a:cubicBezTo>
                    <a:pt x="2453125" y="255041"/>
                    <a:pt x="2448281" y="257048"/>
                    <a:pt x="2443229" y="257048"/>
                  </a:cubicBezTo>
                  <a:lnTo>
                    <a:pt x="19047" y="257048"/>
                  </a:lnTo>
                  <a:cubicBezTo>
                    <a:pt x="13995" y="257048"/>
                    <a:pt x="9151" y="255041"/>
                    <a:pt x="5579" y="251469"/>
                  </a:cubicBezTo>
                  <a:cubicBezTo>
                    <a:pt x="2007" y="247897"/>
                    <a:pt x="0" y="243053"/>
                    <a:pt x="0" y="238001"/>
                  </a:cubicBezTo>
                  <a:lnTo>
                    <a:pt x="0" y="19047"/>
                  </a:lnTo>
                  <a:cubicBezTo>
                    <a:pt x="0" y="13995"/>
                    <a:pt x="2007" y="9151"/>
                    <a:pt x="5579" y="5579"/>
                  </a:cubicBezTo>
                  <a:cubicBezTo>
                    <a:pt x="9151" y="2007"/>
                    <a:pt x="13995" y="0"/>
                    <a:pt x="19047" y="0"/>
                  </a:cubicBezTo>
                  <a:lnTo>
                    <a:pt x="2443229" y="0"/>
                  </a:lnTo>
                  <a:cubicBezTo>
                    <a:pt x="2448281" y="0"/>
                    <a:pt x="2453125" y="2007"/>
                    <a:pt x="2456697" y="5579"/>
                  </a:cubicBezTo>
                  <a:cubicBezTo>
                    <a:pt x="2460269" y="9151"/>
                    <a:pt x="2462276" y="13995"/>
                    <a:pt x="2462276" y="19047"/>
                  </a:cubicBezTo>
                  <a:close/>
                </a:path>
              </a:pathLst>
            </a:custGeom>
            <a:solidFill>
              <a:srgbClr val="0C1D4B"/>
            </a:solidFill>
          </p:spPr>
          <p:txBody>
            <a:bodyPr/>
            <a:lstStyle/>
            <a:p>
              <a:endParaRPr lang="en-VN"/>
            </a:p>
          </p:txBody>
        </p:sp>
        <p:sp>
          <p:nvSpPr>
            <p:cNvPr id="17" name="TextBox 17"/>
            <p:cNvSpPr txBox="1"/>
            <p:nvPr/>
          </p:nvSpPr>
          <p:spPr>
            <a:xfrm>
              <a:off x="0" y="-57150"/>
              <a:ext cx="2462276" cy="314198"/>
            </a:xfrm>
            <a:prstGeom prst="rect">
              <a:avLst/>
            </a:prstGeom>
          </p:spPr>
          <p:txBody>
            <a:bodyPr lIns="50800" tIns="50800" rIns="50800" bIns="50800" rtlCol="0" anchor="ctr"/>
            <a:lstStyle/>
            <a:p>
              <a:pPr algn="ctr">
                <a:lnSpc>
                  <a:spcPts val="3919"/>
                </a:lnSpc>
              </a:pPr>
              <a:r>
                <a:rPr lang="en-US" sz="2799" b="1">
                  <a:solidFill>
                    <a:srgbClr val="FFFFFF"/>
                  </a:solidFill>
                  <a:latin typeface="Roboto Slab Bold"/>
                  <a:ea typeface="Roboto Slab Bold"/>
                  <a:cs typeface="Roboto Slab Bold"/>
                  <a:sym typeface="Roboto Slab Bold"/>
                </a:rPr>
                <a:t>4. THỰC NGHIỆM VÀ KẾT LUẬN</a:t>
              </a:r>
            </a:p>
          </p:txBody>
        </p:sp>
      </p:grpSp>
      <p:grpSp>
        <p:nvGrpSpPr>
          <p:cNvPr id="18" name="Group 18"/>
          <p:cNvGrpSpPr/>
          <p:nvPr/>
        </p:nvGrpSpPr>
        <p:grpSpPr>
          <a:xfrm rot="-10800000">
            <a:off x="17259300" y="-233820"/>
            <a:ext cx="1940843" cy="970417"/>
            <a:chOff x="0" y="0"/>
            <a:chExt cx="2587790" cy="1293889"/>
          </a:xfrm>
        </p:grpSpPr>
        <p:sp>
          <p:nvSpPr>
            <p:cNvPr id="19" name="Freeform 19"/>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20" name="Group 20"/>
          <p:cNvGrpSpPr/>
          <p:nvPr/>
        </p:nvGrpSpPr>
        <p:grpSpPr>
          <a:xfrm>
            <a:off x="-912143" y="9429369"/>
            <a:ext cx="1940843" cy="970417"/>
            <a:chOff x="0" y="0"/>
            <a:chExt cx="2587790" cy="1293889"/>
          </a:xfrm>
        </p:grpSpPr>
        <p:sp>
          <p:nvSpPr>
            <p:cNvPr id="21" name="Freeform 21"/>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sp>
        <p:nvSpPr>
          <p:cNvPr id="22" name="TextBox 22"/>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23" name="Freeform 23"/>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27839" y="9986436"/>
            <a:ext cx="22035035" cy="2837612"/>
            <a:chOff x="0" y="0"/>
            <a:chExt cx="5803466" cy="747355"/>
          </a:xfrm>
        </p:grpSpPr>
        <p:sp>
          <p:nvSpPr>
            <p:cNvPr id="3" name="Freeform 3"/>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4" name="TextBox 4"/>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rot="-10800000">
            <a:off x="17259300" y="-233820"/>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912143" y="9429369"/>
            <a:ext cx="1940843" cy="970417"/>
            <a:chOff x="0" y="0"/>
            <a:chExt cx="2587790" cy="1293889"/>
          </a:xfrm>
        </p:grpSpPr>
        <p:sp>
          <p:nvSpPr>
            <p:cNvPr id="8" name="Freeform 8"/>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sp>
        <p:nvSpPr>
          <p:cNvPr id="9" name="TextBox 9"/>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0" name="Freeform 10"/>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grpSp>
        <p:nvGrpSpPr>
          <p:cNvPr id="11" name="Group 11"/>
          <p:cNvGrpSpPr/>
          <p:nvPr/>
        </p:nvGrpSpPr>
        <p:grpSpPr>
          <a:xfrm>
            <a:off x="8555428" y="3969707"/>
            <a:ext cx="1177144" cy="1173793"/>
            <a:chOff x="0" y="0"/>
            <a:chExt cx="871377" cy="868896"/>
          </a:xfrm>
        </p:grpSpPr>
        <p:sp>
          <p:nvSpPr>
            <p:cNvPr id="12" name="Freeform 12"/>
            <p:cNvSpPr/>
            <p:nvPr/>
          </p:nvSpPr>
          <p:spPr>
            <a:xfrm>
              <a:off x="0" y="0"/>
              <a:ext cx="871377" cy="868896"/>
            </a:xfrm>
            <a:custGeom>
              <a:avLst/>
              <a:gdLst/>
              <a:ahLst/>
              <a:cxnLst/>
              <a:rect l="l" t="t" r="r" b="b"/>
              <a:pathLst>
                <a:path w="871377" h="868896">
                  <a:moveTo>
                    <a:pt x="435688" y="0"/>
                  </a:moveTo>
                  <a:cubicBezTo>
                    <a:pt x="195064" y="0"/>
                    <a:pt x="0" y="194509"/>
                    <a:pt x="0" y="434448"/>
                  </a:cubicBezTo>
                  <a:cubicBezTo>
                    <a:pt x="0" y="674387"/>
                    <a:pt x="195064" y="868896"/>
                    <a:pt x="435688" y="868896"/>
                  </a:cubicBezTo>
                  <a:cubicBezTo>
                    <a:pt x="676312" y="868896"/>
                    <a:pt x="871377" y="674387"/>
                    <a:pt x="871377" y="434448"/>
                  </a:cubicBezTo>
                  <a:cubicBezTo>
                    <a:pt x="871377" y="194509"/>
                    <a:pt x="676312" y="0"/>
                    <a:pt x="435688" y="0"/>
                  </a:cubicBezTo>
                  <a:close/>
                </a:path>
              </a:pathLst>
            </a:custGeom>
            <a:solidFill>
              <a:srgbClr val="0C1D4B"/>
            </a:solidFill>
          </p:spPr>
          <p:txBody>
            <a:bodyPr/>
            <a:lstStyle/>
            <a:p>
              <a:endParaRPr lang="en-VN"/>
            </a:p>
          </p:txBody>
        </p:sp>
        <p:sp>
          <p:nvSpPr>
            <p:cNvPr id="13" name="TextBox 13"/>
            <p:cNvSpPr txBox="1"/>
            <p:nvPr/>
          </p:nvSpPr>
          <p:spPr>
            <a:xfrm>
              <a:off x="81692" y="14784"/>
              <a:ext cx="707993" cy="772653"/>
            </a:xfrm>
            <a:prstGeom prst="rect">
              <a:avLst/>
            </a:prstGeom>
          </p:spPr>
          <p:txBody>
            <a:bodyPr lIns="50800" tIns="50800" rIns="50800" bIns="50800" rtlCol="0" anchor="ctr"/>
            <a:lstStyle/>
            <a:p>
              <a:pPr algn="ctr">
                <a:lnSpc>
                  <a:spcPts val="5880"/>
                </a:lnSpc>
              </a:pPr>
              <a:r>
                <a:rPr lang="en-US" sz="4200" b="1">
                  <a:solidFill>
                    <a:srgbClr val="FFFFFF"/>
                  </a:solidFill>
                  <a:latin typeface="Roboto Slab Bold"/>
                  <a:ea typeface="Roboto Slab Bold"/>
                  <a:cs typeface="Roboto Slab Bold"/>
                  <a:sym typeface="Roboto Slab Bold"/>
                </a:rPr>
                <a:t>1</a:t>
              </a:r>
            </a:p>
          </p:txBody>
        </p:sp>
      </p:grpSp>
      <p:sp>
        <p:nvSpPr>
          <p:cNvPr id="14" name="TextBox 14"/>
          <p:cNvSpPr txBox="1"/>
          <p:nvPr/>
        </p:nvSpPr>
        <p:spPr>
          <a:xfrm>
            <a:off x="5839542" y="5360956"/>
            <a:ext cx="6608916" cy="630228"/>
          </a:xfrm>
          <a:prstGeom prst="rect">
            <a:avLst/>
          </a:prstGeom>
        </p:spPr>
        <p:txBody>
          <a:bodyPr lIns="0" tIns="0" rIns="0" bIns="0" rtlCol="0" anchor="t">
            <a:spAutoFit/>
          </a:bodyPr>
          <a:lstStyle/>
          <a:p>
            <a:pPr algn="ctr">
              <a:lnSpc>
                <a:spcPts val="4848"/>
              </a:lnSpc>
            </a:pPr>
            <a:r>
              <a:rPr lang="en-US" sz="4800" b="1">
                <a:solidFill>
                  <a:srgbClr val="0C1D4B"/>
                </a:solidFill>
                <a:latin typeface="Roboto Slab Bold"/>
                <a:ea typeface="Roboto Slab Bold"/>
                <a:cs typeface="Roboto Slab Bold"/>
                <a:sym typeface="Roboto Slab Bold"/>
              </a:rPr>
              <a:t>PHÁT BIỂU BÀI TOÁN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601470" y="9477699"/>
            <a:ext cx="4657830" cy="436883"/>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3" name="TextBox 3"/>
          <p:cNvSpPr txBox="1"/>
          <p:nvPr/>
        </p:nvSpPr>
        <p:spPr>
          <a:xfrm>
            <a:off x="1031276" y="1095375"/>
            <a:ext cx="4921611"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1.1. Lý do chọn đề tài</a:t>
            </a:r>
          </a:p>
        </p:txBody>
      </p:sp>
      <p:sp>
        <p:nvSpPr>
          <p:cNvPr id="4" name="TextBox 4"/>
          <p:cNvSpPr txBox="1"/>
          <p:nvPr/>
        </p:nvSpPr>
        <p:spPr>
          <a:xfrm>
            <a:off x="1040801" y="1839543"/>
            <a:ext cx="9848374" cy="4558463"/>
          </a:xfrm>
          <a:prstGeom prst="rect">
            <a:avLst/>
          </a:prstGeom>
        </p:spPr>
        <p:txBody>
          <a:bodyPr lIns="0" tIns="0" rIns="0" bIns="0" rtlCol="0" anchor="t">
            <a:spAutoFit/>
          </a:bodyPr>
          <a:lstStyle/>
          <a:p>
            <a:pPr algn="just">
              <a:lnSpc>
                <a:spcPts val="4800"/>
              </a:lnSpc>
            </a:pPr>
            <a:r>
              <a:rPr lang="en-US" sz="3000" b="1">
                <a:solidFill>
                  <a:srgbClr val="0C1D4B"/>
                </a:solidFill>
                <a:latin typeface="Roboto Slab Bold"/>
                <a:ea typeface="Roboto Slab Bold"/>
                <a:cs typeface="Roboto Slab Bold"/>
                <a:sym typeface="Roboto Slab Bold"/>
              </a:rPr>
              <a:t>Bắt nguồn từ những khó khăn trong quá trình tra cứu, tiếp cận thông tin về pháp luật của người dân:</a:t>
            </a:r>
          </a:p>
          <a:p>
            <a:pPr marL="640079" lvl="2" indent="-213360" algn="just">
              <a:lnSpc>
                <a:spcPts val="4479"/>
              </a:lnSpc>
              <a:buFont typeface="Arial"/>
              <a:buChar char="⚬"/>
            </a:pPr>
            <a:r>
              <a:rPr lang="en-US" sz="2799">
                <a:solidFill>
                  <a:srgbClr val="0C1D4B"/>
                </a:solidFill>
                <a:latin typeface="Roboto Slab"/>
                <a:ea typeface="Roboto Slab"/>
                <a:cs typeface="Roboto Slab"/>
                <a:sym typeface="Roboto Slab"/>
              </a:rPr>
              <a:t>Hệ thống văn bản pháp luật có khối lượng lớn, cấu trúc dài và nhiều điều khoản</a:t>
            </a:r>
          </a:p>
          <a:p>
            <a:pPr marL="640079" lvl="2" indent="-213360" algn="just">
              <a:lnSpc>
                <a:spcPts val="4479"/>
              </a:lnSpc>
              <a:buFont typeface="Arial"/>
              <a:buChar char="⚬"/>
            </a:pPr>
            <a:r>
              <a:rPr lang="en-US" sz="2799">
                <a:solidFill>
                  <a:srgbClr val="0C1D4B"/>
                </a:solidFill>
                <a:latin typeface="Roboto Slab"/>
                <a:ea typeface="Roboto Slab"/>
                <a:cs typeface="Roboto Slab"/>
                <a:sym typeface="Roboto Slab"/>
              </a:rPr>
              <a:t>Một quy định có thể thay đổi, bị thay thế hoặc được cập nhật bởi văn bản mới</a:t>
            </a:r>
          </a:p>
          <a:p>
            <a:pPr marL="640079" lvl="2" indent="-213360" algn="just">
              <a:lnSpc>
                <a:spcPts val="4479"/>
              </a:lnSpc>
              <a:buFont typeface="Arial"/>
              <a:buChar char="⚬"/>
            </a:pPr>
            <a:r>
              <a:rPr lang="en-US" sz="2799">
                <a:solidFill>
                  <a:srgbClr val="0C1D4B"/>
                </a:solidFill>
                <a:latin typeface="Roboto Slab"/>
                <a:ea typeface="Roboto Slab"/>
                <a:cs typeface="Roboto Slab"/>
                <a:sym typeface="Roboto Slab"/>
              </a:rPr>
              <a:t>Người dùng phổ thông khó xác định văn bản nào đang còn hiệu lực và khó chọn từ khóa tra cứu đúng</a:t>
            </a:r>
          </a:p>
        </p:txBody>
      </p:sp>
      <p:grpSp>
        <p:nvGrpSpPr>
          <p:cNvPr id="5" name="Group 5"/>
          <p:cNvGrpSpPr/>
          <p:nvPr/>
        </p:nvGrpSpPr>
        <p:grpSpPr>
          <a:xfrm rot="-10800000">
            <a:off x="17259300" y="-233820"/>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912143" y="9429369"/>
            <a:ext cx="1940843" cy="970417"/>
            <a:chOff x="0" y="0"/>
            <a:chExt cx="2587790" cy="1293889"/>
          </a:xfrm>
        </p:grpSpPr>
        <p:sp>
          <p:nvSpPr>
            <p:cNvPr id="8" name="Freeform 8"/>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sp>
        <p:nvSpPr>
          <p:cNvPr id="9" name="Freeform 9"/>
          <p:cNvSpPr/>
          <p:nvPr/>
        </p:nvSpPr>
        <p:spPr>
          <a:xfrm>
            <a:off x="11627444" y="2615298"/>
            <a:ext cx="6036754" cy="4840376"/>
          </a:xfrm>
          <a:custGeom>
            <a:avLst/>
            <a:gdLst/>
            <a:ahLst/>
            <a:cxnLst/>
            <a:rect l="l" t="t" r="r" b="b"/>
            <a:pathLst>
              <a:path w="6036754" h="4840376">
                <a:moveTo>
                  <a:pt x="0" y="0"/>
                </a:moveTo>
                <a:lnTo>
                  <a:pt x="6036754" y="0"/>
                </a:lnTo>
                <a:lnTo>
                  <a:pt x="6036754" y="4840377"/>
                </a:lnTo>
                <a:lnTo>
                  <a:pt x="0" y="4840377"/>
                </a:lnTo>
                <a:lnTo>
                  <a:pt x="0" y="0"/>
                </a:lnTo>
                <a:close/>
              </a:path>
            </a:pathLst>
          </a:custGeom>
          <a:blipFill>
            <a:blip>
              <a:extLst>
                <a:ext uri="{96DAC541-7B7A-43D3-8B79-37D633B846F1}">
                  <asvg:svgBlip xmlns:asvg="http://schemas.microsoft.com/office/drawing/2016/SVG/main" r:embed="rId3"/>
                </a:ext>
              </a:extLst>
            </a:blip>
            <a:stretch>
              <a:fillRect t="-161" b="-162"/>
            </a:stretch>
          </a:blipFill>
        </p:spPr>
        <p:txBody>
          <a:bodyPr/>
          <a:lstStyle/>
          <a:p>
            <a:endParaRPr lang="en-VN"/>
          </a:p>
        </p:txBody>
      </p:sp>
      <p:grpSp>
        <p:nvGrpSpPr>
          <p:cNvPr id="10" name="Group 10"/>
          <p:cNvGrpSpPr/>
          <p:nvPr/>
        </p:nvGrpSpPr>
        <p:grpSpPr>
          <a:xfrm>
            <a:off x="-3127839" y="9986436"/>
            <a:ext cx="22035035" cy="2837612"/>
            <a:chOff x="0" y="0"/>
            <a:chExt cx="5803466" cy="747355"/>
          </a:xfrm>
        </p:grpSpPr>
        <p:sp>
          <p:nvSpPr>
            <p:cNvPr id="11" name="Freeform 11"/>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12" name="TextBox 12"/>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13" name="TextBox 13"/>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4" name="Freeform 14"/>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4"/>
            <a:stretch>
              <a:fillRect/>
            </a:stretch>
          </a:blipFill>
        </p:spPr>
        <p:txBody>
          <a:bodyPr/>
          <a:lstStyle/>
          <a:p>
            <a:endParaRPr lang="en-V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95375"/>
            <a:ext cx="447607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1.2. Mục tiêu đề tài</a:t>
            </a:r>
          </a:p>
        </p:txBody>
      </p:sp>
      <p:grpSp>
        <p:nvGrpSpPr>
          <p:cNvPr id="3" name="Group 3"/>
          <p:cNvGrpSpPr/>
          <p:nvPr/>
        </p:nvGrpSpPr>
        <p:grpSpPr>
          <a:xfrm rot="-10800000">
            <a:off x="17259300" y="-233820"/>
            <a:ext cx="1940843" cy="970417"/>
            <a:chOff x="0" y="0"/>
            <a:chExt cx="2587790" cy="1293889"/>
          </a:xfrm>
        </p:grpSpPr>
        <p:sp>
          <p:nvSpPr>
            <p:cNvPr id="4" name="Freeform 4"/>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5" name="Group 5"/>
          <p:cNvGrpSpPr/>
          <p:nvPr/>
        </p:nvGrpSpPr>
        <p:grpSpPr>
          <a:xfrm>
            <a:off x="-912143" y="9429369"/>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3127839" y="9986436"/>
            <a:ext cx="22035035" cy="2837612"/>
            <a:chOff x="0" y="0"/>
            <a:chExt cx="5803466" cy="747355"/>
          </a:xfrm>
        </p:grpSpPr>
        <p:sp>
          <p:nvSpPr>
            <p:cNvPr id="8" name="Freeform 8"/>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9" name="TextBox 9"/>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10" name="TextBox 10"/>
          <p:cNvSpPr txBox="1"/>
          <p:nvPr/>
        </p:nvSpPr>
        <p:spPr>
          <a:xfrm>
            <a:off x="1028700" y="1725243"/>
            <a:ext cx="16230600"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Mục tiêu xây dựng hệ thống Chatbot pháp luật đáp ứng những yêu cầu sau:</a:t>
            </a:r>
          </a:p>
        </p:txBody>
      </p:sp>
      <p:grpSp>
        <p:nvGrpSpPr>
          <p:cNvPr id="11" name="Group 11"/>
          <p:cNvGrpSpPr/>
          <p:nvPr/>
        </p:nvGrpSpPr>
        <p:grpSpPr>
          <a:xfrm>
            <a:off x="6389385" y="3668453"/>
            <a:ext cx="5253012" cy="3901766"/>
            <a:chOff x="0" y="0"/>
            <a:chExt cx="7004016" cy="5202355"/>
          </a:xfrm>
        </p:grpSpPr>
        <p:sp>
          <p:nvSpPr>
            <p:cNvPr id="12" name="Freeform 12"/>
            <p:cNvSpPr/>
            <p:nvPr/>
          </p:nvSpPr>
          <p:spPr>
            <a:xfrm>
              <a:off x="2105326" y="0"/>
              <a:ext cx="2793365" cy="2793365"/>
            </a:xfrm>
            <a:custGeom>
              <a:avLst/>
              <a:gdLst/>
              <a:ahLst/>
              <a:cxnLst/>
              <a:rect l="l" t="t" r="r" b="b"/>
              <a:pathLst>
                <a:path w="2793365" h="2793365">
                  <a:moveTo>
                    <a:pt x="0" y="0"/>
                  </a:moveTo>
                  <a:lnTo>
                    <a:pt x="2793365" y="0"/>
                  </a:lnTo>
                  <a:lnTo>
                    <a:pt x="2793365" y="2793365"/>
                  </a:lnTo>
                  <a:lnTo>
                    <a:pt x="0" y="279336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13" name="TextBox 13"/>
            <p:cNvSpPr txBox="1"/>
            <p:nvPr/>
          </p:nvSpPr>
          <p:spPr>
            <a:xfrm>
              <a:off x="0" y="2907883"/>
              <a:ext cx="7004016" cy="2294471"/>
            </a:xfrm>
            <a:prstGeom prst="rect">
              <a:avLst/>
            </a:prstGeom>
          </p:spPr>
          <p:txBody>
            <a:bodyPr lIns="0" tIns="0" rIns="0" bIns="0" rtlCol="0" anchor="t">
              <a:spAutoFit/>
            </a:bodyPr>
            <a:lstStyle/>
            <a:p>
              <a:pPr algn="ctr">
                <a:lnSpc>
                  <a:spcPts val="4800"/>
                </a:lnSpc>
              </a:pPr>
              <a:r>
                <a:rPr lang="en-US" sz="2400" b="1">
                  <a:solidFill>
                    <a:srgbClr val="0C1D4B"/>
                  </a:solidFill>
                  <a:latin typeface="Roboto Slab Bold"/>
                  <a:ea typeface="Roboto Slab Bold"/>
                  <a:cs typeface="Roboto Slab Bold"/>
                  <a:sym typeface="Roboto Slab Bold"/>
                </a:rPr>
                <a:t>Cung cấp câu trả lời có căn cứ, có nguồn tham chiếu và phù hợp với ngữ cảnh câu hỏi</a:t>
              </a:r>
            </a:p>
          </p:txBody>
        </p:sp>
      </p:grpSp>
      <p:grpSp>
        <p:nvGrpSpPr>
          <p:cNvPr id="14" name="Group 14"/>
          <p:cNvGrpSpPr/>
          <p:nvPr/>
        </p:nvGrpSpPr>
        <p:grpSpPr>
          <a:xfrm>
            <a:off x="483980" y="3733676"/>
            <a:ext cx="5253012" cy="3226890"/>
            <a:chOff x="0" y="0"/>
            <a:chExt cx="7004016" cy="4302519"/>
          </a:xfrm>
        </p:grpSpPr>
        <p:sp>
          <p:nvSpPr>
            <p:cNvPr id="15" name="Freeform 15"/>
            <p:cNvSpPr/>
            <p:nvPr/>
          </p:nvSpPr>
          <p:spPr>
            <a:xfrm>
              <a:off x="2139489" y="0"/>
              <a:ext cx="2725039" cy="2619438"/>
            </a:xfrm>
            <a:custGeom>
              <a:avLst/>
              <a:gdLst/>
              <a:ahLst/>
              <a:cxnLst/>
              <a:rect l="l" t="t" r="r" b="b"/>
              <a:pathLst>
                <a:path w="2725039" h="2619438">
                  <a:moveTo>
                    <a:pt x="0" y="0"/>
                  </a:moveTo>
                  <a:lnTo>
                    <a:pt x="2725039" y="0"/>
                  </a:lnTo>
                  <a:lnTo>
                    <a:pt x="2725039" y="2619438"/>
                  </a:lnTo>
                  <a:lnTo>
                    <a:pt x="0" y="2619438"/>
                  </a:lnTo>
                  <a:lnTo>
                    <a:pt x="0" y="0"/>
                  </a:lnTo>
                  <a:close/>
                </a:path>
              </a:pathLst>
            </a:custGeom>
            <a:blipFill>
              <a:blip>
                <a:extLst>
                  <a:ext uri="{96DAC541-7B7A-43D3-8B79-37D633B846F1}">
                    <asvg:svgBlip xmlns:asvg="http://schemas.microsoft.com/office/drawing/2016/SVG/main" r:embed="rId4"/>
                  </a:ext>
                </a:extLst>
              </a:blip>
              <a:stretch>
                <a:fillRect t="-79" b="-80"/>
              </a:stretch>
            </a:blipFill>
          </p:spPr>
          <p:txBody>
            <a:bodyPr/>
            <a:lstStyle/>
            <a:p>
              <a:endParaRPr lang="en-VN"/>
            </a:p>
          </p:txBody>
        </p:sp>
        <p:sp>
          <p:nvSpPr>
            <p:cNvPr id="16" name="TextBox 16"/>
            <p:cNvSpPr txBox="1"/>
            <p:nvPr/>
          </p:nvSpPr>
          <p:spPr>
            <a:xfrm>
              <a:off x="0" y="2820920"/>
              <a:ext cx="7004016" cy="1481599"/>
            </a:xfrm>
            <a:prstGeom prst="rect">
              <a:avLst/>
            </a:prstGeom>
          </p:spPr>
          <p:txBody>
            <a:bodyPr lIns="0" tIns="0" rIns="0" bIns="0" rtlCol="0" anchor="t">
              <a:spAutoFit/>
            </a:bodyPr>
            <a:lstStyle/>
            <a:p>
              <a:pPr algn="ctr">
                <a:lnSpc>
                  <a:spcPts val="4800"/>
                </a:lnSpc>
              </a:pPr>
              <a:r>
                <a:rPr lang="en-US" sz="2400" b="1">
                  <a:solidFill>
                    <a:srgbClr val="0C1D4B"/>
                  </a:solidFill>
                  <a:latin typeface="Roboto Slab Bold"/>
                  <a:ea typeface="Roboto Slab Bold"/>
                  <a:cs typeface="Roboto Slab Bold"/>
                  <a:sym typeface="Roboto Slab Bold"/>
                </a:rPr>
                <a:t>Hỗ trợ người dùng tra cứu và tư vấn pháp luật bằng ngôn ngữ tự nhiên</a:t>
              </a:r>
            </a:p>
          </p:txBody>
        </p:sp>
      </p:grpSp>
      <p:grpSp>
        <p:nvGrpSpPr>
          <p:cNvPr id="17" name="Group 17"/>
          <p:cNvGrpSpPr/>
          <p:nvPr/>
        </p:nvGrpSpPr>
        <p:grpSpPr>
          <a:xfrm>
            <a:off x="12551008" y="3668453"/>
            <a:ext cx="5253012" cy="3901766"/>
            <a:chOff x="0" y="0"/>
            <a:chExt cx="7004016" cy="5202355"/>
          </a:xfrm>
        </p:grpSpPr>
        <p:sp>
          <p:nvSpPr>
            <p:cNvPr id="18" name="Freeform 18"/>
            <p:cNvSpPr/>
            <p:nvPr/>
          </p:nvSpPr>
          <p:spPr>
            <a:xfrm>
              <a:off x="2382198" y="0"/>
              <a:ext cx="2239620" cy="2619438"/>
            </a:xfrm>
            <a:custGeom>
              <a:avLst/>
              <a:gdLst/>
              <a:ahLst/>
              <a:cxnLst/>
              <a:rect l="l" t="t" r="r" b="b"/>
              <a:pathLst>
                <a:path w="2239620" h="2619438">
                  <a:moveTo>
                    <a:pt x="0" y="0"/>
                  </a:moveTo>
                  <a:lnTo>
                    <a:pt x="2239620" y="0"/>
                  </a:lnTo>
                  <a:lnTo>
                    <a:pt x="2239620" y="2619438"/>
                  </a:lnTo>
                  <a:lnTo>
                    <a:pt x="0" y="2619438"/>
                  </a:lnTo>
                  <a:lnTo>
                    <a:pt x="0" y="0"/>
                  </a:lnTo>
                  <a:close/>
                </a:path>
              </a:pathLst>
            </a:custGeom>
            <a:blipFill>
              <a:blip>
                <a:extLst>
                  <a:ext uri="{96DAC541-7B7A-43D3-8B79-37D633B846F1}">
                    <asvg:svgBlip xmlns:asvg="http://schemas.microsoft.com/office/drawing/2016/SVG/main" r:embed="rId5"/>
                  </a:ext>
                </a:extLst>
              </a:blip>
              <a:stretch>
                <a:fillRect l="-3" r="-4"/>
              </a:stretch>
            </a:blipFill>
          </p:spPr>
          <p:txBody>
            <a:bodyPr/>
            <a:lstStyle/>
            <a:p>
              <a:endParaRPr lang="en-VN"/>
            </a:p>
          </p:txBody>
        </p:sp>
        <p:sp>
          <p:nvSpPr>
            <p:cNvPr id="19" name="TextBox 19"/>
            <p:cNvSpPr txBox="1"/>
            <p:nvPr/>
          </p:nvSpPr>
          <p:spPr>
            <a:xfrm>
              <a:off x="0" y="2907883"/>
              <a:ext cx="7004016" cy="2294471"/>
            </a:xfrm>
            <a:prstGeom prst="rect">
              <a:avLst/>
            </a:prstGeom>
          </p:spPr>
          <p:txBody>
            <a:bodyPr lIns="0" tIns="0" rIns="0" bIns="0" rtlCol="0" anchor="t">
              <a:spAutoFit/>
            </a:bodyPr>
            <a:lstStyle/>
            <a:p>
              <a:pPr algn="ctr">
                <a:lnSpc>
                  <a:spcPts val="4800"/>
                </a:lnSpc>
              </a:pPr>
              <a:r>
                <a:rPr lang="en-US" sz="2400" b="1">
                  <a:solidFill>
                    <a:srgbClr val="0C1D4B"/>
                  </a:solidFill>
                  <a:latin typeface="Roboto Slab Bold"/>
                  <a:ea typeface="Roboto Slab Bold"/>
                  <a:cs typeface="Roboto Slab Bold"/>
                  <a:sym typeface="Roboto Slab Bold"/>
                </a:rPr>
                <a:t>Tổ chức kho tri thức pháp luật để hệ thống có thể tìm kiếm, truy hồi và cập nhật dữ liệu</a:t>
              </a:r>
            </a:p>
          </p:txBody>
        </p:sp>
      </p:grpSp>
      <p:sp>
        <p:nvSpPr>
          <p:cNvPr id="20" name="TextBox 20"/>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21" name="Freeform 21"/>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6"/>
            <a:stretch>
              <a:fillRect/>
            </a:stretch>
          </a:blipFill>
        </p:spPr>
        <p:txBody>
          <a:bodyPr/>
          <a:lstStyle/>
          <a:p>
            <a:endParaRPr lang="en-V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27839" y="9986436"/>
            <a:ext cx="22035035" cy="2837612"/>
            <a:chOff x="0" y="0"/>
            <a:chExt cx="5803466" cy="747355"/>
          </a:xfrm>
        </p:grpSpPr>
        <p:sp>
          <p:nvSpPr>
            <p:cNvPr id="3" name="Freeform 3"/>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4" name="TextBox 4"/>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rot="-10800000">
            <a:off x="17259300" y="-233820"/>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912143" y="9429369"/>
            <a:ext cx="1940843" cy="970417"/>
            <a:chOff x="0" y="0"/>
            <a:chExt cx="2587790" cy="1293889"/>
          </a:xfrm>
        </p:grpSpPr>
        <p:sp>
          <p:nvSpPr>
            <p:cNvPr id="8" name="Freeform 8"/>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sp>
        <p:nvSpPr>
          <p:cNvPr id="9" name="TextBox 9"/>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0" name="Freeform 10"/>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grpSp>
        <p:nvGrpSpPr>
          <p:cNvPr id="11" name="Group 11"/>
          <p:cNvGrpSpPr/>
          <p:nvPr/>
        </p:nvGrpSpPr>
        <p:grpSpPr>
          <a:xfrm>
            <a:off x="8555428" y="3969707"/>
            <a:ext cx="1177144" cy="1173793"/>
            <a:chOff x="0" y="0"/>
            <a:chExt cx="871377" cy="868896"/>
          </a:xfrm>
        </p:grpSpPr>
        <p:sp>
          <p:nvSpPr>
            <p:cNvPr id="12" name="Freeform 12"/>
            <p:cNvSpPr/>
            <p:nvPr/>
          </p:nvSpPr>
          <p:spPr>
            <a:xfrm>
              <a:off x="0" y="0"/>
              <a:ext cx="871377" cy="868896"/>
            </a:xfrm>
            <a:custGeom>
              <a:avLst/>
              <a:gdLst/>
              <a:ahLst/>
              <a:cxnLst/>
              <a:rect l="l" t="t" r="r" b="b"/>
              <a:pathLst>
                <a:path w="871377" h="868896">
                  <a:moveTo>
                    <a:pt x="435688" y="0"/>
                  </a:moveTo>
                  <a:cubicBezTo>
                    <a:pt x="195064" y="0"/>
                    <a:pt x="0" y="194509"/>
                    <a:pt x="0" y="434448"/>
                  </a:cubicBezTo>
                  <a:cubicBezTo>
                    <a:pt x="0" y="674387"/>
                    <a:pt x="195064" y="868896"/>
                    <a:pt x="435688" y="868896"/>
                  </a:cubicBezTo>
                  <a:cubicBezTo>
                    <a:pt x="676312" y="868896"/>
                    <a:pt x="871377" y="674387"/>
                    <a:pt x="871377" y="434448"/>
                  </a:cubicBezTo>
                  <a:cubicBezTo>
                    <a:pt x="871377" y="194509"/>
                    <a:pt x="676312" y="0"/>
                    <a:pt x="435688" y="0"/>
                  </a:cubicBezTo>
                  <a:close/>
                </a:path>
              </a:pathLst>
            </a:custGeom>
            <a:solidFill>
              <a:srgbClr val="0C1D4B"/>
            </a:solidFill>
          </p:spPr>
          <p:txBody>
            <a:bodyPr/>
            <a:lstStyle/>
            <a:p>
              <a:endParaRPr lang="en-VN"/>
            </a:p>
          </p:txBody>
        </p:sp>
        <p:sp>
          <p:nvSpPr>
            <p:cNvPr id="13" name="TextBox 13"/>
            <p:cNvSpPr txBox="1"/>
            <p:nvPr/>
          </p:nvSpPr>
          <p:spPr>
            <a:xfrm>
              <a:off x="81692" y="14784"/>
              <a:ext cx="707993" cy="772653"/>
            </a:xfrm>
            <a:prstGeom prst="rect">
              <a:avLst/>
            </a:prstGeom>
          </p:spPr>
          <p:txBody>
            <a:bodyPr lIns="50800" tIns="50800" rIns="50800" bIns="50800" rtlCol="0" anchor="ctr"/>
            <a:lstStyle/>
            <a:p>
              <a:pPr algn="ctr">
                <a:lnSpc>
                  <a:spcPts val="5880"/>
                </a:lnSpc>
              </a:pPr>
              <a:r>
                <a:rPr lang="en-US" sz="4200" b="1">
                  <a:solidFill>
                    <a:srgbClr val="FFFFFF"/>
                  </a:solidFill>
                  <a:latin typeface="Roboto Slab Bold"/>
                  <a:ea typeface="Roboto Slab Bold"/>
                  <a:cs typeface="Roboto Slab Bold"/>
                  <a:sym typeface="Roboto Slab Bold"/>
                </a:rPr>
                <a:t>2</a:t>
              </a:r>
            </a:p>
          </p:txBody>
        </p:sp>
      </p:grpSp>
      <p:sp>
        <p:nvSpPr>
          <p:cNvPr id="14" name="TextBox 14"/>
          <p:cNvSpPr txBox="1"/>
          <p:nvPr/>
        </p:nvSpPr>
        <p:spPr>
          <a:xfrm>
            <a:off x="5839542" y="5360956"/>
            <a:ext cx="6608916" cy="630228"/>
          </a:xfrm>
          <a:prstGeom prst="rect">
            <a:avLst/>
          </a:prstGeom>
        </p:spPr>
        <p:txBody>
          <a:bodyPr lIns="0" tIns="0" rIns="0" bIns="0" rtlCol="0" anchor="t">
            <a:spAutoFit/>
          </a:bodyPr>
          <a:lstStyle/>
          <a:p>
            <a:pPr algn="ctr">
              <a:lnSpc>
                <a:spcPts val="4848"/>
              </a:lnSpc>
            </a:pPr>
            <a:r>
              <a:rPr lang="en-US" sz="4800" b="1">
                <a:solidFill>
                  <a:srgbClr val="0C1D4B"/>
                </a:solidFill>
                <a:latin typeface="Roboto Slab Bold"/>
                <a:ea typeface="Roboto Slab Bold"/>
                <a:cs typeface="Roboto Slab Bold"/>
                <a:sym typeface="Roboto Slab Bold"/>
              </a:rPr>
              <a:t>CƠ SỞ LÝ THUYẾT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601470" y="9477699"/>
            <a:ext cx="4657830" cy="436883"/>
          </a:xfrm>
          <a:prstGeom prst="rect">
            <a:avLst/>
          </a:prstGeom>
        </p:spPr>
        <p:txBody>
          <a:bodyPr lIns="0" tIns="0" rIns="0" bIns="0" rtlCol="0" anchor="t">
            <a:spAutoFit/>
          </a:bodyPr>
          <a:lstStyle/>
          <a:p>
            <a:pPr algn="r">
              <a:lnSpc>
                <a:spcPts val="3219"/>
              </a:lnSpc>
            </a:pPr>
            <a:r>
              <a:rPr lang="en-US" sz="2299" b="1" spc="55">
                <a:solidFill>
                  <a:srgbClr val="FFFFFF"/>
                </a:solidFill>
                <a:latin typeface="DM Sans Bold"/>
                <a:ea typeface="DM Sans Bold"/>
                <a:cs typeface="DM Sans Bold"/>
                <a:sym typeface="DM Sans Bold"/>
              </a:rPr>
              <a:t>MAJOR: INTERIOR DESIGN</a:t>
            </a:r>
          </a:p>
        </p:txBody>
      </p:sp>
      <p:sp>
        <p:nvSpPr>
          <p:cNvPr id="3" name="TextBox 3"/>
          <p:cNvSpPr txBox="1"/>
          <p:nvPr/>
        </p:nvSpPr>
        <p:spPr>
          <a:xfrm>
            <a:off x="1028700" y="1095375"/>
            <a:ext cx="277591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2.1. Chatbot</a:t>
            </a:r>
          </a:p>
        </p:txBody>
      </p:sp>
      <p:sp>
        <p:nvSpPr>
          <p:cNvPr id="4" name="TextBox 4"/>
          <p:cNvSpPr txBox="1"/>
          <p:nvPr/>
        </p:nvSpPr>
        <p:spPr>
          <a:xfrm>
            <a:off x="1028700" y="1849068"/>
            <a:ext cx="9848374" cy="3896739"/>
          </a:xfrm>
          <a:prstGeom prst="rect">
            <a:avLst/>
          </a:prstGeom>
        </p:spPr>
        <p:txBody>
          <a:bodyPr lIns="0" tIns="0" rIns="0" bIns="0" rtlCol="0" anchor="t">
            <a:spAutoFit/>
          </a:bodyPr>
          <a:lstStyle/>
          <a:p>
            <a:pPr marL="604518" lvl="1" indent="-302259" algn="l">
              <a:lnSpc>
                <a:spcPts val="4479"/>
              </a:lnSpc>
              <a:buFont typeface="Arial"/>
              <a:buChar char="•"/>
            </a:pPr>
            <a:r>
              <a:rPr lang="en-US" sz="2799">
                <a:solidFill>
                  <a:srgbClr val="0C1D4B"/>
                </a:solidFill>
                <a:latin typeface="Roboto Slab"/>
                <a:ea typeface="Roboto Slab"/>
                <a:cs typeface="Roboto Slab"/>
                <a:sym typeface="Roboto Slab"/>
              </a:rPr>
              <a:t>Chatbot là hệ thống phần mềm mô phỏng hội thoại với người dùng thông qua văn bản hoặc giọng nói</a:t>
            </a:r>
          </a:p>
          <a:p>
            <a:pPr marL="604518" lvl="1" indent="-302259" algn="l">
              <a:lnSpc>
                <a:spcPts val="4479"/>
              </a:lnSpc>
              <a:buFont typeface="Arial"/>
              <a:buChar char="•"/>
            </a:pPr>
            <a:r>
              <a:rPr lang="en-US" sz="2799">
                <a:solidFill>
                  <a:srgbClr val="0C1D4B"/>
                </a:solidFill>
                <a:latin typeface="Roboto Slab"/>
                <a:ea typeface="Roboto Slab"/>
                <a:cs typeface="Roboto Slab"/>
                <a:sym typeface="Roboto Slab"/>
              </a:rPr>
              <a:t>Chatbot có thể tiếp nhận câu hỏi, phân tích đầu vào và tự động sinh phản hồi.</a:t>
            </a:r>
          </a:p>
          <a:p>
            <a:pPr marL="604518" lvl="1" indent="-302259" algn="l">
              <a:lnSpc>
                <a:spcPts val="4479"/>
              </a:lnSpc>
              <a:buFont typeface="Arial"/>
              <a:buChar char="•"/>
            </a:pPr>
            <a:r>
              <a:rPr lang="en-US" sz="2799">
                <a:solidFill>
                  <a:srgbClr val="0C1D4B"/>
                </a:solidFill>
                <a:latin typeface="Roboto Slab"/>
                <a:ea typeface="Roboto Slab"/>
                <a:cs typeface="Roboto Slab"/>
                <a:sym typeface="Roboto Slab"/>
              </a:rPr>
              <a:t>Trong các hệ thống hiện đại, chatbot thường được kết hợp với mô hình ngôn ngữ lớn hoặc nguồn dữ liệu riêng để tăng khả năng hiểu ngữ cảnh.</a:t>
            </a:r>
          </a:p>
        </p:txBody>
      </p:sp>
      <p:grpSp>
        <p:nvGrpSpPr>
          <p:cNvPr id="5" name="Group 5"/>
          <p:cNvGrpSpPr/>
          <p:nvPr/>
        </p:nvGrpSpPr>
        <p:grpSpPr>
          <a:xfrm rot="-10800000">
            <a:off x="17259300" y="-233820"/>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912143" y="9429369"/>
            <a:ext cx="1940843" cy="970417"/>
            <a:chOff x="0" y="0"/>
            <a:chExt cx="2587790" cy="1293889"/>
          </a:xfrm>
        </p:grpSpPr>
        <p:sp>
          <p:nvSpPr>
            <p:cNvPr id="8" name="Freeform 8"/>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9" name="Group 9"/>
          <p:cNvGrpSpPr/>
          <p:nvPr/>
        </p:nvGrpSpPr>
        <p:grpSpPr>
          <a:xfrm>
            <a:off x="-3127839" y="9986436"/>
            <a:ext cx="22035035" cy="2837612"/>
            <a:chOff x="0" y="0"/>
            <a:chExt cx="5803466" cy="747355"/>
          </a:xfrm>
        </p:grpSpPr>
        <p:sp>
          <p:nvSpPr>
            <p:cNvPr id="10" name="Freeform 10"/>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11" name="TextBox 11"/>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12" name="Freeform 12"/>
          <p:cNvSpPr/>
          <p:nvPr/>
        </p:nvSpPr>
        <p:spPr>
          <a:xfrm>
            <a:off x="12011385" y="2359114"/>
            <a:ext cx="5575744" cy="5568772"/>
          </a:xfrm>
          <a:custGeom>
            <a:avLst/>
            <a:gdLst/>
            <a:ahLst/>
            <a:cxnLst/>
            <a:rect l="l" t="t" r="r" b="b"/>
            <a:pathLst>
              <a:path w="5575744" h="5568772">
                <a:moveTo>
                  <a:pt x="0" y="0"/>
                </a:moveTo>
                <a:lnTo>
                  <a:pt x="5575744" y="0"/>
                </a:lnTo>
                <a:lnTo>
                  <a:pt x="5575744" y="5568772"/>
                </a:lnTo>
                <a:lnTo>
                  <a:pt x="0" y="5568772"/>
                </a:lnTo>
                <a:lnTo>
                  <a:pt x="0" y="0"/>
                </a:lnTo>
                <a:close/>
              </a:path>
            </a:pathLst>
          </a:custGeom>
          <a:blipFill>
            <a:blip>
              <a:extLst>
                <a:ext uri="{96DAC541-7B7A-43D3-8B79-37D633B846F1}">
                  <asvg:svgBlip xmlns:asvg="http://schemas.microsoft.com/office/drawing/2016/SVG/main" r:embed="rId3"/>
                </a:ext>
              </a:extLst>
            </a:blip>
            <a:stretch>
              <a:fillRect l="-22" r="-22"/>
            </a:stretch>
          </a:blipFill>
        </p:spPr>
        <p:txBody>
          <a:bodyPr/>
          <a:lstStyle/>
          <a:p>
            <a:endParaRPr lang="en-VN"/>
          </a:p>
        </p:txBody>
      </p:sp>
      <p:sp>
        <p:nvSpPr>
          <p:cNvPr id="13" name="TextBox 13"/>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4" name="Freeform 14"/>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4"/>
            <a:stretch>
              <a:fillRect/>
            </a:stretch>
          </a:blipFill>
        </p:spPr>
        <p:txBody>
          <a:bodyPr/>
          <a:lstStyle/>
          <a:p>
            <a:endParaRPr lang="en-V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TextBox 9"/>
          <p:cNvSpPr txBox="1"/>
          <p:nvPr/>
        </p:nvSpPr>
        <p:spPr>
          <a:xfrm>
            <a:off x="1041550" y="2630118"/>
            <a:ext cx="9201207" cy="2210652"/>
          </a:xfrm>
          <a:prstGeom prst="rect">
            <a:avLst/>
          </a:prstGeom>
        </p:spPr>
        <p:txBody>
          <a:bodyPr lIns="0" tIns="0" rIns="0" bIns="0" rtlCol="0" anchor="t">
            <a:spAutoFit/>
          </a:bodyPr>
          <a:lstStyle/>
          <a:p>
            <a:pPr algn="l">
              <a:lnSpc>
                <a:spcPts val="4479"/>
              </a:lnSpc>
            </a:pPr>
            <a:r>
              <a:rPr lang="en-US" sz="2799">
                <a:solidFill>
                  <a:srgbClr val="0C1D4B"/>
                </a:solidFill>
                <a:latin typeface="Roboto Slab"/>
                <a:ea typeface="Roboto Slab"/>
                <a:cs typeface="Roboto Slab"/>
                <a:sym typeface="Roboto Slab"/>
              </a:rPr>
              <a:t>Chatbot nhận đầu vào, kiểm tra các kịch bản, tập luật được chuẩn bị sẵn và trả lời tương ứng</a:t>
            </a:r>
          </a:p>
          <a:p>
            <a:pPr algn="l">
              <a:lnSpc>
                <a:spcPts val="4479"/>
              </a:lnSpc>
            </a:pPr>
            <a:r>
              <a:rPr lang="en-US" sz="2799">
                <a:solidFill>
                  <a:srgbClr val="0C1D4B"/>
                </a:solidFill>
                <a:latin typeface="Roboto Slab"/>
                <a:ea typeface="Roboto Slab"/>
                <a:cs typeface="Roboto Slab"/>
                <a:sym typeface="Roboto Slab"/>
              </a:rPr>
              <a:t>→ Thiếu linh hoạt, phục thuộc vào kịch bản được chuẩn bị sẵn.</a:t>
            </a:r>
          </a:p>
        </p:txBody>
      </p:sp>
      <p:sp>
        <p:nvSpPr>
          <p:cNvPr id="10" name="TextBox 10"/>
          <p:cNvSpPr txBox="1"/>
          <p:nvPr/>
        </p:nvSpPr>
        <p:spPr>
          <a:xfrm>
            <a:off x="1028700" y="1095375"/>
            <a:ext cx="10321094"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2.2. Một số phương pháp xây dựng Chatbot</a:t>
            </a:r>
          </a:p>
        </p:txBody>
      </p:sp>
      <p:sp>
        <p:nvSpPr>
          <p:cNvPr id="11" name="TextBox 11"/>
          <p:cNvSpPr txBox="1"/>
          <p:nvPr/>
        </p:nvSpPr>
        <p:spPr>
          <a:xfrm>
            <a:off x="104155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Chatbot dựa trên tập luật</a:t>
            </a:r>
          </a:p>
        </p:txBody>
      </p:sp>
      <p:grpSp>
        <p:nvGrpSpPr>
          <p:cNvPr id="12" name="Group 12"/>
          <p:cNvGrpSpPr/>
          <p:nvPr/>
        </p:nvGrpSpPr>
        <p:grpSpPr>
          <a:xfrm>
            <a:off x="11635993" y="1888127"/>
            <a:ext cx="5496614" cy="7121113"/>
            <a:chOff x="0" y="0"/>
            <a:chExt cx="7328819" cy="9494816"/>
          </a:xfrm>
        </p:grpSpPr>
        <p:sp>
          <p:nvSpPr>
            <p:cNvPr id="13" name="Freeform 13"/>
            <p:cNvSpPr/>
            <p:nvPr/>
          </p:nvSpPr>
          <p:spPr>
            <a:xfrm>
              <a:off x="4424571" y="3713219"/>
              <a:ext cx="2762174" cy="2409990"/>
            </a:xfrm>
            <a:custGeom>
              <a:avLst/>
              <a:gdLst/>
              <a:ahLst/>
              <a:cxnLst/>
              <a:rect l="l" t="t" r="r" b="b"/>
              <a:pathLst>
                <a:path w="2762174" h="2409990">
                  <a:moveTo>
                    <a:pt x="0" y="0"/>
                  </a:moveTo>
                  <a:lnTo>
                    <a:pt x="2762174" y="0"/>
                  </a:lnTo>
                  <a:lnTo>
                    <a:pt x="2762174" y="2409990"/>
                  </a:lnTo>
                  <a:lnTo>
                    <a:pt x="0" y="2409990"/>
                  </a:lnTo>
                  <a:lnTo>
                    <a:pt x="0" y="0"/>
                  </a:lnTo>
                  <a:close/>
                </a:path>
              </a:pathLst>
            </a:custGeom>
            <a:blipFill>
              <a:blip>
                <a:extLst>
                  <a:ext uri="{96DAC541-7B7A-43D3-8B79-37D633B846F1}">
                    <asvg:svgBlip xmlns:asvg="http://schemas.microsoft.com/office/drawing/2016/SVG/main" r:embed="rId3"/>
                  </a:ext>
                </a:extLst>
              </a:blip>
              <a:stretch>
                <a:fillRect l="-53" r="-53"/>
              </a:stretch>
            </a:blipFill>
          </p:spPr>
          <p:txBody>
            <a:bodyPr/>
            <a:lstStyle/>
            <a:p>
              <a:endParaRPr lang="en-VN"/>
            </a:p>
          </p:txBody>
        </p:sp>
        <p:grpSp>
          <p:nvGrpSpPr>
            <p:cNvPr id="20" name="Group 20"/>
            <p:cNvGrpSpPr/>
            <p:nvPr/>
          </p:nvGrpSpPr>
          <p:grpSpPr>
            <a:xfrm>
              <a:off x="0" y="3954332"/>
              <a:ext cx="2996639" cy="1977782"/>
              <a:chOff x="0" y="0"/>
              <a:chExt cx="635000" cy="419100"/>
            </a:xfrm>
          </p:grpSpPr>
          <p:sp>
            <p:nvSpPr>
              <p:cNvPr id="21" name="Freeform 21"/>
              <p:cNvSpPr/>
              <p:nvPr/>
            </p:nvSpPr>
            <p:spPr>
              <a:xfrm>
                <a:off x="0" y="0"/>
                <a:ext cx="635000" cy="419100"/>
              </a:xfrm>
              <a:custGeom>
                <a:avLst/>
                <a:gdLst/>
                <a:ahLst/>
                <a:cxnLst/>
                <a:rect l="l" t="t" r="r" b="b"/>
                <a:pathLst>
                  <a:path w="635000" h="419100">
                    <a:moveTo>
                      <a:pt x="67280" y="0"/>
                    </a:moveTo>
                    <a:lnTo>
                      <a:pt x="567720" y="0"/>
                    </a:lnTo>
                    <a:cubicBezTo>
                      <a:pt x="585564" y="0"/>
                      <a:pt x="602677" y="7088"/>
                      <a:pt x="615294" y="19706"/>
                    </a:cubicBezTo>
                    <a:cubicBezTo>
                      <a:pt x="627912" y="32323"/>
                      <a:pt x="635000" y="49436"/>
                      <a:pt x="635000" y="67280"/>
                    </a:cubicBezTo>
                    <a:lnTo>
                      <a:pt x="635000" y="351820"/>
                    </a:lnTo>
                    <a:cubicBezTo>
                      <a:pt x="635000" y="369664"/>
                      <a:pt x="627912" y="386777"/>
                      <a:pt x="615294" y="399394"/>
                    </a:cubicBezTo>
                    <a:cubicBezTo>
                      <a:pt x="602677" y="412012"/>
                      <a:pt x="585564" y="419100"/>
                      <a:pt x="567720" y="419100"/>
                    </a:cubicBezTo>
                    <a:lnTo>
                      <a:pt x="67280" y="419100"/>
                    </a:lnTo>
                    <a:cubicBezTo>
                      <a:pt x="49436" y="419100"/>
                      <a:pt x="32323" y="412012"/>
                      <a:pt x="19706" y="399394"/>
                    </a:cubicBezTo>
                    <a:cubicBezTo>
                      <a:pt x="7088" y="386777"/>
                      <a:pt x="0" y="369664"/>
                      <a:pt x="0" y="351820"/>
                    </a:cubicBezTo>
                    <a:lnTo>
                      <a:pt x="0" y="67280"/>
                    </a:lnTo>
                    <a:cubicBezTo>
                      <a:pt x="0" y="49436"/>
                      <a:pt x="7088" y="32323"/>
                      <a:pt x="19706" y="19706"/>
                    </a:cubicBezTo>
                    <a:cubicBezTo>
                      <a:pt x="32323" y="7088"/>
                      <a:pt x="49436" y="0"/>
                      <a:pt x="67280" y="0"/>
                    </a:cubicBezTo>
                    <a:close/>
                  </a:path>
                </a:pathLst>
              </a:custGeom>
              <a:solidFill>
                <a:srgbClr val="0C1D4B"/>
              </a:solidFill>
            </p:spPr>
            <p:txBody>
              <a:bodyPr/>
              <a:lstStyle/>
              <a:p>
                <a:endParaRPr lang="en-VN"/>
              </a:p>
            </p:txBody>
          </p:sp>
          <p:sp>
            <p:nvSpPr>
              <p:cNvPr id="22" name="TextBox 22"/>
              <p:cNvSpPr txBox="1"/>
              <p:nvPr/>
            </p:nvSpPr>
            <p:spPr>
              <a:xfrm>
                <a:off x="0" y="-38100"/>
                <a:ext cx="635000" cy="457200"/>
              </a:xfrm>
              <a:prstGeom prst="rect">
                <a:avLst/>
              </a:prstGeom>
            </p:spPr>
            <p:txBody>
              <a:bodyPr lIns="50800" tIns="50800" rIns="50800" bIns="50800" rtlCol="0" anchor="ctr"/>
              <a:lstStyle/>
              <a:p>
                <a:pPr algn="ctr">
                  <a:lnSpc>
                    <a:spcPts val="2940"/>
                  </a:lnSpc>
                </a:pPr>
                <a:r>
                  <a:rPr lang="en-US" sz="2100" b="1">
                    <a:solidFill>
                      <a:srgbClr val="FFFFFF"/>
                    </a:solidFill>
                    <a:latin typeface="Roboto Slab Bold"/>
                    <a:ea typeface="Roboto Slab Bold"/>
                    <a:cs typeface="Roboto Slab Bold"/>
                    <a:sym typeface="Roboto Slab Bold"/>
                  </a:rPr>
                  <a:t>KỊCH BẢN 1</a:t>
                </a:r>
              </a:p>
              <a:p>
                <a:pPr algn="ctr">
                  <a:lnSpc>
                    <a:spcPts val="2940"/>
                  </a:lnSpc>
                </a:pPr>
                <a:r>
                  <a:rPr lang="en-US" sz="2100" b="1">
                    <a:solidFill>
                      <a:srgbClr val="FFFFFF"/>
                    </a:solidFill>
                    <a:latin typeface="Roboto Slab Bold"/>
                    <a:ea typeface="Roboto Slab Bold"/>
                    <a:cs typeface="Roboto Slab Bold"/>
                    <a:sym typeface="Roboto Slab Bold"/>
                  </a:rPr>
                  <a:t>KỊCH BẢN 2</a:t>
                </a:r>
              </a:p>
              <a:p>
                <a:pPr algn="ctr">
                  <a:lnSpc>
                    <a:spcPts val="2940"/>
                  </a:lnSpc>
                </a:pPr>
                <a:r>
                  <a:rPr lang="en-US" sz="2100" b="1">
                    <a:solidFill>
                      <a:srgbClr val="FFFFFF"/>
                    </a:solidFill>
                    <a:latin typeface="Roboto Slab Bold"/>
                    <a:ea typeface="Roboto Slab Bold"/>
                    <a:cs typeface="Roboto Slab Bold"/>
                    <a:sym typeface="Roboto Slab Bold"/>
                  </a:rPr>
                  <a:t>...</a:t>
                </a:r>
              </a:p>
            </p:txBody>
          </p:sp>
        </p:grpSp>
        <p:sp>
          <p:nvSpPr>
            <p:cNvPr id="23" name="AutoShape 23"/>
            <p:cNvSpPr/>
            <p:nvPr/>
          </p:nvSpPr>
          <p:spPr>
            <a:xfrm>
              <a:off x="2996639" y="4943222"/>
              <a:ext cx="1452964" cy="0"/>
            </a:xfrm>
            <a:prstGeom prst="line">
              <a:avLst/>
            </a:prstGeom>
            <a:ln w="50800" cap="flat">
              <a:solidFill>
                <a:srgbClr val="000000"/>
              </a:solidFill>
              <a:prstDash val="solid"/>
              <a:headEnd type="none" w="sm" len="sm"/>
              <a:tailEnd type="triangle" w="lg" len="med"/>
            </a:ln>
          </p:spPr>
          <p:txBody>
            <a:bodyPr/>
            <a:lstStyle/>
            <a:p>
              <a:endParaRPr lang="en-VN" dirty="0"/>
            </a:p>
          </p:txBody>
        </p:sp>
        <p:grpSp>
          <p:nvGrpSpPr>
            <p:cNvPr id="24" name="Group 24"/>
            <p:cNvGrpSpPr/>
            <p:nvPr/>
          </p:nvGrpSpPr>
          <p:grpSpPr>
            <a:xfrm>
              <a:off x="4332180" y="0"/>
              <a:ext cx="2996639" cy="1977782"/>
              <a:chOff x="0" y="0"/>
              <a:chExt cx="635000" cy="419100"/>
            </a:xfrm>
          </p:grpSpPr>
          <p:sp>
            <p:nvSpPr>
              <p:cNvPr id="25" name="Freeform 25"/>
              <p:cNvSpPr/>
              <p:nvPr/>
            </p:nvSpPr>
            <p:spPr>
              <a:xfrm>
                <a:off x="0" y="0"/>
                <a:ext cx="635000" cy="419100"/>
              </a:xfrm>
              <a:custGeom>
                <a:avLst/>
                <a:gdLst/>
                <a:ahLst/>
                <a:cxnLst/>
                <a:rect l="l" t="t" r="r" b="b"/>
                <a:pathLst>
                  <a:path w="635000" h="419100">
                    <a:moveTo>
                      <a:pt x="67280" y="0"/>
                    </a:moveTo>
                    <a:lnTo>
                      <a:pt x="567720" y="0"/>
                    </a:lnTo>
                    <a:cubicBezTo>
                      <a:pt x="585564" y="0"/>
                      <a:pt x="602677" y="7088"/>
                      <a:pt x="615294" y="19706"/>
                    </a:cubicBezTo>
                    <a:cubicBezTo>
                      <a:pt x="627912" y="32323"/>
                      <a:pt x="635000" y="49436"/>
                      <a:pt x="635000" y="67280"/>
                    </a:cubicBezTo>
                    <a:lnTo>
                      <a:pt x="635000" y="351820"/>
                    </a:lnTo>
                    <a:cubicBezTo>
                      <a:pt x="635000" y="369664"/>
                      <a:pt x="627912" y="386777"/>
                      <a:pt x="615294" y="399394"/>
                    </a:cubicBezTo>
                    <a:cubicBezTo>
                      <a:pt x="602677" y="412012"/>
                      <a:pt x="585564" y="419100"/>
                      <a:pt x="567720" y="419100"/>
                    </a:cubicBezTo>
                    <a:lnTo>
                      <a:pt x="67280" y="419100"/>
                    </a:lnTo>
                    <a:cubicBezTo>
                      <a:pt x="49436" y="419100"/>
                      <a:pt x="32323" y="412012"/>
                      <a:pt x="19706" y="399394"/>
                    </a:cubicBezTo>
                    <a:cubicBezTo>
                      <a:pt x="7088" y="386777"/>
                      <a:pt x="0" y="369664"/>
                      <a:pt x="0" y="351820"/>
                    </a:cubicBezTo>
                    <a:lnTo>
                      <a:pt x="0" y="67280"/>
                    </a:lnTo>
                    <a:cubicBezTo>
                      <a:pt x="0" y="49436"/>
                      <a:pt x="7088" y="32323"/>
                      <a:pt x="19706" y="19706"/>
                    </a:cubicBezTo>
                    <a:cubicBezTo>
                      <a:pt x="32323" y="7088"/>
                      <a:pt x="49436" y="0"/>
                      <a:pt x="67280" y="0"/>
                    </a:cubicBezTo>
                    <a:close/>
                  </a:path>
                </a:pathLst>
              </a:custGeom>
              <a:solidFill>
                <a:srgbClr val="FC9BA0"/>
              </a:solidFill>
            </p:spPr>
            <p:txBody>
              <a:bodyPr/>
              <a:lstStyle/>
              <a:p>
                <a:endParaRPr lang="en-VN"/>
              </a:p>
            </p:txBody>
          </p:sp>
          <p:sp>
            <p:nvSpPr>
              <p:cNvPr id="26" name="TextBox 26"/>
              <p:cNvSpPr txBox="1"/>
              <p:nvPr/>
            </p:nvSpPr>
            <p:spPr>
              <a:xfrm>
                <a:off x="0" y="-38100"/>
                <a:ext cx="635000" cy="457200"/>
              </a:xfrm>
              <a:prstGeom prst="rect">
                <a:avLst/>
              </a:prstGeom>
            </p:spPr>
            <p:txBody>
              <a:bodyPr lIns="50800" tIns="50800" rIns="50800" bIns="50800" rtlCol="0" anchor="ctr"/>
              <a:lstStyle/>
              <a:p>
                <a:pPr algn="ctr">
                  <a:lnSpc>
                    <a:spcPts val="2940"/>
                  </a:lnSpc>
                </a:pPr>
                <a:r>
                  <a:rPr lang="en-US" sz="2100" b="1">
                    <a:solidFill>
                      <a:srgbClr val="FFFFFF"/>
                    </a:solidFill>
                    <a:latin typeface="Roboto Slab Bold"/>
                    <a:ea typeface="Roboto Slab Bold"/>
                    <a:cs typeface="Roboto Slab Bold"/>
                    <a:sym typeface="Roboto Slab Bold"/>
                  </a:rPr>
                  <a:t>CÂU HỎI</a:t>
                </a:r>
              </a:p>
            </p:txBody>
          </p:sp>
        </p:grpSp>
        <p:grpSp>
          <p:nvGrpSpPr>
            <p:cNvPr id="27" name="Group 27"/>
            <p:cNvGrpSpPr/>
            <p:nvPr/>
          </p:nvGrpSpPr>
          <p:grpSpPr>
            <a:xfrm>
              <a:off x="4282307" y="7517034"/>
              <a:ext cx="2996639" cy="1977782"/>
              <a:chOff x="0" y="0"/>
              <a:chExt cx="635000" cy="419100"/>
            </a:xfrm>
          </p:grpSpPr>
          <p:sp>
            <p:nvSpPr>
              <p:cNvPr id="28" name="Freeform 28"/>
              <p:cNvSpPr/>
              <p:nvPr/>
            </p:nvSpPr>
            <p:spPr>
              <a:xfrm>
                <a:off x="0" y="0"/>
                <a:ext cx="635000" cy="419100"/>
              </a:xfrm>
              <a:custGeom>
                <a:avLst/>
                <a:gdLst/>
                <a:ahLst/>
                <a:cxnLst/>
                <a:rect l="l" t="t" r="r" b="b"/>
                <a:pathLst>
                  <a:path w="635000" h="419100">
                    <a:moveTo>
                      <a:pt x="67280" y="0"/>
                    </a:moveTo>
                    <a:lnTo>
                      <a:pt x="567720" y="0"/>
                    </a:lnTo>
                    <a:cubicBezTo>
                      <a:pt x="585564" y="0"/>
                      <a:pt x="602677" y="7088"/>
                      <a:pt x="615294" y="19706"/>
                    </a:cubicBezTo>
                    <a:cubicBezTo>
                      <a:pt x="627912" y="32323"/>
                      <a:pt x="635000" y="49436"/>
                      <a:pt x="635000" y="67280"/>
                    </a:cubicBezTo>
                    <a:lnTo>
                      <a:pt x="635000" y="351820"/>
                    </a:lnTo>
                    <a:cubicBezTo>
                      <a:pt x="635000" y="369664"/>
                      <a:pt x="627912" y="386777"/>
                      <a:pt x="615294" y="399394"/>
                    </a:cubicBezTo>
                    <a:cubicBezTo>
                      <a:pt x="602677" y="412012"/>
                      <a:pt x="585564" y="419100"/>
                      <a:pt x="567720" y="419100"/>
                    </a:cubicBezTo>
                    <a:lnTo>
                      <a:pt x="67280" y="419100"/>
                    </a:lnTo>
                    <a:cubicBezTo>
                      <a:pt x="49436" y="419100"/>
                      <a:pt x="32323" y="412012"/>
                      <a:pt x="19706" y="399394"/>
                    </a:cubicBezTo>
                    <a:cubicBezTo>
                      <a:pt x="7088" y="386777"/>
                      <a:pt x="0" y="369664"/>
                      <a:pt x="0" y="351820"/>
                    </a:cubicBezTo>
                    <a:lnTo>
                      <a:pt x="0" y="67280"/>
                    </a:lnTo>
                    <a:cubicBezTo>
                      <a:pt x="0" y="49436"/>
                      <a:pt x="7088" y="32323"/>
                      <a:pt x="19706" y="19706"/>
                    </a:cubicBezTo>
                    <a:cubicBezTo>
                      <a:pt x="32323" y="7088"/>
                      <a:pt x="49436" y="0"/>
                      <a:pt x="67280" y="0"/>
                    </a:cubicBezTo>
                    <a:close/>
                  </a:path>
                </a:pathLst>
              </a:custGeom>
              <a:solidFill>
                <a:srgbClr val="38B6FF"/>
              </a:solidFill>
              <a:ln cap="rnd">
                <a:noFill/>
                <a:prstDash val="solid"/>
                <a:round/>
              </a:ln>
            </p:spPr>
            <p:txBody>
              <a:bodyPr/>
              <a:lstStyle/>
              <a:p>
                <a:endParaRPr lang="en-VN"/>
              </a:p>
            </p:txBody>
          </p:sp>
          <p:sp>
            <p:nvSpPr>
              <p:cNvPr id="29" name="TextBox 29"/>
              <p:cNvSpPr txBox="1"/>
              <p:nvPr/>
            </p:nvSpPr>
            <p:spPr>
              <a:xfrm>
                <a:off x="0" y="-38100"/>
                <a:ext cx="635000" cy="457200"/>
              </a:xfrm>
              <a:prstGeom prst="rect">
                <a:avLst/>
              </a:prstGeom>
            </p:spPr>
            <p:txBody>
              <a:bodyPr lIns="50800" tIns="50800" rIns="50800" bIns="50800" rtlCol="0" anchor="ctr"/>
              <a:lstStyle/>
              <a:p>
                <a:pPr algn="ctr">
                  <a:lnSpc>
                    <a:spcPts val="2940"/>
                  </a:lnSpc>
                </a:pPr>
                <a:r>
                  <a:rPr lang="en-US" sz="2100" b="1">
                    <a:solidFill>
                      <a:srgbClr val="FFFFFF"/>
                    </a:solidFill>
                    <a:latin typeface="Roboto Slab Bold"/>
                    <a:ea typeface="Roboto Slab Bold"/>
                    <a:cs typeface="Roboto Slab Bold"/>
                    <a:sym typeface="Roboto Slab Bold"/>
                  </a:rPr>
                  <a:t>TRẢ LỜI</a:t>
                </a:r>
              </a:p>
            </p:txBody>
          </p:sp>
        </p:grpSp>
        <p:sp>
          <p:nvSpPr>
            <p:cNvPr id="30" name="AutoShape 30"/>
            <p:cNvSpPr/>
            <p:nvPr/>
          </p:nvSpPr>
          <p:spPr>
            <a:xfrm>
              <a:off x="5830499" y="1977782"/>
              <a:ext cx="0" cy="1760456"/>
            </a:xfrm>
            <a:prstGeom prst="line">
              <a:avLst/>
            </a:prstGeom>
            <a:ln w="50800" cap="flat">
              <a:solidFill>
                <a:srgbClr val="000000"/>
              </a:solidFill>
              <a:prstDash val="solid"/>
              <a:headEnd type="none" w="sm" len="sm"/>
              <a:tailEnd type="triangle" w="lg" len="med"/>
            </a:ln>
          </p:spPr>
          <p:txBody>
            <a:bodyPr/>
            <a:lstStyle/>
            <a:p>
              <a:endParaRPr lang="en-VN" dirty="0"/>
            </a:p>
          </p:txBody>
        </p:sp>
        <p:sp>
          <p:nvSpPr>
            <p:cNvPr id="31" name="AutoShape 31"/>
            <p:cNvSpPr/>
            <p:nvPr/>
          </p:nvSpPr>
          <p:spPr>
            <a:xfrm flipH="1">
              <a:off x="5830499" y="6132250"/>
              <a:ext cx="25032" cy="1393825"/>
            </a:xfrm>
            <a:prstGeom prst="line">
              <a:avLst/>
            </a:prstGeom>
            <a:ln w="50800" cap="flat">
              <a:solidFill>
                <a:srgbClr val="000000"/>
              </a:solidFill>
              <a:prstDash val="solid"/>
              <a:headEnd type="none" w="sm" len="sm"/>
              <a:tailEnd type="triangle" w="lg" len="med"/>
            </a:ln>
          </p:spPr>
          <p:txBody>
            <a:bodyPr/>
            <a:lstStyle/>
            <a:p>
              <a:endParaRPr lang="en-VN" dirty="0"/>
            </a:p>
          </p:txBody>
        </p:sp>
      </p:grpSp>
      <p:sp>
        <p:nvSpPr>
          <p:cNvPr id="32" name="TextBox 32"/>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33" name="Freeform 33"/>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4"/>
            <a:stretch>
              <a:fillRect/>
            </a:stretch>
          </a:blipFill>
        </p:spPr>
        <p:txBody>
          <a:bodyPr/>
          <a:lstStyle/>
          <a:p>
            <a:endParaRPr lang="en-V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TextBox 9"/>
          <p:cNvSpPr txBox="1"/>
          <p:nvPr/>
        </p:nvSpPr>
        <p:spPr>
          <a:xfrm>
            <a:off x="1028700" y="1095375"/>
            <a:ext cx="10321094"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2.2. Một số phương pháp xây dựng Chatbot</a:t>
            </a:r>
          </a:p>
        </p:txBody>
      </p:sp>
      <p:sp>
        <p:nvSpPr>
          <p:cNvPr id="10" name="TextBox 10"/>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Chatbot dựa trên LLMs</a:t>
            </a:r>
          </a:p>
        </p:txBody>
      </p:sp>
      <p:sp>
        <p:nvSpPr>
          <p:cNvPr id="11" name="TextBox 11"/>
          <p:cNvSpPr txBox="1"/>
          <p:nvPr/>
        </p:nvSpPr>
        <p:spPr>
          <a:xfrm>
            <a:off x="1028700" y="2630118"/>
            <a:ext cx="9079671" cy="2772681"/>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LLMs là các mô hình ngôn ngữ lớn có khả năng xử lý, hiểu và tạo sinh ngôn ngữ tự nhiên</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Chatbot nhận đầu vào, sử dụng LLMs để tạo sinh đầu ra</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Trả lời linh hoạt, thấu hiểu ngữ cảnh</a:t>
            </a:r>
          </a:p>
        </p:txBody>
      </p:sp>
      <p:sp>
        <p:nvSpPr>
          <p:cNvPr id="12" name="TextBox 12"/>
          <p:cNvSpPr txBox="1"/>
          <p:nvPr/>
        </p:nvSpPr>
        <p:spPr>
          <a:xfrm>
            <a:off x="10504770" y="9157959"/>
            <a:ext cx="6942696" cy="346683"/>
          </a:xfrm>
          <a:prstGeom prst="rect">
            <a:avLst/>
          </a:prstGeom>
        </p:spPr>
        <p:txBody>
          <a:bodyPr lIns="0" tIns="0" rIns="0" bIns="0" rtlCol="0" anchor="t">
            <a:spAutoFit/>
          </a:bodyPr>
          <a:lstStyle/>
          <a:p>
            <a:pPr algn="ctr">
              <a:lnSpc>
                <a:spcPts val="2880"/>
              </a:lnSpc>
            </a:pPr>
            <a:r>
              <a:rPr lang="en-US" sz="1800" i="1">
                <a:solidFill>
                  <a:srgbClr val="0C1D4B"/>
                </a:solidFill>
                <a:latin typeface="Roboto Italics"/>
                <a:ea typeface="Roboto Italics"/>
                <a:cs typeface="Roboto Italics"/>
                <a:sym typeface="Roboto Italics"/>
              </a:rPr>
              <a:t>** “Bịa” là từ thể hiện việc tự nghĩ ra nội dung không có thật</a:t>
            </a:r>
          </a:p>
        </p:txBody>
      </p:sp>
      <p:grpSp>
        <p:nvGrpSpPr>
          <p:cNvPr id="13" name="Group 13"/>
          <p:cNvGrpSpPr/>
          <p:nvPr/>
        </p:nvGrpSpPr>
        <p:grpSpPr>
          <a:xfrm>
            <a:off x="10189148" y="2474109"/>
            <a:ext cx="7516677" cy="1956573"/>
            <a:chOff x="0" y="0"/>
            <a:chExt cx="10022237" cy="2608765"/>
          </a:xfrm>
        </p:grpSpPr>
        <p:sp>
          <p:nvSpPr>
            <p:cNvPr id="14" name="Freeform 14"/>
            <p:cNvSpPr/>
            <p:nvPr/>
          </p:nvSpPr>
          <p:spPr>
            <a:xfrm>
              <a:off x="4312764" y="0"/>
              <a:ext cx="1398740" cy="1404010"/>
            </a:xfrm>
            <a:custGeom>
              <a:avLst/>
              <a:gdLst/>
              <a:ahLst/>
              <a:cxnLst/>
              <a:rect l="l" t="t" r="r" b="b"/>
              <a:pathLst>
                <a:path w="1398740" h="1404010">
                  <a:moveTo>
                    <a:pt x="0" y="0"/>
                  </a:moveTo>
                  <a:lnTo>
                    <a:pt x="1398740" y="0"/>
                  </a:lnTo>
                  <a:lnTo>
                    <a:pt x="1398740" y="1404010"/>
                  </a:lnTo>
                  <a:lnTo>
                    <a:pt x="0" y="1404010"/>
                  </a:lnTo>
                  <a:lnTo>
                    <a:pt x="0" y="0"/>
                  </a:lnTo>
                  <a:close/>
                </a:path>
              </a:pathLst>
            </a:custGeom>
            <a:blipFill>
              <a:blip>
                <a:extLst>
                  <a:ext uri="{96DAC541-7B7A-43D3-8B79-37D633B846F1}">
                    <asvg:svgBlip xmlns:asvg="http://schemas.microsoft.com/office/drawing/2016/SVG/main" r:embed="rId3"/>
                  </a:ext>
                </a:extLst>
              </a:blip>
              <a:stretch>
                <a:fillRect l="-187" r="-188"/>
              </a:stretch>
            </a:blipFill>
          </p:spPr>
          <p:txBody>
            <a:bodyPr/>
            <a:lstStyle/>
            <a:p>
              <a:endParaRPr lang="en-VN"/>
            </a:p>
          </p:txBody>
        </p:sp>
        <p:grpSp>
          <p:nvGrpSpPr>
            <p:cNvPr id="15" name="Group 15"/>
            <p:cNvGrpSpPr/>
            <p:nvPr/>
          </p:nvGrpSpPr>
          <p:grpSpPr>
            <a:xfrm>
              <a:off x="0" y="1682737"/>
              <a:ext cx="2758266" cy="876752"/>
              <a:chOff x="0" y="0"/>
              <a:chExt cx="544843" cy="173186"/>
            </a:xfrm>
          </p:grpSpPr>
          <p:sp>
            <p:nvSpPr>
              <p:cNvPr id="16" name="Freeform 16"/>
              <p:cNvSpPr/>
              <p:nvPr/>
            </p:nvSpPr>
            <p:spPr>
              <a:xfrm>
                <a:off x="0" y="0"/>
                <a:ext cx="544843" cy="173186"/>
              </a:xfrm>
              <a:custGeom>
                <a:avLst/>
                <a:gdLst/>
                <a:ahLst/>
                <a:cxnLst/>
                <a:rect l="l" t="t" r="r" b="b"/>
                <a:pathLst>
                  <a:path w="544843" h="173186">
                    <a:moveTo>
                      <a:pt x="86593" y="0"/>
                    </a:moveTo>
                    <a:lnTo>
                      <a:pt x="458250" y="0"/>
                    </a:lnTo>
                    <a:cubicBezTo>
                      <a:pt x="481216" y="0"/>
                      <a:pt x="503241" y="9123"/>
                      <a:pt x="519480" y="25362"/>
                    </a:cubicBezTo>
                    <a:cubicBezTo>
                      <a:pt x="535719" y="41602"/>
                      <a:pt x="544843" y="63627"/>
                      <a:pt x="544843" y="86593"/>
                    </a:cubicBezTo>
                    <a:lnTo>
                      <a:pt x="544843" y="86593"/>
                    </a:lnTo>
                    <a:cubicBezTo>
                      <a:pt x="544843" y="134417"/>
                      <a:pt x="506074" y="173186"/>
                      <a:pt x="458250" y="173186"/>
                    </a:cubicBezTo>
                    <a:lnTo>
                      <a:pt x="86593" y="173186"/>
                    </a:lnTo>
                    <a:cubicBezTo>
                      <a:pt x="63627" y="173186"/>
                      <a:pt x="41602" y="164062"/>
                      <a:pt x="25362" y="147823"/>
                    </a:cubicBezTo>
                    <a:cubicBezTo>
                      <a:pt x="9123" y="131584"/>
                      <a:pt x="0" y="109559"/>
                      <a:pt x="0" y="86593"/>
                    </a:cubicBezTo>
                    <a:lnTo>
                      <a:pt x="0" y="86593"/>
                    </a:lnTo>
                    <a:cubicBezTo>
                      <a:pt x="0" y="63627"/>
                      <a:pt x="9123" y="41602"/>
                      <a:pt x="25362" y="25362"/>
                    </a:cubicBezTo>
                    <a:cubicBezTo>
                      <a:pt x="41602" y="9123"/>
                      <a:pt x="63627" y="0"/>
                      <a:pt x="86593" y="0"/>
                    </a:cubicBezTo>
                    <a:close/>
                  </a:path>
                </a:pathLst>
              </a:custGeom>
              <a:ln w="28575" cap="rnd">
                <a:solidFill>
                  <a:srgbClr val="000000"/>
                </a:solidFill>
                <a:prstDash val="solid"/>
                <a:round/>
              </a:ln>
            </p:spPr>
            <p:txBody>
              <a:bodyPr/>
              <a:lstStyle/>
              <a:p>
                <a:endParaRPr lang="en-VN"/>
              </a:p>
            </p:txBody>
          </p:sp>
          <p:sp>
            <p:nvSpPr>
              <p:cNvPr id="17" name="TextBox 17"/>
              <p:cNvSpPr txBox="1"/>
              <p:nvPr/>
            </p:nvSpPr>
            <p:spPr>
              <a:xfrm>
                <a:off x="0" y="-38100"/>
                <a:ext cx="544843" cy="211286"/>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Câu hỏi</a:t>
                </a:r>
              </a:p>
            </p:txBody>
          </p:sp>
        </p:grpSp>
        <p:sp>
          <p:nvSpPr>
            <p:cNvPr id="18" name="TextBox 18"/>
            <p:cNvSpPr txBox="1"/>
            <p:nvPr/>
          </p:nvSpPr>
          <p:spPr>
            <a:xfrm>
              <a:off x="3725497" y="1557261"/>
              <a:ext cx="2573274" cy="1051503"/>
            </a:xfrm>
            <a:prstGeom prst="rect">
              <a:avLst/>
            </a:prstGeom>
          </p:spPr>
          <p:txBody>
            <a:bodyPr lIns="0" tIns="0" rIns="0" bIns="0" rtlCol="0" anchor="t">
              <a:spAutoFit/>
            </a:bodyPr>
            <a:lstStyle/>
            <a:p>
              <a:pPr algn="ctr">
                <a:lnSpc>
                  <a:spcPts val="3361"/>
                </a:lnSpc>
              </a:pPr>
              <a:r>
                <a:rPr lang="en-US" sz="2100" b="1">
                  <a:solidFill>
                    <a:srgbClr val="0C1D4B"/>
                  </a:solidFill>
                  <a:latin typeface="Roboto Slab Bold"/>
                  <a:ea typeface="Roboto Slab Bold"/>
                  <a:cs typeface="Roboto Slab Bold"/>
                  <a:sym typeface="Roboto Slab Bold"/>
                </a:rPr>
                <a:t>LLMs sinh câu trả lời</a:t>
              </a:r>
            </a:p>
          </p:txBody>
        </p:sp>
        <p:sp>
          <p:nvSpPr>
            <p:cNvPr id="19" name="AutoShape 19"/>
            <p:cNvSpPr/>
            <p:nvPr/>
          </p:nvSpPr>
          <p:spPr>
            <a:xfrm>
              <a:off x="2758266" y="2121113"/>
              <a:ext cx="967231" cy="0"/>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20" name="Group 20"/>
            <p:cNvGrpSpPr/>
            <p:nvPr/>
          </p:nvGrpSpPr>
          <p:grpSpPr>
            <a:xfrm>
              <a:off x="7263971" y="1682737"/>
              <a:ext cx="2758266" cy="876752"/>
              <a:chOff x="0" y="0"/>
              <a:chExt cx="544843" cy="173186"/>
            </a:xfrm>
          </p:grpSpPr>
          <p:sp>
            <p:nvSpPr>
              <p:cNvPr id="21" name="Freeform 21"/>
              <p:cNvSpPr/>
              <p:nvPr/>
            </p:nvSpPr>
            <p:spPr>
              <a:xfrm>
                <a:off x="0" y="0"/>
                <a:ext cx="544843" cy="173186"/>
              </a:xfrm>
              <a:custGeom>
                <a:avLst/>
                <a:gdLst/>
                <a:ahLst/>
                <a:cxnLst/>
                <a:rect l="l" t="t" r="r" b="b"/>
                <a:pathLst>
                  <a:path w="544843" h="173186">
                    <a:moveTo>
                      <a:pt x="86593" y="0"/>
                    </a:moveTo>
                    <a:lnTo>
                      <a:pt x="458250" y="0"/>
                    </a:lnTo>
                    <a:cubicBezTo>
                      <a:pt x="481216" y="0"/>
                      <a:pt x="503241" y="9123"/>
                      <a:pt x="519480" y="25362"/>
                    </a:cubicBezTo>
                    <a:cubicBezTo>
                      <a:pt x="535719" y="41602"/>
                      <a:pt x="544843" y="63627"/>
                      <a:pt x="544843" y="86593"/>
                    </a:cubicBezTo>
                    <a:lnTo>
                      <a:pt x="544843" y="86593"/>
                    </a:lnTo>
                    <a:cubicBezTo>
                      <a:pt x="544843" y="134417"/>
                      <a:pt x="506074" y="173186"/>
                      <a:pt x="458250" y="173186"/>
                    </a:cubicBezTo>
                    <a:lnTo>
                      <a:pt x="86593" y="173186"/>
                    </a:lnTo>
                    <a:cubicBezTo>
                      <a:pt x="63627" y="173186"/>
                      <a:pt x="41602" y="164062"/>
                      <a:pt x="25362" y="147823"/>
                    </a:cubicBezTo>
                    <a:cubicBezTo>
                      <a:pt x="9123" y="131584"/>
                      <a:pt x="0" y="109559"/>
                      <a:pt x="0" y="86593"/>
                    </a:cubicBezTo>
                    <a:lnTo>
                      <a:pt x="0" y="86593"/>
                    </a:lnTo>
                    <a:cubicBezTo>
                      <a:pt x="0" y="63627"/>
                      <a:pt x="9123" y="41602"/>
                      <a:pt x="25362" y="25362"/>
                    </a:cubicBezTo>
                    <a:cubicBezTo>
                      <a:pt x="41602" y="9123"/>
                      <a:pt x="63627" y="0"/>
                      <a:pt x="86593" y="0"/>
                    </a:cubicBezTo>
                    <a:close/>
                  </a:path>
                </a:pathLst>
              </a:custGeom>
              <a:ln w="28575" cap="rnd">
                <a:solidFill>
                  <a:srgbClr val="000000"/>
                </a:solidFill>
                <a:prstDash val="solid"/>
                <a:round/>
              </a:ln>
            </p:spPr>
            <p:txBody>
              <a:bodyPr/>
              <a:lstStyle/>
              <a:p>
                <a:endParaRPr lang="en-VN"/>
              </a:p>
            </p:txBody>
          </p:sp>
          <p:sp>
            <p:nvSpPr>
              <p:cNvPr id="22" name="TextBox 22"/>
              <p:cNvSpPr txBox="1"/>
              <p:nvPr/>
            </p:nvSpPr>
            <p:spPr>
              <a:xfrm>
                <a:off x="0" y="-38100"/>
                <a:ext cx="544843" cy="211286"/>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Trả lời</a:t>
                </a:r>
              </a:p>
            </p:txBody>
          </p:sp>
        </p:grpSp>
        <p:sp>
          <p:nvSpPr>
            <p:cNvPr id="23" name="AutoShape 23"/>
            <p:cNvSpPr/>
            <p:nvPr/>
          </p:nvSpPr>
          <p:spPr>
            <a:xfrm>
              <a:off x="6298771" y="2121113"/>
              <a:ext cx="965200" cy="0"/>
            </a:xfrm>
            <a:prstGeom prst="line">
              <a:avLst/>
            </a:prstGeom>
            <a:ln w="50800" cap="flat">
              <a:solidFill>
                <a:srgbClr val="000000"/>
              </a:solidFill>
              <a:prstDash val="solid"/>
              <a:headEnd type="none" w="sm" len="sm"/>
              <a:tailEnd type="triangle" w="lg" len="med"/>
            </a:ln>
          </p:spPr>
          <p:txBody>
            <a:bodyPr/>
            <a:lstStyle/>
            <a:p>
              <a:endParaRPr lang="en-VN"/>
            </a:p>
          </p:txBody>
        </p:sp>
      </p:grpSp>
      <p:grpSp>
        <p:nvGrpSpPr>
          <p:cNvPr id="24" name="Group 24"/>
          <p:cNvGrpSpPr/>
          <p:nvPr/>
        </p:nvGrpSpPr>
        <p:grpSpPr>
          <a:xfrm>
            <a:off x="10345765" y="5143500"/>
            <a:ext cx="7360061" cy="3707261"/>
            <a:chOff x="0" y="0"/>
            <a:chExt cx="9813414" cy="4943015"/>
          </a:xfrm>
        </p:grpSpPr>
        <p:sp>
          <p:nvSpPr>
            <p:cNvPr id="25" name="TextBox 25"/>
            <p:cNvSpPr txBox="1"/>
            <p:nvPr/>
          </p:nvSpPr>
          <p:spPr>
            <a:xfrm>
              <a:off x="3863372" y="4439316"/>
              <a:ext cx="996239" cy="503699"/>
            </a:xfrm>
            <a:prstGeom prst="rect">
              <a:avLst/>
            </a:prstGeom>
          </p:spPr>
          <p:txBody>
            <a:bodyPr lIns="0" tIns="0" rIns="0" bIns="0" rtlCol="0" anchor="t">
              <a:spAutoFit/>
            </a:bodyPr>
            <a:lstStyle/>
            <a:p>
              <a:pPr algn="just">
                <a:lnSpc>
                  <a:spcPts val="3398"/>
                </a:lnSpc>
              </a:pPr>
              <a:r>
                <a:rPr lang="en-US" sz="2122" b="1">
                  <a:solidFill>
                    <a:srgbClr val="0C1D4B"/>
                  </a:solidFill>
                  <a:latin typeface="Roboto Slab Bold"/>
                  <a:ea typeface="Roboto Slab Bold"/>
                  <a:cs typeface="Roboto Slab Bold"/>
                  <a:sym typeface="Roboto Slab Bold"/>
                </a:rPr>
                <a:t>LLMs</a:t>
              </a:r>
            </a:p>
          </p:txBody>
        </p:sp>
        <p:sp>
          <p:nvSpPr>
            <p:cNvPr id="26" name="Freeform 26"/>
            <p:cNvSpPr/>
            <p:nvPr/>
          </p:nvSpPr>
          <p:spPr>
            <a:xfrm>
              <a:off x="3662115" y="3128435"/>
              <a:ext cx="1398740" cy="1404010"/>
            </a:xfrm>
            <a:custGeom>
              <a:avLst/>
              <a:gdLst/>
              <a:ahLst/>
              <a:cxnLst/>
              <a:rect l="l" t="t" r="r" b="b"/>
              <a:pathLst>
                <a:path w="1398740" h="1404010">
                  <a:moveTo>
                    <a:pt x="0" y="0"/>
                  </a:moveTo>
                  <a:lnTo>
                    <a:pt x="1398740" y="0"/>
                  </a:lnTo>
                  <a:lnTo>
                    <a:pt x="1398740" y="1404010"/>
                  </a:lnTo>
                  <a:lnTo>
                    <a:pt x="0" y="1404010"/>
                  </a:lnTo>
                  <a:lnTo>
                    <a:pt x="0" y="0"/>
                  </a:lnTo>
                  <a:close/>
                </a:path>
              </a:pathLst>
            </a:custGeom>
            <a:blipFill>
              <a:blip>
                <a:extLst>
                  <a:ext uri="{96DAC541-7B7A-43D3-8B79-37D633B846F1}">
                    <asvg:svgBlip xmlns:asvg="http://schemas.microsoft.com/office/drawing/2016/SVG/main" r:embed="rId3"/>
                  </a:ext>
                </a:extLst>
              </a:blip>
              <a:stretch>
                <a:fillRect l="-187" r="-188"/>
              </a:stretch>
            </a:blipFill>
          </p:spPr>
          <p:txBody>
            <a:bodyPr/>
            <a:lstStyle/>
            <a:p>
              <a:endParaRPr lang="en-VN"/>
            </a:p>
          </p:txBody>
        </p:sp>
        <p:sp>
          <p:nvSpPr>
            <p:cNvPr id="27" name="Freeform 27"/>
            <p:cNvSpPr/>
            <p:nvPr/>
          </p:nvSpPr>
          <p:spPr>
            <a:xfrm>
              <a:off x="4668413" y="0"/>
              <a:ext cx="5145001" cy="3125588"/>
            </a:xfrm>
            <a:custGeom>
              <a:avLst/>
              <a:gdLst/>
              <a:ahLst/>
              <a:cxnLst/>
              <a:rect l="l" t="t" r="r" b="b"/>
              <a:pathLst>
                <a:path w="5145001" h="3125588">
                  <a:moveTo>
                    <a:pt x="0" y="0"/>
                  </a:moveTo>
                  <a:lnTo>
                    <a:pt x="5145001" y="0"/>
                  </a:lnTo>
                  <a:lnTo>
                    <a:pt x="5145001" y="3125588"/>
                  </a:lnTo>
                  <a:lnTo>
                    <a:pt x="0" y="3125588"/>
                  </a:lnTo>
                  <a:lnTo>
                    <a:pt x="0" y="0"/>
                  </a:lnTo>
                  <a:close/>
                </a:path>
              </a:pathLst>
            </a:custGeom>
            <a:blipFill>
              <a:blip>
                <a:extLst>
                  <a:ext uri="{96DAC541-7B7A-43D3-8B79-37D633B846F1}">
                    <asvg:svgBlip xmlns:asvg="http://schemas.microsoft.com/office/drawing/2016/SVG/main" r:embed="rId4"/>
                  </a:ext>
                </a:extLst>
              </a:blip>
              <a:stretch>
                <a:fillRect t="-139" b="-139"/>
              </a:stretch>
            </a:blipFill>
          </p:spPr>
          <p:txBody>
            <a:bodyPr/>
            <a:lstStyle/>
            <a:p>
              <a:endParaRPr lang="en-VN"/>
            </a:p>
          </p:txBody>
        </p:sp>
        <p:sp>
          <p:nvSpPr>
            <p:cNvPr id="28" name="TextBox 28"/>
            <p:cNvSpPr txBox="1"/>
            <p:nvPr/>
          </p:nvSpPr>
          <p:spPr>
            <a:xfrm>
              <a:off x="5655050" y="661498"/>
              <a:ext cx="2848216" cy="1243785"/>
            </a:xfrm>
            <a:prstGeom prst="rect">
              <a:avLst/>
            </a:prstGeom>
          </p:spPr>
          <p:txBody>
            <a:bodyPr lIns="0" tIns="0" rIns="0" bIns="0" rtlCol="0" anchor="t">
              <a:spAutoFit/>
            </a:bodyPr>
            <a:lstStyle/>
            <a:p>
              <a:pPr algn="ctr">
                <a:lnSpc>
                  <a:spcPts val="2520"/>
                </a:lnSpc>
              </a:pPr>
              <a:r>
                <a:rPr lang="en-US" sz="1800" b="1" spc="42">
                  <a:solidFill>
                    <a:srgbClr val="0D1D4B"/>
                  </a:solidFill>
                  <a:latin typeface="Roboto Slab Bold"/>
                  <a:ea typeface="Roboto Slab Bold"/>
                  <a:cs typeface="Roboto Slab Bold"/>
                  <a:sym typeface="Roboto Slab Bold"/>
                </a:rPr>
                <a:t>Chưa được huấn luyện dữ liệu này =&gt; “bịa” ra dữ liệu</a:t>
              </a:r>
            </a:p>
          </p:txBody>
        </p:sp>
        <p:grpSp>
          <p:nvGrpSpPr>
            <p:cNvPr id="29" name="Group 29"/>
            <p:cNvGrpSpPr/>
            <p:nvPr/>
          </p:nvGrpSpPr>
          <p:grpSpPr>
            <a:xfrm>
              <a:off x="0" y="3219741"/>
              <a:ext cx="2717839" cy="1221398"/>
              <a:chOff x="0" y="0"/>
              <a:chExt cx="536857" cy="241264"/>
            </a:xfrm>
          </p:grpSpPr>
          <p:sp>
            <p:nvSpPr>
              <p:cNvPr id="30" name="Freeform 30"/>
              <p:cNvSpPr/>
              <p:nvPr/>
            </p:nvSpPr>
            <p:spPr>
              <a:xfrm>
                <a:off x="0" y="0"/>
                <a:ext cx="536857" cy="241264"/>
              </a:xfrm>
              <a:custGeom>
                <a:avLst/>
                <a:gdLst/>
                <a:ahLst/>
                <a:cxnLst/>
                <a:rect l="l" t="t" r="r" b="b"/>
                <a:pathLst>
                  <a:path w="536857" h="241264">
                    <a:moveTo>
                      <a:pt x="106346" y="0"/>
                    </a:moveTo>
                    <a:lnTo>
                      <a:pt x="430511" y="0"/>
                    </a:lnTo>
                    <a:cubicBezTo>
                      <a:pt x="458716" y="0"/>
                      <a:pt x="485765" y="11204"/>
                      <a:pt x="505709" y="31148"/>
                    </a:cubicBezTo>
                    <a:cubicBezTo>
                      <a:pt x="525653" y="51092"/>
                      <a:pt x="536857" y="78141"/>
                      <a:pt x="536857" y="106346"/>
                    </a:cubicBezTo>
                    <a:lnTo>
                      <a:pt x="536857" y="134918"/>
                    </a:lnTo>
                    <a:cubicBezTo>
                      <a:pt x="536857" y="163122"/>
                      <a:pt x="525653" y="190172"/>
                      <a:pt x="505709" y="210116"/>
                    </a:cubicBezTo>
                    <a:cubicBezTo>
                      <a:pt x="485765" y="230060"/>
                      <a:pt x="458716" y="241264"/>
                      <a:pt x="430511" y="241264"/>
                    </a:cubicBezTo>
                    <a:lnTo>
                      <a:pt x="106346" y="241264"/>
                    </a:lnTo>
                    <a:cubicBezTo>
                      <a:pt x="78141" y="241264"/>
                      <a:pt x="51092" y="230060"/>
                      <a:pt x="31148" y="210116"/>
                    </a:cubicBezTo>
                    <a:cubicBezTo>
                      <a:pt x="11204" y="190172"/>
                      <a:pt x="0" y="163122"/>
                      <a:pt x="0" y="134918"/>
                    </a:cubicBezTo>
                    <a:lnTo>
                      <a:pt x="0" y="106346"/>
                    </a:lnTo>
                    <a:cubicBezTo>
                      <a:pt x="0" y="78141"/>
                      <a:pt x="11204" y="51092"/>
                      <a:pt x="31148" y="31148"/>
                    </a:cubicBezTo>
                    <a:cubicBezTo>
                      <a:pt x="51092" y="11204"/>
                      <a:pt x="78141" y="0"/>
                      <a:pt x="106346" y="0"/>
                    </a:cubicBezTo>
                    <a:close/>
                  </a:path>
                </a:pathLst>
              </a:custGeom>
              <a:ln w="28575" cap="rnd">
                <a:solidFill>
                  <a:srgbClr val="000000"/>
                </a:solidFill>
                <a:prstDash val="solid"/>
                <a:round/>
              </a:ln>
            </p:spPr>
            <p:txBody>
              <a:bodyPr/>
              <a:lstStyle/>
              <a:p>
                <a:endParaRPr lang="en-VN"/>
              </a:p>
            </p:txBody>
          </p:sp>
          <p:sp>
            <p:nvSpPr>
              <p:cNvPr id="31" name="TextBox 31"/>
              <p:cNvSpPr txBox="1"/>
              <p:nvPr/>
            </p:nvSpPr>
            <p:spPr>
              <a:xfrm>
                <a:off x="0" y="-38100"/>
                <a:ext cx="536857" cy="279364"/>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Luật mới </a:t>
                </a:r>
              </a:p>
              <a:p>
                <a:pPr algn="ctr">
                  <a:lnSpc>
                    <a:spcPts val="2940"/>
                  </a:lnSpc>
                </a:pPr>
                <a:r>
                  <a:rPr lang="en-US" sz="2100" b="1">
                    <a:solidFill>
                      <a:srgbClr val="000000"/>
                    </a:solidFill>
                    <a:latin typeface="Roboto Slab Bold"/>
                    <a:ea typeface="Roboto Slab Bold"/>
                    <a:cs typeface="Roboto Slab Bold"/>
                    <a:sym typeface="Roboto Slab Bold"/>
                  </a:rPr>
                  <a:t>2027?</a:t>
                </a:r>
              </a:p>
            </p:txBody>
          </p:sp>
        </p:grpSp>
        <p:sp>
          <p:nvSpPr>
            <p:cNvPr id="32" name="AutoShape 32"/>
            <p:cNvSpPr/>
            <p:nvPr/>
          </p:nvSpPr>
          <p:spPr>
            <a:xfrm>
              <a:off x="2717839" y="3830440"/>
              <a:ext cx="944275" cy="0"/>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33" name="Group 33"/>
            <p:cNvGrpSpPr/>
            <p:nvPr/>
          </p:nvGrpSpPr>
          <p:grpSpPr>
            <a:xfrm>
              <a:off x="6304264" y="3219741"/>
              <a:ext cx="2913783" cy="1221398"/>
              <a:chOff x="0" y="0"/>
              <a:chExt cx="575562" cy="241264"/>
            </a:xfrm>
          </p:grpSpPr>
          <p:sp>
            <p:nvSpPr>
              <p:cNvPr id="34" name="Freeform 34"/>
              <p:cNvSpPr/>
              <p:nvPr/>
            </p:nvSpPr>
            <p:spPr>
              <a:xfrm>
                <a:off x="0" y="0"/>
                <a:ext cx="575562" cy="241264"/>
              </a:xfrm>
              <a:custGeom>
                <a:avLst/>
                <a:gdLst/>
                <a:ahLst/>
                <a:cxnLst/>
                <a:rect l="l" t="t" r="r" b="b"/>
                <a:pathLst>
                  <a:path w="575562" h="241264">
                    <a:moveTo>
                      <a:pt x="99195" y="0"/>
                    </a:moveTo>
                    <a:lnTo>
                      <a:pt x="476367" y="0"/>
                    </a:lnTo>
                    <a:cubicBezTo>
                      <a:pt x="502676" y="0"/>
                      <a:pt x="527906" y="10451"/>
                      <a:pt x="546509" y="29053"/>
                    </a:cubicBezTo>
                    <a:cubicBezTo>
                      <a:pt x="565111" y="47656"/>
                      <a:pt x="575562" y="72887"/>
                      <a:pt x="575562" y="99195"/>
                    </a:cubicBezTo>
                    <a:lnTo>
                      <a:pt x="575562" y="142069"/>
                    </a:lnTo>
                    <a:cubicBezTo>
                      <a:pt x="575562" y="168377"/>
                      <a:pt x="565111" y="193608"/>
                      <a:pt x="546509" y="212210"/>
                    </a:cubicBezTo>
                    <a:cubicBezTo>
                      <a:pt x="527906" y="230813"/>
                      <a:pt x="502676" y="241264"/>
                      <a:pt x="476367" y="241264"/>
                    </a:cubicBezTo>
                    <a:lnTo>
                      <a:pt x="99195" y="241264"/>
                    </a:lnTo>
                    <a:cubicBezTo>
                      <a:pt x="72887" y="241264"/>
                      <a:pt x="47656" y="230813"/>
                      <a:pt x="29053" y="212210"/>
                    </a:cubicBezTo>
                    <a:cubicBezTo>
                      <a:pt x="10451" y="193608"/>
                      <a:pt x="0" y="168377"/>
                      <a:pt x="0" y="142069"/>
                    </a:cubicBezTo>
                    <a:lnTo>
                      <a:pt x="0" y="99195"/>
                    </a:lnTo>
                    <a:cubicBezTo>
                      <a:pt x="0" y="72887"/>
                      <a:pt x="10451" y="47656"/>
                      <a:pt x="29053" y="29053"/>
                    </a:cubicBezTo>
                    <a:cubicBezTo>
                      <a:pt x="47656" y="10451"/>
                      <a:pt x="72887" y="0"/>
                      <a:pt x="99195" y="0"/>
                    </a:cubicBezTo>
                    <a:close/>
                  </a:path>
                </a:pathLst>
              </a:custGeom>
              <a:ln w="28575" cap="rnd">
                <a:solidFill>
                  <a:srgbClr val="000000"/>
                </a:solidFill>
                <a:prstDash val="solid"/>
                <a:round/>
              </a:ln>
            </p:spPr>
            <p:txBody>
              <a:bodyPr/>
              <a:lstStyle/>
              <a:p>
                <a:endParaRPr lang="en-VN"/>
              </a:p>
            </p:txBody>
          </p:sp>
          <p:sp>
            <p:nvSpPr>
              <p:cNvPr id="35" name="TextBox 35"/>
              <p:cNvSpPr txBox="1"/>
              <p:nvPr/>
            </p:nvSpPr>
            <p:spPr>
              <a:xfrm>
                <a:off x="0" y="-38100"/>
                <a:ext cx="575562" cy="279364"/>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Luật năm 2027 là...</a:t>
                </a:r>
              </a:p>
            </p:txBody>
          </p:sp>
        </p:grpSp>
        <p:sp>
          <p:nvSpPr>
            <p:cNvPr id="36" name="AutoShape 36"/>
            <p:cNvSpPr/>
            <p:nvPr/>
          </p:nvSpPr>
          <p:spPr>
            <a:xfrm flipV="1">
              <a:off x="5060855" y="3830440"/>
              <a:ext cx="1243409" cy="0"/>
            </a:xfrm>
            <a:prstGeom prst="line">
              <a:avLst/>
            </a:prstGeom>
            <a:ln w="50800" cap="flat">
              <a:solidFill>
                <a:srgbClr val="000000"/>
              </a:solidFill>
              <a:prstDash val="solid"/>
              <a:headEnd type="none" w="sm" len="sm"/>
              <a:tailEnd type="triangle" w="lg" len="med"/>
            </a:ln>
          </p:spPr>
          <p:txBody>
            <a:bodyPr/>
            <a:lstStyle/>
            <a:p>
              <a:endParaRPr lang="en-VN"/>
            </a:p>
          </p:txBody>
        </p:sp>
      </p:grpSp>
      <p:sp>
        <p:nvSpPr>
          <p:cNvPr id="37" name="TextBox 37"/>
          <p:cNvSpPr txBox="1"/>
          <p:nvPr/>
        </p:nvSpPr>
        <p:spPr>
          <a:xfrm>
            <a:off x="1028700" y="5741539"/>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Hạn chế</a:t>
            </a:r>
          </a:p>
        </p:txBody>
      </p:sp>
      <p:sp>
        <p:nvSpPr>
          <p:cNvPr id="38" name="TextBox 38"/>
          <p:cNvSpPr txBox="1"/>
          <p:nvPr/>
        </p:nvSpPr>
        <p:spPr>
          <a:xfrm>
            <a:off x="1028700" y="6646414"/>
            <a:ext cx="9079671" cy="2772681"/>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Không tận dụng được những nguồn dữ liệu nội bộ, dữ liệu mới chưa được huấn luyện (văn bản pháp luật,...)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Hiện tượng ảo giác của LLMs tạo ra nội dung sai sự thật</a:t>
            </a:r>
          </a:p>
        </p:txBody>
      </p:sp>
      <p:sp>
        <p:nvSpPr>
          <p:cNvPr id="39" name="TextBox 39"/>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40" name="Freeform 40"/>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5"/>
            <a:stretch>
              <a:fillRect/>
            </a:stretch>
          </a:blipFill>
        </p:spPr>
        <p:txBody>
          <a:bodyPr/>
          <a:lstStyle/>
          <a:p>
            <a:endParaRPr lang="en-V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TextBox 9"/>
          <p:cNvSpPr txBox="1"/>
          <p:nvPr/>
        </p:nvSpPr>
        <p:spPr>
          <a:xfrm>
            <a:off x="1028700" y="1095375"/>
            <a:ext cx="10321094"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2.2. Một số phương pháp xây dựng Chatbot</a:t>
            </a:r>
          </a:p>
        </p:txBody>
      </p:sp>
      <p:sp>
        <p:nvSpPr>
          <p:cNvPr id="10" name="TextBox 10"/>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Hệ thống Chatbot dựa trên mô hình kiến trúc AI Agent</a:t>
            </a:r>
          </a:p>
        </p:txBody>
      </p:sp>
      <p:sp>
        <p:nvSpPr>
          <p:cNvPr id="11" name="TextBox 11"/>
          <p:cNvSpPr txBox="1"/>
          <p:nvPr/>
        </p:nvSpPr>
        <p:spPr>
          <a:xfrm>
            <a:off x="1028700" y="2630118"/>
            <a:ext cx="9079671" cy="3896739"/>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Xây dựng chatbot dựa trên mô hình kiến trúc AI Agent (tác tử thông minh)</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Hệ thống chatbot có khả năng sử dụng các công cụ truy vấn, công cụ tính toán, lập kế hoạch,...</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Khai thác được dữ liệu có sẵn</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Đa năng, linh hoạt do được tích hợp nhiều công cụ</a:t>
            </a:r>
          </a:p>
        </p:txBody>
      </p:sp>
      <p:grpSp>
        <p:nvGrpSpPr>
          <p:cNvPr id="12" name="Group 12"/>
          <p:cNvGrpSpPr/>
          <p:nvPr/>
        </p:nvGrpSpPr>
        <p:grpSpPr>
          <a:xfrm>
            <a:off x="12562095" y="1644257"/>
            <a:ext cx="4883508" cy="7298471"/>
            <a:chOff x="0" y="0"/>
            <a:chExt cx="6511344" cy="9731295"/>
          </a:xfrm>
        </p:grpSpPr>
        <p:grpSp>
          <p:nvGrpSpPr>
            <p:cNvPr id="13" name="Group 13"/>
            <p:cNvGrpSpPr/>
            <p:nvPr/>
          </p:nvGrpSpPr>
          <p:grpSpPr>
            <a:xfrm>
              <a:off x="1870594" y="0"/>
              <a:ext cx="2758266" cy="876752"/>
              <a:chOff x="0" y="0"/>
              <a:chExt cx="544843" cy="173186"/>
            </a:xfrm>
          </p:grpSpPr>
          <p:sp>
            <p:nvSpPr>
              <p:cNvPr id="14" name="Freeform 14"/>
              <p:cNvSpPr/>
              <p:nvPr/>
            </p:nvSpPr>
            <p:spPr>
              <a:xfrm>
                <a:off x="0" y="0"/>
                <a:ext cx="544843" cy="173186"/>
              </a:xfrm>
              <a:custGeom>
                <a:avLst/>
                <a:gdLst/>
                <a:ahLst/>
                <a:cxnLst/>
                <a:rect l="l" t="t" r="r" b="b"/>
                <a:pathLst>
                  <a:path w="544843" h="173186">
                    <a:moveTo>
                      <a:pt x="86593" y="0"/>
                    </a:moveTo>
                    <a:lnTo>
                      <a:pt x="458250" y="0"/>
                    </a:lnTo>
                    <a:cubicBezTo>
                      <a:pt x="481216" y="0"/>
                      <a:pt x="503241" y="9123"/>
                      <a:pt x="519480" y="25362"/>
                    </a:cubicBezTo>
                    <a:cubicBezTo>
                      <a:pt x="535719" y="41602"/>
                      <a:pt x="544843" y="63627"/>
                      <a:pt x="544843" y="86593"/>
                    </a:cubicBezTo>
                    <a:lnTo>
                      <a:pt x="544843" y="86593"/>
                    </a:lnTo>
                    <a:cubicBezTo>
                      <a:pt x="544843" y="134417"/>
                      <a:pt x="506074" y="173186"/>
                      <a:pt x="458250" y="173186"/>
                    </a:cubicBezTo>
                    <a:lnTo>
                      <a:pt x="86593" y="173186"/>
                    </a:lnTo>
                    <a:cubicBezTo>
                      <a:pt x="63627" y="173186"/>
                      <a:pt x="41602" y="164062"/>
                      <a:pt x="25362" y="147823"/>
                    </a:cubicBezTo>
                    <a:cubicBezTo>
                      <a:pt x="9123" y="131584"/>
                      <a:pt x="0" y="109559"/>
                      <a:pt x="0" y="86593"/>
                    </a:cubicBezTo>
                    <a:lnTo>
                      <a:pt x="0" y="86593"/>
                    </a:lnTo>
                    <a:cubicBezTo>
                      <a:pt x="0" y="63627"/>
                      <a:pt x="9123" y="41602"/>
                      <a:pt x="25362" y="25362"/>
                    </a:cubicBezTo>
                    <a:cubicBezTo>
                      <a:pt x="41602" y="9123"/>
                      <a:pt x="63627" y="0"/>
                      <a:pt x="86593" y="0"/>
                    </a:cubicBezTo>
                    <a:close/>
                  </a:path>
                </a:pathLst>
              </a:custGeom>
              <a:ln w="28575" cap="rnd">
                <a:solidFill>
                  <a:srgbClr val="000000"/>
                </a:solidFill>
                <a:prstDash val="solid"/>
                <a:round/>
              </a:ln>
            </p:spPr>
            <p:txBody>
              <a:bodyPr/>
              <a:lstStyle/>
              <a:p>
                <a:endParaRPr lang="en-VN"/>
              </a:p>
            </p:txBody>
          </p:sp>
          <p:sp>
            <p:nvSpPr>
              <p:cNvPr id="15" name="TextBox 15"/>
              <p:cNvSpPr txBox="1"/>
              <p:nvPr/>
            </p:nvSpPr>
            <p:spPr>
              <a:xfrm>
                <a:off x="0" y="-38100"/>
                <a:ext cx="544843" cy="211286"/>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Câu hỏi</a:t>
                </a:r>
              </a:p>
            </p:txBody>
          </p:sp>
        </p:grpSp>
        <p:sp>
          <p:nvSpPr>
            <p:cNvPr id="16" name="AutoShape 16"/>
            <p:cNvSpPr/>
            <p:nvPr/>
          </p:nvSpPr>
          <p:spPr>
            <a:xfrm>
              <a:off x="3249727" y="876752"/>
              <a:ext cx="5945" cy="1066800"/>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17" name="Group 17"/>
            <p:cNvGrpSpPr/>
            <p:nvPr/>
          </p:nvGrpSpPr>
          <p:grpSpPr>
            <a:xfrm>
              <a:off x="1870594" y="8854543"/>
              <a:ext cx="2758266" cy="876752"/>
              <a:chOff x="0" y="0"/>
              <a:chExt cx="544843" cy="173186"/>
            </a:xfrm>
          </p:grpSpPr>
          <p:sp>
            <p:nvSpPr>
              <p:cNvPr id="18" name="Freeform 18"/>
              <p:cNvSpPr/>
              <p:nvPr/>
            </p:nvSpPr>
            <p:spPr>
              <a:xfrm>
                <a:off x="0" y="0"/>
                <a:ext cx="544843" cy="173186"/>
              </a:xfrm>
              <a:custGeom>
                <a:avLst/>
                <a:gdLst/>
                <a:ahLst/>
                <a:cxnLst/>
                <a:rect l="l" t="t" r="r" b="b"/>
                <a:pathLst>
                  <a:path w="544843" h="173186">
                    <a:moveTo>
                      <a:pt x="86593" y="0"/>
                    </a:moveTo>
                    <a:lnTo>
                      <a:pt x="458250" y="0"/>
                    </a:lnTo>
                    <a:cubicBezTo>
                      <a:pt x="481216" y="0"/>
                      <a:pt x="503241" y="9123"/>
                      <a:pt x="519480" y="25362"/>
                    </a:cubicBezTo>
                    <a:cubicBezTo>
                      <a:pt x="535719" y="41602"/>
                      <a:pt x="544843" y="63627"/>
                      <a:pt x="544843" y="86593"/>
                    </a:cubicBezTo>
                    <a:lnTo>
                      <a:pt x="544843" y="86593"/>
                    </a:lnTo>
                    <a:cubicBezTo>
                      <a:pt x="544843" y="134417"/>
                      <a:pt x="506074" y="173186"/>
                      <a:pt x="458250" y="173186"/>
                    </a:cubicBezTo>
                    <a:lnTo>
                      <a:pt x="86593" y="173186"/>
                    </a:lnTo>
                    <a:cubicBezTo>
                      <a:pt x="63627" y="173186"/>
                      <a:pt x="41602" y="164062"/>
                      <a:pt x="25362" y="147823"/>
                    </a:cubicBezTo>
                    <a:cubicBezTo>
                      <a:pt x="9123" y="131584"/>
                      <a:pt x="0" y="109559"/>
                      <a:pt x="0" y="86593"/>
                    </a:cubicBezTo>
                    <a:lnTo>
                      <a:pt x="0" y="86593"/>
                    </a:lnTo>
                    <a:cubicBezTo>
                      <a:pt x="0" y="63627"/>
                      <a:pt x="9123" y="41602"/>
                      <a:pt x="25362" y="25362"/>
                    </a:cubicBezTo>
                    <a:cubicBezTo>
                      <a:pt x="41602" y="9123"/>
                      <a:pt x="63627" y="0"/>
                      <a:pt x="86593" y="0"/>
                    </a:cubicBezTo>
                    <a:close/>
                  </a:path>
                </a:pathLst>
              </a:custGeom>
              <a:ln w="28575" cap="rnd">
                <a:solidFill>
                  <a:srgbClr val="000000"/>
                </a:solidFill>
                <a:prstDash val="solid"/>
                <a:round/>
              </a:ln>
            </p:spPr>
            <p:txBody>
              <a:bodyPr/>
              <a:lstStyle/>
              <a:p>
                <a:endParaRPr lang="en-VN"/>
              </a:p>
            </p:txBody>
          </p:sp>
          <p:sp>
            <p:nvSpPr>
              <p:cNvPr id="19" name="TextBox 19"/>
              <p:cNvSpPr txBox="1"/>
              <p:nvPr/>
            </p:nvSpPr>
            <p:spPr>
              <a:xfrm>
                <a:off x="0" y="-38100"/>
                <a:ext cx="544843" cy="211286"/>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Trả lời</a:t>
                </a:r>
              </a:p>
            </p:txBody>
          </p:sp>
        </p:grpSp>
        <p:sp>
          <p:nvSpPr>
            <p:cNvPr id="20" name="AutoShape 20"/>
            <p:cNvSpPr/>
            <p:nvPr/>
          </p:nvSpPr>
          <p:spPr>
            <a:xfrm flipH="1">
              <a:off x="3249727" y="7839480"/>
              <a:ext cx="5945" cy="1015062"/>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21" name="Group 21"/>
            <p:cNvGrpSpPr/>
            <p:nvPr/>
          </p:nvGrpSpPr>
          <p:grpSpPr>
            <a:xfrm>
              <a:off x="0" y="1943552"/>
              <a:ext cx="6511344" cy="5895928"/>
              <a:chOff x="0" y="0"/>
              <a:chExt cx="1286191" cy="1164628"/>
            </a:xfrm>
          </p:grpSpPr>
          <p:sp>
            <p:nvSpPr>
              <p:cNvPr id="22" name="Freeform 22"/>
              <p:cNvSpPr/>
              <p:nvPr/>
            </p:nvSpPr>
            <p:spPr>
              <a:xfrm>
                <a:off x="0" y="0"/>
                <a:ext cx="1286191" cy="1164628"/>
              </a:xfrm>
              <a:custGeom>
                <a:avLst/>
                <a:gdLst/>
                <a:ahLst/>
                <a:cxnLst/>
                <a:rect l="l" t="t" r="r" b="b"/>
                <a:pathLst>
                  <a:path w="1286191" h="1164628">
                    <a:moveTo>
                      <a:pt x="80851" y="0"/>
                    </a:moveTo>
                    <a:lnTo>
                      <a:pt x="1205340" y="0"/>
                    </a:lnTo>
                    <a:cubicBezTo>
                      <a:pt x="1226783" y="0"/>
                      <a:pt x="1247348" y="8518"/>
                      <a:pt x="1262511" y="23681"/>
                    </a:cubicBezTo>
                    <a:cubicBezTo>
                      <a:pt x="1277673" y="38843"/>
                      <a:pt x="1286191" y="59408"/>
                      <a:pt x="1286191" y="80851"/>
                    </a:cubicBezTo>
                    <a:lnTo>
                      <a:pt x="1286191" y="1083777"/>
                    </a:lnTo>
                    <a:cubicBezTo>
                      <a:pt x="1286191" y="1105220"/>
                      <a:pt x="1277673" y="1125784"/>
                      <a:pt x="1262511" y="1140947"/>
                    </a:cubicBezTo>
                    <a:cubicBezTo>
                      <a:pt x="1247348" y="1156110"/>
                      <a:pt x="1226783" y="1164628"/>
                      <a:pt x="1205340" y="1164628"/>
                    </a:cubicBezTo>
                    <a:lnTo>
                      <a:pt x="80851" y="1164628"/>
                    </a:lnTo>
                    <a:cubicBezTo>
                      <a:pt x="59408" y="1164628"/>
                      <a:pt x="38843" y="1156110"/>
                      <a:pt x="23681" y="1140947"/>
                    </a:cubicBezTo>
                    <a:cubicBezTo>
                      <a:pt x="8518" y="1125784"/>
                      <a:pt x="0" y="1105220"/>
                      <a:pt x="0" y="1083777"/>
                    </a:cubicBezTo>
                    <a:lnTo>
                      <a:pt x="0" y="80851"/>
                    </a:lnTo>
                    <a:cubicBezTo>
                      <a:pt x="0" y="59408"/>
                      <a:pt x="8518" y="38843"/>
                      <a:pt x="23681" y="23681"/>
                    </a:cubicBezTo>
                    <a:cubicBezTo>
                      <a:pt x="38843" y="8518"/>
                      <a:pt x="59408" y="0"/>
                      <a:pt x="80851" y="0"/>
                    </a:cubicBezTo>
                    <a:close/>
                  </a:path>
                </a:pathLst>
              </a:custGeom>
              <a:ln w="28575" cap="rnd">
                <a:solidFill>
                  <a:srgbClr val="000000"/>
                </a:solidFill>
                <a:prstDash val="solid"/>
                <a:round/>
              </a:ln>
            </p:spPr>
            <p:txBody>
              <a:bodyPr/>
              <a:lstStyle/>
              <a:p>
                <a:endParaRPr lang="en-VN"/>
              </a:p>
            </p:txBody>
          </p:sp>
          <p:sp>
            <p:nvSpPr>
              <p:cNvPr id="23" name="TextBox 23"/>
              <p:cNvSpPr txBox="1"/>
              <p:nvPr/>
            </p:nvSpPr>
            <p:spPr>
              <a:xfrm>
                <a:off x="0" y="-38100"/>
                <a:ext cx="1286191" cy="1202728"/>
              </a:xfrm>
              <a:prstGeom prst="rect">
                <a:avLst/>
              </a:prstGeom>
            </p:spPr>
            <p:txBody>
              <a:bodyPr lIns="50800" tIns="50800" rIns="50800" bIns="50800" rtlCol="0" anchor="ctr"/>
              <a:lstStyle/>
              <a:p>
                <a:pPr algn="ctr">
                  <a:lnSpc>
                    <a:spcPts val="2940"/>
                  </a:lnSpc>
                </a:pPr>
                <a:endParaRPr/>
              </a:p>
            </p:txBody>
          </p:sp>
        </p:grpSp>
        <p:sp>
          <p:nvSpPr>
            <p:cNvPr id="24" name="Freeform 24"/>
            <p:cNvSpPr/>
            <p:nvPr/>
          </p:nvSpPr>
          <p:spPr>
            <a:xfrm>
              <a:off x="1362538" y="2577586"/>
              <a:ext cx="1200302" cy="1204824"/>
            </a:xfrm>
            <a:custGeom>
              <a:avLst/>
              <a:gdLst/>
              <a:ahLst/>
              <a:cxnLst/>
              <a:rect l="l" t="t" r="r" b="b"/>
              <a:pathLst>
                <a:path w="1200302" h="1204824">
                  <a:moveTo>
                    <a:pt x="0" y="0"/>
                  </a:moveTo>
                  <a:lnTo>
                    <a:pt x="1200303" y="0"/>
                  </a:lnTo>
                  <a:lnTo>
                    <a:pt x="1200303" y="1204823"/>
                  </a:lnTo>
                  <a:lnTo>
                    <a:pt x="0" y="1204823"/>
                  </a:lnTo>
                  <a:lnTo>
                    <a:pt x="0" y="0"/>
                  </a:lnTo>
                  <a:close/>
                </a:path>
              </a:pathLst>
            </a:custGeom>
            <a:blipFill>
              <a:blip>
                <a:extLst>
                  <a:ext uri="{96DAC541-7B7A-43D3-8B79-37D633B846F1}">
                    <asvg:svgBlip xmlns:asvg="http://schemas.microsoft.com/office/drawing/2016/SVG/main" r:embed="rId3"/>
                  </a:ext>
                </a:extLst>
              </a:blip>
              <a:stretch>
                <a:fillRect l="-188" r="-188"/>
              </a:stretch>
            </a:blipFill>
          </p:spPr>
          <p:txBody>
            <a:bodyPr/>
            <a:lstStyle/>
            <a:p>
              <a:endParaRPr lang="en-VN"/>
            </a:p>
          </p:txBody>
        </p:sp>
        <p:sp>
          <p:nvSpPr>
            <p:cNvPr id="25" name="TextBox 25"/>
            <p:cNvSpPr txBox="1"/>
            <p:nvPr/>
          </p:nvSpPr>
          <p:spPr>
            <a:xfrm>
              <a:off x="1535233" y="3680860"/>
              <a:ext cx="854913" cy="435218"/>
            </a:xfrm>
            <a:prstGeom prst="rect">
              <a:avLst/>
            </a:prstGeom>
          </p:spPr>
          <p:txBody>
            <a:bodyPr lIns="0" tIns="0" rIns="0" bIns="0" rtlCol="0" anchor="t">
              <a:spAutoFit/>
            </a:bodyPr>
            <a:lstStyle/>
            <a:p>
              <a:pPr algn="just">
                <a:lnSpc>
                  <a:spcPts val="2916"/>
                </a:lnSpc>
              </a:pPr>
              <a:r>
                <a:rPr lang="en-US" sz="1822" b="1">
                  <a:solidFill>
                    <a:srgbClr val="0C1D4B"/>
                  </a:solidFill>
                  <a:latin typeface="Roboto Slab Bold"/>
                  <a:ea typeface="Roboto Slab Bold"/>
                  <a:cs typeface="Roboto Slab Bold"/>
                  <a:sym typeface="Roboto Slab Bold"/>
                </a:rPr>
                <a:t>LLMs</a:t>
              </a:r>
            </a:p>
          </p:txBody>
        </p:sp>
        <p:sp>
          <p:nvSpPr>
            <p:cNvPr id="26" name="TextBox 26"/>
            <p:cNvSpPr txBox="1"/>
            <p:nvPr/>
          </p:nvSpPr>
          <p:spPr>
            <a:xfrm>
              <a:off x="3636346" y="3546863"/>
              <a:ext cx="1444473" cy="917782"/>
            </a:xfrm>
            <a:prstGeom prst="rect">
              <a:avLst/>
            </a:prstGeom>
          </p:spPr>
          <p:txBody>
            <a:bodyPr lIns="0" tIns="0" rIns="0" bIns="0" rtlCol="0" anchor="t">
              <a:spAutoFit/>
            </a:bodyPr>
            <a:lstStyle/>
            <a:p>
              <a:pPr algn="ctr">
                <a:lnSpc>
                  <a:spcPts val="2916"/>
                </a:lnSpc>
              </a:pPr>
              <a:r>
                <a:rPr lang="en-US" sz="1822" b="1">
                  <a:solidFill>
                    <a:srgbClr val="0C1D4B"/>
                  </a:solidFill>
                  <a:latin typeface="Roboto Slab Bold"/>
                  <a:ea typeface="Roboto Slab Bold"/>
                  <a:cs typeface="Roboto Slab Bold"/>
                  <a:sym typeface="Roboto Slab Bold"/>
                </a:rPr>
                <a:t>Truy vấn CSDL</a:t>
              </a:r>
            </a:p>
          </p:txBody>
        </p:sp>
        <p:sp>
          <p:nvSpPr>
            <p:cNvPr id="27" name="Freeform 27"/>
            <p:cNvSpPr/>
            <p:nvPr/>
          </p:nvSpPr>
          <p:spPr>
            <a:xfrm>
              <a:off x="3838289" y="2240185"/>
              <a:ext cx="1040587" cy="1217054"/>
            </a:xfrm>
            <a:custGeom>
              <a:avLst/>
              <a:gdLst/>
              <a:ahLst/>
              <a:cxnLst/>
              <a:rect l="l" t="t" r="r" b="b"/>
              <a:pathLst>
                <a:path w="1040587" h="1217054">
                  <a:moveTo>
                    <a:pt x="0" y="0"/>
                  </a:moveTo>
                  <a:lnTo>
                    <a:pt x="1040587" y="0"/>
                  </a:lnTo>
                  <a:lnTo>
                    <a:pt x="1040587" y="1217054"/>
                  </a:lnTo>
                  <a:lnTo>
                    <a:pt x="0" y="1217054"/>
                  </a:lnTo>
                  <a:lnTo>
                    <a:pt x="0" y="0"/>
                  </a:lnTo>
                  <a:close/>
                </a:path>
              </a:pathLst>
            </a:custGeom>
            <a:blipFill>
              <a:blip>
                <a:extLst>
                  <a:ext uri="{96DAC541-7B7A-43D3-8B79-37D633B846F1}">
                    <asvg:svgBlip xmlns:asvg="http://schemas.microsoft.com/office/drawing/2016/SVG/main" r:embed="rId4"/>
                  </a:ext>
                </a:extLst>
              </a:blip>
              <a:stretch>
                <a:fillRect t="-49" b="-49"/>
              </a:stretch>
            </a:blipFill>
          </p:spPr>
          <p:txBody>
            <a:bodyPr/>
            <a:lstStyle/>
            <a:p>
              <a:endParaRPr lang="en-VN"/>
            </a:p>
          </p:txBody>
        </p:sp>
        <p:sp>
          <p:nvSpPr>
            <p:cNvPr id="28" name="TextBox 28"/>
            <p:cNvSpPr txBox="1"/>
            <p:nvPr/>
          </p:nvSpPr>
          <p:spPr>
            <a:xfrm>
              <a:off x="2434114" y="6338284"/>
              <a:ext cx="1631226" cy="435218"/>
            </a:xfrm>
            <a:prstGeom prst="rect">
              <a:avLst/>
            </a:prstGeom>
          </p:spPr>
          <p:txBody>
            <a:bodyPr lIns="0" tIns="0" rIns="0" bIns="0" rtlCol="0" anchor="t">
              <a:spAutoFit/>
            </a:bodyPr>
            <a:lstStyle/>
            <a:p>
              <a:pPr algn="ctr">
                <a:lnSpc>
                  <a:spcPts val="2916"/>
                </a:lnSpc>
              </a:pPr>
              <a:r>
                <a:rPr lang="en-US" sz="1822" b="1">
                  <a:solidFill>
                    <a:srgbClr val="0C1D4B"/>
                  </a:solidFill>
                  <a:latin typeface="Roboto Slab Bold"/>
                  <a:ea typeface="Roboto Slab Bold"/>
                  <a:cs typeface="Roboto Slab Bold"/>
                  <a:sym typeface="Roboto Slab Bold"/>
                </a:rPr>
                <a:t>Tính toán</a:t>
              </a:r>
            </a:p>
          </p:txBody>
        </p:sp>
        <p:sp>
          <p:nvSpPr>
            <p:cNvPr id="29" name="Freeform 29"/>
            <p:cNvSpPr/>
            <p:nvPr/>
          </p:nvSpPr>
          <p:spPr>
            <a:xfrm>
              <a:off x="2606846" y="4881531"/>
              <a:ext cx="1432484" cy="1416368"/>
            </a:xfrm>
            <a:custGeom>
              <a:avLst/>
              <a:gdLst/>
              <a:ahLst/>
              <a:cxnLst/>
              <a:rect l="l" t="t" r="r" b="b"/>
              <a:pathLst>
                <a:path w="1432484" h="1416368">
                  <a:moveTo>
                    <a:pt x="0" y="0"/>
                  </a:moveTo>
                  <a:lnTo>
                    <a:pt x="1432484" y="0"/>
                  </a:lnTo>
                  <a:lnTo>
                    <a:pt x="1432484" y="1416367"/>
                  </a:lnTo>
                  <a:lnTo>
                    <a:pt x="0" y="1416367"/>
                  </a:lnTo>
                  <a:lnTo>
                    <a:pt x="0" y="0"/>
                  </a:lnTo>
                  <a:close/>
                </a:path>
              </a:pathLst>
            </a:custGeom>
            <a:blipFill>
              <a:blip>
                <a:extLst>
                  <a:ext uri="{96DAC541-7B7A-43D3-8B79-37D633B846F1}">
                    <asvg:svgBlip xmlns:asvg="http://schemas.microsoft.com/office/drawing/2016/SVG/main" r:embed="rId5"/>
                  </a:ext>
                </a:extLst>
              </a:blip>
              <a:stretch>
                <a:fillRect t="-568" b="-569"/>
              </a:stretch>
            </a:blipFill>
          </p:spPr>
          <p:txBody>
            <a:bodyPr/>
            <a:lstStyle/>
            <a:p>
              <a:endParaRPr lang="en-VN"/>
            </a:p>
          </p:txBody>
        </p:sp>
        <p:sp>
          <p:nvSpPr>
            <p:cNvPr id="30" name="TextBox 30"/>
            <p:cNvSpPr txBox="1"/>
            <p:nvPr/>
          </p:nvSpPr>
          <p:spPr>
            <a:xfrm>
              <a:off x="4403223" y="6094470"/>
              <a:ext cx="1444473" cy="917782"/>
            </a:xfrm>
            <a:prstGeom prst="rect">
              <a:avLst/>
            </a:prstGeom>
          </p:spPr>
          <p:txBody>
            <a:bodyPr lIns="0" tIns="0" rIns="0" bIns="0" rtlCol="0" anchor="t">
              <a:spAutoFit/>
            </a:bodyPr>
            <a:lstStyle/>
            <a:p>
              <a:pPr algn="ctr">
                <a:lnSpc>
                  <a:spcPts val="2916"/>
                </a:lnSpc>
              </a:pPr>
              <a:r>
                <a:rPr lang="en-US" sz="1822" b="1">
                  <a:solidFill>
                    <a:srgbClr val="0C1D4B"/>
                  </a:solidFill>
                  <a:latin typeface="Roboto Slab Bold"/>
                  <a:ea typeface="Roboto Slab Bold"/>
                  <a:cs typeface="Roboto Slab Bold"/>
                  <a:sym typeface="Roboto Slab Bold"/>
                </a:rPr>
                <a:t>Lập kế hoạch</a:t>
              </a:r>
            </a:p>
          </p:txBody>
        </p:sp>
        <p:sp>
          <p:nvSpPr>
            <p:cNvPr id="31" name="Freeform 31"/>
            <p:cNvSpPr/>
            <p:nvPr/>
          </p:nvSpPr>
          <p:spPr>
            <a:xfrm>
              <a:off x="4557554" y="4670203"/>
              <a:ext cx="1135786" cy="1385113"/>
            </a:xfrm>
            <a:custGeom>
              <a:avLst/>
              <a:gdLst/>
              <a:ahLst/>
              <a:cxnLst/>
              <a:rect l="l" t="t" r="r" b="b"/>
              <a:pathLst>
                <a:path w="1135786" h="1385113">
                  <a:moveTo>
                    <a:pt x="0" y="0"/>
                  </a:moveTo>
                  <a:lnTo>
                    <a:pt x="1135786" y="0"/>
                  </a:lnTo>
                  <a:lnTo>
                    <a:pt x="1135786" y="1385113"/>
                  </a:lnTo>
                  <a:lnTo>
                    <a:pt x="0" y="1385113"/>
                  </a:lnTo>
                  <a:lnTo>
                    <a:pt x="0" y="0"/>
                  </a:lnTo>
                  <a:close/>
                </a:path>
              </a:pathLst>
            </a:custGeom>
            <a:blipFill>
              <a:blip>
                <a:extLst>
                  <a:ext uri="{96DAC541-7B7A-43D3-8B79-37D633B846F1}">
                    <asvg:svgBlip xmlns:asvg="http://schemas.microsoft.com/office/drawing/2016/SVG/main" r:embed="rId6"/>
                  </a:ext>
                </a:extLst>
              </a:blip>
              <a:stretch>
                <a:fillRect t="-110" b="-110"/>
              </a:stretch>
            </a:blipFill>
          </p:spPr>
          <p:txBody>
            <a:bodyPr/>
            <a:lstStyle/>
            <a:p>
              <a:endParaRPr lang="en-VN"/>
            </a:p>
          </p:txBody>
        </p:sp>
        <p:sp>
          <p:nvSpPr>
            <p:cNvPr id="32" name="TextBox 32"/>
            <p:cNvSpPr txBox="1"/>
            <p:nvPr/>
          </p:nvSpPr>
          <p:spPr>
            <a:xfrm>
              <a:off x="430244" y="6121927"/>
              <a:ext cx="1477416" cy="917782"/>
            </a:xfrm>
            <a:prstGeom prst="rect">
              <a:avLst/>
            </a:prstGeom>
          </p:spPr>
          <p:txBody>
            <a:bodyPr lIns="0" tIns="0" rIns="0" bIns="0" rtlCol="0" anchor="t">
              <a:spAutoFit/>
            </a:bodyPr>
            <a:lstStyle/>
            <a:p>
              <a:pPr algn="ctr">
                <a:lnSpc>
                  <a:spcPts val="2916"/>
                </a:lnSpc>
              </a:pPr>
              <a:r>
                <a:rPr lang="en-US" sz="1822" b="1">
                  <a:solidFill>
                    <a:srgbClr val="0C1D4B"/>
                  </a:solidFill>
                  <a:latin typeface="Roboto Slab Bold"/>
                  <a:ea typeface="Roboto Slab Bold"/>
                  <a:cs typeface="Roboto Slab Bold"/>
                  <a:sym typeface="Roboto Slab Bold"/>
                </a:rPr>
                <a:t>Đánh giá kết quả</a:t>
              </a:r>
            </a:p>
          </p:txBody>
        </p:sp>
        <p:sp>
          <p:nvSpPr>
            <p:cNvPr id="33" name="Freeform 33"/>
            <p:cNvSpPr/>
            <p:nvPr/>
          </p:nvSpPr>
          <p:spPr>
            <a:xfrm>
              <a:off x="521074" y="4670203"/>
              <a:ext cx="1295781" cy="1425893"/>
            </a:xfrm>
            <a:custGeom>
              <a:avLst/>
              <a:gdLst/>
              <a:ahLst/>
              <a:cxnLst/>
              <a:rect l="l" t="t" r="r" b="b"/>
              <a:pathLst>
                <a:path w="1295781" h="1425893">
                  <a:moveTo>
                    <a:pt x="0" y="0"/>
                  </a:moveTo>
                  <a:lnTo>
                    <a:pt x="1295781" y="0"/>
                  </a:lnTo>
                  <a:lnTo>
                    <a:pt x="1295781" y="1425892"/>
                  </a:lnTo>
                  <a:lnTo>
                    <a:pt x="0" y="1425892"/>
                  </a:lnTo>
                  <a:lnTo>
                    <a:pt x="0" y="0"/>
                  </a:lnTo>
                  <a:close/>
                </a:path>
              </a:pathLst>
            </a:custGeom>
            <a:blipFill>
              <a:blip>
                <a:extLst>
                  <a:ext uri="{96DAC541-7B7A-43D3-8B79-37D633B846F1}">
                    <asvg:svgBlip xmlns:asvg="http://schemas.microsoft.com/office/drawing/2016/SVG/main" r:embed="rId7"/>
                  </a:ext>
                </a:extLst>
              </a:blip>
              <a:stretch>
                <a:fillRect l="-151" r="-150"/>
              </a:stretch>
            </a:blipFill>
          </p:spPr>
          <p:txBody>
            <a:bodyPr/>
            <a:lstStyle/>
            <a:p>
              <a:endParaRPr lang="en-VN"/>
            </a:p>
          </p:txBody>
        </p:sp>
      </p:grpSp>
      <p:sp>
        <p:nvSpPr>
          <p:cNvPr id="34" name="TextBox 34"/>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35" name="Freeform 35"/>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8"/>
            <a:stretch>
              <a:fillRect/>
            </a:stretch>
          </a:blipFill>
        </p:spPr>
        <p:txBody>
          <a:bodyPr/>
          <a:lstStyle/>
          <a:p>
            <a:endParaRPr lang="en-V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TextBox 9"/>
          <p:cNvSpPr txBox="1"/>
          <p:nvPr/>
        </p:nvSpPr>
        <p:spPr>
          <a:xfrm>
            <a:off x="1028700" y="1095375"/>
            <a:ext cx="10321094"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2.2. Một số phương pháp xây dựng Chatbot</a:t>
            </a:r>
          </a:p>
        </p:txBody>
      </p:sp>
      <p:sp>
        <p:nvSpPr>
          <p:cNvPr id="10" name="TextBox 10"/>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AI Agent</a:t>
            </a:r>
          </a:p>
        </p:txBody>
      </p:sp>
      <p:sp>
        <p:nvSpPr>
          <p:cNvPr id="11" name="TextBox 11"/>
          <p:cNvSpPr txBox="1"/>
          <p:nvPr/>
        </p:nvSpPr>
        <p:spPr>
          <a:xfrm>
            <a:off x="1028700" y="2630118"/>
            <a:ext cx="9079671" cy="3896739"/>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AI Agent là hệ thống có khả năng nhận yêu cầu, phân tích trạng thái hiện tại, lựa chọn hành động phù hợp và sử dụng công cụ để đạt mục tiêu</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AI Agent là Agent được xây dựng với nền tảng các kỹ thuật AI, đặc biệt là LLMs</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LLMs thường được ứng dụng như khối não của AI Agent</a:t>
            </a:r>
          </a:p>
        </p:txBody>
      </p:sp>
      <p:grpSp>
        <p:nvGrpSpPr>
          <p:cNvPr id="12" name="Group 12"/>
          <p:cNvGrpSpPr/>
          <p:nvPr/>
        </p:nvGrpSpPr>
        <p:grpSpPr>
          <a:xfrm>
            <a:off x="11110522" y="2734893"/>
            <a:ext cx="6674961" cy="4480642"/>
            <a:chOff x="0" y="0"/>
            <a:chExt cx="8817826" cy="5919064"/>
          </a:xfrm>
        </p:grpSpPr>
        <p:sp>
          <p:nvSpPr>
            <p:cNvPr id="13" name="Freeform 13"/>
            <p:cNvSpPr/>
            <p:nvPr/>
          </p:nvSpPr>
          <p:spPr>
            <a:xfrm>
              <a:off x="0" y="0"/>
              <a:ext cx="8817864" cy="5919089"/>
            </a:xfrm>
            <a:custGeom>
              <a:avLst/>
              <a:gdLst/>
              <a:ahLst/>
              <a:cxnLst/>
              <a:rect l="l" t="t" r="r" b="b"/>
              <a:pathLst>
                <a:path w="8817864" h="5919089">
                  <a:moveTo>
                    <a:pt x="0" y="0"/>
                  </a:moveTo>
                  <a:lnTo>
                    <a:pt x="8817864" y="0"/>
                  </a:lnTo>
                  <a:lnTo>
                    <a:pt x="8817864" y="5919089"/>
                  </a:lnTo>
                  <a:lnTo>
                    <a:pt x="0" y="5919089"/>
                  </a:lnTo>
                  <a:lnTo>
                    <a:pt x="0" y="0"/>
                  </a:lnTo>
                  <a:close/>
                </a:path>
              </a:pathLst>
            </a:custGeom>
            <a:blipFill>
              <a:blip r:embed="rId3"/>
              <a:stretch>
                <a:fillRect l="-14042" r="-14042"/>
              </a:stretch>
            </a:blipFill>
          </p:spPr>
          <p:txBody>
            <a:bodyPr/>
            <a:lstStyle/>
            <a:p>
              <a:endParaRPr lang="en-VN"/>
            </a:p>
          </p:txBody>
        </p:sp>
      </p:grpSp>
      <p:sp>
        <p:nvSpPr>
          <p:cNvPr id="14" name="TextBox 14"/>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5" name="Freeform 15"/>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4"/>
            <a:stretch>
              <a:fillRect/>
            </a:stretch>
          </a:blipFill>
        </p:spPr>
        <p:txBody>
          <a:bodyPr/>
          <a:lstStyle/>
          <a:p>
            <a:endParaRPr lang="en-V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Freeform 10"/>
          <p:cNvSpPr/>
          <p:nvPr/>
        </p:nvSpPr>
        <p:spPr>
          <a:xfrm>
            <a:off x="656071" y="5698966"/>
            <a:ext cx="8935125" cy="3225915"/>
          </a:xfrm>
          <a:custGeom>
            <a:avLst/>
            <a:gdLst/>
            <a:ahLst/>
            <a:cxnLst/>
            <a:rect l="l" t="t" r="r" b="b"/>
            <a:pathLst>
              <a:path w="8935125" h="3225915">
                <a:moveTo>
                  <a:pt x="0" y="0"/>
                </a:moveTo>
                <a:lnTo>
                  <a:pt x="8935125" y="0"/>
                </a:lnTo>
                <a:lnTo>
                  <a:pt x="8935125" y="3225915"/>
                </a:lnTo>
                <a:lnTo>
                  <a:pt x="0" y="3225915"/>
                </a:lnTo>
                <a:lnTo>
                  <a:pt x="0" y="0"/>
                </a:lnTo>
                <a:close/>
              </a:path>
            </a:pathLst>
          </a:custGeom>
          <a:blipFill>
            <a:blip r:embed="rId4"/>
            <a:stretch>
              <a:fillRect t="-335" r="-2023" b="-335"/>
            </a:stretch>
          </a:blipFill>
        </p:spPr>
        <p:txBody>
          <a:bodyPr/>
          <a:lstStyle/>
          <a:p>
            <a:endParaRPr lang="en-VN"/>
          </a:p>
        </p:txBody>
      </p:sp>
      <p:sp>
        <p:nvSpPr>
          <p:cNvPr id="11" name="Freeform 11"/>
          <p:cNvSpPr/>
          <p:nvPr/>
        </p:nvSpPr>
        <p:spPr>
          <a:xfrm>
            <a:off x="10401213" y="5698966"/>
            <a:ext cx="7129094" cy="3225915"/>
          </a:xfrm>
          <a:custGeom>
            <a:avLst/>
            <a:gdLst/>
            <a:ahLst/>
            <a:cxnLst/>
            <a:rect l="l" t="t" r="r" b="b"/>
            <a:pathLst>
              <a:path w="7129094" h="3225915">
                <a:moveTo>
                  <a:pt x="0" y="0"/>
                </a:moveTo>
                <a:lnTo>
                  <a:pt x="7129094" y="0"/>
                </a:lnTo>
                <a:lnTo>
                  <a:pt x="7129094" y="3225915"/>
                </a:lnTo>
                <a:lnTo>
                  <a:pt x="0" y="3225915"/>
                </a:lnTo>
                <a:lnTo>
                  <a:pt x="0" y="0"/>
                </a:lnTo>
                <a:close/>
              </a:path>
            </a:pathLst>
          </a:custGeom>
          <a:blipFill>
            <a:blip r:embed="rId5"/>
            <a:stretch>
              <a:fillRect/>
            </a:stretch>
          </a:blipFill>
        </p:spPr>
        <p:txBody>
          <a:bodyPr/>
          <a:lstStyle/>
          <a:p>
            <a:endParaRPr lang="en-VN"/>
          </a:p>
        </p:txBody>
      </p:sp>
      <p:sp>
        <p:nvSpPr>
          <p:cNvPr id="12" name="TextBox 12"/>
          <p:cNvSpPr txBox="1"/>
          <p:nvPr/>
        </p:nvSpPr>
        <p:spPr>
          <a:xfrm>
            <a:off x="1028700" y="1095375"/>
            <a:ext cx="3954904" cy="512961"/>
          </a:xfrm>
          <a:prstGeom prst="rect">
            <a:avLst/>
          </a:prstGeom>
        </p:spPr>
        <p:txBody>
          <a:bodyPr wrap="square" lIns="0" tIns="0" rIns="0" bIns="0" rtlCol="0" anchor="t">
            <a:spAutoFit/>
          </a:bodyPr>
          <a:lstStyle/>
          <a:p>
            <a:pPr algn="just">
              <a:lnSpc>
                <a:spcPts val="4039"/>
              </a:lnSpc>
            </a:pPr>
            <a:r>
              <a:rPr lang="en-US" sz="3999" b="1" dirty="0">
                <a:solidFill>
                  <a:srgbClr val="0C1D4B"/>
                </a:solidFill>
                <a:latin typeface="Roboto Slab Bold"/>
                <a:ea typeface="Roboto Slab Bold"/>
                <a:cs typeface="Roboto Slab Bold"/>
                <a:sym typeface="Roboto Slab Bold"/>
              </a:rPr>
              <a:t>2.3. </a:t>
            </a:r>
            <a:r>
              <a:rPr lang="en-US" sz="3999" b="1" dirty="0" err="1">
                <a:solidFill>
                  <a:srgbClr val="0C1D4B"/>
                </a:solidFill>
                <a:latin typeface="Roboto Slab Bold"/>
                <a:ea typeface="Roboto Slab Bold"/>
                <a:cs typeface="Roboto Slab Bold"/>
                <a:sym typeface="Roboto Slab Bold"/>
              </a:rPr>
              <a:t>LangGraph</a:t>
            </a:r>
            <a:endParaRPr lang="en-US" sz="3999" b="1" dirty="0">
              <a:solidFill>
                <a:srgbClr val="0C1D4B"/>
              </a:solidFill>
              <a:latin typeface="Roboto Slab Bold"/>
              <a:ea typeface="Roboto Slab Bold"/>
              <a:cs typeface="Roboto Slab Bold"/>
              <a:sym typeface="Roboto Slab Bold"/>
            </a:endParaRPr>
          </a:p>
        </p:txBody>
      </p:sp>
      <p:sp>
        <p:nvSpPr>
          <p:cNvPr id="13" name="TextBox 13"/>
          <p:cNvSpPr txBox="1"/>
          <p:nvPr/>
        </p:nvSpPr>
        <p:spPr>
          <a:xfrm>
            <a:off x="1028700" y="1849068"/>
            <a:ext cx="16230600" cy="3334710"/>
          </a:xfrm>
          <a:prstGeom prst="rect">
            <a:avLst/>
          </a:prstGeom>
        </p:spPr>
        <p:txBody>
          <a:bodyPr lIns="0" tIns="0" rIns="0" bIns="0" rtlCol="0" anchor="t">
            <a:spAutoFit/>
          </a:bodyPr>
          <a:lstStyle/>
          <a:p>
            <a:pPr algn="l">
              <a:lnSpc>
                <a:spcPts val="4479"/>
              </a:lnSpc>
            </a:pPr>
            <a:r>
              <a:rPr lang="en-US" sz="2799">
                <a:solidFill>
                  <a:srgbClr val="0C1D4B"/>
                </a:solidFill>
                <a:latin typeface="Roboto Slab"/>
                <a:ea typeface="Roboto Slab"/>
                <a:cs typeface="Roboto Slab"/>
                <a:sym typeface="Roboto Slab"/>
              </a:rPr>
              <a:t>LangGraph là một framework cho phép mô hình hóa luồng xử lý thành graph gồm node, edge và state.</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Node tương ứng với các bước xử lý</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Edge là các cạnh thể hiện hướng di chuyển giữa các node</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State lưu thông tin xuyên suốt quá trình xử lý của Agent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Conditional edge giúp kiểm soát hướng đi của graph theo điều kiện</a:t>
            </a:r>
          </a:p>
        </p:txBody>
      </p:sp>
      <p:sp>
        <p:nvSpPr>
          <p:cNvPr id="14" name="TextBox 14"/>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27839" y="9986436"/>
            <a:ext cx="22035035" cy="2837612"/>
            <a:chOff x="0" y="0"/>
            <a:chExt cx="5803466" cy="747355"/>
          </a:xfrm>
        </p:grpSpPr>
        <p:sp>
          <p:nvSpPr>
            <p:cNvPr id="3" name="Freeform 3"/>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4" name="TextBox 4"/>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rot="-10800000">
            <a:off x="17259300" y="-233820"/>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912143" y="9429369"/>
            <a:ext cx="1940843" cy="970417"/>
            <a:chOff x="0" y="0"/>
            <a:chExt cx="2587790" cy="1293889"/>
          </a:xfrm>
        </p:grpSpPr>
        <p:sp>
          <p:nvSpPr>
            <p:cNvPr id="8" name="Freeform 8"/>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grpSp>
        <p:nvGrpSpPr>
          <p:cNvPr id="10" name="Group 10"/>
          <p:cNvGrpSpPr/>
          <p:nvPr/>
        </p:nvGrpSpPr>
        <p:grpSpPr>
          <a:xfrm>
            <a:off x="8555428" y="3969707"/>
            <a:ext cx="1177144" cy="1173793"/>
            <a:chOff x="0" y="0"/>
            <a:chExt cx="871377" cy="868896"/>
          </a:xfrm>
        </p:grpSpPr>
        <p:sp>
          <p:nvSpPr>
            <p:cNvPr id="11" name="Freeform 11"/>
            <p:cNvSpPr/>
            <p:nvPr/>
          </p:nvSpPr>
          <p:spPr>
            <a:xfrm>
              <a:off x="0" y="0"/>
              <a:ext cx="871377" cy="868896"/>
            </a:xfrm>
            <a:custGeom>
              <a:avLst/>
              <a:gdLst/>
              <a:ahLst/>
              <a:cxnLst/>
              <a:rect l="l" t="t" r="r" b="b"/>
              <a:pathLst>
                <a:path w="871377" h="868896">
                  <a:moveTo>
                    <a:pt x="435688" y="0"/>
                  </a:moveTo>
                  <a:cubicBezTo>
                    <a:pt x="195064" y="0"/>
                    <a:pt x="0" y="194509"/>
                    <a:pt x="0" y="434448"/>
                  </a:cubicBezTo>
                  <a:cubicBezTo>
                    <a:pt x="0" y="674387"/>
                    <a:pt x="195064" y="868896"/>
                    <a:pt x="435688" y="868896"/>
                  </a:cubicBezTo>
                  <a:cubicBezTo>
                    <a:pt x="676312" y="868896"/>
                    <a:pt x="871377" y="674387"/>
                    <a:pt x="871377" y="434448"/>
                  </a:cubicBezTo>
                  <a:cubicBezTo>
                    <a:pt x="871377" y="194509"/>
                    <a:pt x="676312" y="0"/>
                    <a:pt x="435688" y="0"/>
                  </a:cubicBezTo>
                  <a:close/>
                </a:path>
              </a:pathLst>
            </a:custGeom>
            <a:solidFill>
              <a:srgbClr val="0C1D4B"/>
            </a:solidFill>
          </p:spPr>
          <p:txBody>
            <a:bodyPr/>
            <a:lstStyle/>
            <a:p>
              <a:endParaRPr lang="en-VN"/>
            </a:p>
          </p:txBody>
        </p:sp>
        <p:sp>
          <p:nvSpPr>
            <p:cNvPr id="12" name="TextBox 12"/>
            <p:cNvSpPr txBox="1"/>
            <p:nvPr/>
          </p:nvSpPr>
          <p:spPr>
            <a:xfrm>
              <a:off x="81692" y="14784"/>
              <a:ext cx="707993" cy="772653"/>
            </a:xfrm>
            <a:prstGeom prst="rect">
              <a:avLst/>
            </a:prstGeom>
          </p:spPr>
          <p:txBody>
            <a:bodyPr lIns="50800" tIns="50800" rIns="50800" bIns="50800" rtlCol="0" anchor="ctr"/>
            <a:lstStyle/>
            <a:p>
              <a:pPr algn="ctr">
                <a:lnSpc>
                  <a:spcPts val="5880"/>
                </a:lnSpc>
              </a:pPr>
              <a:r>
                <a:rPr lang="en-US" sz="4200" b="1">
                  <a:solidFill>
                    <a:srgbClr val="FFFFFF"/>
                  </a:solidFill>
                  <a:latin typeface="Roboto Slab Bold"/>
                  <a:ea typeface="Roboto Slab Bold"/>
                  <a:cs typeface="Roboto Slab Bold"/>
                  <a:sym typeface="Roboto Slab Bold"/>
                </a:rPr>
                <a:t>3</a:t>
              </a:r>
            </a:p>
          </p:txBody>
        </p:sp>
      </p:grpSp>
      <p:sp>
        <p:nvSpPr>
          <p:cNvPr id="13" name="TextBox 13"/>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4" name="TextBox 14"/>
          <p:cNvSpPr txBox="1"/>
          <p:nvPr/>
        </p:nvSpPr>
        <p:spPr>
          <a:xfrm>
            <a:off x="5839542" y="5360956"/>
            <a:ext cx="6885858" cy="630228"/>
          </a:xfrm>
          <a:prstGeom prst="rect">
            <a:avLst/>
          </a:prstGeom>
        </p:spPr>
        <p:txBody>
          <a:bodyPr wrap="square" lIns="0" tIns="0" rIns="0" bIns="0" rtlCol="0" anchor="t">
            <a:spAutoFit/>
          </a:bodyPr>
          <a:lstStyle/>
          <a:p>
            <a:pPr algn="ctr">
              <a:lnSpc>
                <a:spcPts val="4848"/>
              </a:lnSpc>
            </a:pPr>
            <a:r>
              <a:rPr lang="en-US" sz="4800" b="1" dirty="0">
                <a:solidFill>
                  <a:srgbClr val="0C1D4B"/>
                </a:solidFill>
                <a:latin typeface="Roboto Slab Bold"/>
                <a:ea typeface="Roboto Slab Bold"/>
                <a:cs typeface="Roboto Slab Bold"/>
                <a:sym typeface="Roboto Slab Bold"/>
              </a:rPr>
              <a:t>XÂY DỰNG HỆ THỐNG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8332886"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3.1. Xác định môi trường của agent</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AutoShape 12"/>
          <p:cNvSpPr/>
          <p:nvPr/>
        </p:nvSpPr>
        <p:spPr>
          <a:xfrm>
            <a:off x="2147797" y="2996784"/>
            <a:ext cx="0" cy="4208097"/>
          </a:xfrm>
          <a:prstGeom prst="line">
            <a:avLst/>
          </a:prstGeom>
          <a:ln w="38100" cap="flat">
            <a:solidFill>
              <a:srgbClr val="000000"/>
            </a:solidFill>
            <a:prstDash val="sysDash"/>
            <a:headEnd type="none" w="sm" len="sm"/>
            <a:tailEnd type="none" w="sm" len="sm"/>
          </a:ln>
        </p:spPr>
        <p:txBody>
          <a:bodyPr/>
          <a:lstStyle/>
          <a:p>
            <a:endParaRPr lang="en-VN"/>
          </a:p>
        </p:txBody>
      </p:sp>
      <p:sp>
        <p:nvSpPr>
          <p:cNvPr id="13" name="AutoShape 13"/>
          <p:cNvSpPr/>
          <p:nvPr/>
        </p:nvSpPr>
        <p:spPr>
          <a:xfrm>
            <a:off x="2147797" y="3703102"/>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14" name="Group 14"/>
          <p:cNvGrpSpPr/>
          <p:nvPr/>
        </p:nvGrpSpPr>
        <p:grpSpPr>
          <a:xfrm>
            <a:off x="3198486" y="3590065"/>
            <a:ext cx="226074" cy="226074"/>
            <a:chOff x="0" y="0"/>
            <a:chExt cx="59542" cy="59542"/>
          </a:xfrm>
        </p:grpSpPr>
        <p:sp>
          <p:nvSpPr>
            <p:cNvPr id="15" name="Freeform 15"/>
            <p:cNvSpPr/>
            <p:nvPr/>
          </p:nvSpPr>
          <p:spPr>
            <a:xfrm>
              <a:off x="0" y="0"/>
              <a:ext cx="59542" cy="59542"/>
            </a:xfrm>
            <a:custGeom>
              <a:avLst/>
              <a:gdLst/>
              <a:ahLst/>
              <a:cxnLst/>
              <a:rect l="l" t="t" r="r" b="b"/>
              <a:pathLst>
                <a:path w="59542" h="59542">
                  <a:moveTo>
                    <a:pt x="29771" y="0"/>
                  </a:moveTo>
                  <a:cubicBezTo>
                    <a:pt x="13329" y="0"/>
                    <a:pt x="0" y="13329"/>
                    <a:pt x="0" y="29771"/>
                  </a:cubicBezTo>
                  <a:cubicBezTo>
                    <a:pt x="0" y="46213"/>
                    <a:pt x="13329" y="59542"/>
                    <a:pt x="29771" y="59542"/>
                  </a:cubicBezTo>
                  <a:cubicBezTo>
                    <a:pt x="46213" y="59542"/>
                    <a:pt x="59542" y="46213"/>
                    <a:pt x="59542" y="29771"/>
                  </a:cubicBezTo>
                  <a:cubicBezTo>
                    <a:pt x="59542" y="13329"/>
                    <a:pt x="46213" y="0"/>
                    <a:pt x="29771" y="0"/>
                  </a:cubicBezTo>
                  <a:close/>
                </a:path>
              </a:pathLst>
            </a:custGeom>
            <a:solidFill>
              <a:srgbClr val="0C1D4B"/>
            </a:solidFill>
          </p:spPr>
          <p:txBody>
            <a:bodyPr/>
            <a:lstStyle/>
            <a:p>
              <a:endParaRPr lang="en-VN"/>
            </a:p>
          </p:txBody>
        </p:sp>
        <p:sp>
          <p:nvSpPr>
            <p:cNvPr id="16" name="TextBox 16"/>
            <p:cNvSpPr txBox="1"/>
            <p:nvPr/>
          </p:nvSpPr>
          <p:spPr>
            <a:xfrm>
              <a:off x="5582" y="-42043"/>
              <a:ext cx="48378" cy="96003"/>
            </a:xfrm>
            <a:prstGeom prst="rect">
              <a:avLst/>
            </a:prstGeom>
          </p:spPr>
          <p:txBody>
            <a:bodyPr lIns="50800" tIns="50800" rIns="50800" bIns="50800" rtlCol="0" anchor="ctr"/>
            <a:lstStyle/>
            <a:p>
              <a:pPr algn="ctr">
                <a:lnSpc>
                  <a:spcPts val="2940"/>
                </a:lnSpc>
              </a:pPr>
              <a:endParaRPr/>
            </a:p>
          </p:txBody>
        </p:sp>
      </p:grpSp>
      <p:sp>
        <p:nvSpPr>
          <p:cNvPr id="17" name="TextBox 17"/>
          <p:cNvSpPr txBox="1"/>
          <p:nvPr/>
        </p:nvSpPr>
        <p:spPr>
          <a:xfrm>
            <a:off x="1028700" y="2264629"/>
            <a:ext cx="2238194" cy="732155"/>
          </a:xfrm>
          <a:prstGeom prst="rect">
            <a:avLst/>
          </a:prstGeom>
        </p:spPr>
        <p:txBody>
          <a:bodyPr lIns="0" tIns="0" rIns="0" bIns="0" rtlCol="0" anchor="t">
            <a:spAutoFit/>
          </a:bodyPr>
          <a:lstStyle/>
          <a:p>
            <a:pPr algn="ctr">
              <a:lnSpc>
                <a:spcPts val="6400"/>
              </a:lnSpc>
            </a:pPr>
            <a:r>
              <a:rPr lang="en-US" sz="3200" b="1">
                <a:solidFill>
                  <a:srgbClr val="0C1D4B"/>
                </a:solidFill>
                <a:latin typeface="Roboto Slab Bold"/>
                <a:ea typeface="Roboto Slab Bold"/>
                <a:cs typeface="Roboto Slab Bold"/>
                <a:sym typeface="Roboto Slab Bold"/>
              </a:rPr>
              <a:t>Môi trường</a:t>
            </a:r>
          </a:p>
        </p:txBody>
      </p:sp>
      <p:sp>
        <p:nvSpPr>
          <p:cNvPr id="18" name="TextBox 18"/>
          <p:cNvSpPr txBox="1"/>
          <p:nvPr/>
        </p:nvSpPr>
        <p:spPr>
          <a:xfrm>
            <a:off x="3537597" y="3220766"/>
            <a:ext cx="3337010" cy="760729"/>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CSDL pháp luật nội bộ</a:t>
            </a:r>
          </a:p>
          <a:p>
            <a:pPr algn="l">
              <a:lnSpc>
                <a:spcPts val="2080"/>
              </a:lnSpc>
            </a:pPr>
            <a:r>
              <a:rPr lang="en-US" sz="1300" i="1">
                <a:solidFill>
                  <a:srgbClr val="0C1D4B"/>
                </a:solidFill>
                <a:latin typeface="Roboto Italics"/>
                <a:ea typeface="Roboto Italics"/>
                <a:cs typeface="Roboto Italics"/>
                <a:sym typeface="Roboto Italics"/>
              </a:rPr>
              <a:t>Thông tin từ dữ liệu pháp luật Việt Nam</a:t>
            </a:r>
          </a:p>
        </p:txBody>
      </p:sp>
      <p:sp>
        <p:nvSpPr>
          <p:cNvPr id="19" name="AutoShape 19"/>
          <p:cNvSpPr/>
          <p:nvPr/>
        </p:nvSpPr>
        <p:spPr>
          <a:xfrm>
            <a:off x="2147797" y="5163075"/>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20" name="Group 20"/>
          <p:cNvGrpSpPr/>
          <p:nvPr/>
        </p:nvGrpSpPr>
        <p:grpSpPr>
          <a:xfrm>
            <a:off x="3198486" y="5050038"/>
            <a:ext cx="205427" cy="226074"/>
            <a:chOff x="0" y="0"/>
            <a:chExt cx="54104" cy="59542"/>
          </a:xfrm>
        </p:grpSpPr>
        <p:sp>
          <p:nvSpPr>
            <p:cNvPr id="21" name="Freeform 21"/>
            <p:cNvSpPr/>
            <p:nvPr/>
          </p:nvSpPr>
          <p:spPr>
            <a:xfrm>
              <a:off x="0" y="0"/>
              <a:ext cx="54104" cy="59542"/>
            </a:xfrm>
            <a:custGeom>
              <a:avLst/>
              <a:gdLst/>
              <a:ahLst/>
              <a:cxnLst/>
              <a:rect l="l" t="t" r="r" b="b"/>
              <a:pathLst>
                <a:path w="54104" h="59542">
                  <a:moveTo>
                    <a:pt x="27052" y="0"/>
                  </a:moveTo>
                  <a:cubicBezTo>
                    <a:pt x="12112" y="0"/>
                    <a:pt x="0" y="13329"/>
                    <a:pt x="0" y="29771"/>
                  </a:cubicBezTo>
                  <a:cubicBezTo>
                    <a:pt x="0" y="46213"/>
                    <a:pt x="12112" y="59542"/>
                    <a:pt x="27052" y="59542"/>
                  </a:cubicBezTo>
                  <a:cubicBezTo>
                    <a:pt x="41993" y="59542"/>
                    <a:pt x="54104" y="46213"/>
                    <a:pt x="54104" y="29771"/>
                  </a:cubicBezTo>
                  <a:cubicBezTo>
                    <a:pt x="54104" y="13329"/>
                    <a:pt x="41993" y="0"/>
                    <a:pt x="27052" y="0"/>
                  </a:cubicBezTo>
                  <a:close/>
                </a:path>
              </a:pathLst>
            </a:custGeom>
            <a:solidFill>
              <a:srgbClr val="0C1D4B"/>
            </a:solidFill>
          </p:spPr>
          <p:txBody>
            <a:bodyPr/>
            <a:lstStyle/>
            <a:p>
              <a:endParaRPr lang="en-VN"/>
            </a:p>
          </p:txBody>
        </p:sp>
        <p:sp>
          <p:nvSpPr>
            <p:cNvPr id="22" name="TextBox 22"/>
            <p:cNvSpPr txBox="1"/>
            <p:nvPr/>
          </p:nvSpPr>
          <p:spPr>
            <a:xfrm>
              <a:off x="5072" y="-42043"/>
              <a:ext cx="43960" cy="96003"/>
            </a:xfrm>
            <a:prstGeom prst="rect">
              <a:avLst/>
            </a:prstGeom>
          </p:spPr>
          <p:txBody>
            <a:bodyPr lIns="50800" tIns="50800" rIns="50800" bIns="50800" rtlCol="0" anchor="ctr"/>
            <a:lstStyle/>
            <a:p>
              <a:pPr algn="ctr">
                <a:lnSpc>
                  <a:spcPts val="2940"/>
                </a:lnSpc>
              </a:pPr>
              <a:endParaRPr/>
            </a:p>
          </p:txBody>
        </p:sp>
      </p:grpSp>
      <p:sp>
        <p:nvSpPr>
          <p:cNvPr id="23" name="TextBox 23"/>
          <p:cNvSpPr txBox="1"/>
          <p:nvPr/>
        </p:nvSpPr>
        <p:spPr>
          <a:xfrm>
            <a:off x="3506628" y="4680738"/>
            <a:ext cx="5854958" cy="760729"/>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Nguồn pháp luật cập nhật từ bên ngoài</a:t>
            </a:r>
          </a:p>
          <a:p>
            <a:pPr algn="l">
              <a:lnSpc>
                <a:spcPts val="2080"/>
              </a:lnSpc>
            </a:pPr>
            <a:r>
              <a:rPr lang="en-US" sz="1300" i="1">
                <a:solidFill>
                  <a:srgbClr val="0C1D4B"/>
                </a:solidFill>
                <a:latin typeface="Roboto Italics"/>
                <a:ea typeface="Roboto Italics"/>
                <a:cs typeface="Roboto Italics"/>
                <a:sym typeface="Roboto Italics"/>
              </a:rPr>
              <a:t>Các website dữ liệu pháp luật Việt Nam: thuvienphapluat.vn, vbpl.vn, v.v..</a:t>
            </a:r>
          </a:p>
        </p:txBody>
      </p:sp>
      <p:sp>
        <p:nvSpPr>
          <p:cNvPr id="24" name="AutoShape 24"/>
          <p:cNvSpPr/>
          <p:nvPr/>
        </p:nvSpPr>
        <p:spPr>
          <a:xfrm>
            <a:off x="2147797" y="6619129"/>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25" name="Group 25"/>
          <p:cNvGrpSpPr/>
          <p:nvPr/>
        </p:nvGrpSpPr>
        <p:grpSpPr>
          <a:xfrm>
            <a:off x="3198486" y="6506092"/>
            <a:ext cx="205427" cy="226074"/>
            <a:chOff x="0" y="0"/>
            <a:chExt cx="54104" cy="59542"/>
          </a:xfrm>
        </p:grpSpPr>
        <p:sp>
          <p:nvSpPr>
            <p:cNvPr id="26" name="Freeform 26"/>
            <p:cNvSpPr/>
            <p:nvPr/>
          </p:nvSpPr>
          <p:spPr>
            <a:xfrm>
              <a:off x="0" y="0"/>
              <a:ext cx="54104" cy="59542"/>
            </a:xfrm>
            <a:custGeom>
              <a:avLst/>
              <a:gdLst/>
              <a:ahLst/>
              <a:cxnLst/>
              <a:rect l="l" t="t" r="r" b="b"/>
              <a:pathLst>
                <a:path w="54104" h="59542">
                  <a:moveTo>
                    <a:pt x="27052" y="0"/>
                  </a:moveTo>
                  <a:cubicBezTo>
                    <a:pt x="12112" y="0"/>
                    <a:pt x="0" y="13329"/>
                    <a:pt x="0" y="29771"/>
                  </a:cubicBezTo>
                  <a:cubicBezTo>
                    <a:pt x="0" y="46213"/>
                    <a:pt x="12112" y="59542"/>
                    <a:pt x="27052" y="59542"/>
                  </a:cubicBezTo>
                  <a:cubicBezTo>
                    <a:pt x="41993" y="59542"/>
                    <a:pt x="54104" y="46213"/>
                    <a:pt x="54104" y="29771"/>
                  </a:cubicBezTo>
                  <a:cubicBezTo>
                    <a:pt x="54104" y="13329"/>
                    <a:pt x="41993" y="0"/>
                    <a:pt x="27052" y="0"/>
                  </a:cubicBezTo>
                  <a:close/>
                </a:path>
              </a:pathLst>
            </a:custGeom>
            <a:solidFill>
              <a:srgbClr val="0C1D4B"/>
            </a:solidFill>
          </p:spPr>
          <p:txBody>
            <a:bodyPr/>
            <a:lstStyle/>
            <a:p>
              <a:endParaRPr lang="en-VN"/>
            </a:p>
          </p:txBody>
        </p:sp>
        <p:sp>
          <p:nvSpPr>
            <p:cNvPr id="27" name="TextBox 27"/>
            <p:cNvSpPr txBox="1"/>
            <p:nvPr/>
          </p:nvSpPr>
          <p:spPr>
            <a:xfrm>
              <a:off x="5072" y="-42043"/>
              <a:ext cx="43960" cy="96003"/>
            </a:xfrm>
            <a:prstGeom prst="rect">
              <a:avLst/>
            </a:prstGeom>
          </p:spPr>
          <p:txBody>
            <a:bodyPr lIns="50800" tIns="50800" rIns="50800" bIns="50800" rtlCol="0" anchor="ctr"/>
            <a:lstStyle/>
            <a:p>
              <a:pPr algn="ctr">
                <a:lnSpc>
                  <a:spcPts val="2940"/>
                </a:lnSpc>
              </a:pPr>
              <a:endParaRPr/>
            </a:p>
          </p:txBody>
        </p:sp>
      </p:grpSp>
      <p:sp>
        <p:nvSpPr>
          <p:cNvPr id="28" name="TextBox 28"/>
          <p:cNvSpPr txBox="1"/>
          <p:nvPr/>
        </p:nvSpPr>
        <p:spPr>
          <a:xfrm>
            <a:off x="3506628" y="6136792"/>
            <a:ext cx="5854958" cy="760729"/>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Nguồn tri thức mới từ quản trị viên</a:t>
            </a:r>
          </a:p>
          <a:p>
            <a:pPr algn="l">
              <a:lnSpc>
                <a:spcPts val="2080"/>
              </a:lnSpc>
            </a:pPr>
            <a:r>
              <a:rPr lang="en-US" sz="1300" i="1">
                <a:solidFill>
                  <a:srgbClr val="0C1D4B"/>
                </a:solidFill>
                <a:latin typeface="Roboto Italics"/>
                <a:ea typeface="Roboto Italics"/>
                <a:cs typeface="Roboto Italics"/>
                <a:sym typeface="Roboto Italics"/>
              </a:rPr>
              <a:t>Văn bản PDF pháp luật đã xử lý</a:t>
            </a:r>
          </a:p>
        </p:txBody>
      </p:sp>
      <p:sp>
        <p:nvSpPr>
          <p:cNvPr id="29" name="AutoShape 29"/>
          <p:cNvSpPr/>
          <p:nvPr/>
        </p:nvSpPr>
        <p:spPr>
          <a:xfrm>
            <a:off x="10823583" y="2996784"/>
            <a:ext cx="0" cy="4374513"/>
          </a:xfrm>
          <a:prstGeom prst="line">
            <a:avLst/>
          </a:prstGeom>
          <a:ln w="38100" cap="flat">
            <a:solidFill>
              <a:srgbClr val="000000"/>
            </a:solidFill>
            <a:prstDash val="sysDash"/>
            <a:headEnd type="none" w="sm" len="sm"/>
            <a:tailEnd type="none" w="sm" len="sm"/>
          </a:ln>
        </p:spPr>
        <p:txBody>
          <a:bodyPr/>
          <a:lstStyle/>
          <a:p>
            <a:endParaRPr lang="en-VN"/>
          </a:p>
        </p:txBody>
      </p:sp>
      <p:sp>
        <p:nvSpPr>
          <p:cNvPr id="30" name="AutoShape 30"/>
          <p:cNvSpPr/>
          <p:nvPr/>
        </p:nvSpPr>
        <p:spPr>
          <a:xfrm>
            <a:off x="10823583" y="3703102"/>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31" name="Group 31"/>
          <p:cNvGrpSpPr/>
          <p:nvPr/>
        </p:nvGrpSpPr>
        <p:grpSpPr>
          <a:xfrm>
            <a:off x="11874273" y="3590065"/>
            <a:ext cx="226074" cy="226074"/>
            <a:chOff x="0" y="0"/>
            <a:chExt cx="59542" cy="59542"/>
          </a:xfrm>
        </p:grpSpPr>
        <p:sp>
          <p:nvSpPr>
            <p:cNvPr id="32" name="Freeform 32"/>
            <p:cNvSpPr/>
            <p:nvPr/>
          </p:nvSpPr>
          <p:spPr>
            <a:xfrm>
              <a:off x="0" y="0"/>
              <a:ext cx="59542" cy="59542"/>
            </a:xfrm>
            <a:custGeom>
              <a:avLst/>
              <a:gdLst/>
              <a:ahLst/>
              <a:cxnLst/>
              <a:rect l="l" t="t" r="r" b="b"/>
              <a:pathLst>
                <a:path w="59542" h="59542">
                  <a:moveTo>
                    <a:pt x="29771" y="0"/>
                  </a:moveTo>
                  <a:cubicBezTo>
                    <a:pt x="13329" y="0"/>
                    <a:pt x="0" y="13329"/>
                    <a:pt x="0" y="29771"/>
                  </a:cubicBezTo>
                  <a:cubicBezTo>
                    <a:pt x="0" y="46213"/>
                    <a:pt x="13329" y="59542"/>
                    <a:pt x="29771" y="59542"/>
                  </a:cubicBezTo>
                  <a:cubicBezTo>
                    <a:pt x="46213" y="59542"/>
                    <a:pt x="59542" y="46213"/>
                    <a:pt x="59542" y="29771"/>
                  </a:cubicBezTo>
                  <a:cubicBezTo>
                    <a:pt x="59542" y="13329"/>
                    <a:pt x="46213" y="0"/>
                    <a:pt x="29771" y="0"/>
                  </a:cubicBezTo>
                  <a:close/>
                </a:path>
              </a:pathLst>
            </a:custGeom>
            <a:solidFill>
              <a:srgbClr val="0C1D4B"/>
            </a:solidFill>
          </p:spPr>
          <p:txBody>
            <a:bodyPr/>
            <a:lstStyle/>
            <a:p>
              <a:endParaRPr lang="en-VN"/>
            </a:p>
          </p:txBody>
        </p:sp>
        <p:sp>
          <p:nvSpPr>
            <p:cNvPr id="33" name="TextBox 33"/>
            <p:cNvSpPr txBox="1"/>
            <p:nvPr/>
          </p:nvSpPr>
          <p:spPr>
            <a:xfrm>
              <a:off x="5582" y="-42043"/>
              <a:ext cx="48378" cy="96003"/>
            </a:xfrm>
            <a:prstGeom prst="rect">
              <a:avLst/>
            </a:prstGeom>
          </p:spPr>
          <p:txBody>
            <a:bodyPr lIns="50800" tIns="50800" rIns="50800" bIns="50800" rtlCol="0" anchor="ctr"/>
            <a:lstStyle/>
            <a:p>
              <a:pPr algn="ctr">
                <a:lnSpc>
                  <a:spcPts val="2940"/>
                </a:lnSpc>
              </a:pPr>
              <a:endParaRPr/>
            </a:p>
          </p:txBody>
        </p:sp>
      </p:grpSp>
      <p:sp>
        <p:nvSpPr>
          <p:cNvPr id="34" name="TextBox 34"/>
          <p:cNvSpPr txBox="1"/>
          <p:nvPr/>
        </p:nvSpPr>
        <p:spPr>
          <a:xfrm>
            <a:off x="9200000" y="2264629"/>
            <a:ext cx="6200000" cy="732155"/>
          </a:xfrm>
          <a:prstGeom prst="rect">
            <a:avLst/>
          </a:prstGeom>
        </p:spPr>
        <p:txBody>
          <a:bodyPr lIns="254000" tIns="0" rIns="254000" bIns="0" rtlCol="0" anchor="t">
            <a:spAutoFit/>
          </a:bodyPr>
          <a:lstStyle/>
          <a:p>
            <a:pPr algn="ctr">
              <a:lnSpc>
                <a:spcPts val="6400"/>
              </a:lnSpc>
            </a:pPr>
            <a:r>
              <a:rPr lang="vi-VN" sz="3000" b="1"/>
              <a:t>Tập hành động của agent</a:t>
            </a:r>
          </a:p>
        </p:txBody>
      </p:sp>
      <p:sp>
        <p:nvSpPr>
          <p:cNvPr id="35" name="TextBox 35"/>
          <p:cNvSpPr txBox="1"/>
          <p:nvPr/>
        </p:nvSpPr>
        <p:spPr>
          <a:xfrm>
            <a:off x="12214646" y="3390378"/>
            <a:ext cx="3337010" cy="473048"/>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Trả lời câu hỏi</a:t>
            </a:r>
          </a:p>
        </p:txBody>
      </p:sp>
      <p:sp>
        <p:nvSpPr>
          <p:cNvPr id="36" name="AutoShape 36"/>
          <p:cNvSpPr/>
          <p:nvPr/>
        </p:nvSpPr>
        <p:spPr>
          <a:xfrm>
            <a:off x="10891410" y="4738125"/>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37" name="Group 37"/>
          <p:cNvGrpSpPr/>
          <p:nvPr/>
        </p:nvGrpSpPr>
        <p:grpSpPr>
          <a:xfrm>
            <a:off x="11942099" y="4625088"/>
            <a:ext cx="205427" cy="226074"/>
            <a:chOff x="0" y="0"/>
            <a:chExt cx="54104" cy="59542"/>
          </a:xfrm>
        </p:grpSpPr>
        <p:sp>
          <p:nvSpPr>
            <p:cNvPr id="38" name="Freeform 38"/>
            <p:cNvSpPr/>
            <p:nvPr/>
          </p:nvSpPr>
          <p:spPr>
            <a:xfrm>
              <a:off x="0" y="0"/>
              <a:ext cx="54104" cy="59542"/>
            </a:xfrm>
            <a:custGeom>
              <a:avLst/>
              <a:gdLst/>
              <a:ahLst/>
              <a:cxnLst/>
              <a:rect l="l" t="t" r="r" b="b"/>
              <a:pathLst>
                <a:path w="54104" h="59542">
                  <a:moveTo>
                    <a:pt x="27052" y="0"/>
                  </a:moveTo>
                  <a:cubicBezTo>
                    <a:pt x="12112" y="0"/>
                    <a:pt x="0" y="13329"/>
                    <a:pt x="0" y="29771"/>
                  </a:cubicBezTo>
                  <a:cubicBezTo>
                    <a:pt x="0" y="46213"/>
                    <a:pt x="12112" y="59542"/>
                    <a:pt x="27052" y="59542"/>
                  </a:cubicBezTo>
                  <a:cubicBezTo>
                    <a:pt x="41993" y="59542"/>
                    <a:pt x="54104" y="46213"/>
                    <a:pt x="54104" y="29771"/>
                  </a:cubicBezTo>
                  <a:cubicBezTo>
                    <a:pt x="54104" y="13329"/>
                    <a:pt x="41993" y="0"/>
                    <a:pt x="27052" y="0"/>
                  </a:cubicBezTo>
                  <a:close/>
                </a:path>
              </a:pathLst>
            </a:custGeom>
            <a:solidFill>
              <a:srgbClr val="0C1D4B"/>
            </a:solidFill>
          </p:spPr>
          <p:txBody>
            <a:bodyPr/>
            <a:lstStyle/>
            <a:p>
              <a:endParaRPr lang="en-VN"/>
            </a:p>
          </p:txBody>
        </p:sp>
        <p:sp>
          <p:nvSpPr>
            <p:cNvPr id="39" name="TextBox 39"/>
            <p:cNvSpPr txBox="1"/>
            <p:nvPr/>
          </p:nvSpPr>
          <p:spPr>
            <a:xfrm>
              <a:off x="5072" y="-42043"/>
              <a:ext cx="43960" cy="96003"/>
            </a:xfrm>
            <a:prstGeom prst="rect">
              <a:avLst/>
            </a:prstGeom>
          </p:spPr>
          <p:txBody>
            <a:bodyPr lIns="50800" tIns="50800" rIns="50800" bIns="50800" rtlCol="0" anchor="ctr"/>
            <a:lstStyle/>
            <a:p>
              <a:pPr algn="ctr">
                <a:lnSpc>
                  <a:spcPts val="2940"/>
                </a:lnSpc>
              </a:pPr>
              <a:endParaRPr/>
            </a:p>
          </p:txBody>
        </p:sp>
      </p:grpSp>
      <p:sp>
        <p:nvSpPr>
          <p:cNvPr id="40" name="TextBox 40"/>
          <p:cNvSpPr txBox="1"/>
          <p:nvPr/>
        </p:nvSpPr>
        <p:spPr>
          <a:xfrm>
            <a:off x="12214646" y="4453976"/>
            <a:ext cx="5854958" cy="473048"/>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Truy hồi quy định pháp luật</a:t>
            </a:r>
          </a:p>
        </p:txBody>
      </p:sp>
      <p:sp>
        <p:nvSpPr>
          <p:cNvPr id="41" name="AutoShape 41"/>
          <p:cNvSpPr/>
          <p:nvPr/>
        </p:nvSpPr>
        <p:spPr>
          <a:xfrm flipV="1">
            <a:off x="10819711" y="5801723"/>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42" name="Group 42"/>
          <p:cNvGrpSpPr/>
          <p:nvPr/>
        </p:nvGrpSpPr>
        <p:grpSpPr>
          <a:xfrm>
            <a:off x="11870400" y="5688686"/>
            <a:ext cx="205427" cy="226074"/>
            <a:chOff x="0" y="0"/>
            <a:chExt cx="54104" cy="59542"/>
          </a:xfrm>
        </p:grpSpPr>
        <p:sp>
          <p:nvSpPr>
            <p:cNvPr id="43" name="Freeform 43"/>
            <p:cNvSpPr/>
            <p:nvPr/>
          </p:nvSpPr>
          <p:spPr>
            <a:xfrm>
              <a:off x="0" y="0"/>
              <a:ext cx="54104" cy="59542"/>
            </a:xfrm>
            <a:custGeom>
              <a:avLst/>
              <a:gdLst/>
              <a:ahLst/>
              <a:cxnLst/>
              <a:rect l="l" t="t" r="r" b="b"/>
              <a:pathLst>
                <a:path w="54104" h="59542">
                  <a:moveTo>
                    <a:pt x="27052" y="0"/>
                  </a:moveTo>
                  <a:cubicBezTo>
                    <a:pt x="12112" y="0"/>
                    <a:pt x="0" y="13329"/>
                    <a:pt x="0" y="29771"/>
                  </a:cubicBezTo>
                  <a:cubicBezTo>
                    <a:pt x="0" y="46213"/>
                    <a:pt x="12112" y="59542"/>
                    <a:pt x="27052" y="59542"/>
                  </a:cubicBezTo>
                  <a:cubicBezTo>
                    <a:pt x="41993" y="59542"/>
                    <a:pt x="54104" y="46213"/>
                    <a:pt x="54104" y="29771"/>
                  </a:cubicBezTo>
                  <a:cubicBezTo>
                    <a:pt x="54104" y="13329"/>
                    <a:pt x="41993" y="0"/>
                    <a:pt x="27052" y="0"/>
                  </a:cubicBezTo>
                  <a:close/>
                </a:path>
              </a:pathLst>
            </a:custGeom>
            <a:solidFill>
              <a:srgbClr val="0C1D4B"/>
            </a:solidFill>
          </p:spPr>
          <p:txBody>
            <a:bodyPr/>
            <a:lstStyle/>
            <a:p>
              <a:endParaRPr lang="en-VN"/>
            </a:p>
          </p:txBody>
        </p:sp>
        <p:sp>
          <p:nvSpPr>
            <p:cNvPr id="44" name="TextBox 44"/>
            <p:cNvSpPr txBox="1"/>
            <p:nvPr/>
          </p:nvSpPr>
          <p:spPr>
            <a:xfrm>
              <a:off x="5072" y="-42043"/>
              <a:ext cx="43960" cy="96003"/>
            </a:xfrm>
            <a:prstGeom prst="rect">
              <a:avLst/>
            </a:prstGeom>
          </p:spPr>
          <p:txBody>
            <a:bodyPr lIns="50800" tIns="50800" rIns="50800" bIns="50800" rtlCol="0" anchor="ctr"/>
            <a:lstStyle/>
            <a:p>
              <a:pPr algn="ctr">
                <a:lnSpc>
                  <a:spcPts val="2940"/>
                </a:lnSpc>
              </a:pPr>
              <a:endParaRPr/>
            </a:p>
          </p:txBody>
        </p:sp>
      </p:grpSp>
      <p:sp>
        <p:nvSpPr>
          <p:cNvPr id="45" name="TextBox 45"/>
          <p:cNvSpPr txBox="1"/>
          <p:nvPr/>
        </p:nvSpPr>
        <p:spPr>
          <a:xfrm>
            <a:off x="12214646" y="5517574"/>
            <a:ext cx="4848862" cy="473048"/>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Kiểm chứng và trích dẫn nguồn</a:t>
            </a:r>
          </a:p>
        </p:txBody>
      </p:sp>
      <p:sp>
        <p:nvSpPr>
          <p:cNvPr id="46" name="AutoShape 46"/>
          <p:cNvSpPr/>
          <p:nvPr/>
        </p:nvSpPr>
        <p:spPr>
          <a:xfrm flipV="1">
            <a:off x="10819711" y="6865320"/>
            <a:ext cx="1050689" cy="0"/>
          </a:xfrm>
          <a:prstGeom prst="line">
            <a:avLst/>
          </a:prstGeom>
          <a:ln w="38100" cap="flat">
            <a:solidFill>
              <a:srgbClr val="000000"/>
            </a:solidFill>
            <a:prstDash val="sysDash"/>
            <a:headEnd type="none" w="sm" len="sm"/>
            <a:tailEnd type="none" w="sm" len="sm"/>
          </a:ln>
        </p:spPr>
        <p:txBody>
          <a:bodyPr/>
          <a:lstStyle/>
          <a:p>
            <a:endParaRPr lang="en-VN"/>
          </a:p>
        </p:txBody>
      </p:sp>
      <p:grpSp>
        <p:nvGrpSpPr>
          <p:cNvPr id="47" name="Group 47"/>
          <p:cNvGrpSpPr/>
          <p:nvPr/>
        </p:nvGrpSpPr>
        <p:grpSpPr>
          <a:xfrm>
            <a:off x="11870400" y="6752283"/>
            <a:ext cx="205427" cy="226074"/>
            <a:chOff x="0" y="0"/>
            <a:chExt cx="54104" cy="59542"/>
          </a:xfrm>
        </p:grpSpPr>
        <p:sp>
          <p:nvSpPr>
            <p:cNvPr id="48" name="Freeform 48"/>
            <p:cNvSpPr/>
            <p:nvPr/>
          </p:nvSpPr>
          <p:spPr>
            <a:xfrm>
              <a:off x="0" y="0"/>
              <a:ext cx="54104" cy="59542"/>
            </a:xfrm>
            <a:custGeom>
              <a:avLst/>
              <a:gdLst/>
              <a:ahLst/>
              <a:cxnLst/>
              <a:rect l="l" t="t" r="r" b="b"/>
              <a:pathLst>
                <a:path w="54104" h="59542">
                  <a:moveTo>
                    <a:pt x="27052" y="0"/>
                  </a:moveTo>
                  <a:cubicBezTo>
                    <a:pt x="12112" y="0"/>
                    <a:pt x="0" y="13329"/>
                    <a:pt x="0" y="29771"/>
                  </a:cubicBezTo>
                  <a:cubicBezTo>
                    <a:pt x="0" y="46213"/>
                    <a:pt x="12112" y="59542"/>
                    <a:pt x="27052" y="59542"/>
                  </a:cubicBezTo>
                  <a:cubicBezTo>
                    <a:pt x="41993" y="59542"/>
                    <a:pt x="54104" y="46213"/>
                    <a:pt x="54104" y="29771"/>
                  </a:cubicBezTo>
                  <a:cubicBezTo>
                    <a:pt x="54104" y="13329"/>
                    <a:pt x="41993" y="0"/>
                    <a:pt x="27052" y="0"/>
                  </a:cubicBezTo>
                  <a:close/>
                </a:path>
              </a:pathLst>
            </a:custGeom>
            <a:solidFill>
              <a:srgbClr val="0C1D4B"/>
            </a:solidFill>
          </p:spPr>
          <p:txBody>
            <a:bodyPr/>
            <a:lstStyle/>
            <a:p>
              <a:endParaRPr lang="en-VN"/>
            </a:p>
          </p:txBody>
        </p:sp>
        <p:sp>
          <p:nvSpPr>
            <p:cNvPr id="49" name="TextBox 49"/>
            <p:cNvSpPr txBox="1"/>
            <p:nvPr/>
          </p:nvSpPr>
          <p:spPr>
            <a:xfrm>
              <a:off x="5072" y="-42043"/>
              <a:ext cx="43960" cy="96003"/>
            </a:xfrm>
            <a:prstGeom prst="rect">
              <a:avLst/>
            </a:prstGeom>
          </p:spPr>
          <p:txBody>
            <a:bodyPr lIns="50800" tIns="50800" rIns="50800" bIns="50800" rtlCol="0" anchor="ctr"/>
            <a:lstStyle/>
            <a:p>
              <a:pPr algn="ctr">
                <a:lnSpc>
                  <a:spcPts val="2940"/>
                </a:lnSpc>
              </a:pPr>
              <a:endParaRPr/>
            </a:p>
          </p:txBody>
        </p:sp>
      </p:grpSp>
      <p:sp>
        <p:nvSpPr>
          <p:cNvPr id="50" name="TextBox 50"/>
          <p:cNvSpPr txBox="1"/>
          <p:nvPr/>
        </p:nvSpPr>
        <p:spPr>
          <a:xfrm>
            <a:off x="12210774" y="6581171"/>
            <a:ext cx="4848862" cy="473048"/>
          </a:xfrm>
          <a:prstGeom prst="rect">
            <a:avLst/>
          </a:prstGeom>
        </p:spPr>
        <p:txBody>
          <a:bodyPr lIns="0" tIns="0" rIns="0" bIns="0" rtlCol="0" anchor="t">
            <a:spAutoFit/>
          </a:bodyPr>
          <a:lstStyle/>
          <a:p>
            <a:pPr algn="l">
              <a:lnSpc>
                <a:spcPts val="4000"/>
              </a:lnSpc>
            </a:pPr>
            <a:r>
              <a:rPr lang="en-US" sz="2500" b="1">
                <a:solidFill>
                  <a:srgbClr val="0C1D4B"/>
                </a:solidFill>
                <a:latin typeface="Roboto Slab Bold"/>
                <a:ea typeface="Roboto Slab Bold"/>
                <a:cs typeface="Roboto Slab Bold"/>
                <a:sym typeface="Roboto Slab Bold"/>
              </a:rPr>
              <a:t>Đối chiếu nguồn cập nhật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0695872"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3.2. Mô hình tổng quan của hệ thống chatbot</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grpSp>
        <p:nvGrpSpPr>
          <p:cNvPr id="12" name="Group 12"/>
          <p:cNvGrpSpPr/>
          <p:nvPr/>
        </p:nvGrpSpPr>
        <p:grpSpPr>
          <a:xfrm>
            <a:off x="1109300" y="2124912"/>
            <a:ext cx="15788284" cy="7304457"/>
            <a:chOff x="0" y="0"/>
            <a:chExt cx="21051045" cy="9739277"/>
          </a:xfrm>
        </p:grpSpPr>
        <p:sp>
          <p:nvSpPr>
            <p:cNvPr id="13" name="Freeform 13"/>
            <p:cNvSpPr/>
            <p:nvPr/>
          </p:nvSpPr>
          <p:spPr>
            <a:xfrm>
              <a:off x="9065146" y="1511175"/>
              <a:ext cx="1154532" cy="1194854"/>
            </a:xfrm>
            <a:custGeom>
              <a:avLst/>
              <a:gdLst/>
              <a:ahLst/>
              <a:cxnLst/>
              <a:rect l="l" t="t" r="r" b="b"/>
              <a:pathLst>
                <a:path w="1154532" h="1194854">
                  <a:moveTo>
                    <a:pt x="0" y="0"/>
                  </a:moveTo>
                  <a:lnTo>
                    <a:pt x="1154531" y="0"/>
                  </a:lnTo>
                  <a:lnTo>
                    <a:pt x="1154531" y="1194854"/>
                  </a:lnTo>
                  <a:lnTo>
                    <a:pt x="0" y="1194854"/>
                  </a:lnTo>
                  <a:lnTo>
                    <a:pt x="0" y="0"/>
                  </a:lnTo>
                  <a:close/>
                </a:path>
              </a:pathLst>
            </a:custGeom>
            <a:blipFill>
              <a:blip>
                <a:extLst>
                  <a:ext uri="{96DAC541-7B7A-43D3-8B79-37D633B846F1}">
                    <asvg:svgBlip xmlns:asvg="http://schemas.microsoft.com/office/drawing/2016/SVG/main" r:embed="rId4"/>
                  </a:ext>
                </a:extLst>
              </a:blip>
              <a:stretch>
                <a:fillRect t="-435" b="-436"/>
              </a:stretch>
            </a:blipFill>
          </p:spPr>
          <p:txBody>
            <a:bodyPr/>
            <a:lstStyle/>
            <a:p>
              <a:endParaRPr lang="en-VN"/>
            </a:p>
          </p:txBody>
        </p:sp>
        <p:sp>
          <p:nvSpPr>
            <p:cNvPr id="14" name="Freeform 14"/>
            <p:cNvSpPr/>
            <p:nvPr/>
          </p:nvSpPr>
          <p:spPr>
            <a:xfrm>
              <a:off x="513179" y="1517995"/>
              <a:ext cx="1092264" cy="1188034"/>
            </a:xfrm>
            <a:custGeom>
              <a:avLst/>
              <a:gdLst/>
              <a:ahLst/>
              <a:cxnLst/>
              <a:rect l="l" t="t" r="r" b="b"/>
              <a:pathLst>
                <a:path w="1092264" h="1188034">
                  <a:moveTo>
                    <a:pt x="0" y="0"/>
                  </a:moveTo>
                  <a:lnTo>
                    <a:pt x="1092264" y="0"/>
                  </a:lnTo>
                  <a:lnTo>
                    <a:pt x="1092264" y="1188034"/>
                  </a:lnTo>
                  <a:lnTo>
                    <a:pt x="0" y="1188034"/>
                  </a:lnTo>
                  <a:lnTo>
                    <a:pt x="0" y="0"/>
                  </a:lnTo>
                  <a:close/>
                </a:path>
              </a:pathLst>
            </a:custGeom>
            <a:blipFill>
              <a:blip>
                <a:extLst>
                  <a:ext uri="{96DAC541-7B7A-43D3-8B79-37D633B846F1}">
                    <asvg:svgBlip xmlns:asvg="http://schemas.microsoft.com/office/drawing/2016/SVG/main" r:embed="rId5"/>
                  </a:ext>
                </a:extLst>
              </a:blip>
              <a:stretch>
                <a:fillRect l="-333" r="-333"/>
              </a:stretch>
            </a:blipFill>
          </p:spPr>
          <p:txBody>
            <a:bodyPr/>
            <a:lstStyle/>
            <a:p>
              <a:endParaRPr lang="en-VN"/>
            </a:p>
          </p:txBody>
        </p:sp>
        <p:sp>
          <p:nvSpPr>
            <p:cNvPr id="15" name="Freeform 15"/>
            <p:cNvSpPr/>
            <p:nvPr/>
          </p:nvSpPr>
          <p:spPr>
            <a:xfrm>
              <a:off x="11966271" y="4533937"/>
              <a:ext cx="1078065" cy="1041692"/>
            </a:xfrm>
            <a:custGeom>
              <a:avLst/>
              <a:gdLst/>
              <a:ahLst/>
              <a:cxnLst/>
              <a:rect l="l" t="t" r="r" b="b"/>
              <a:pathLst>
                <a:path w="1078065" h="1041692">
                  <a:moveTo>
                    <a:pt x="0" y="0"/>
                  </a:moveTo>
                  <a:lnTo>
                    <a:pt x="1078065" y="0"/>
                  </a:lnTo>
                  <a:lnTo>
                    <a:pt x="1078065" y="1041692"/>
                  </a:lnTo>
                  <a:lnTo>
                    <a:pt x="0" y="1041692"/>
                  </a:lnTo>
                  <a:lnTo>
                    <a:pt x="0" y="0"/>
                  </a:lnTo>
                  <a:close/>
                </a:path>
              </a:pathLst>
            </a:custGeom>
            <a:blipFill>
              <a:blip>
                <a:extLst>
                  <a:ext uri="{96DAC541-7B7A-43D3-8B79-37D633B846F1}">
                    <asvg:svgBlip xmlns:asvg="http://schemas.microsoft.com/office/drawing/2016/SVG/main" r:embed="rId6"/>
                  </a:ext>
                </a:extLst>
              </a:blip>
              <a:stretch>
                <a:fillRect t="-529" b="-527"/>
              </a:stretch>
            </a:blipFill>
          </p:spPr>
          <p:txBody>
            <a:bodyPr/>
            <a:lstStyle/>
            <a:p>
              <a:endParaRPr lang="en-VN"/>
            </a:p>
          </p:txBody>
        </p:sp>
        <p:sp>
          <p:nvSpPr>
            <p:cNvPr id="16" name="TextBox 16"/>
            <p:cNvSpPr txBox="1"/>
            <p:nvPr/>
          </p:nvSpPr>
          <p:spPr>
            <a:xfrm>
              <a:off x="3518390" y="7129067"/>
              <a:ext cx="1603822" cy="1439740"/>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Vector chunks từ văn bản pháp luật</a:t>
              </a:r>
            </a:p>
          </p:txBody>
        </p:sp>
        <p:sp>
          <p:nvSpPr>
            <p:cNvPr id="17" name="Freeform 17"/>
            <p:cNvSpPr/>
            <p:nvPr/>
          </p:nvSpPr>
          <p:spPr>
            <a:xfrm>
              <a:off x="12083070" y="7308900"/>
              <a:ext cx="873392" cy="1065111"/>
            </a:xfrm>
            <a:custGeom>
              <a:avLst/>
              <a:gdLst/>
              <a:ahLst/>
              <a:cxnLst/>
              <a:rect l="l" t="t" r="r" b="b"/>
              <a:pathLst>
                <a:path w="873392" h="1065111">
                  <a:moveTo>
                    <a:pt x="0" y="0"/>
                  </a:moveTo>
                  <a:lnTo>
                    <a:pt x="873391" y="0"/>
                  </a:lnTo>
                  <a:lnTo>
                    <a:pt x="873391" y="1065111"/>
                  </a:lnTo>
                  <a:lnTo>
                    <a:pt x="0" y="1065111"/>
                  </a:lnTo>
                  <a:lnTo>
                    <a:pt x="0" y="0"/>
                  </a:lnTo>
                  <a:close/>
                </a:path>
              </a:pathLst>
            </a:custGeom>
            <a:blipFill>
              <a:blip>
                <a:extLst>
                  <a:ext uri="{96DAC541-7B7A-43D3-8B79-37D633B846F1}">
                    <asvg:svgBlip xmlns:asvg="http://schemas.microsoft.com/office/drawing/2016/SVG/main" r:embed="rId7"/>
                  </a:ext>
                </a:extLst>
              </a:blip>
              <a:stretch>
                <a:fillRect l="-87" r="-87"/>
              </a:stretch>
            </a:blipFill>
          </p:spPr>
          <p:txBody>
            <a:bodyPr/>
            <a:lstStyle/>
            <a:p>
              <a:endParaRPr lang="en-VN"/>
            </a:p>
          </p:txBody>
        </p:sp>
        <p:sp>
          <p:nvSpPr>
            <p:cNvPr id="18" name="Freeform 18"/>
            <p:cNvSpPr/>
            <p:nvPr/>
          </p:nvSpPr>
          <p:spPr>
            <a:xfrm>
              <a:off x="5999307" y="4715512"/>
              <a:ext cx="1078065" cy="1041692"/>
            </a:xfrm>
            <a:custGeom>
              <a:avLst/>
              <a:gdLst/>
              <a:ahLst/>
              <a:cxnLst/>
              <a:rect l="l" t="t" r="r" b="b"/>
              <a:pathLst>
                <a:path w="1078065" h="1041692">
                  <a:moveTo>
                    <a:pt x="0" y="0"/>
                  </a:moveTo>
                  <a:lnTo>
                    <a:pt x="1078065" y="0"/>
                  </a:lnTo>
                  <a:lnTo>
                    <a:pt x="1078065" y="1041692"/>
                  </a:lnTo>
                  <a:lnTo>
                    <a:pt x="0" y="1041692"/>
                  </a:lnTo>
                  <a:lnTo>
                    <a:pt x="0" y="0"/>
                  </a:lnTo>
                  <a:close/>
                </a:path>
              </a:pathLst>
            </a:custGeom>
            <a:blipFill>
              <a:blip>
                <a:extLst>
                  <a:ext uri="{96DAC541-7B7A-43D3-8B79-37D633B846F1}">
                    <asvg:svgBlip xmlns:asvg="http://schemas.microsoft.com/office/drawing/2016/SVG/main" r:embed="rId6"/>
                  </a:ext>
                </a:extLst>
              </a:blip>
              <a:stretch>
                <a:fillRect t="-529" b="-527"/>
              </a:stretch>
            </a:blipFill>
          </p:spPr>
          <p:txBody>
            <a:bodyPr/>
            <a:lstStyle/>
            <a:p>
              <a:endParaRPr lang="en-VN"/>
            </a:p>
          </p:txBody>
        </p:sp>
        <p:sp>
          <p:nvSpPr>
            <p:cNvPr id="19" name="Freeform 19"/>
            <p:cNvSpPr/>
            <p:nvPr/>
          </p:nvSpPr>
          <p:spPr>
            <a:xfrm>
              <a:off x="6101644" y="7308900"/>
              <a:ext cx="873392" cy="1065111"/>
            </a:xfrm>
            <a:custGeom>
              <a:avLst/>
              <a:gdLst/>
              <a:ahLst/>
              <a:cxnLst/>
              <a:rect l="l" t="t" r="r" b="b"/>
              <a:pathLst>
                <a:path w="873392" h="1065111">
                  <a:moveTo>
                    <a:pt x="0" y="0"/>
                  </a:moveTo>
                  <a:lnTo>
                    <a:pt x="873392" y="0"/>
                  </a:lnTo>
                  <a:lnTo>
                    <a:pt x="873392" y="1065111"/>
                  </a:lnTo>
                  <a:lnTo>
                    <a:pt x="0" y="1065111"/>
                  </a:lnTo>
                  <a:lnTo>
                    <a:pt x="0" y="0"/>
                  </a:lnTo>
                  <a:close/>
                </a:path>
              </a:pathLst>
            </a:custGeom>
            <a:blipFill>
              <a:blip>
                <a:extLst>
                  <a:ext uri="{96DAC541-7B7A-43D3-8B79-37D633B846F1}">
                    <asvg:svgBlip xmlns:asvg="http://schemas.microsoft.com/office/drawing/2016/SVG/main" r:embed="rId7"/>
                  </a:ext>
                </a:extLst>
              </a:blip>
              <a:stretch>
                <a:fillRect l="-87" r="-87"/>
              </a:stretch>
            </a:blipFill>
          </p:spPr>
          <p:txBody>
            <a:bodyPr/>
            <a:lstStyle/>
            <a:p>
              <a:endParaRPr lang="en-VN"/>
            </a:p>
          </p:txBody>
        </p:sp>
        <p:grpSp>
          <p:nvGrpSpPr>
            <p:cNvPr id="20" name="Group 20"/>
            <p:cNvGrpSpPr/>
            <p:nvPr/>
          </p:nvGrpSpPr>
          <p:grpSpPr>
            <a:xfrm>
              <a:off x="18292779" y="1673636"/>
              <a:ext cx="2758266" cy="876752"/>
              <a:chOff x="0" y="0"/>
              <a:chExt cx="544843" cy="173186"/>
            </a:xfrm>
          </p:grpSpPr>
          <p:sp>
            <p:nvSpPr>
              <p:cNvPr id="21" name="Freeform 21"/>
              <p:cNvSpPr/>
              <p:nvPr/>
            </p:nvSpPr>
            <p:spPr>
              <a:xfrm>
                <a:off x="0" y="0"/>
                <a:ext cx="544843" cy="173186"/>
              </a:xfrm>
              <a:custGeom>
                <a:avLst/>
                <a:gdLst/>
                <a:ahLst/>
                <a:cxnLst/>
                <a:rect l="l" t="t" r="r" b="b"/>
                <a:pathLst>
                  <a:path w="544843" h="173186">
                    <a:moveTo>
                      <a:pt x="86593" y="0"/>
                    </a:moveTo>
                    <a:lnTo>
                      <a:pt x="458250" y="0"/>
                    </a:lnTo>
                    <a:cubicBezTo>
                      <a:pt x="481216" y="0"/>
                      <a:pt x="503241" y="9123"/>
                      <a:pt x="519480" y="25362"/>
                    </a:cubicBezTo>
                    <a:cubicBezTo>
                      <a:pt x="535719" y="41602"/>
                      <a:pt x="544843" y="63627"/>
                      <a:pt x="544843" y="86593"/>
                    </a:cubicBezTo>
                    <a:lnTo>
                      <a:pt x="544843" y="86593"/>
                    </a:lnTo>
                    <a:cubicBezTo>
                      <a:pt x="544843" y="134417"/>
                      <a:pt x="506074" y="173186"/>
                      <a:pt x="458250" y="173186"/>
                    </a:cubicBezTo>
                    <a:lnTo>
                      <a:pt x="86593" y="173186"/>
                    </a:lnTo>
                    <a:cubicBezTo>
                      <a:pt x="63627" y="173186"/>
                      <a:pt x="41602" y="164062"/>
                      <a:pt x="25362" y="147823"/>
                    </a:cubicBezTo>
                    <a:cubicBezTo>
                      <a:pt x="9123" y="131584"/>
                      <a:pt x="0" y="109559"/>
                      <a:pt x="0" y="86593"/>
                    </a:cubicBezTo>
                    <a:lnTo>
                      <a:pt x="0" y="86593"/>
                    </a:lnTo>
                    <a:cubicBezTo>
                      <a:pt x="0" y="63627"/>
                      <a:pt x="9123" y="41602"/>
                      <a:pt x="25362" y="25362"/>
                    </a:cubicBezTo>
                    <a:cubicBezTo>
                      <a:pt x="41602" y="9123"/>
                      <a:pt x="63627" y="0"/>
                      <a:pt x="86593" y="0"/>
                    </a:cubicBezTo>
                    <a:close/>
                  </a:path>
                </a:pathLst>
              </a:custGeom>
              <a:ln w="28575" cap="rnd">
                <a:solidFill>
                  <a:srgbClr val="000000"/>
                </a:solidFill>
                <a:prstDash val="solid"/>
                <a:round/>
              </a:ln>
            </p:spPr>
            <p:txBody>
              <a:bodyPr/>
              <a:lstStyle/>
              <a:p>
                <a:endParaRPr lang="en-VN"/>
              </a:p>
            </p:txBody>
          </p:sp>
          <p:sp>
            <p:nvSpPr>
              <p:cNvPr id="22" name="TextBox 22"/>
              <p:cNvSpPr txBox="1"/>
              <p:nvPr/>
            </p:nvSpPr>
            <p:spPr>
              <a:xfrm>
                <a:off x="0" y="-38100"/>
                <a:ext cx="544843" cy="211286"/>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Trả lời</a:t>
                </a:r>
              </a:p>
            </p:txBody>
          </p:sp>
        </p:grpSp>
        <p:sp>
          <p:nvSpPr>
            <p:cNvPr id="23" name="AutoShape 23"/>
            <p:cNvSpPr/>
            <p:nvPr/>
          </p:nvSpPr>
          <p:spPr>
            <a:xfrm>
              <a:off x="1605443" y="2112012"/>
              <a:ext cx="7203590" cy="0"/>
            </a:xfrm>
            <a:prstGeom prst="line">
              <a:avLst/>
            </a:prstGeom>
            <a:ln w="50800" cap="flat">
              <a:solidFill>
                <a:srgbClr val="000000"/>
              </a:solidFill>
              <a:prstDash val="solid"/>
              <a:headEnd type="none" w="sm" len="sm"/>
              <a:tailEnd type="triangle" w="lg" len="med"/>
            </a:ln>
          </p:spPr>
          <p:txBody>
            <a:bodyPr/>
            <a:lstStyle/>
            <a:p>
              <a:endParaRPr lang="en-VN"/>
            </a:p>
          </p:txBody>
        </p:sp>
        <p:sp>
          <p:nvSpPr>
            <p:cNvPr id="24" name="AutoShape 24"/>
            <p:cNvSpPr/>
            <p:nvPr/>
          </p:nvSpPr>
          <p:spPr>
            <a:xfrm>
              <a:off x="10521129" y="2108602"/>
              <a:ext cx="7771650" cy="3410"/>
            </a:xfrm>
            <a:prstGeom prst="line">
              <a:avLst/>
            </a:prstGeom>
            <a:ln w="50800" cap="flat">
              <a:solidFill>
                <a:srgbClr val="000000"/>
              </a:solidFill>
              <a:prstDash val="solid"/>
              <a:headEnd type="none" w="sm" len="sm"/>
              <a:tailEnd type="triangle" w="lg" len="med"/>
            </a:ln>
          </p:spPr>
          <p:txBody>
            <a:bodyPr/>
            <a:lstStyle/>
            <a:p>
              <a:endParaRPr lang="en-VN"/>
            </a:p>
          </p:txBody>
        </p:sp>
        <p:sp>
          <p:nvSpPr>
            <p:cNvPr id="25" name="AutoShape 25"/>
            <p:cNvSpPr/>
            <p:nvPr/>
          </p:nvSpPr>
          <p:spPr>
            <a:xfrm flipV="1">
              <a:off x="6538340" y="5757204"/>
              <a:ext cx="0" cy="1551696"/>
            </a:xfrm>
            <a:prstGeom prst="line">
              <a:avLst/>
            </a:prstGeom>
            <a:ln w="50800" cap="flat">
              <a:solidFill>
                <a:srgbClr val="000000"/>
              </a:solidFill>
              <a:prstDash val="solid"/>
              <a:headEnd type="none" w="sm" len="sm"/>
              <a:tailEnd type="triangle" w="lg" len="med"/>
            </a:ln>
          </p:spPr>
          <p:txBody>
            <a:bodyPr/>
            <a:lstStyle/>
            <a:p>
              <a:endParaRPr lang="en-VN"/>
            </a:p>
          </p:txBody>
        </p:sp>
        <p:sp>
          <p:nvSpPr>
            <p:cNvPr id="26" name="AutoShape 26"/>
            <p:cNvSpPr/>
            <p:nvPr/>
          </p:nvSpPr>
          <p:spPr>
            <a:xfrm flipH="1">
              <a:off x="5122212" y="7841456"/>
              <a:ext cx="979432" cy="17007"/>
            </a:xfrm>
            <a:prstGeom prst="line">
              <a:avLst/>
            </a:prstGeom>
            <a:ln w="50800" cap="flat">
              <a:solidFill>
                <a:srgbClr val="000000"/>
              </a:solidFill>
              <a:prstDash val="solid"/>
              <a:headEnd type="none" w="sm" len="sm"/>
              <a:tailEnd type="triangle" w="lg" len="med"/>
            </a:ln>
          </p:spPr>
          <p:txBody>
            <a:bodyPr/>
            <a:lstStyle/>
            <a:p>
              <a:endParaRPr lang="en-VN"/>
            </a:p>
          </p:txBody>
        </p:sp>
        <p:sp>
          <p:nvSpPr>
            <p:cNvPr id="27" name="AutoShape 27"/>
            <p:cNvSpPr/>
            <p:nvPr/>
          </p:nvSpPr>
          <p:spPr>
            <a:xfrm flipV="1">
              <a:off x="6538340" y="2706029"/>
              <a:ext cx="2526806" cy="2009483"/>
            </a:xfrm>
            <a:prstGeom prst="line">
              <a:avLst/>
            </a:prstGeom>
            <a:ln w="50800" cap="flat">
              <a:solidFill>
                <a:srgbClr val="000000"/>
              </a:solidFill>
              <a:prstDash val="solid"/>
              <a:headEnd type="none" w="sm" len="sm"/>
              <a:tailEnd type="triangle" w="lg" len="med"/>
            </a:ln>
          </p:spPr>
          <p:txBody>
            <a:bodyPr/>
            <a:lstStyle/>
            <a:p>
              <a:endParaRPr lang="en-VN"/>
            </a:p>
          </p:txBody>
        </p:sp>
        <p:sp>
          <p:nvSpPr>
            <p:cNvPr id="28" name="AutoShape 28"/>
            <p:cNvSpPr/>
            <p:nvPr/>
          </p:nvSpPr>
          <p:spPr>
            <a:xfrm flipH="1" flipV="1">
              <a:off x="12505304" y="5575629"/>
              <a:ext cx="14462" cy="1733271"/>
            </a:xfrm>
            <a:prstGeom prst="line">
              <a:avLst/>
            </a:prstGeom>
            <a:ln w="50800" cap="flat">
              <a:solidFill>
                <a:srgbClr val="000000"/>
              </a:solidFill>
              <a:prstDash val="solid"/>
              <a:headEnd type="none" w="sm" len="sm"/>
              <a:tailEnd type="triangle" w="lg" len="med"/>
            </a:ln>
          </p:spPr>
          <p:txBody>
            <a:bodyPr/>
            <a:lstStyle/>
            <a:p>
              <a:endParaRPr lang="en-VN"/>
            </a:p>
          </p:txBody>
        </p:sp>
        <p:sp>
          <p:nvSpPr>
            <p:cNvPr id="29" name="AutoShape 29"/>
            <p:cNvSpPr/>
            <p:nvPr/>
          </p:nvSpPr>
          <p:spPr>
            <a:xfrm>
              <a:off x="12956461" y="7841456"/>
              <a:ext cx="1050896" cy="0"/>
            </a:xfrm>
            <a:prstGeom prst="line">
              <a:avLst/>
            </a:prstGeom>
            <a:ln w="50800" cap="flat">
              <a:solidFill>
                <a:srgbClr val="000000"/>
              </a:solidFill>
              <a:prstDash val="solid"/>
              <a:headEnd type="none" w="sm" len="sm"/>
              <a:tailEnd type="triangle" w="lg" len="med"/>
            </a:ln>
          </p:spPr>
          <p:txBody>
            <a:bodyPr/>
            <a:lstStyle/>
            <a:p>
              <a:endParaRPr lang="en-VN"/>
            </a:p>
          </p:txBody>
        </p:sp>
        <p:sp>
          <p:nvSpPr>
            <p:cNvPr id="30" name="AutoShape 30"/>
            <p:cNvSpPr/>
            <p:nvPr/>
          </p:nvSpPr>
          <p:spPr>
            <a:xfrm flipH="1" flipV="1">
              <a:off x="10219677" y="2706029"/>
              <a:ext cx="2285626" cy="1827908"/>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31" name="Group 31"/>
            <p:cNvGrpSpPr/>
            <p:nvPr/>
          </p:nvGrpSpPr>
          <p:grpSpPr>
            <a:xfrm>
              <a:off x="2390211" y="0"/>
              <a:ext cx="15117799" cy="9739277"/>
              <a:chOff x="0" y="0"/>
              <a:chExt cx="2986232" cy="1923808"/>
            </a:xfrm>
          </p:grpSpPr>
          <p:sp>
            <p:nvSpPr>
              <p:cNvPr id="32" name="Freeform 32"/>
              <p:cNvSpPr/>
              <p:nvPr/>
            </p:nvSpPr>
            <p:spPr>
              <a:xfrm>
                <a:off x="0" y="0"/>
                <a:ext cx="2986232" cy="1923808"/>
              </a:xfrm>
              <a:custGeom>
                <a:avLst/>
                <a:gdLst/>
                <a:ahLst/>
                <a:cxnLst/>
                <a:rect l="l" t="t" r="r" b="b"/>
                <a:pathLst>
                  <a:path w="2986232" h="1923808">
                    <a:moveTo>
                      <a:pt x="0" y="0"/>
                    </a:moveTo>
                    <a:lnTo>
                      <a:pt x="2986232" y="0"/>
                    </a:lnTo>
                    <a:lnTo>
                      <a:pt x="2986232" y="1923808"/>
                    </a:lnTo>
                    <a:lnTo>
                      <a:pt x="0" y="1923808"/>
                    </a:lnTo>
                    <a:close/>
                  </a:path>
                </a:pathLst>
              </a:custGeom>
              <a:ln w="19050" cap="sq">
                <a:solidFill>
                  <a:srgbClr val="000000"/>
                </a:solidFill>
                <a:prstDash val="solid"/>
                <a:miter/>
              </a:ln>
            </p:spPr>
            <p:txBody>
              <a:bodyPr/>
              <a:lstStyle/>
              <a:p>
                <a:endParaRPr lang="en-VN"/>
              </a:p>
            </p:txBody>
          </p:sp>
          <p:sp>
            <p:nvSpPr>
              <p:cNvPr id="33" name="TextBox 33"/>
              <p:cNvSpPr txBox="1"/>
              <p:nvPr/>
            </p:nvSpPr>
            <p:spPr>
              <a:xfrm>
                <a:off x="0" y="-47625"/>
                <a:ext cx="2986232" cy="1971433"/>
              </a:xfrm>
              <a:prstGeom prst="rect">
                <a:avLst/>
              </a:prstGeom>
            </p:spPr>
            <p:txBody>
              <a:bodyPr lIns="50800" tIns="50800" rIns="50800" bIns="50800" rtlCol="0" anchor="ctr"/>
              <a:lstStyle/>
              <a:p>
                <a:pPr algn="ctr">
                  <a:lnSpc>
                    <a:spcPts val="2940"/>
                  </a:lnSpc>
                </a:pPr>
                <a:endParaRPr/>
              </a:p>
            </p:txBody>
          </p:sp>
        </p:grpSp>
        <p:sp>
          <p:nvSpPr>
            <p:cNvPr id="34" name="TextBox 34"/>
            <p:cNvSpPr txBox="1"/>
            <p:nvPr/>
          </p:nvSpPr>
          <p:spPr>
            <a:xfrm>
              <a:off x="11775031" y="8459557"/>
              <a:ext cx="1489469" cy="702996"/>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CSDL</a:t>
              </a:r>
            </a:p>
            <a:p>
              <a:pPr algn="ctr">
                <a:lnSpc>
                  <a:spcPts val="2178"/>
                </a:lnSpc>
              </a:pPr>
              <a:r>
                <a:rPr lang="en-US" sz="1555" b="1">
                  <a:solidFill>
                    <a:srgbClr val="000000"/>
                  </a:solidFill>
                  <a:latin typeface="Roboto Slab Bold"/>
                  <a:ea typeface="Roboto Slab Bold"/>
                  <a:cs typeface="Roboto Slab Bold"/>
                  <a:sym typeface="Roboto Slab Bold"/>
                </a:rPr>
                <a:t>Postgresql</a:t>
              </a:r>
            </a:p>
          </p:txBody>
        </p:sp>
        <p:sp>
          <p:nvSpPr>
            <p:cNvPr id="35" name="TextBox 35"/>
            <p:cNvSpPr txBox="1"/>
            <p:nvPr/>
          </p:nvSpPr>
          <p:spPr>
            <a:xfrm>
              <a:off x="0" y="2869961"/>
              <a:ext cx="2118622" cy="957615"/>
            </a:xfrm>
            <a:prstGeom prst="rect">
              <a:avLst/>
            </a:prstGeom>
          </p:spPr>
          <p:txBody>
            <a:bodyPr lIns="0" tIns="0" rIns="0" bIns="0" rtlCol="0" anchor="t">
              <a:spAutoFit/>
            </a:bodyPr>
            <a:lstStyle/>
            <a:p>
              <a:pPr algn="ctr">
                <a:lnSpc>
                  <a:spcPts val="2940"/>
                </a:lnSpc>
              </a:pPr>
              <a:r>
                <a:rPr lang="en-US" sz="2100" b="1">
                  <a:solidFill>
                    <a:srgbClr val="000000"/>
                  </a:solidFill>
                  <a:latin typeface="Roboto Slab Bold"/>
                  <a:ea typeface="Roboto Slab Bold"/>
                  <a:cs typeface="Roboto Slab Bold"/>
                  <a:sym typeface="Roboto Slab Bold"/>
                </a:rPr>
                <a:t>Câu hỏi từ người dùng</a:t>
              </a:r>
            </a:p>
          </p:txBody>
        </p:sp>
        <p:sp>
          <p:nvSpPr>
            <p:cNvPr id="36" name="TextBox 36"/>
            <p:cNvSpPr txBox="1"/>
            <p:nvPr/>
          </p:nvSpPr>
          <p:spPr>
            <a:xfrm>
              <a:off x="7042734" y="638772"/>
              <a:ext cx="5493448" cy="791401"/>
            </a:xfrm>
            <a:prstGeom prst="rect">
              <a:avLst/>
            </a:prstGeom>
          </p:spPr>
          <p:txBody>
            <a:bodyPr lIns="0" tIns="0" rIns="0" bIns="0" rtlCol="0" anchor="t">
              <a:spAutoFit/>
            </a:bodyPr>
            <a:lstStyle/>
            <a:p>
              <a:pPr algn="ctr">
                <a:lnSpc>
                  <a:spcPts val="2459"/>
                </a:lnSpc>
              </a:pPr>
              <a:r>
                <a:rPr lang="en-US" sz="1755" b="1">
                  <a:solidFill>
                    <a:srgbClr val="000000"/>
                  </a:solidFill>
                  <a:latin typeface="Roboto Slab Bold"/>
                  <a:ea typeface="Roboto Slab Bold"/>
                  <a:cs typeface="Roboto Slab Bold"/>
                  <a:sym typeface="Roboto Slab Bold"/>
                </a:rPr>
                <a:t>LLMs phân tích câu hỏi, điều phối công cụ và tổng hợp câu trả lời</a:t>
              </a:r>
            </a:p>
          </p:txBody>
        </p:sp>
        <p:sp>
          <p:nvSpPr>
            <p:cNvPr id="37" name="TextBox 37"/>
            <p:cNvSpPr txBox="1"/>
            <p:nvPr/>
          </p:nvSpPr>
          <p:spPr>
            <a:xfrm>
              <a:off x="2630767" y="176938"/>
              <a:ext cx="1683291" cy="515620"/>
            </a:xfrm>
            <a:prstGeom prst="rect">
              <a:avLst/>
            </a:prstGeom>
          </p:spPr>
          <p:txBody>
            <a:bodyPr lIns="0" tIns="0" rIns="0" bIns="0" rtlCol="0" anchor="t">
              <a:spAutoFit/>
            </a:bodyPr>
            <a:lstStyle/>
            <a:p>
              <a:pPr algn="ctr">
                <a:lnSpc>
                  <a:spcPts val="3360"/>
                </a:lnSpc>
              </a:pPr>
              <a:r>
                <a:rPr lang="en-US" sz="2400" b="1">
                  <a:solidFill>
                    <a:srgbClr val="000000"/>
                  </a:solidFill>
                  <a:latin typeface="Roboto Slab Bold"/>
                  <a:ea typeface="Roboto Slab Bold"/>
                  <a:cs typeface="Roboto Slab Bold"/>
                  <a:sym typeface="Roboto Slab Bold"/>
                </a:rPr>
                <a:t>AI Agent</a:t>
              </a:r>
            </a:p>
          </p:txBody>
        </p:sp>
        <p:sp>
          <p:nvSpPr>
            <p:cNvPr id="38" name="TextBox 38"/>
            <p:cNvSpPr txBox="1"/>
            <p:nvPr/>
          </p:nvSpPr>
          <p:spPr>
            <a:xfrm>
              <a:off x="4017352" y="4732403"/>
              <a:ext cx="1805775" cy="1071368"/>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Tool truy hồi pháp luật nội bộ</a:t>
              </a:r>
            </a:p>
          </p:txBody>
        </p:sp>
        <p:sp>
          <p:nvSpPr>
            <p:cNvPr id="39" name="TextBox 39"/>
            <p:cNvSpPr txBox="1"/>
            <p:nvPr/>
          </p:nvSpPr>
          <p:spPr>
            <a:xfrm>
              <a:off x="13352103" y="4858152"/>
              <a:ext cx="2512876" cy="334624"/>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Tool truy vấn CSDL</a:t>
              </a:r>
            </a:p>
          </p:txBody>
        </p:sp>
        <p:sp>
          <p:nvSpPr>
            <p:cNvPr id="40" name="TextBox 40"/>
            <p:cNvSpPr txBox="1"/>
            <p:nvPr/>
          </p:nvSpPr>
          <p:spPr>
            <a:xfrm>
              <a:off x="5823114" y="8476564"/>
              <a:ext cx="1358532" cy="702996"/>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CSDL</a:t>
              </a:r>
            </a:p>
            <a:p>
              <a:pPr algn="ctr">
                <a:lnSpc>
                  <a:spcPts val="2178"/>
                </a:lnSpc>
              </a:pPr>
              <a:r>
                <a:rPr lang="en-US" sz="1555" b="1">
                  <a:solidFill>
                    <a:srgbClr val="000000"/>
                  </a:solidFill>
                  <a:latin typeface="Roboto Slab Bold"/>
                  <a:ea typeface="Roboto Slab Bold"/>
                  <a:cs typeface="Roboto Slab Bold"/>
                  <a:sym typeface="Roboto Slab Bold"/>
                </a:rPr>
                <a:t>ChromaDB</a:t>
              </a:r>
            </a:p>
          </p:txBody>
        </p:sp>
        <p:sp>
          <p:nvSpPr>
            <p:cNvPr id="41" name="TextBox 41"/>
            <p:cNvSpPr txBox="1"/>
            <p:nvPr/>
          </p:nvSpPr>
          <p:spPr>
            <a:xfrm>
              <a:off x="14007358" y="7480433"/>
              <a:ext cx="1202368" cy="702996"/>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Lịch sử hội thoại</a:t>
              </a:r>
            </a:p>
          </p:txBody>
        </p:sp>
        <p:sp>
          <p:nvSpPr>
            <p:cNvPr id="42" name="Freeform 42"/>
            <p:cNvSpPr/>
            <p:nvPr/>
          </p:nvSpPr>
          <p:spPr>
            <a:xfrm>
              <a:off x="9096886" y="4629973"/>
              <a:ext cx="1078065" cy="1041692"/>
            </a:xfrm>
            <a:custGeom>
              <a:avLst/>
              <a:gdLst/>
              <a:ahLst/>
              <a:cxnLst/>
              <a:rect l="l" t="t" r="r" b="b"/>
              <a:pathLst>
                <a:path w="1078065" h="1041692">
                  <a:moveTo>
                    <a:pt x="0" y="0"/>
                  </a:moveTo>
                  <a:lnTo>
                    <a:pt x="1078065" y="0"/>
                  </a:lnTo>
                  <a:lnTo>
                    <a:pt x="1078065" y="1041692"/>
                  </a:lnTo>
                  <a:lnTo>
                    <a:pt x="0" y="1041692"/>
                  </a:lnTo>
                  <a:lnTo>
                    <a:pt x="0" y="0"/>
                  </a:lnTo>
                  <a:close/>
                </a:path>
              </a:pathLst>
            </a:custGeom>
            <a:blipFill>
              <a:blip>
                <a:extLst>
                  <a:ext uri="{96DAC541-7B7A-43D3-8B79-37D633B846F1}">
                    <asvg:svgBlip xmlns:asvg="http://schemas.microsoft.com/office/drawing/2016/SVG/main" r:embed="rId6"/>
                  </a:ext>
                </a:extLst>
              </a:blip>
              <a:stretch>
                <a:fillRect t="-529" b="-527"/>
              </a:stretch>
            </a:blipFill>
          </p:spPr>
          <p:txBody>
            <a:bodyPr/>
            <a:lstStyle/>
            <a:p>
              <a:endParaRPr lang="en-VN"/>
            </a:p>
          </p:txBody>
        </p:sp>
        <p:sp>
          <p:nvSpPr>
            <p:cNvPr id="43" name="AutoShape 43"/>
            <p:cNvSpPr/>
            <p:nvPr/>
          </p:nvSpPr>
          <p:spPr>
            <a:xfrm flipV="1">
              <a:off x="9635918" y="2706029"/>
              <a:ext cx="6493" cy="1923944"/>
            </a:xfrm>
            <a:prstGeom prst="line">
              <a:avLst/>
            </a:prstGeom>
            <a:ln w="50800" cap="flat">
              <a:solidFill>
                <a:srgbClr val="000000"/>
              </a:solidFill>
              <a:prstDash val="solid"/>
              <a:headEnd type="none" w="sm" len="sm"/>
              <a:tailEnd type="triangle" w="lg" len="med"/>
            </a:ln>
          </p:spPr>
          <p:txBody>
            <a:bodyPr/>
            <a:lstStyle/>
            <a:p>
              <a:endParaRPr lang="en-VN"/>
            </a:p>
          </p:txBody>
        </p:sp>
        <p:sp>
          <p:nvSpPr>
            <p:cNvPr id="44" name="TextBox 44"/>
            <p:cNvSpPr txBox="1"/>
            <p:nvPr/>
          </p:nvSpPr>
          <p:spPr>
            <a:xfrm>
              <a:off x="8974192" y="5784721"/>
              <a:ext cx="1323452" cy="702996"/>
            </a:xfrm>
            <a:prstGeom prst="rect">
              <a:avLst/>
            </a:prstGeom>
          </p:spPr>
          <p:txBody>
            <a:bodyPr lIns="0" tIns="0" rIns="0" bIns="0" rtlCol="0" anchor="t">
              <a:spAutoFit/>
            </a:bodyPr>
            <a:lstStyle/>
            <a:p>
              <a:pPr algn="ctr">
                <a:lnSpc>
                  <a:spcPts val="2178"/>
                </a:lnSpc>
              </a:pPr>
              <a:r>
                <a:rPr lang="en-US" sz="1555" b="1">
                  <a:solidFill>
                    <a:srgbClr val="000000"/>
                  </a:solidFill>
                  <a:latin typeface="Roboto Slab Bold"/>
                  <a:ea typeface="Roboto Slab Bold"/>
                  <a:cs typeface="Roboto Slab Bold"/>
                  <a:sym typeface="Roboto Slab Bold"/>
                </a:rPr>
                <a:t>Tool web search</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0695872"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3.2. Mô hình tổng quan của hệ thống chatbot</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grpSp>
        <p:nvGrpSpPr>
          <p:cNvPr id="12" name="Group 12"/>
          <p:cNvGrpSpPr/>
          <p:nvPr/>
        </p:nvGrpSpPr>
        <p:grpSpPr>
          <a:xfrm>
            <a:off x="770560" y="2281885"/>
            <a:ext cx="15631933" cy="7353415"/>
            <a:chOff x="0" y="0"/>
            <a:chExt cx="20842578" cy="9804554"/>
          </a:xfrm>
        </p:grpSpPr>
        <p:sp>
          <p:nvSpPr>
            <p:cNvPr id="13" name="Freeform 13"/>
            <p:cNvSpPr/>
            <p:nvPr/>
          </p:nvSpPr>
          <p:spPr>
            <a:xfrm>
              <a:off x="4674566" y="0"/>
              <a:ext cx="1133754" cy="1382624"/>
            </a:xfrm>
            <a:custGeom>
              <a:avLst/>
              <a:gdLst/>
              <a:ahLst/>
              <a:cxnLst/>
              <a:rect l="l" t="t" r="r" b="b"/>
              <a:pathLst>
                <a:path w="1133754" h="1382624">
                  <a:moveTo>
                    <a:pt x="0" y="0"/>
                  </a:moveTo>
                  <a:lnTo>
                    <a:pt x="1133754" y="0"/>
                  </a:lnTo>
                  <a:lnTo>
                    <a:pt x="1133754" y="1382624"/>
                  </a:lnTo>
                  <a:lnTo>
                    <a:pt x="0" y="1382624"/>
                  </a:lnTo>
                  <a:lnTo>
                    <a:pt x="0" y="0"/>
                  </a:lnTo>
                  <a:close/>
                </a:path>
              </a:pathLst>
            </a:custGeom>
            <a:blipFill>
              <a:blip>
                <a:extLst>
                  <a:ext uri="{96DAC541-7B7A-43D3-8B79-37D633B846F1}">
                    <asvg:svgBlip xmlns:asvg="http://schemas.microsoft.com/office/drawing/2016/SVG/main" r:embed="rId4"/>
                  </a:ext>
                </a:extLst>
              </a:blip>
              <a:stretch>
                <a:fillRect l="-347" r="-346"/>
              </a:stretch>
            </a:blipFill>
          </p:spPr>
          <p:txBody>
            <a:bodyPr/>
            <a:lstStyle/>
            <a:p>
              <a:endParaRPr lang="en-VN"/>
            </a:p>
          </p:txBody>
        </p:sp>
        <p:sp>
          <p:nvSpPr>
            <p:cNvPr id="14" name="Freeform 14"/>
            <p:cNvSpPr/>
            <p:nvPr/>
          </p:nvSpPr>
          <p:spPr>
            <a:xfrm>
              <a:off x="8682331" y="2999156"/>
              <a:ext cx="1209764" cy="1252030"/>
            </a:xfrm>
            <a:custGeom>
              <a:avLst/>
              <a:gdLst/>
              <a:ahLst/>
              <a:cxnLst/>
              <a:rect l="l" t="t" r="r" b="b"/>
              <a:pathLst>
                <a:path w="1209764" h="1252030">
                  <a:moveTo>
                    <a:pt x="0" y="0"/>
                  </a:moveTo>
                  <a:lnTo>
                    <a:pt x="1209764" y="0"/>
                  </a:lnTo>
                  <a:lnTo>
                    <a:pt x="1209764" y="1252030"/>
                  </a:lnTo>
                  <a:lnTo>
                    <a:pt x="0" y="1252030"/>
                  </a:lnTo>
                  <a:lnTo>
                    <a:pt x="0" y="0"/>
                  </a:lnTo>
                  <a:close/>
                </a:path>
              </a:pathLst>
            </a:custGeom>
            <a:blipFill>
              <a:blip>
                <a:extLst>
                  <a:ext uri="{96DAC541-7B7A-43D3-8B79-37D633B846F1}">
                    <asvg:svgBlip xmlns:asvg="http://schemas.microsoft.com/office/drawing/2016/SVG/main" r:embed="rId5"/>
                  </a:ext>
                </a:extLst>
              </a:blip>
              <a:stretch>
                <a:fillRect l="-178" r="-178"/>
              </a:stretch>
            </a:blipFill>
          </p:spPr>
          <p:txBody>
            <a:bodyPr/>
            <a:lstStyle/>
            <a:p>
              <a:endParaRPr lang="en-VN"/>
            </a:p>
          </p:txBody>
        </p:sp>
        <p:sp>
          <p:nvSpPr>
            <p:cNvPr id="15" name="Freeform 15"/>
            <p:cNvSpPr/>
            <p:nvPr/>
          </p:nvSpPr>
          <p:spPr>
            <a:xfrm>
              <a:off x="15083225" y="2997695"/>
              <a:ext cx="1209764" cy="1252030"/>
            </a:xfrm>
            <a:custGeom>
              <a:avLst/>
              <a:gdLst/>
              <a:ahLst/>
              <a:cxnLst/>
              <a:rect l="l" t="t" r="r" b="b"/>
              <a:pathLst>
                <a:path w="1209764" h="1252030">
                  <a:moveTo>
                    <a:pt x="0" y="0"/>
                  </a:moveTo>
                  <a:lnTo>
                    <a:pt x="1209764" y="0"/>
                  </a:lnTo>
                  <a:lnTo>
                    <a:pt x="1209764" y="1252030"/>
                  </a:lnTo>
                  <a:lnTo>
                    <a:pt x="0" y="1252030"/>
                  </a:lnTo>
                  <a:lnTo>
                    <a:pt x="0" y="0"/>
                  </a:lnTo>
                  <a:close/>
                </a:path>
              </a:pathLst>
            </a:custGeom>
            <a:blipFill>
              <a:blip>
                <a:extLst>
                  <a:ext uri="{96DAC541-7B7A-43D3-8B79-37D633B846F1}">
                    <asvg:svgBlip xmlns:asvg="http://schemas.microsoft.com/office/drawing/2016/SVG/main" r:embed="rId5"/>
                  </a:ext>
                </a:extLst>
              </a:blip>
              <a:stretch>
                <a:fillRect l="-178" r="-178"/>
              </a:stretch>
            </a:blipFill>
          </p:spPr>
          <p:txBody>
            <a:bodyPr/>
            <a:lstStyle/>
            <a:p>
              <a:endParaRPr lang="en-VN"/>
            </a:p>
          </p:txBody>
        </p:sp>
        <p:sp>
          <p:nvSpPr>
            <p:cNvPr id="16" name="Freeform 16"/>
            <p:cNvSpPr/>
            <p:nvPr/>
          </p:nvSpPr>
          <p:spPr>
            <a:xfrm>
              <a:off x="488505" y="2997695"/>
              <a:ext cx="1182560" cy="1286243"/>
            </a:xfrm>
            <a:custGeom>
              <a:avLst/>
              <a:gdLst/>
              <a:ahLst/>
              <a:cxnLst/>
              <a:rect l="l" t="t" r="r" b="b"/>
              <a:pathLst>
                <a:path w="1182560" h="1286243">
                  <a:moveTo>
                    <a:pt x="0" y="0"/>
                  </a:moveTo>
                  <a:lnTo>
                    <a:pt x="1182561" y="0"/>
                  </a:lnTo>
                  <a:lnTo>
                    <a:pt x="1182561" y="1286244"/>
                  </a:lnTo>
                  <a:lnTo>
                    <a:pt x="0" y="1286244"/>
                  </a:lnTo>
                  <a:lnTo>
                    <a:pt x="0" y="0"/>
                  </a:lnTo>
                  <a:close/>
                </a:path>
              </a:pathLst>
            </a:custGeom>
            <a:blipFill>
              <a:blip>
                <a:extLst>
                  <a:ext uri="{96DAC541-7B7A-43D3-8B79-37D633B846F1}">
                    <asvg:svgBlip xmlns:asvg="http://schemas.microsoft.com/office/drawing/2016/SVG/main" r:embed="rId6"/>
                  </a:ext>
                </a:extLst>
              </a:blip>
              <a:stretch>
                <a:fillRect l="-118" r="-118"/>
              </a:stretch>
            </a:blipFill>
          </p:spPr>
          <p:txBody>
            <a:bodyPr/>
            <a:lstStyle/>
            <a:p>
              <a:endParaRPr lang="en-VN"/>
            </a:p>
          </p:txBody>
        </p:sp>
        <p:sp>
          <p:nvSpPr>
            <p:cNvPr id="17" name="Freeform 17"/>
            <p:cNvSpPr/>
            <p:nvPr/>
          </p:nvSpPr>
          <p:spPr>
            <a:xfrm>
              <a:off x="11845659" y="6371432"/>
              <a:ext cx="831355" cy="803300"/>
            </a:xfrm>
            <a:custGeom>
              <a:avLst/>
              <a:gdLst/>
              <a:ahLst/>
              <a:cxnLst/>
              <a:rect l="l" t="t" r="r" b="b"/>
              <a:pathLst>
                <a:path w="831355" h="803300">
                  <a:moveTo>
                    <a:pt x="0" y="0"/>
                  </a:moveTo>
                  <a:lnTo>
                    <a:pt x="831355" y="0"/>
                  </a:lnTo>
                  <a:lnTo>
                    <a:pt x="831355" y="803300"/>
                  </a:lnTo>
                  <a:lnTo>
                    <a:pt x="0" y="803300"/>
                  </a:lnTo>
                  <a:lnTo>
                    <a:pt x="0" y="0"/>
                  </a:lnTo>
                  <a:close/>
                </a:path>
              </a:pathLst>
            </a:custGeom>
            <a:blipFill>
              <a:blip>
                <a:extLst>
                  <a:ext uri="{96DAC541-7B7A-43D3-8B79-37D633B846F1}">
                    <asvg:svgBlip xmlns:asvg="http://schemas.microsoft.com/office/drawing/2016/SVG/main" r:embed="rId7"/>
                  </a:ext>
                </a:extLst>
              </a:blip>
              <a:stretch>
                <a:fillRect t="-178" b="-177"/>
              </a:stretch>
            </a:blipFill>
          </p:spPr>
          <p:txBody>
            <a:bodyPr/>
            <a:lstStyle/>
            <a:p>
              <a:endParaRPr lang="en-VN"/>
            </a:p>
          </p:txBody>
        </p:sp>
        <p:sp>
          <p:nvSpPr>
            <p:cNvPr id="18" name="TextBox 18"/>
            <p:cNvSpPr txBox="1"/>
            <p:nvPr/>
          </p:nvSpPr>
          <p:spPr>
            <a:xfrm>
              <a:off x="0" y="4458360"/>
              <a:ext cx="2159584" cy="711099"/>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Tin nhắn mới từ người dùng</a:t>
              </a:r>
            </a:p>
          </p:txBody>
        </p:sp>
        <p:sp>
          <p:nvSpPr>
            <p:cNvPr id="19" name="TextBox 19"/>
            <p:cNvSpPr txBox="1"/>
            <p:nvPr/>
          </p:nvSpPr>
          <p:spPr>
            <a:xfrm>
              <a:off x="8931372" y="4380980"/>
              <a:ext cx="711669" cy="342727"/>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LLMs</a:t>
              </a:r>
            </a:p>
          </p:txBody>
        </p:sp>
        <p:sp>
          <p:nvSpPr>
            <p:cNvPr id="20" name="TextBox 20"/>
            <p:cNvSpPr txBox="1"/>
            <p:nvPr/>
          </p:nvSpPr>
          <p:spPr>
            <a:xfrm>
              <a:off x="2821002" y="207277"/>
              <a:ext cx="1631771" cy="791909"/>
            </a:xfrm>
            <a:prstGeom prst="rect">
              <a:avLst/>
            </a:prstGeom>
          </p:spPr>
          <p:txBody>
            <a:bodyPr lIns="0" tIns="0" rIns="0" bIns="0" rtlCol="0" anchor="t">
              <a:spAutoFit/>
            </a:bodyPr>
            <a:lstStyle/>
            <a:p>
              <a:pPr algn="ctr">
                <a:lnSpc>
                  <a:spcPts val="2443"/>
                </a:lnSpc>
              </a:pPr>
              <a:r>
                <a:rPr lang="en-US" sz="1746" b="1">
                  <a:solidFill>
                    <a:srgbClr val="000000"/>
                  </a:solidFill>
                  <a:latin typeface="Roboto Slab Bold"/>
                  <a:ea typeface="Roboto Slab Bold"/>
                  <a:cs typeface="Roboto Slab Bold"/>
                  <a:sym typeface="Roboto Slab Bold"/>
                </a:rPr>
                <a:t>Database</a:t>
              </a:r>
            </a:p>
            <a:p>
              <a:pPr algn="ctr">
                <a:lnSpc>
                  <a:spcPts val="2443"/>
                </a:lnSpc>
              </a:pPr>
              <a:r>
                <a:rPr lang="en-US" sz="1746" b="1">
                  <a:solidFill>
                    <a:srgbClr val="000000"/>
                  </a:solidFill>
                  <a:latin typeface="Roboto Slab Bold"/>
                  <a:ea typeface="Roboto Slab Bold"/>
                  <a:cs typeface="Roboto Slab Bold"/>
                  <a:sym typeface="Roboto Slab Bold"/>
                </a:rPr>
                <a:t>PostgreSQL</a:t>
              </a:r>
            </a:p>
          </p:txBody>
        </p:sp>
        <p:sp>
          <p:nvSpPr>
            <p:cNvPr id="21" name="TextBox 21"/>
            <p:cNvSpPr txBox="1"/>
            <p:nvPr/>
          </p:nvSpPr>
          <p:spPr>
            <a:xfrm>
              <a:off x="8207414" y="2135658"/>
              <a:ext cx="2159584" cy="711099"/>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Phân tích câu hỏi</a:t>
              </a:r>
            </a:p>
          </p:txBody>
        </p:sp>
        <p:sp>
          <p:nvSpPr>
            <p:cNvPr id="22" name="TextBox 22"/>
            <p:cNvSpPr txBox="1"/>
            <p:nvPr/>
          </p:nvSpPr>
          <p:spPr>
            <a:xfrm>
              <a:off x="14592649" y="2135658"/>
              <a:ext cx="2190915" cy="711099"/>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Verifier kiểm chứng kết quả</a:t>
              </a:r>
            </a:p>
          </p:txBody>
        </p:sp>
        <p:sp>
          <p:nvSpPr>
            <p:cNvPr id="23" name="TextBox 23"/>
            <p:cNvSpPr txBox="1"/>
            <p:nvPr/>
          </p:nvSpPr>
          <p:spPr>
            <a:xfrm>
              <a:off x="13341128" y="5017343"/>
              <a:ext cx="1331354" cy="730149"/>
            </a:xfrm>
            <a:prstGeom prst="rect">
              <a:avLst/>
            </a:prstGeom>
          </p:spPr>
          <p:txBody>
            <a:bodyPr lIns="0" tIns="0" rIns="0" bIns="0" rtlCol="0" anchor="t">
              <a:spAutoFit/>
            </a:bodyPr>
            <a:lstStyle/>
            <a:p>
              <a:pPr algn="ctr">
                <a:lnSpc>
                  <a:spcPts val="2238"/>
                </a:lnSpc>
              </a:pPr>
              <a:r>
                <a:rPr lang="en-US" sz="1599" i="1">
                  <a:solidFill>
                    <a:srgbClr val="000000"/>
                  </a:solidFill>
                  <a:latin typeface="Roboto Italics"/>
                  <a:ea typeface="Roboto Italics"/>
                  <a:cs typeface="Roboto Italics"/>
                  <a:sym typeface="Roboto Italics"/>
                </a:rPr>
                <a:t>Cần thực hiện tiếp</a:t>
              </a:r>
            </a:p>
          </p:txBody>
        </p:sp>
        <p:sp>
          <p:nvSpPr>
            <p:cNvPr id="24" name="TextBox 24"/>
            <p:cNvSpPr txBox="1"/>
            <p:nvPr/>
          </p:nvSpPr>
          <p:spPr>
            <a:xfrm>
              <a:off x="11749277" y="7298557"/>
              <a:ext cx="1024118" cy="342727"/>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Các tool</a:t>
              </a:r>
            </a:p>
          </p:txBody>
        </p:sp>
        <p:sp>
          <p:nvSpPr>
            <p:cNvPr id="25" name="TextBox 25"/>
            <p:cNvSpPr txBox="1"/>
            <p:nvPr/>
          </p:nvSpPr>
          <p:spPr>
            <a:xfrm>
              <a:off x="9966315" y="5201529"/>
              <a:ext cx="1331354" cy="361777"/>
            </a:xfrm>
            <a:prstGeom prst="rect">
              <a:avLst/>
            </a:prstGeom>
          </p:spPr>
          <p:txBody>
            <a:bodyPr lIns="0" tIns="0" rIns="0" bIns="0" rtlCol="0" anchor="t">
              <a:spAutoFit/>
            </a:bodyPr>
            <a:lstStyle/>
            <a:p>
              <a:pPr algn="ctr">
                <a:lnSpc>
                  <a:spcPts val="2238"/>
                </a:lnSpc>
              </a:pPr>
              <a:r>
                <a:rPr lang="en-US" sz="1599" i="1">
                  <a:solidFill>
                    <a:srgbClr val="000000"/>
                  </a:solidFill>
                  <a:latin typeface="Roboto Italics"/>
                  <a:ea typeface="Roboto Italics"/>
                  <a:cs typeface="Roboto Italics"/>
                  <a:sym typeface="Roboto Italics"/>
                </a:rPr>
                <a:t>Trả kết quả</a:t>
              </a:r>
            </a:p>
          </p:txBody>
        </p:sp>
        <p:sp>
          <p:nvSpPr>
            <p:cNvPr id="26" name="TextBox 26"/>
            <p:cNvSpPr txBox="1"/>
            <p:nvPr/>
          </p:nvSpPr>
          <p:spPr>
            <a:xfrm>
              <a:off x="2911438" y="1657571"/>
              <a:ext cx="2107222" cy="730149"/>
            </a:xfrm>
            <a:prstGeom prst="rect">
              <a:avLst/>
            </a:prstGeom>
          </p:spPr>
          <p:txBody>
            <a:bodyPr lIns="0" tIns="0" rIns="0" bIns="0" rtlCol="0" anchor="t">
              <a:spAutoFit/>
            </a:bodyPr>
            <a:lstStyle/>
            <a:p>
              <a:pPr algn="ctr">
                <a:lnSpc>
                  <a:spcPts val="2238"/>
                </a:lnSpc>
              </a:pPr>
              <a:r>
                <a:rPr lang="en-US" sz="1599" i="1">
                  <a:solidFill>
                    <a:srgbClr val="000000"/>
                  </a:solidFill>
                  <a:latin typeface="Roboto Italics"/>
                  <a:ea typeface="Roboto Italics"/>
                  <a:cs typeface="Roboto Italics"/>
                  <a:sym typeface="Roboto Italics"/>
                </a:rPr>
                <a:t>Lấy lịch sử trò chuyện</a:t>
              </a:r>
            </a:p>
          </p:txBody>
        </p:sp>
        <p:grpSp>
          <p:nvGrpSpPr>
            <p:cNvPr id="27" name="Group 27"/>
            <p:cNvGrpSpPr/>
            <p:nvPr/>
          </p:nvGrpSpPr>
          <p:grpSpPr>
            <a:xfrm>
              <a:off x="3090017" y="2911534"/>
              <a:ext cx="4302852" cy="1438264"/>
              <a:chOff x="0" y="0"/>
              <a:chExt cx="849926" cy="284134"/>
            </a:xfrm>
          </p:grpSpPr>
          <p:sp>
            <p:nvSpPr>
              <p:cNvPr id="28" name="Freeform 28"/>
              <p:cNvSpPr/>
              <p:nvPr/>
            </p:nvSpPr>
            <p:spPr>
              <a:xfrm>
                <a:off x="0" y="0"/>
                <a:ext cx="849926" cy="284134"/>
              </a:xfrm>
              <a:custGeom>
                <a:avLst/>
                <a:gdLst/>
                <a:ahLst/>
                <a:cxnLst/>
                <a:rect l="l" t="t" r="r" b="b"/>
                <a:pathLst>
                  <a:path w="849926" h="284134">
                    <a:moveTo>
                      <a:pt x="849926" y="59975"/>
                    </a:moveTo>
                    <a:lnTo>
                      <a:pt x="849926" y="224159"/>
                    </a:lnTo>
                    <a:cubicBezTo>
                      <a:pt x="849926" y="240065"/>
                      <a:pt x="843608" y="255320"/>
                      <a:pt x="832360" y="266567"/>
                    </a:cubicBezTo>
                    <a:cubicBezTo>
                      <a:pt x="821112" y="277815"/>
                      <a:pt x="805858" y="284134"/>
                      <a:pt x="789951" y="284134"/>
                    </a:cubicBezTo>
                    <a:lnTo>
                      <a:pt x="59975" y="284134"/>
                    </a:lnTo>
                    <a:cubicBezTo>
                      <a:pt x="26852" y="284134"/>
                      <a:pt x="0" y="257282"/>
                      <a:pt x="0" y="224159"/>
                    </a:cubicBezTo>
                    <a:lnTo>
                      <a:pt x="0" y="59975"/>
                    </a:lnTo>
                    <a:cubicBezTo>
                      <a:pt x="0" y="44069"/>
                      <a:pt x="6319" y="28814"/>
                      <a:pt x="17566" y="17566"/>
                    </a:cubicBezTo>
                    <a:cubicBezTo>
                      <a:pt x="28814" y="6319"/>
                      <a:pt x="44069" y="0"/>
                      <a:pt x="59975" y="0"/>
                    </a:cubicBezTo>
                    <a:lnTo>
                      <a:pt x="789951" y="0"/>
                    </a:lnTo>
                    <a:cubicBezTo>
                      <a:pt x="823075" y="0"/>
                      <a:pt x="849926" y="26852"/>
                      <a:pt x="849926" y="59975"/>
                    </a:cubicBezTo>
                    <a:close/>
                  </a:path>
                </a:pathLst>
              </a:custGeom>
              <a:ln w="28575" cap="rnd">
                <a:solidFill>
                  <a:srgbClr val="000000"/>
                </a:solidFill>
                <a:prstDash val="solid"/>
                <a:round/>
              </a:ln>
            </p:spPr>
            <p:txBody>
              <a:bodyPr/>
              <a:lstStyle/>
              <a:p>
                <a:endParaRPr lang="en-VN"/>
              </a:p>
            </p:txBody>
          </p:sp>
          <p:sp>
            <p:nvSpPr>
              <p:cNvPr id="29" name="TextBox 29"/>
              <p:cNvSpPr txBox="1"/>
              <p:nvPr/>
            </p:nvSpPr>
            <p:spPr>
              <a:xfrm>
                <a:off x="0" y="-38100"/>
                <a:ext cx="849926" cy="322234"/>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Tổng hợp context cuộc trò chuyện</a:t>
                </a:r>
              </a:p>
            </p:txBody>
          </p:sp>
        </p:grpSp>
        <p:sp>
          <p:nvSpPr>
            <p:cNvPr id="30" name="AutoShape 30"/>
            <p:cNvSpPr/>
            <p:nvPr/>
          </p:nvSpPr>
          <p:spPr>
            <a:xfrm>
              <a:off x="5241443" y="1382624"/>
              <a:ext cx="0" cy="1528911"/>
            </a:xfrm>
            <a:prstGeom prst="line">
              <a:avLst/>
            </a:prstGeom>
            <a:ln w="50800" cap="flat">
              <a:solidFill>
                <a:srgbClr val="000000"/>
              </a:solidFill>
              <a:prstDash val="solid"/>
              <a:headEnd type="none" w="sm" len="sm"/>
              <a:tailEnd type="triangle" w="lg" len="med"/>
            </a:ln>
          </p:spPr>
          <p:txBody>
            <a:bodyPr/>
            <a:lstStyle/>
            <a:p>
              <a:endParaRPr lang="en-VN"/>
            </a:p>
          </p:txBody>
        </p:sp>
        <p:sp>
          <p:nvSpPr>
            <p:cNvPr id="31" name="AutoShape 31"/>
            <p:cNvSpPr/>
            <p:nvPr/>
          </p:nvSpPr>
          <p:spPr>
            <a:xfrm flipV="1">
              <a:off x="1671066" y="3630666"/>
              <a:ext cx="1419244" cy="10151"/>
            </a:xfrm>
            <a:prstGeom prst="line">
              <a:avLst/>
            </a:prstGeom>
            <a:ln w="50800" cap="flat">
              <a:solidFill>
                <a:srgbClr val="000000"/>
              </a:solidFill>
              <a:prstDash val="solid"/>
              <a:headEnd type="none" w="sm" len="sm"/>
              <a:tailEnd type="triangle" w="lg" len="med"/>
            </a:ln>
          </p:spPr>
          <p:txBody>
            <a:bodyPr/>
            <a:lstStyle/>
            <a:p>
              <a:endParaRPr lang="en-VN"/>
            </a:p>
          </p:txBody>
        </p:sp>
        <p:sp>
          <p:nvSpPr>
            <p:cNvPr id="32" name="AutoShape 32"/>
            <p:cNvSpPr/>
            <p:nvPr/>
          </p:nvSpPr>
          <p:spPr>
            <a:xfrm flipV="1">
              <a:off x="7392576" y="3625171"/>
              <a:ext cx="1289754" cy="5495"/>
            </a:xfrm>
            <a:prstGeom prst="line">
              <a:avLst/>
            </a:prstGeom>
            <a:ln w="50800" cap="flat">
              <a:solidFill>
                <a:srgbClr val="000000"/>
              </a:solidFill>
              <a:prstDash val="solid"/>
              <a:headEnd type="none" w="sm" len="sm"/>
              <a:tailEnd type="triangle" w="lg" len="med"/>
            </a:ln>
          </p:spPr>
          <p:txBody>
            <a:bodyPr/>
            <a:lstStyle/>
            <a:p>
              <a:endParaRPr lang="en-VN"/>
            </a:p>
          </p:txBody>
        </p:sp>
        <p:sp>
          <p:nvSpPr>
            <p:cNvPr id="33" name="Freeform 33"/>
            <p:cNvSpPr/>
            <p:nvPr/>
          </p:nvSpPr>
          <p:spPr>
            <a:xfrm>
              <a:off x="11739017" y="2997695"/>
              <a:ext cx="1209764" cy="1252030"/>
            </a:xfrm>
            <a:custGeom>
              <a:avLst/>
              <a:gdLst/>
              <a:ahLst/>
              <a:cxnLst/>
              <a:rect l="l" t="t" r="r" b="b"/>
              <a:pathLst>
                <a:path w="1209764" h="1252030">
                  <a:moveTo>
                    <a:pt x="0" y="0"/>
                  </a:moveTo>
                  <a:lnTo>
                    <a:pt x="1209764" y="0"/>
                  </a:lnTo>
                  <a:lnTo>
                    <a:pt x="1209764" y="1252030"/>
                  </a:lnTo>
                  <a:lnTo>
                    <a:pt x="0" y="1252030"/>
                  </a:lnTo>
                  <a:lnTo>
                    <a:pt x="0" y="0"/>
                  </a:lnTo>
                  <a:close/>
                </a:path>
              </a:pathLst>
            </a:custGeom>
            <a:blipFill>
              <a:blip>
                <a:extLst>
                  <a:ext uri="{96DAC541-7B7A-43D3-8B79-37D633B846F1}">
                    <asvg:svgBlip xmlns:asvg="http://schemas.microsoft.com/office/drawing/2016/SVG/main" r:embed="rId5"/>
                  </a:ext>
                </a:extLst>
              </a:blip>
              <a:stretch>
                <a:fillRect l="-178" r="-178"/>
              </a:stretch>
            </a:blipFill>
          </p:spPr>
          <p:txBody>
            <a:bodyPr/>
            <a:lstStyle/>
            <a:p>
              <a:endParaRPr lang="en-VN"/>
            </a:p>
          </p:txBody>
        </p:sp>
        <p:sp>
          <p:nvSpPr>
            <p:cNvPr id="34" name="TextBox 34"/>
            <p:cNvSpPr txBox="1"/>
            <p:nvPr/>
          </p:nvSpPr>
          <p:spPr>
            <a:xfrm>
              <a:off x="11181544" y="1767285"/>
              <a:ext cx="2159584" cy="1079471"/>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Điều phối các tool để thu thập context</a:t>
              </a:r>
            </a:p>
          </p:txBody>
        </p:sp>
        <p:sp>
          <p:nvSpPr>
            <p:cNvPr id="35" name="AutoShape 35"/>
            <p:cNvSpPr/>
            <p:nvPr/>
          </p:nvSpPr>
          <p:spPr>
            <a:xfrm flipV="1">
              <a:off x="9892095" y="3623710"/>
              <a:ext cx="1846922" cy="1461"/>
            </a:xfrm>
            <a:prstGeom prst="line">
              <a:avLst/>
            </a:prstGeom>
            <a:ln w="50800" cap="flat">
              <a:solidFill>
                <a:srgbClr val="000000"/>
              </a:solidFill>
              <a:prstDash val="solid"/>
              <a:headEnd type="none" w="sm" len="sm"/>
              <a:tailEnd type="triangle" w="lg" len="med"/>
            </a:ln>
          </p:spPr>
          <p:txBody>
            <a:bodyPr/>
            <a:lstStyle/>
            <a:p>
              <a:endParaRPr lang="en-VN"/>
            </a:p>
          </p:txBody>
        </p:sp>
        <p:sp>
          <p:nvSpPr>
            <p:cNvPr id="36" name="Freeform 36"/>
            <p:cNvSpPr/>
            <p:nvPr/>
          </p:nvSpPr>
          <p:spPr>
            <a:xfrm>
              <a:off x="12562195" y="4249725"/>
              <a:ext cx="598294" cy="2121707"/>
            </a:xfrm>
            <a:custGeom>
              <a:avLst/>
              <a:gdLst/>
              <a:ahLst/>
              <a:cxnLst/>
              <a:rect l="l" t="t" r="r" b="b"/>
              <a:pathLst>
                <a:path w="598294" h="2121707">
                  <a:moveTo>
                    <a:pt x="386586" y="0"/>
                  </a:moveTo>
                  <a:quadBezTo>
                    <a:pt x="954193" y="1199493"/>
                    <a:pt x="0" y="2121707"/>
                  </a:quadBezTo>
                </a:path>
              </a:pathLst>
            </a:custGeom>
            <a:ln w="50800" cap="flat">
              <a:solidFill>
                <a:srgbClr val="000000"/>
              </a:solidFill>
              <a:prstDash val="solid"/>
              <a:headEnd type="none" w="sm" len="sm"/>
              <a:tailEnd type="arrow" w="med" len="sm"/>
            </a:ln>
          </p:spPr>
          <p:txBody>
            <a:bodyPr/>
            <a:lstStyle/>
            <a:p>
              <a:endParaRPr lang="en-VN"/>
            </a:p>
          </p:txBody>
        </p:sp>
        <p:sp>
          <p:nvSpPr>
            <p:cNvPr id="37" name="Freeform 37"/>
            <p:cNvSpPr/>
            <p:nvPr/>
          </p:nvSpPr>
          <p:spPr>
            <a:xfrm>
              <a:off x="11466733" y="4249725"/>
              <a:ext cx="378926" cy="2121707"/>
            </a:xfrm>
            <a:custGeom>
              <a:avLst/>
              <a:gdLst/>
              <a:ahLst/>
              <a:cxnLst/>
              <a:rect l="l" t="t" r="r" b="b"/>
              <a:pathLst>
                <a:path w="378926" h="2121707">
                  <a:moveTo>
                    <a:pt x="378926" y="2121707"/>
                  </a:moveTo>
                  <a:quadBezTo>
                    <a:pt x="-321209" y="1093364"/>
                    <a:pt x="272284" y="0"/>
                  </a:quadBezTo>
                </a:path>
              </a:pathLst>
            </a:custGeom>
            <a:ln w="50800" cap="flat">
              <a:solidFill>
                <a:srgbClr val="000000"/>
              </a:solidFill>
              <a:prstDash val="solid"/>
              <a:headEnd type="none" w="sm" len="sm"/>
              <a:tailEnd type="arrow" w="med" len="sm"/>
            </a:ln>
          </p:spPr>
          <p:txBody>
            <a:bodyPr/>
            <a:lstStyle/>
            <a:p>
              <a:endParaRPr lang="en-VN"/>
            </a:p>
          </p:txBody>
        </p:sp>
        <p:sp>
          <p:nvSpPr>
            <p:cNvPr id="38" name="TextBox 38"/>
            <p:cNvSpPr txBox="1"/>
            <p:nvPr/>
          </p:nvSpPr>
          <p:spPr>
            <a:xfrm>
              <a:off x="15332273" y="4380980"/>
              <a:ext cx="711669" cy="342727"/>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LLMs</a:t>
              </a:r>
            </a:p>
          </p:txBody>
        </p:sp>
        <p:sp>
          <p:nvSpPr>
            <p:cNvPr id="39" name="AutoShape 39"/>
            <p:cNvSpPr/>
            <p:nvPr/>
          </p:nvSpPr>
          <p:spPr>
            <a:xfrm>
              <a:off x="12948781" y="3623710"/>
              <a:ext cx="2134444" cy="0"/>
            </a:xfrm>
            <a:prstGeom prst="line">
              <a:avLst/>
            </a:prstGeom>
            <a:ln w="50800" cap="flat">
              <a:solidFill>
                <a:srgbClr val="000000"/>
              </a:solidFill>
              <a:prstDash val="solid"/>
              <a:headEnd type="none" w="sm" len="sm"/>
              <a:tailEnd type="triangle" w="lg" len="med"/>
            </a:ln>
          </p:spPr>
          <p:txBody>
            <a:bodyPr/>
            <a:lstStyle/>
            <a:p>
              <a:endParaRPr lang="en-VN"/>
            </a:p>
          </p:txBody>
        </p:sp>
        <p:sp>
          <p:nvSpPr>
            <p:cNvPr id="40" name="AutoShape 40"/>
            <p:cNvSpPr/>
            <p:nvPr/>
          </p:nvSpPr>
          <p:spPr>
            <a:xfrm>
              <a:off x="16292989" y="3623710"/>
              <a:ext cx="1422613" cy="0"/>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41" name="Group 41"/>
            <p:cNvGrpSpPr/>
            <p:nvPr/>
          </p:nvGrpSpPr>
          <p:grpSpPr>
            <a:xfrm>
              <a:off x="17715389" y="2904578"/>
              <a:ext cx="3127189" cy="1438264"/>
              <a:chOff x="0" y="0"/>
              <a:chExt cx="617702" cy="284134"/>
            </a:xfrm>
          </p:grpSpPr>
          <p:sp>
            <p:nvSpPr>
              <p:cNvPr id="42" name="Freeform 42"/>
              <p:cNvSpPr/>
              <p:nvPr/>
            </p:nvSpPr>
            <p:spPr>
              <a:xfrm>
                <a:off x="0" y="0"/>
                <a:ext cx="617702" cy="284134"/>
              </a:xfrm>
              <a:custGeom>
                <a:avLst/>
                <a:gdLst/>
                <a:ahLst/>
                <a:cxnLst/>
                <a:rect l="l" t="t" r="r" b="b"/>
                <a:pathLst>
                  <a:path w="617702" h="284134">
                    <a:moveTo>
                      <a:pt x="617702" y="82523"/>
                    </a:moveTo>
                    <a:lnTo>
                      <a:pt x="617702" y="201611"/>
                    </a:lnTo>
                    <a:cubicBezTo>
                      <a:pt x="617702" y="223497"/>
                      <a:pt x="609008" y="244487"/>
                      <a:pt x="593532" y="259963"/>
                    </a:cubicBezTo>
                    <a:cubicBezTo>
                      <a:pt x="578056" y="275439"/>
                      <a:pt x="557066" y="284134"/>
                      <a:pt x="535179" y="284134"/>
                    </a:cubicBezTo>
                    <a:lnTo>
                      <a:pt x="82523" y="284134"/>
                    </a:lnTo>
                    <a:cubicBezTo>
                      <a:pt x="60636" y="284134"/>
                      <a:pt x="39646" y="275439"/>
                      <a:pt x="24170" y="259963"/>
                    </a:cubicBezTo>
                    <a:cubicBezTo>
                      <a:pt x="8694" y="244487"/>
                      <a:pt x="0" y="223497"/>
                      <a:pt x="0" y="201611"/>
                    </a:cubicBezTo>
                    <a:lnTo>
                      <a:pt x="0" y="82523"/>
                    </a:lnTo>
                    <a:cubicBezTo>
                      <a:pt x="0" y="60636"/>
                      <a:pt x="8694" y="39646"/>
                      <a:pt x="24170" y="24170"/>
                    </a:cubicBezTo>
                    <a:cubicBezTo>
                      <a:pt x="39646" y="8694"/>
                      <a:pt x="60636" y="0"/>
                      <a:pt x="82523" y="0"/>
                    </a:cubicBezTo>
                    <a:lnTo>
                      <a:pt x="535179" y="0"/>
                    </a:lnTo>
                    <a:cubicBezTo>
                      <a:pt x="557066" y="0"/>
                      <a:pt x="578056" y="8694"/>
                      <a:pt x="593532" y="24170"/>
                    </a:cubicBezTo>
                    <a:cubicBezTo>
                      <a:pt x="609008" y="39646"/>
                      <a:pt x="617702" y="60636"/>
                      <a:pt x="617702" y="82523"/>
                    </a:cubicBezTo>
                    <a:close/>
                  </a:path>
                </a:pathLst>
              </a:custGeom>
              <a:ln w="28575" cap="rnd">
                <a:solidFill>
                  <a:srgbClr val="000000"/>
                </a:solidFill>
                <a:prstDash val="solid"/>
                <a:round/>
              </a:ln>
            </p:spPr>
            <p:txBody>
              <a:bodyPr/>
              <a:lstStyle/>
              <a:p>
                <a:endParaRPr lang="en-VN"/>
              </a:p>
            </p:txBody>
          </p:sp>
          <p:sp>
            <p:nvSpPr>
              <p:cNvPr id="43" name="TextBox 43"/>
              <p:cNvSpPr txBox="1"/>
              <p:nvPr/>
            </p:nvSpPr>
            <p:spPr>
              <a:xfrm>
                <a:off x="0" y="-38100"/>
                <a:ext cx="617702" cy="322234"/>
              </a:xfrm>
              <a:prstGeom prst="rect">
                <a:avLst/>
              </a:prstGeom>
            </p:spPr>
            <p:txBody>
              <a:bodyPr lIns="50800" tIns="50800" rIns="50800" bIns="50800" rtlCol="0" anchor="ctr"/>
              <a:lstStyle/>
              <a:p>
                <a:pPr algn="ctr">
                  <a:lnSpc>
                    <a:spcPts val="2940"/>
                  </a:lnSpc>
                </a:pPr>
                <a:r>
                  <a:rPr lang="en-US" sz="2100" b="1">
                    <a:solidFill>
                      <a:srgbClr val="000000"/>
                    </a:solidFill>
                    <a:latin typeface="Roboto Slab Bold"/>
                    <a:ea typeface="Roboto Slab Bold"/>
                    <a:cs typeface="Roboto Slab Bold"/>
                    <a:sym typeface="Roboto Slab Bold"/>
                  </a:rPr>
                  <a:t>Câu trả lời có căn cứ pháp lý</a:t>
                </a:r>
              </a:p>
            </p:txBody>
          </p:sp>
        </p:grpSp>
        <p:sp>
          <p:nvSpPr>
            <p:cNvPr id="44" name="TextBox 44"/>
            <p:cNvSpPr txBox="1"/>
            <p:nvPr/>
          </p:nvSpPr>
          <p:spPr>
            <a:xfrm>
              <a:off x="5667717" y="9320859"/>
              <a:ext cx="8823519" cy="483695"/>
            </a:xfrm>
            <a:prstGeom prst="rect">
              <a:avLst/>
            </a:prstGeom>
          </p:spPr>
          <p:txBody>
            <a:bodyPr lIns="0" tIns="0" rIns="0" bIns="0" rtlCol="0" anchor="t">
              <a:spAutoFit/>
            </a:bodyPr>
            <a:lstStyle/>
            <a:p>
              <a:pPr algn="ctr">
                <a:lnSpc>
                  <a:spcPts val="3199"/>
                </a:lnSpc>
              </a:pPr>
              <a:r>
                <a:rPr lang="en-US" sz="1999" b="1" i="1">
                  <a:solidFill>
                    <a:srgbClr val="0C1D4B"/>
                  </a:solidFill>
                  <a:latin typeface="Roboto Bold Italics"/>
                  <a:ea typeface="Roboto Bold Italics"/>
                  <a:cs typeface="Roboto Bold Italics"/>
                  <a:sym typeface="Roboto Bold Italics"/>
                </a:rPr>
                <a:t>Hành trình của một tin nhắn khi đi qua hệ thống</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5617179"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3.3. Đồ thị của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pic>
        <p:nvPicPr>
          <p:cNvPr id="54" name="Picture 53">
            <a:extLst>
              <a:ext uri="{FF2B5EF4-FFF2-40B4-BE49-F238E27FC236}">
                <a16:creationId xmlns:a16="http://schemas.microsoft.com/office/drawing/2014/main" id="{60CCFE10-199A-0BD4-F5D5-B886110E8C99}"/>
              </a:ext>
            </a:extLst>
          </p:cNvPr>
          <p:cNvPicPr>
            <a:picLocks noChangeAspect="1"/>
          </p:cNvPicPr>
          <p:nvPr/>
        </p:nvPicPr>
        <p:blipFill>
          <a:blip r:embed="rId4"/>
          <a:stretch>
            <a:fillRect/>
          </a:stretch>
        </p:blipFill>
        <p:spPr>
          <a:xfrm>
            <a:off x="3368534" y="1862752"/>
            <a:ext cx="11550931" cy="755758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249755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3.4. Xây dựng các node trong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Node Guardrail</a:t>
            </a:r>
          </a:p>
        </p:txBody>
      </p:sp>
      <p:sp>
        <p:nvSpPr>
          <p:cNvPr id="13" name="TextBox 13"/>
          <p:cNvSpPr txBox="1"/>
          <p:nvPr/>
        </p:nvSpPr>
        <p:spPr>
          <a:xfrm>
            <a:off x="1028700" y="2496768"/>
            <a:ext cx="16230600"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Nhiệm vụ: kiểm tra câu hỏi đầu vào, loại bỏ các yêu cầu không phù hợp hoặc nằm ngoài phạm vi tư vấn pháp luật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PROMPT: “Bạn là một bộ lọc kiểm duyệt cực kỳ nghiêm ngặt cho Hệ thống AI Tư vấn Luật pháp Việt Nam...”</a:t>
            </a:r>
          </a:p>
        </p:txBody>
      </p:sp>
      <p:sp>
        <p:nvSpPr>
          <p:cNvPr id="14" name="TextBox 14"/>
          <p:cNvSpPr txBox="1"/>
          <p:nvPr/>
        </p:nvSpPr>
        <p:spPr>
          <a:xfrm>
            <a:off x="1028700" y="8107037"/>
            <a:ext cx="14190830" cy="432408"/>
          </a:xfrm>
          <a:prstGeom prst="rect">
            <a:avLst/>
          </a:prstGeom>
        </p:spPr>
        <p:txBody>
          <a:bodyPr lIns="0" tIns="0" rIns="0" bIns="0" rtlCol="0" anchor="t">
            <a:spAutoFit/>
          </a:bodyPr>
          <a:lstStyle/>
          <a:p>
            <a:pPr algn="just">
              <a:lnSpc>
                <a:spcPts val="3600"/>
              </a:lnSpc>
            </a:pPr>
            <a:r>
              <a:rPr lang="en-US" sz="2400" b="1">
                <a:solidFill>
                  <a:srgbClr val="0C1D4B"/>
                </a:solidFill>
                <a:latin typeface="Roboto Slab Bold"/>
                <a:ea typeface="Roboto Slab Bold"/>
                <a:cs typeface="Roboto Slab Bold"/>
                <a:sym typeface="Roboto Slab Bold"/>
              </a:rPr>
              <a:t>Khi làm việc với LLMs là ta đang làm việc với PROMPT để cho ra đầu ra mong muốn</a:t>
            </a:r>
          </a:p>
        </p:txBody>
      </p:sp>
      <p:grpSp>
        <p:nvGrpSpPr>
          <p:cNvPr id="15" name="Group 15"/>
          <p:cNvGrpSpPr/>
          <p:nvPr/>
        </p:nvGrpSpPr>
        <p:grpSpPr>
          <a:xfrm>
            <a:off x="2068710" y="5576253"/>
            <a:ext cx="14108375" cy="2159286"/>
            <a:chOff x="0" y="0"/>
            <a:chExt cx="18811166" cy="2879048"/>
          </a:xfrm>
        </p:grpSpPr>
        <p:sp>
          <p:nvSpPr>
            <p:cNvPr id="16" name="Freeform 16"/>
            <p:cNvSpPr/>
            <p:nvPr/>
          </p:nvSpPr>
          <p:spPr>
            <a:xfrm>
              <a:off x="5991105" y="804463"/>
              <a:ext cx="1468480" cy="1442782"/>
            </a:xfrm>
            <a:custGeom>
              <a:avLst/>
              <a:gdLst/>
              <a:ahLst/>
              <a:cxnLst/>
              <a:rect l="l" t="t" r="r" b="b"/>
              <a:pathLst>
                <a:path w="1468480" h="1442782">
                  <a:moveTo>
                    <a:pt x="0" y="0"/>
                  </a:moveTo>
                  <a:lnTo>
                    <a:pt x="1468480" y="0"/>
                  </a:lnTo>
                  <a:lnTo>
                    <a:pt x="1468480" y="1442782"/>
                  </a:lnTo>
                  <a:lnTo>
                    <a:pt x="0" y="14427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17" name="Freeform 17"/>
            <p:cNvSpPr/>
            <p:nvPr/>
          </p:nvSpPr>
          <p:spPr>
            <a:xfrm>
              <a:off x="10381696" y="722286"/>
              <a:ext cx="1500501" cy="1552911"/>
            </a:xfrm>
            <a:custGeom>
              <a:avLst/>
              <a:gdLst/>
              <a:ahLst/>
              <a:cxnLst/>
              <a:rect l="l" t="t" r="r" b="b"/>
              <a:pathLst>
                <a:path w="1500501" h="1552911">
                  <a:moveTo>
                    <a:pt x="0" y="0"/>
                  </a:moveTo>
                  <a:lnTo>
                    <a:pt x="1500500" y="0"/>
                  </a:lnTo>
                  <a:lnTo>
                    <a:pt x="1500500" y="1552912"/>
                  </a:lnTo>
                  <a:lnTo>
                    <a:pt x="0" y="15529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18" name="TextBox 18"/>
            <p:cNvSpPr txBox="1"/>
            <p:nvPr/>
          </p:nvSpPr>
          <p:spPr>
            <a:xfrm>
              <a:off x="0" y="930179"/>
              <a:ext cx="3326861" cy="1099026"/>
            </a:xfrm>
            <a:prstGeom prst="rect">
              <a:avLst/>
            </a:prstGeom>
          </p:spPr>
          <p:txBody>
            <a:bodyPr lIns="0" tIns="0" rIns="0" bIns="0" rtlCol="0" anchor="t">
              <a:spAutoFit/>
            </a:bodyPr>
            <a:lstStyle/>
            <a:p>
              <a:pPr algn="l">
                <a:lnSpc>
                  <a:spcPts val="3392"/>
                </a:lnSpc>
                <a:spcBef>
                  <a:spcPct val="0"/>
                </a:spcBef>
              </a:pPr>
              <a:r>
                <a:rPr lang="en-US" sz="2423" b="1">
                  <a:solidFill>
                    <a:srgbClr val="000000"/>
                  </a:solidFill>
                  <a:latin typeface="Roboto Slab Bold"/>
                  <a:ea typeface="Roboto Slab Bold"/>
                  <a:cs typeface="Roboto Slab Bold"/>
                  <a:sym typeface="Roboto Slab Bold"/>
                </a:rPr>
                <a:t>Câu hỏi hiện tại của người dùng</a:t>
              </a:r>
            </a:p>
          </p:txBody>
        </p:sp>
        <p:sp>
          <p:nvSpPr>
            <p:cNvPr id="19" name="AutoShape 19"/>
            <p:cNvSpPr/>
            <p:nvPr/>
          </p:nvSpPr>
          <p:spPr>
            <a:xfrm>
              <a:off x="3326861" y="1498742"/>
              <a:ext cx="2664244"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20" name="AutoShape 20"/>
            <p:cNvSpPr/>
            <p:nvPr/>
          </p:nvSpPr>
          <p:spPr>
            <a:xfrm flipV="1">
              <a:off x="7459585" y="1498742"/>
              <a:ext cx="2922111"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21" name="TextBox 21"/>
            <p:cNvSpPr txBox="1"/>
            <p:nvPr/>
          </p:nvSpPr>
          <p:spPr>
            <a:xfrm>
              <a:off x="4764591" y="27314"/>
              <a:ext cx="4049764" cy="516005"/>
            </a:xfrm>
            <a:prstGeom prst="rect">
              <a:avLst/>
            </a:prstGeom>
          </p:spPr>
          <p:txBody>
            <a:bodyPr lIns="0" tIns="0" rIns="0" bIns="0" rtlCol="0" anchor="t">
              <a:spAutoFit/>
            </a:bodyPr>
            <a:lstStyle/>
            <a:p>
              <a:pPr algn="ctr">
                <a:lnSpc>
                  <a:spcPts val="3357"/>
                </a:lnSpc>
                <a:spcBef>
                  <a:spcPct val="0"/>
                </a:spcBef>
              </a:pPr>
              <a:r>
                <a:rPr lang="en-US" sz="2397" b="1" i="1">
                  <a:solidFill>
                    <a:srgbClr val="000000"/>
                  </a:solidFill>
                  <a:latin typeface="Roboto Slab Bold"/>
                  <a:ea typeface="Roboto Slab Bold"/>
                  <a:cs typeface="Roboto Slab Bold"/>
                  <a:sym typeface="Roboto Slab Bold"/>
                </a:rPr>
                <a:t>PROMT</a:t>
              </a:r>
            </a:p>
          </p:txBody>
        </p:sp>
        <p:sp>
          <p:nvSpPr>
            <p:cNvPr id="22" name="TextBox 22"/>
            <p:cNvSpPr txBox="1"/>
            <p:nvPr/>
          </p:nvSpPr>
          <p:spPr>
            <a:xfrm>
              <a:off x="9216895" y="-57150"/>
              <a:ext cx="3830101" cy="665884"/>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Roboto Slab Bold"/>
                  <a:ea typeface="Roboto Slab Bold"/>
                  <a:cs typeface="Roboto Slab Bold"/>
                  <a:sym typeface="Roboto Slab Bold"/>
                </a:rPr>
                <a:t>LLMs</a:t>
              </a:r>
            </a:p>
          </p:txBody>
        </p:sp>
        <p:sp>
          <p:nvSpPr>
            <p:cNvPr id="23" name="AutoShape 23"/>
            <p:cNvSpPr/>
            <p:nvPr/>
          </p:nvSpPr>
          <p:spPr>
            <a:xfrm flipV="1">
              <a:off x="11882196" y="722286"/>
              <a:ext cx="2787081" cy="746124"/>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24" name="Group 24"/>
            <p:cNvGrpSpPr/>
            <p:nvPr/>
          </p:nvGrpSpPr>
          <p:grpSpPr>
            <a:xfrm>
              <a:off x="14669278" y="258286"/>
              <a:ext cx="4141889" cy="928000"/>
              <a:chOff x="0" y="0"/>
              <a:chExt cx="818151" cy="183309"/>
            </a:xfrm>
          </p:grpSpPr>
          <p:sp>
            <p:nvSpPr>
              <p:cNvPr id="25" name="Freeform 25"/>
              <p:cNvSpPr/>
              <p:nvPr/>
            </p:nvSpPr>
            <p:spPr>
              <a:xfrm>
                <a:off x="0" y="0"/>
                <a:ext cx="818151" cy="183309"/>
              </a:xfrm>
              <a:custGeom>
                <a:avLst/>
                <a:gdLst/>
                <a:ahLst/>
                <a:cxnLst/>
                <a:rect l="l" t="t" r="r" b="b"/>
                <a:pathLst>
                  <a:path w="818151" h="183309">
                    <a:moveTo>
                      <a:pt x="69783" y="0"/>
                    </a:moveTo>
                    <a:lnTo>
                      <a:pt x="748368" y="0"/>
                    </a:lnTo>
                    <a:cubicBezTo>
                      <a:pt x="786908" y="0"/>
                      <a:pt x="818151" y="31243"/>
                      <a:pt x="818151" y="69783"/>
                    </a:cubicBezTo>
                    <a:lnTo>
                      <a:pt x="818151" y="113526"/>
                    </a:lnTo>
                    <a:cubicBezTo>
                      <a:pt x="818151" y="132033"/>
                      <a:pt x="810799" y="149783"/>
                      <a:pt x="797712" y="162870"/>
                    </a:cubicBezTo>
                    <a:cubicBezTo>
                      <a:pt x="784625" y="175956"/>
                      <a:pt x="766876" y="183309"/>
                      <a:pt x="748368"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txBody>
              <a:bodyPr/>
              <a:lstStyle/>
              <a:p>
                <a:endParaRPr lang="en-VN"/>
              </a:p>
            </p:txBody>
          </p:sp>
          <p:sp>
            <p:nvSpPr>
              <p:cNvPr id="26" name="TextBox 26"/>
              <p:cNvSpPr txBox="1"/>
              <p:nvPr/>
            </p:nvSpPr>
            <p:spPr>
              <a:xfrm>
                <a:off x="0" y="-38100"/>
                <a:ext cx="818151"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END</a:t>
                </a:r>
              </a:p>
            </p:txBody>
          </p:sp>
        </p:grpSp>
        <p:sp>
          <p:nvSpPr>
            <p:cNvPr id="27" name="AutoShape 27"/>
            <p:cNvSpPr/>
            <p:nvPr/>
          </p:nvSpPr>
          <p:spPr>
            <a:xfrm>
              <a:off x="11852051" y="1525854"/>
              <a:ext cx="2817227" cy="905392"/>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28" name="Group 28"/>
            <p:cNvGrpSpPr/>
            <p:nvPr/>
          </p:nvGrpSpPr>
          <p:grpSpPr>
            <a:xfrm>
              <a:off x="14669278" y="1983443"/>
              <a:ext cx="4141889" cy="895606"/>
              <a:chOff x="0" y="0"/>
              <a:chExt cx="847743" cy="183309"/>
            </a:xfrm>
          </p:grpSpPr>
          <p:sp>
            <p:nvSpPr>
              <p:cNvPr id="29" name="Freeform 29"/>
              <p:cNvSpPr/>
              <p:nvPr/>
            </p:nvSpPr>
            <p:spPr>
              <a:xfrm>
                <a:off x="0" y="0"/>
                <a:ext cx="847743" cy="183309"/>
              </a:xfrm>
              <a:custGeom>
                <a:avLst/>
                <a:gdLst/>
                <a:ahLst/>
                <a:cxnLst/>
                <a:rect l="l" t="t" r="r" b="b"/>
                <a:pathLst>
                  <a:path w="847743" h="183309">
                    <a:moveTo>
                      <a:pt x="69783" y="0"/>
                    </a:moveTo>
                    <a:lnTo>
                      <a:pt x="777961" y="0"/>
                    </a:lnTo>
                    <a:cubicBezTo>
                      <a:pt x="796468" y="0"/>
                      <a:pt x="814218" y="7352"/>
                      <a:pt x="827304" y="20439"/>
                    </a:cubicBezTo>
                    <a:cubicBezTo>
                      <a:pt x="840391" y="33526"/>
                      <a:pt x="847743" y="51275"/>
                      <a:pt x="847743" y="69783"/>
                    </a:cubicBezTo>
                    <a:lnTo>
                      <a:pt x="847743" y="113526"/>
                    </a:lnTo>
                    <a:cubicBezTo>
                      <a:pt x="847743" y="132033"/>
                      <a:pt x="840391" y="149783"/>
                      <a:pt x="827304" y="162870"/>
                    </a:cubicBezTo>
                    <a:cubicBezTo>
                      <a:pt x="814218" y="175956"/>
                      <a:pt x="796468" y="183309"/>
                      <a:pt x="777961"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txBody>
              <a:bodyPr/>
              <a:lstStyle/>
              <a:p>
                <a:endParaRPr lang="en-VN"/>
              </a:p>
            </p:txBody>
          </p:sp>
          <p:sp>
            <p:nvSpPr>
              <p:cNvPr id="30" name="TextBox 30"/>
              <p:cNvSpPr txBox="1"/>
              <p:nvPr/>
            </p:nvSpPr>
            <p:spPr>
              <a:xfrm>
                <a:off x="0" y="-38100"/>
                <a:ext cx="847743"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Node Query_Analysis</a:t>
                </a:r>
              </a:p>
            </p:txBody>
          </p:sp>
        </p:grpSp>
      </p:grpSp>
      <p:sp>
        <p:nvSpPr>
          <p:cNvPr id="31" name="RestoredLabel Reject"/>
          <p:cNvSpPr txBox="1"/>
          <p:nvPr/>
        </p:nvSpPr>
        <p:spPr>
          <a:xfrm rot="-1200000">
            <a:off x="11420000" y="5960000"/>
            <a:ext cx="1250000" cy="360000"/>
          </a:xfrm>
          <a:prstGeom prst="rect">
            <a:avLst/>
          </a:prstGeom>
          <a:noFill/>
          <a:ln>
            <a:noFill/>
          </a:ln>
        </p:spPr>
        <p:txBody>
          <a:bodyPr lIns="0" tIns="0" rIns="0" bIns="0" rtlCol="0" anchor="mid" wrap="none">
            <a:spAutoFit/>
          </a:bodyPr>
          <a:lstStyle/>
          <a:p>
            <a:pPr algn="ctr"/>
            <a:r>
              <a:rPr lang="en-US" sz="1850" b="1" i="1">
                <a:solidFill>
                  <a:srgbClr val="0C1D4B"/>
                </a:solidFill>
                <a:latin typeface="Times New Roman"/>
              </a:rPr>
              <a:t>REJECT</a:t>
            </a:r>
            <a:endParaRPr lang="en-US" sz="1850" b="1" i="1">
              <a:solidFill>
                <a:srgbClr val="0C1D4B"/>
              </a:solidFill>
              <a:latin typeface="Times New Roman"/>
            </a:endParaRPr>
          </a:p>
        </p:txBody>
      </p:sp>
      <p:sp>
        <p:nvSpPr>
          <p:cNvPr id="32" name="RestoredLabel Valid"/>
          <p:cNvSpPr txBox="1"/>
          <p:nvPr/>
        </p:nvSpPr>
        <p:spPr>
          <a:xfrm rot="1100000">
            <a:off x="11480000" y="6820000"/>
            <a:ext cx="1100000" cy="360000"/>
          </a:xfrm>
          <a:prstGeom prst="rect">
            <a:avLst/>
          </a:prstGeom>
          <a:noFill/>
          <a:ln>
            <a:noFill/>
          </a:ln>
        </p:spPr>
        <p:txBody>
          <a:bodyPr lIns="0" tIns="0" rIns="0" bIns="0" rtlCol="0" anchor="mid" wrap="none">
            <a:spAutoFit/>
          </a:bodyPr>
          <a:lstStyle/>
          <a:p>
            <a:pPr algn="ctr"/>
            <a:r>
              <a:rPr lang="en-US" sz="1850" b="1" i="1">
                <a:solidFill>
                  <a:srgbClr val="0C1D4B"/>
                </a:solidFill>
                <a:latin typeface="Times New Roman"/>
              </a:rPr>
              <a:t>VALID</a:t>
            </a:r>
            <a:endParaRPr lang="en-US" sz="1850" b="1" i="1">
              <a:solidFill>
                <a:srgbClr val="0C1D4B"/>
              </a:solidFill>
              <a:latin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249755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3.4. Xây dựng các node trong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Node Query_Analysis</a:t>
            </a:r>
          </a:p>
        </p:txBody>
      </p:sp>
      <p:sp>
        <p:nvSpPr>
          <p:cNvPr id="13" name="TextBox 13"/>
          <p:cNvSpPr txBox="1"/>
          <p:nvPr/>
        </p:nvSpPr>
        <p:spPr>
          <a:xfrm>
            <a:off x="1028700" y="2496768"/>
            <a:ext cx="16230600"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Nhiệm vụ: phân tích câu hỏi, xác định vấn đề pháp lý chính và tạo truy vấn tối ưu cho từng nguồn dữ liệu</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PROMPT: “Bạn là chuyên gia phân tích pháp luật Việt Nam. Nhiệm vụ: Phân tích câu hỏi pháp lý của người dùng và tạo ra các truy vấn tìm kiếm TỐI ƯU cho 2 hệ thống khác nhau...”</a:t>
            </a:r>
          </a:p>
        </p:txBody>
      </p:sp>
      <p:grpSp>
        <p:nvGrpSpPr>
          <p:cNvPr id="14" name="Group 14"/>
          <p:cNvGrpSpPr/>
          <p:nvPr/>
        </p:nvGrpSpPr>
        <p:grpSpPr>
          <a:xfrm>
            <a:off x="2543497" y="5269448"/>
            <a:ext cx="14843164" cy="2013203"/>
            <a:chOff x="0" y="0"/>
            <a:chExt cx="19790886" cy="2684271"/>
          </a:xfrm>
        </p:grpSpPr>
        <p:sp>
          <p:nvSpPr>
            <p:cNvPr id="15" name="Freeform 15"/>
            <p:cNvSpPr/>
            <p:nvPr/>
          </p:nvSpPr>
          <p:spPr>
            <a:xfrm>
              <a:off x="5358055" y="1213536"/>
              <a:ext cx="1468480" cy="1442782"/>
            </a:xfrm>
            <a:custGeom>
              <a:avLst/>
              <a:gdLst/>
              <a:ahLst/>
              <a:cxnLst/>
              <a:rect l="l" t="t" r="r" b="b"/>
              <a:pathLst>
                <a:path w="1468480" h="1442782">
                  <a:moveTo>
                    <a:pt x="0" y="0"/>
                  </a:moveTo>
                  <a:lnTo>
                    <a:pt x="1468480" y="0"/>
                  </a:lnTo>
                  <a:lnTo>
                    <a:pt x="1468480" y="1442782"/>
                  </a:lnTo>
                  <a:lnTo>
                    <a:pt x="0" y="14427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16" name="Freeform 16"/>
            <p:cNvSpPr/>
            <p:nvPr/>
          </p:nvSpPr>
          <p:spPr>
            <a:xfrm>
              <a:off x="9748647" y="1131359"/>
              <a:ext cx="1500501" cy="1552911"/>
            </a:xfrm>
            <a:custGeom>
              <a:avLst/>
              <a:gdLst/>
              <a:ahLst/>
              <a:cxnLst/>
              <a:rect l="l" t="t" r="r" b="b"/>
              <a:pathLst>
                <a:path w="1500501" h="1552911">
                  <a:moveTo>
                    <a:pt x="0" y="0"/>
                  </a:moveTo>
                  <a:lnTo>
                    <a:pt x="1500500" y="0"/>
                  </a:lnTo>
                  <a:lnTo>
                    <a:pt x="1500500" y="1552912"/>
                  </a:lnTo>
                  <a:lnTo>
                    <a:pt x="0" y="15529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17" name="TextBox 17"/>
            <p:cNvSpPr txBox="1"/>
            <p:nvPr/>
          </p:nvSpPr>
          <p:spPr>
            <a:xfrm>
              <a:off x="0" y="1339252"/>
              <a:ext cx="2693812" cy="1099026"/>
            </a:xfrm>
            <a:prstGeom prst="rect">
              <a:avLst/>
            </a:prstGeom>
          </p:spPr>
          <p:txBody>
            <a:bodyPr lIns="0" tIns="0" rIns="0" bIns="0" rtlCol="0" anchor="t">
              <a:spAutoFit/>
            </a:bodyPr>
            <a:lstStyle/>
            <a:p>
              <a:pPr algn="l">
                <a:lnSpc>
                  <a:spcPts val="3392"/>
                </a:lnSpc>
                <a:spcBef>
                  <a:spcPct val="0"/>
                </a:spcBef>
              </a:pPr>
              <a:r>
                <a:rPr lang="en-US" sz="2423" b="1">
                  <a:solidFill>
                    <a:srgbClr val="000000"/>
                  </a:solidFill>
                  <a:latin typeface="Roboto Slab Bold"/>
                  <a:ea typeface="Roboto Slab Bold"/>
                  <a:cs typeface="Roboto Slab Bold"/>
                  <a:sym typeface="Roboto Slab Bold"/>
                </a:rPr>
                <a:t>Câu hỏi đã qua kiểm tra</a:t>
              </a:r>
            </a:p>
          </p:txBody>
        </p:sp>
        <p:sp>
          <p:nvSpPr>
            <p:cNvPr id="18" name="AutoShape 18"/>
            <p:cNvSpPr/>
            <p:nvPr/>
          </p:nvSpPr>
          <p:spPr>
            <a:xfrm>
              <a:off x="2693812" y="1907815"/>
              <a:ext cx="2664244"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19" name="AutoShape 19"/>
            <p:cNvSpPr/>
            <p:nvPr/>
          </p:nvSpPr>
          <p:spPr>
            <a:xfrm flipV="1">
              <a:off x="6826535" y="1907815"/>
              <a:ext cx="2922111"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20" name="TextBox 20"/>
            <p:cNvSpPr txBox="1"/>
            <p:nvPr/>
          </p:nvSpPr>
          <p:spPr>
            <a:xfrm>
              <a:off x="4131542" y="436387"/>
              <a:ext cx="4049764" cy="516005"/>
            </a:xfrm>
            <a:prstGeom prst="rect">
              <a:avLst/>
            </a:prstGeom>
          </p:spPr>
          <p:txBody>
            <a:bodyPr lIns="0" tIns="0" rIns="0" bIns="0" rtlCol="0" anchor="t">
              <a:spAutoFit/>
            </a:bodyPr>
            <a:lstStyle/>
            <a:p>
              <a:pPr algn="ctr">
                <a:lnSpc>
                  <a:spcPts val="3357"/>
                </a:lnSpc>
                <a:spcBef>
                  <a:spcPct val="0"/>
                </a:spcBef>
              </a:pPr>
              <a:r>
                <a:rPr lang="en-US" sz="2397" b="1" i="1">
                  <a:solidFill>
                    <a:srgbClr val="000000"/>
                  </a:solidFill>
                  <a:latin typeface="Roboto Slab Bold"/>
                  <a:ea typeface="Roboto Slab Bold"/>
                  <a:cs typeface="Roboto Slab Bold"/>
                  <a:sym typeface="Roboto Slab Bold"/>
                </a:rPr>
                <a:t>PROMT</a:t>
              </a:r>
            </a:p>
          </p:txBody>
        </p:sp>
        <p:sp>
          <p:nvSpPr>
            <p:cNvPr id="21" name="TextBox 21"/>
            <p:cNvSpPr txBox="1"/>
            <p:nvPr/>
          </p:nvSpPr>
          <p:spPr>
            <a:xfrm>
              <a:off x="8583846" y="351923"/>
              <a:ext cx="3830101" cy="665884"/>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Roboto Slab Bold"/>
                  <a:ea typeface="Roboto Slab Bold"/>
                  <a:cs typeface="Roboto Slab Bold"/>
                  <a:sym typeface="Roboto Slab Bold"/>
                </a:rPr>
                <a:t>LLMs</a:t>
              </a:r>
            </a:p>
          </p:txBody>
        </p:sp>
        <p:sp>
          <p:nvSpPr>
            <p:cNvPr id="22" name="AutoShape 22"/>
            <p:cNvSpPr/>
            <p:nvPr/>
          </p:nvSpPr>
          <p:spPr>
            <a:xfrm>
              <a:off x="11249147" y="1907815"/>
              <a:ext cx="4399850" cy="0"/>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23" name="Group 23"/>
            <p:cNvGrpSpPr/>
            <p:nvPr/>
          </p:nvGrpSpPr>
          <p:grpSpPr>
            <a:xfrm>
              <a:off x="15648997" y="1460012"/>
              <a:ext cx="4141889" cy="895606"/>
              <a:chOff x="0" y="0"/>
              <a:chExt cx="847743" cy="183309"/>
            </a:xfrm>
          </p:grpSpPr>
          <p:sp>
            <p:nvSpPr>
              <p:cNvPr id="24" name="Freeform 24"/>
              <p:cNvSpPr/>
              <p:nvPr/>
            </p:nvSpPr>
            <p:spPr>
              <a:xfrm>
                <a:off x="0" y="0"/>
                <a:ext cx="847743" cy="183309"/>
              </a:xfrm>
              <a:custGeom>
                <a:avLst/>
                <a:gdLst/>
                <a:ahLst/>
                <a:cxnLst/>
                <a:rect l="l" t="t" r="r" b="b"/>
                <a:pathLst>
                  <a:path w="847743" h="183309">
                    <a:moveTo>
                      <a:pt x="69783" y="0"/>
                    </a:moveTo>
                    <a:lnTo>
                      <a:pt x="777961" y="0"/>
                    </a:lnTo>
                    <a:cubicBezTo>
                      <a:pt x="796468" y="0"/>
                      <a:pt x="814218" y="7352"/>
                      <a:pt x="827304" y="20439"/>
                    </a:cubicBezTo>
                    <a:cubicBezTo>
                      <a:pt x="840391" y="33526"/>
                      <a:pt x="847743" y="51275"/>
                      <a:pt x="847743" y="69783"/>
                    </a:cubicBezTo>
                    <a:lnTo>
                      <a:pt x="847743" y="113526"/>
                    </a:lnTo>
                    <a:cubicBezTo>
                      <a:pt x="847743" y="132033"/>
                      <a:pt x="840391" y="149783"/>
                      <a:pt x="827304" y="162870"/>
                    </a:cubicBezTo>
                    <a:cubicBezTo>
                      <a:pt x="814218" y="175956"/>
                      <a:pt x="796468" y="183309"/>
                      <a:pt x="777961"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txBody>
              <a:bodyPr/>
              <a:lstStyle/>
              <a:p>
                <a:endParaRPr lang="en-VN"/>
              </a:p>
            </p:txBody>
          </p:sp>
          <p:sp>
            <p:nvSpPr>
              <p:cNvPr id="25" name="TextBox 25"/>
              <p:cNvSpPr txBox="1"/>
              <p:nvPr/>
            </p:nvSpPr>
            <p:spPr>
              <a:xfrm>
                <a:off x="0" y="-38100"/>
                <a:ext cx="847743"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Node Agent</a:t>
                </a:r>
              </a:p>
            </p:txBody>
          </p:sp>
        </p:grpSp>
        <p:sp>
          <p:nvSpPr>
            <p:cNvPr id="26" name="TextBox 26"/>
            <p:cNvSpPr txBox="1"/>
            <p:nvPr/>
          </p:nvSpPr>
          <p:spPr>
            <a:xfrm>
              <a:off x="12113362" y="-76200"/>
              <a:ext cx="2671420" cy="1884536"/>
            </a:xfrm>
            <a:prstGeom prst="rect">
              <a:avLst/>
            </a:prstGeom>
          </p:spPr>
          <p:txBody>
            <a:bodyPr lIns="0" tIns="0" rIns="0" bIns="0" rtlCol="0" anchor="t">
              <a:spAutoFit/>
            </a:bodyPr>
            <a:lstStyle/>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Các thuật ngữ pháp lý chính </a:t>
              </a:r>
            </a:p>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Tóm tắt nhu cầu tra cứu</a:t>
              </a:r>
            </a:p>
          </p:txBody>
        </p:sp>
      </p:grpSp>
      <p:sp>
        <p:nvSpPr>
          <p:cNvPr id="27" name="RestoredJsonSample QueryAnalysis"/>
          <p:cNvSpPr txBox="1"/>
          <p:nvPr/>
        </p:nvSpPr>
        <p:spPr>
          <a:xfrm>
            <a:off x="2800000" y="7500000"/>
            <a:ext cx="12300000" cy="2050000"/>
          </a:xfrm>
          <a:prstGeom prst="roundRect">
            <a:avLst/>
          </a:prstGeom>
          <a:solidFill>
            <a:srgbClr val="FFFFFF"/>
          </a:solidFill>
          <a:ln w="19050">
            <a:solidFill>
              <a:srgbClr val="0C1D4B"/>
            </a:solidFill>
          </a:ln>
        </p:spPr>
        <p:txBody>
          <a:bodyPr lIns="170000" tIns="120000" rIns="170000" bIns="90000" rtlCol="0" anchor="t" wrap="square">
            <a:spAutoFit/>
          </a:bodyPr>
          <a:lstStyle/>
          <a:p>
            <a:pPr algn="l"/>
            <a:r>
              <a:rPr lang="vi-VN" sz="1450" b="1">
                <a:solidFill>
                  <a:srgbClr val="0C1D4B"/>
                </a:solidFill>
                <a:latin typeface="Times New Roman"/>
              </a:rPr>
              <a:t>Kết quả JSON mẫu LLMs trả về sau Query Analysis</a:t>
            </a:r>
          </a:p>
          <a:p>
            <a:pPr algn="l"/>
            <a:r>
              <a:rPr lang="vi-VN" sz="980">
                <a:solidFill>
                  <a:srgbClr val="111111"/>
                </a:solidFill>
                <a:latin typeface="Courier New"/>
              </a:rPr>
              <a:t>{</a:t>
            </a:r>
          </a:p>
          <a:p>
            <a:pPr algn="l"/>
            <a:r>
              <a:rPr lang="vi-VN" sz="980">
                <a:solidFill>
                  <a:srgbClr val="111111"/>
                </a:solidFill>
                <a:latin typeface="Courier New"/>
              </a:rPr>
              <a:t>  "legal_topic": "Tội trộm cắp tài sản",</a:t>
            </a:r>
          </a:p>
          <a:p>
            <a:pPr algn="l"/>
            <a:r>
              <a:rPr lang="vi-VN" sz="980">
                <a:solidFill>
                  <a:srgbClr val="111111"/>
                </a:solidFill>
                <a:latin typeface="Courier New"/>
              </a:rPr>
              <a:t>  "legal_domain": "Hình sự",</a:t>
            </a:r>
          </a:p>
          <a:p>
            <a:pPr algn="l"/>
            <a:r>
              <a:rPr lang="vi-VN" sz="980">
                <a:solidFill>
                  <a:srgbClr val="111111"/>
                </a:solidFill>
                <a:latin typeface="Courier New"/>
              </a:rPr>
              <a:t>  "relevant_laws": ["Bộ luật Hình sự 2015"],</a:t>
            </a:r>
          </a:p>
          <a:p>
            <a:pPr algn="l"/>
            <a:r>
              <a:rPr lang="vi-VN" sz="980">
                <a:solidFill>
                  <a:srgbClr val="111111"/>
                </a:solidFill>
                <a:latin typeface="Courier New"/>
              </a:rPr>
              <a:t>  "internal_search_query": "tội trộm cắp tài sản khung hình phạt",</a:t>
            </a:r>
          </a:p>
          <a:p>
            <a:pPr algn="l"/>
            <a:r>
              <a:rPr lang="vi-VN" sz="980">
                <a:solidFill>
                  <a:srgbClr val="111111"/>
                </a:solidFill>
                <a:latin typeface="Courier New"/>
              </a:rPr>
              <a:t>  "web_search_query": "Điều 173 Bộ luật Hình sự 2015 quy định mới nhất",</a:t>
            </a:r>
          </a:p>
          <a:p>
            <a:pPr algn="l"/>
            <a:r>
              <a:rPr lang="vi-VN" sz="980">
                <a:solidFill>
                  <a:srgbClr val="111111"/>
                </a:solidFill>
                <a:latin typeface="Courier New"/>
              </a:rPr>
              <a:t>  "key_legal_terms": ["trộm cắp tài sản", "khung hình phạt"],</a:t>
            </a:r>
          </a:p>
          <a:p>
            <a:pPr algn="l"/>
            <a:r>
              <a:rPr lang="vi-VN" sz="980">
                <a:solidFill>
                  <a:srgbClr val="111111"/>
                </a:solidFill>
                <a:latin typeface="Courier New"/>
              </a:rPr>
              <a:t>  "analysis_summary": "Tạo truy vấn tối ưu cho ChromaDB và web search"</a:t>
            </a:r>
          </a:p>
          <a:p>
            <a:pPr algn="l"/>
            <a:r>
              <a:rPr lang="vi-VN" sz="980">
                <a:solidFill>
                  <a:srgbClr val="111111"/>
                </a:solidFill>
                <a:latin typeface="Courier New"/>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249755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3.4. Xây dựng các node trong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Node Agent</a:t>
            </a:r>
          </a:p>
        </p:txBody>
      </p:sp>
      <p:sp>
        <p:nvSpPr>
          <p:cNvPr id="13" name="TextBox 13"/>
          <p:cNvSpPr txBox="1"/>
          <p:nvPr/>
        </p:nvSpPr>
        <p:spPr>
          <a:xfrm>
            <a:off x="1028700" y="2496768"/>
            <a:ext cx="16230600"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Nhiệm vụ: là thành phần suy luận trung tâm, quyết định khi nào cần gọi công cụ truy hồi nội bộ hoặc tìm kiếm nguồn cập nhật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PROMPT: “Bạn là một Luật sư Tư vấn Pháp luật Việt Nam cấp cao với hơn nhiều năm kinh nghiệm hành nghề...”</a:t>
            </a:r>
          </a:p>
        </p:txBody>
      </p:sp>
      <p:grpSp>
        <p:nvGrpSpPr>
          <p:cNvPr id="14" name="Group 14"/>
          <p:cNvGrpSpPr/>
          <p:nvPr/>
        </p:nvGrpSpPr>
        <p:grpSpPr>
          <a:xfrm>
            <a:off x="1028700" y="5576253"/>
            <a:ext cx="13692416" cy="3609131"/>
            <a:chOff x="0" y="0"/>
            <a:chExt cx="18256555" cy="4812175"/>
          </a:xfrm>
        </p:grpSpPr>
        <p:sp>
          <p:nvSpPr>
            <p:cNvPr id="15" name="Freeform 15"/>
            <p:cNvSpPr/>
            <p:nvPr/>
          </p:nvSpPr>
          <p:spPr>
            <a:xfrm>
              <a:off x="7377784" y="804463"/>
              <a:ext cx="1468480" cy="1442782"/>
            </a:xfrm>
            <a:custGeom>
              <a:avLst/>
              <a:gdLst/>
              <a:ahLst/>
              <a:cxnLst/>
              <a:rect l="l" t="t" r="r" b="b"/>
              <a:pathLst>
                <a:path w="1468480" h="1442782">
                  <a:moveTo>
                    <a:pt x="0" y="0"/>
                  </a:moveTo>
                  <a:lnTo>
                    <a:pt x="1468480" y="0"/>
                  </a:lnTo>
                  <a:lnTo>
                    <a:pt x="1468480" y="1442782"/>
                  </a:lnTo>
                  <a:lnTo>
                    <a:pt x="0" y="14427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16" name="Freeform 16"/>
            <p:cNvSpPr/>
            <p:nvPr/>
          </p:nvSpPr>
          <p:spPr>
            <a:xfrm>
              <a:off x="11768375" y="722286"/>
              <a:ext cx="1500501" cy="1552911"/>
            </a:xfrm>
            <a:custGeom>
              <a:avLst/>
              <a:gdLst/>
              <a:ahLst/>
              <a:cxnLst/>
              <a:rect l="l" t="t" r="r" b="b"/>
              <a:pathLst>
                <a:path w="1500501" h="1552911">
                  <a:moveTo>
                    <a:pt x="0" y="0"/>
                  </a:moveTo>
                  <a:lnTo>
                    <a:pt x="1500501" y="0"/>
                  </a:lnTo>
                  <a:lnTo>
                    <a:pt x="1500501" y="1552912"/>
                  </a:lnTo>
                  <a:lnTo>
                    <a:pt x="0" y="15529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17" name="TextBox 17"/>
            <p:cNvSpPr txBox="1"/>
            <p:nvPr/>
          </p:nvSpPr>
          <p:spPr>
            <a:xfrm>
              <a:off x="0" y="100041"/>
              <a:ext cx="4713540" cy="2813526"/>
            </a:xfrm>
            <a:prstGeom prst="rect">
              <a:avLst/>
            </a:prstGeom>
          </p:spPr>
          <p:txBody>
            <a:bodyPr lIns="0" tIns="0" rIns="0" bIns="0" rtlCol="0" anchor="t">
              <a:spAutoFit/>
            </a:bodyPr>
            <a:lstStyle/>
            <a:p>
              <a:pPr marL="523223" lvl="1" indent="-261612" algn="l">
                <a:lnSpc>
                  <a:spcPts val="3392"/>
                </a:lnSpc>
                <a:buFont typeface="Arial"/>
                <a:buChar char="•"/>
              </a:pPr>
              <a:r>
                <a:rPr lang="en-US" sz="2423" b="1">
                  <a:solidFill>
                    <a:srgbClr val="000000"/>
                  </a:solidFill>
                  <a:latin typeface="Roboto Slab Bold"/>
                  <a:ea typeface="Roboto Slab Bold"/>
                  <a:cs typeface="Roboto Slab Bold"/>
                  <a:sym typeface="Roboto Slab Bold"/>
                </a:rPr>
                <a:t>Kết quả phân tích truy vấn </a:t>
              </a:r>
            </a:p>
            <a:p>
              <a:pPr marL="523223" lvl="1" indent="-261612" algn="l">
                <a:lnSpc>
                  <a:spcPts val="3392"/>
                </a:lnSpc>
                <a:buFont typeface="Arial"/>
                <a:buChar char="•"/>
              </a:pPr>
              <a:r>
                <a:rPr lang="en-US" sz="2423" b="1">
                  <a:solidFill>
                    <a:srgbClr val="000000"/>
                  </a:solidFill>
                  <a:latin typeface="Roboto Slab Bold"/>
                  <a:ea typeface="Roboto Slab Bold"/>
                  <a:cs typeface="Roboto Slab Bold"/>
                  <a:sym typeface="Roboto Slab Bold"/>
                </a:rPr>
                <a:t>Kết quả từ các công cụ nếu đã có</a:t>
              </a:r>
            </a:p>
            <a:p>
              <a:pPr marL="523223" lvl="1" indent="-261612" algn="l">
                <a:lnSpc>
                  <a:spcPts val="3392"/>
                </a:lnSpc>
                <a:buFont typeface="Arial"/>
                <a:buChar char="•"/>
              </a:pPr>
              <a:r>
                <a:rPr lang="en-US" sz="2423" b="1">
                  <a:solidFill>
                    <a:srgbClr val="000000"/>
                  </a:solidFill>
                  <a:latin typeface="Roboto Slab Bold"/>
                  <a:ea typeface="Roboto Slab Bold"/>
                  <a:cs typeface="Roboto Slab Bold"/>
                  <a:sym typeface="Roboto Slab Bold"/>
                </a:rPr>
                <a:t>Lịch sử hội thoại</a:t>
              </a:r>
            </a:p>
          </p:txBody>
        </p:sp>
        <p:sp>
          <p:nvSpPr>
            <p:cNvPr id="18" name="AutoShape 18"/>
            <p:cNvSpPr/>
            <p:nvPr/>
          </p:nvSpPr>
          <p:spPr>
            <a:xfrm>
              <a:off x="4713540" y="1498742"/>
              <a:ext cx="2664244"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19" name="AutoShape 19"/>
            <p:cNvSpPr/>
            <p:nvPr/>
          </p:nvSpPr>
          <p:spPr>
            <a:xfrm flipV="1">
              <a:off x="8846264" y="1498742"/>
              <a:ext cx="2922111"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20" name="TextBox 20"/>
            <p:cNvSpPr txBox="1"/>
            <p:nvPr/>
          </p:nvSpPr>
          <p:spPr>
            <a:xfrm>
              <a:off x="6151271" y="27314"/>
              <a:ext cx="4049764" cy="516005"/>
            </a:xfrm>
            <a:prstGeom prst="rect">
              <a:avLst/>
            </a:prstGeom>
          </p:spPr>
          <p:txBody>
            <a:bodyPr lIns="0" tIns="0" rIns="0" bIns="0" rtlCol="0" anchor="t">
              <a:spAutoFit/>
            </a:bodyPr>
            <a:lstStyle/>
            <a:p>
              <a:pPr algn="ctr">
                <a:lnSpc>
                  <a:spcPts val="3357"/>
                </a:lnSpc>
                <a:spcBef>
                  <a:spcPct val="0"/>
                </a:spcBef>
              </a:pPr>
              <a:r>
                <a:rPr lang="en-US" sz="2397" b="1" i="1">
                  <a:solidFill>
                    <a:srgbClr val="000000"/>
                  </a:solidFill>
                  <a:latin typeface="Roboto Slab Bold"/>
                  <a:ea typeface="Roboto Slab Bold"/>
                  <a:cs typeface="Roboto Slab Bold"/>
                  <a:sym typeface="Roboto Slab Bold"/>
                </a:rPr>
                <a:t>PROMT</a:t>
              </a:r>
            </a:p>
          </p:txBody>
        </p:sp>
        <p:sp>
          <p:nvSpPr>
            <p:cNvPr id="21" name="TextBox 21"/>
            <p:cNvSpPr txBox="1"/>
            <p:nvPr/>
          </p:nvSpPr>
          <p:spPr>
            <a:xfrm>
              <a:off x="10603575" y="-57150"/>
              <a:ext cx="3830101" cy="665884"/>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Roboto Slab Bold"/>
                  <a:ea typeface="Roboto Slab Bold"/>
                  <a:cs typeface="Roboto Slab Bold"/>
                  <a:sym typeface="Roboto Slab Bold"/>
                </a:rPr>
                <a:t>LLMs</a:t>
              </a:r>
            </a:p>
          </p:txBody>
        </p:sp>
        <p:grpSp>
          <p:nvGrpSpPr>
            <p:cNvPr id="22" name="Group 22"/>
            <p:cNvGrpSpPr/>
            <p:nvPr/>
          </p:nvGrpSpPr>
          <p:grpSpPr>
            <a:xfrm>
              <a:off x="10483827" y="3916569"/>
              <a:ext cx="4069598" cy="895606"/>
              <a:chOff x="0" y="0"/>
              <a:chExt cx="832947" cy="183309"/>
            </a:xfrm>
          </p:grpSpPr>
          <p:sp>
            <p:nvSpPr>
              <p:cNvPr id="23" name="Freeform 23"/>
              <p:cNvSpPr/>
              <p:nvPr/>
            </p:nvSpPr>
            <p:spPr>
              <a:xfrm>
                <a:off x="0" y="0"/>
                <a:ext cx="832947" cy="183309"/>
              </a:xfrm>
              <a:custGeom>
                <a:avLst/>
                <a:gdLst/>
                <a:ahLst/>
                <a:cxnLst/>
                <a:rect l="l" t="t" r="r" b="b"/>
                <a:pathLst>
                  <a:path w="832947" h="183309">
                    <a:moveTo>
                      <a:pt x="71022" y="0"/>
                    </a:moveTo>
                    <a:lnTo>
                      <a:pt x="761925" y="0"/>
                    </a:lnTo>
                    <a:cubicBezTo>
                      <a:pt x="801149" y="0"/>
                      <a:pt x="832947" y="31798"/>
                      <a:pt x="832947" y="71022"/>
                    </a:cubicBezTo>
                    <a:lnTo>
                      <a:pt x="832947" y="112286"/>
                    </a:lnTo>
                    <a:cubicBezTo>
                      <a:pt x="832947" y="151511"/>
                      <a:pt x="801149" y="183309"/>
                      <a:pt x="761925" y="183309"/>
                    </a:cubicBezTo>
                    <a:lnTo>
                      <a:pt x="71022" y="183309"/>
                    </a:lnTo>
                    <a:cubicBezTo>
                      <a:pt x="31798" y="183309"/>
                      <a:pt x="0" y="151511"/>
                      <a:pt x="0" y="112286"/>
                    </a:cubicBezTo>
                    <a:lnTo>
                      <a:pt x="0" y="71022"/>
                    </a:lnTo>
                    <a:cubicBezTo>
                      <a:pt x="0" y="31798"/>
                      <a:pt x="31798" y="0"/>
                      <a:pt x="71022" y="0"/>
                    </a:cubicBezTo>
                    <a:close/>
                  </a:path>
                </a:pathLst>
              </a:custGeom>
              <a:solidFill>
                <a:srgbClr val="0D1D4B"/>
              </a:solidFill>
            </p:spPr>
            <p:txBody>
              <a:bodyPr/>
              <a:lstStyle/>
              <a:p>
                <a:endParaRPr lang="en-VN"/>
              </a:p>
            </p:txBody>
          </p:sp>
          <p:sp>
            <p:nvSpPr>
              <p:cNvPr id="24" name="TextBox 24"/>
              <p:cNvSpPr txBox="1"/>
              <p:nvPr/>
            </p:nvSpPr>
            <p:spPr>
              <a:xfrm>
                <a:off x="0" y="-38100"/>
                <a:ext cx="832947"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Node Verifier</a:t>
                </a:r>
              </a:p>
            </p:txBody>
          </p:sp>
        </p:grpSp>
        <p:sp>
          <p:nvSpPr>
            <p:cNvPr id="25" name="AutoShape 25"/>
            <p:cNvSpPr/>
            <p:nvPr/>
          </p:nvSpPr>
          <p:spPr>
            <a:xfrm>
              <a:off x="13268876" y="1091782"/>
              <a:ext cx="3298156" cy="0"/>
            </a:xfrm>
            <a:prstGeom prst="line">
              <a:avLst/>
            </a:prstGeom>
            <a:ln w="50800" cap="flat">
              <a:solidFill>
                <a:srgbClr val="0C0C6B"/>
              </a:solidFill>
              <a:prstDash val="solid"/>
              <a:headEnd type="arrow" w="med" len="sm"/>
              <a:tailEnd type="arrow" w="med" len="sm"/>
            </a:ln>
          </p:spPr>
          <p:txBody>
            <a:bodyPr/>
            <a:lstStyle/>
            <a:p>
              <a:endParaRPr lang="en-VN"/>
            </a:p>
          </p:txBody>
        </p:sp>
        <p:sp>
          <p:nvSpPr>
            <p:cNvPr id="26" name="AutoShape 26"/>
            <p:cNvSpPr/>
            <p:nvPr/>
          </p:nvSpPr>
          <p:spPr>
            <a:xfrm>
              <a:off x="12518626" y="2275198"/>
              <a:ext cx="0" cy="1641371"/>
            </a:xfrm>
            <a:prstGeom prst="line">
              <a:avLst/>
            </a:prstGeom>
            <a:ln w="50800" cap="flat">
              <a:solidFill>
                <a:srgbClr val="0C0C6B"/>
              </a:solidFill>
              <a:prstDash val="solid"/>
              <a:headEnd type="none" w="sm" len="sm"/>
              <a:tailEnd type="arrow" w="med" len="sm"/>
            </a:ln>
          </p:spPr>
          <p:txBody>
            <a:bodyPr/>
            <a:lstStyle/>
            <a:p>
              <a:endParaRPr lang="en-VN"/>
            </a:p>
          </p:txBody>
        </p:sp>
        <p:sp>
          <p:nvSpPr>
            <p:cNvPr id="27" name="Freeform 27"/>
            <p:cNvSpPr/>
            <p:nvPr/>
          </p:nvSpPr>
          <p:spPr>
            <a:xfrm>
              <a:off x="16567032" y="256524"/>
              <a:ext cx="1689522" cy="1670515"/>
            </a:xfrm>
            <a:custGeom>
              <a:avLst/>
              <a:gdLst/>
              <a:ahLst/>
              <a:cxnLst/>
              <a:rect l="l" t="t" r="r" b="b"/>
              <a:pathLst>
                <a:path w="1689522" h="1670515">
                  <a:moveTo>
                    <a:pt x="0" y="0"/>
                  </a:moveTo>
                  <a:lnTo>
                    <a:pt x="1689523" y="0"/>
                  </a:lnTo>
                  <a:lnTo>
                    <a:pt x="1689523" y="1670515"/>
                  </a:lnTo>
                  <a:lnTo>
                    <a:pt x="0" y="167051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VN"/>
            </a:p>
          </p:txBody>
        </p:sp>
        <p:sp>
          <p:nvSpPr>
            <p:cNvPr id="28" name="TextBox 28"/>
            <p:cNvSpPr txBox="1"/>
            <p:nvPr/>
          </p:nvSpPr>
          <p:spPr>
            <a:xfrm>
              <a:off x="12640903" y="2657045"/>
              <a:ext cx="2671420" cy="436844"/>
            </a:xfrm>
            <a:prstGeom prst="rect">
              <a:avLst/>
            </a:prstGeom>
          </p:spPr>
          <p:txBody>
            <a:bodyPr lIns="0" tIns="0" rIns="0" bIns="0" rtlCol="0" anchor="t">
              <a:spAutoFit/>
            </a:bodyPr>
            <a:lstStyle/>
            <a:p>
              <a:pPr algn="l">
                <a:lnSpc>
                  <a:spcPts val="2880"/>
                </a:lnSpc>
              </a:pPr>
              <a:r>
                <a:rPr lang="en-US" sz="1800" b="1">
                  <a:solidFill>
                    <a:srgbClr val="0C1D4B"/>
                  </a:solidFill>
                  <a:latin typeface="Roboto Slab Bold"/>
                  <a:ea typeface="Roboto Slab Bold"/>
                  <a:cs typeface="Roboto Slab Bold"/>
                  <a:sym typeface="Roboto Slab Bold"/>
                </a:rPr>
                <a:t>Enough evidence</a:t>
              </a:r>
            </a:p>
          </p:txBody>
        </p:sp>
      </p:grpSp>
      <p:sp>
        <p:nvSpPr>
          <p:cNvPr id="29" name="RestoredLabel Call tools"/>
          <p:cNvSpPr txBox="1"/>
          <p:nvPr/>
        </p:nvSpPr>
        <p:spPr>
          <a:xfrm>
            <a:off x="9420000" y="7840000"/>
            <a:ext cx="1600000" cy="380000"/>
          </a:xfrm>
          <a:prstGeom prst="rect">
            <a:avLst/>
          </a:prstGeom>
          <a:noFill/>
          <a:ln>
            <a:noFill/>
          </a:ln>
        </p:spPr>
        <p:txBody>
          <a:bodyPr lIns="0" tIns="0" rIns="0" bIns="0" rtlCol="0" anchor="mid" wrap="none">
            <a:spAutoFit/>
          </a:bodyPr>
          <a:lstStyle/>
          <a:p>
            <a:pPr algn="ctr"/>
            <a:r>
              <a:rPr lang="en-US" sz="1850" b="1" i="1">
                <a:solidFill>
                  <a:srgbClr val="0C1D4B"/>
                </a:solidFill>
                <a:latin typeface="Times New Roman"/>
              </a:rPr>
              <a:t>Call tools</a:t>
            </a:r>
            <a:endParaRPr lang="en-US" sz="1850" b="1" i="1">
              <a:solidFill>
                <a:srgbClr val="0C1D4B"/>
              </a:solidFill>
              <a:latin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249755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3.4. Xây dựng các node trong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Node Verifier</a:t>
            </a:r>
          </a:p>
        </p:txBody>
      </p:sp>
      <p:sp>
        <p:nvSpPr>
          <p:cNvPr id="13" name="TextBox 13"/>
          <p:cNvSpPr txBox="1"/>
          <p:nvPr/>
        </p:nvSpPr>
        <p:spPr>
          <a:xfrm>
            <a:off x="1028700" y="2496768"/>
            <a:ext cx="16230600" cy="164862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Nhiệm vụ: kiểm tra lại câu trả lời cuối cùng trước khi phản hồi cho người dùng</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PROMPT: “Kiểm tra câu trả lời pháp luật có bịa đặt không dựa trên dữ liệu đã thu thập được...”</a:t>
            </a:r>
          </a:p>
        </p:txBody>
      </p:sp>
      <p:grpSp>
        <p:nvGrpSpPr>
          <p:cNvPr id="14" name="Group 14"/>
          <p:cNvGrpSpPr/>
          <p:nvPr/>
        </p:nvGrpSpPr>
        <p:grpSpPr>
          <a:xfrm>
            <a:off x="1028700" y="5576253"/>
            <a:ext cx="15894478" cy="1736216"/>
            <a:chOff x="0" y="0"/>
            <a:chExt cx="21192638" cy="2314955"/>
          </a:xfrm>
        </p:grpSpPr>
        <p:sp>
          <p:nvSpPr>
            <p:cNvPr id="15" name="Freeform 15"/>
            <p:cNvSpPr/>
            <p:nvPr/>
          </p:nvSpPr>
          <p:spPr>
            <a:xfrm>
              <a:off x="7377784" y="804463"/>
              <a:ext cx="1468480" cy="1442782"/>
            </a:xfrm>
            <a:custGeom>
              <a:avLst/>
              <a:gdLst/>
              <a:ahLst/>
              <a:cxnLst/>
              <a:rect l="l" t="t" r="r" b="b"/>
              <a:pathLst>
                <a:path w="1468480" h="1442782">
                  <a:moveTo>
                    <a:pt x="0" y="0"/>
                  </a:moveTo>
                  <a:lnTo>
                    <a:pt x="1468480" y="0"/>
                  </a:lnTo>
                  <a:lnTo>
                    <a:pt x="1468480" y="1442782"/>
                  </a:lnTo>
                  <a:lnTo>
                    <a:pt x="0" y="144278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16" name="Freeform 16"/>
            <p:cNvSpPr/>
            <p:nvPr/>
          </p:nvSpPr>
          <p:spPr>
            <a:xfrm>
              <a:off x="11768375" y="722286"/>
              <a:ext cx="1500501" cy="1552911"/>
            </a:xfrm>
            <a:custGeom>
              <a:avLst/>
              <a:gdLst/>
              <a:ahLst/>
              <a:cxnLst/>
              <a:rect l="l" t="t" r="r" b="b"/>
              <a:pathLst>
                <a:path w="1500501" h="1552911">
                  <a:moveTo>
                    <a:pt x="0" y="0"/>
                  </a:moveTo>
                  <a:lnTo>
                    <a:pt x="1500501" y="0"/>
                  </a:lnTo>
                  <a:lnTo>
                    <a:pt x="1500501" y="1552912"/>
                  </a:lnTo>
                  <a:lnTo>
                    <a:pt x="0" y="15529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17" name="TextBox 17"/>
            <p:cNvSpPr txBox="1"/>
            <p:nvPr/>
          </p:nvSpPr>
          <p:spPr>
            <a:xfrm>
              <a:off x="0" y="644429"/>
              <a:ext cx="4713540" cy="1670526"/>
            </a:xfrm>
            <a:prstGeom prst="rect">
              <a:avLst/>
            </a:prstGeom>
          </p:spPr>
          <p:txBody>
            <a:bodyPr lIns="0" tIns="0" rIns="0" bIns="0" rtlCol="0" anchor="t">
              <a:spAutoFit/>
            </a:bodyPr>
            <a:lstStyle/>
            <a:p>
              <a:pPr algn="l">
                <a:lnSpc>
                  <a:spcPts val="3392"/>
                </a:lnSpc>
              </a:pPr>
              <a:r>
                <a:rPr lang="en-US" sz="2423" b="1">
                  <a:solidFill>
                    <a:srgbClr val="000000"/>
                  </a:solidFill>
                  <a:latin typeface="Roboto Slab Bold"/>
                  <a:ea typeface="Roboto Slab Bold"/>
                  <a:cs typeface="Roboto Slab Bold"/>
                  <a:sym typeface="Roboto Slab Bold"/>
                </a:rPr>
                <a:t>Câu trả lời của Agent và toàn bộ kết quả công cụ đã sử dụng</a:t>
              </a:r>
            </a:p>
          </p:txBody>
        </p:sp>
        <p:sp>
          <p:nvSpPr>
            <p:cNvPr id="18" name="AutoShape 18"/>
            <p:cNvSpPr/>
            <p:nvPr/>
          </p:nvSpPr>
          <p:spPr>
            <a:xfrm>
              <a:off x="4713540" y="1498742"/>
              <a:ext cx="2664244"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19" name="AutoShape 19"/>
            <p:cNvSpPr/>
            <p:nvPr/>
          </p:nvSpPr>
          <p:spPr>
            <a:xfrm flipV="1">
              <a:off x="8846264" y="1498742"/>
              <a:ext cx="2922111"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20" name="AutoShape 20"/>
            <p:cNvSpPr/>
            <p:nvPr/>
          </p:nvSpPr>
          <p:spPr>
            <a:xfrm>
              <a:off x="13268876" y="1498742"/>
              <a:ext cx="3781873" cy="27112"/>
            </a:xfrm>
            <a:prstGeom prst="line">
              <a:avLst/>
            </a:prstGeom>
            <a:ln w="50800" cap="flat">
              <a:solidFill>
                <a:srgbClr val="0C0C6B"/>
              </a:solidFill>
              <a:prstDash val="solid"/>
              <a:headEnd type="none" w="sm" len="sm"/>
              <a:tailEnd type="arrow" w="med" len="sm"/>
            </a:ln>
          </p:spPr>
          <p:txBody>
            <a:bodyPr/>
            <a:lstStyle/>
            <a:p>
              <a:endParaRPr lang="en-VN"/>
            </a:p>
          </p:txBody>
        </p:sp>
        <p:sp>
          <p:nvSpPr>
            <p:cNvPr id="21" name="TextBox 21"/>
            <p:cNvSpPr txBox="1"/>
            <p:nvPr/>
          </p:nvSpPr>
          <p:spPr>
            <a:xfrm>
              <a:off x="6151271" y="27314"/>
              <a:ext cx="4049764" cy="516005"/>
            </a:xfrm>
            <a:prstGeom prst="rect">
              <a:avLst/>
            </a:prstGeom>
          </p:spPr>
          <p:txBody>
            <a:bodyPr lIns="0" tIns="0" rIns="0" bIns="0" rtlCol="0" anchor="t">
              <a:spAutoFit/>
            </a:bodyPr>
            <a:lstStyle/>
            <a:p>
              <a:pPr algn="ctr">
                <a:lnSpc>
                  <a:spcPts val="3357"/>
                </a:lnSpc>
                <a:spcBef>
                  <a:spcPct val="0"/>
                </a:spcBef>
              </a:pPr>
              <a:r>
                <a:rPr lang="en-US" sz="2397" b="1" i="1">
                  <a:solidFill>
                    <a:srgbClr val="000000"/>
                  </a:solidFill>
                  <a:latin typeface="Roboto Slab Bold"/>
                  <a:ea typeface="Roboto Slab Bold"/>
                  <a:cs typeface="Roboto Slab Bold"/>
                  <a:sym typeface="Roboto Slab Bold"/>
                </a:rPr>
                <a:t>PROMT</a:t>
              </a:r>
            </a:p>
          </p:txBody>
        </p:sp>
        <p:sp>
          <p:nvSpPr>
            <p:cNvPr id="22" name="TextBox 22"/>
            <p:cNvSpPr txBox="1"/>
            <p:nvPr/>
          </p:nvSpPr>
          <p:spPr>
            <a:xfrm>
              <a:off x="10603575" y="-57150"/>
              <a:ext cx="3830101" cy="665884"/>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Roboto Slab Bold"/>
                  <a:ea typeface="Roboto Slab Bold"/>
                  <a:cs typeface="Roboto Slab Bold"/>
                  <a:sym typeface="Roboto Slab Bold"/>
                </a:rPr>
                <a:t>LLMs</a:t>
              </a:r>
            </a:p>
          </p:txBody>
        </p:sp>
        <p:grpSp>
          <p:nvGrpSpPr>
            <p:cNvPr id="23" name="Group 23"/>
            <p:cNvGrpSpPr/>
            <p:nvPr/>
          </p:nvGrpSpPr>
          <p:grpSpPr>
            <a:xfrm>
              <a:off x="17050749" y="1061854"/>
              <a:ext cx="4141889" cy="928000"/>
              <a:chOff x="0" y="0"/>
              <a:chExt cx="818151" cy="183309"/>
            </a:xfrm>
          </p:grpSpPr>
          <p:sp>
            <p:nvSpPr>
              <p:cNvPr id="24" name="Freeform 24"/>
              <p:cNvSpPr/>
              <p:nvPr/>
            </p:nvSpPr>
            <p:spPr>
              <a:xfrm>
                <a:off x="0" y="0"/>
                <a:ext cx="818151" cy="183309"/>
              </a:xfrm>
              <a:custGeom>
                <a:avLst/>
                <a:gdLst/>
                <a:ahLst/>
                <a:cxnLst/>
                <a:rect l="l" t="t" r="r" b="b"/>
                <a:pathLst>
                  <a:path w="818151" h="183309">
                    <a:moveTo>
                      <a:pt x="69783" y="0"/>
                    </a:moveTo>
                    <a:lnTo>
                      <a:pt x="748368" y="0"/>
                    </a:lnTo>
                    <a:cubicBezTo>
                      <a:pt x="786908" y="0"/>
                      <a:pt x="818151" y="31243"/>
                      <a:pt x="818151" y="69783"/>
                    </a:cubicBezTo>
                    <a:lnTo>
                      <a:pt x="818151" y="113526"/>
                    </a:lnTo>
                    <a:cubicBezTo>
                      <a:pt x="818151" y="132033"/>
                      <a:pt x="810799" y="149783"/>
                      <a:pt x="797712" y="162870"/>
                    </a:cubicBezTo>
                    <a:cubicBezTo>
                      <a:pt x="784625" y="175956"/>
                      <a:pt x="766876" y="183309"/>
                      <a:pt x="748368"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txBody>
              <a:bodyPr/>
              <a:lstStyle/>
              <a:p>
                <a:endParaRPr lang="en-VN"/>
              </a:p>
            </p:txBody>
          </p:sp>
          <p:sp>
            <p:nvSpPr>
              <p:cNvPr id="25" name="TextBox 25"/>
              <p:cNvSpPr txBox="1"/>
              <p:nvPr/>
            </p:nvSpPr>
            <p:spPr>
              <a:xfrm>
                <a:off x="0" y="-38100"/>
                <a:ext cx="818151"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END</a:t>
                </a:r>
              </a:p>
            </p:txBody>
          </p:sp>
        </p:grpSp>
        <p:sp>
          <p:nvSpPr>
            <p:cNvPr id="26" name="TextBox 26"/>
            <p:cNvSpPr txBox="1"/>
            <p:nvPr/>
          </p:nvSpPr>
          <p:spPr>
            <a:xfrm>
              <a:off x="13733667" y="-16800"/>
              <a:ext cx="2671420" cy="1401972"/>
            </a:xfrm>
            <a:prstGeom prst="rect">
              <a:avLst/>
            </a:prstGeom>
          </p:spPr>
          <p:txBody>
            <a:bodyPr lIns="0" tIns="0" rIns="0" bIns="0" rtlCol="0" anchor="t">
              <a:spAutoFit/>
            </a:bodyPr>
            <a:lstStyle/>
            <a:p>
              <a:pPr algn="ctr">
                <a:lnSpc>
                  <a:spcPts val="2880"/>
                </a:lnSpc>
              </a:pPr>
              <a:r>
                <a:rPr lang="en-US" sz="1800">
                  <a:solidFill>
                    <a:srgbClr val="0C1D4B"/>
                  </a:solidFill>
                  <a:latin typeface="Roboto Slab"/>
                  <a:ea typeface="Roboto Slab"/>
                  <a:cs typeface="Roboto Slab"/>
                  <a:sym typeface="Roboto Slab"/>
                </a:rPr>
                <a:t>Tự sửa đổi và cập nhật nội dung sai sót</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331147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3.5. Xây dựng hệ thống truy vấn pháp luật nội bộ - RAG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Xây dựng dữ liệu pháp luật</a:t>
            </a:r>
          </a:p>
        </p:txBody>
      </p:sp>
      <p:sp>
        <p:nvSpPr>
          <p:cNvPr id="13" name="TextBox 13"/>
          <p:cNvSpPr txBox="1"/>
          <p:nvPr/>
        </p:nvSpPr>
        <p:spPr>
          <a:xfrm>
            <a:off x="1028700" y="2496768"/>
            <a:ext cx="16230600"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Dữ liệu pháp luật được chuẩn hóa theo đơn vị điều luật thay vì lưu toàn bộ văn bản thành một khối lớn</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Mỗi điều luật gồm các thông tin chính: law_id, article_id, title, text, year, topics, keywords, summary</a:t>
            </a:r>
          </a:p>
        </p:txBody>
      </p:sp>
      <p:grpSp>
        <p:nvGrpSpPr>
          <p:cNvPr id="14" name="Group 14"/>
          <p:cNvGrpSpPr/>
          <p:nvPr/>
        </p:nvGrpSpPr>
        <p:grpSpPr>
          <a:xfrm>
            <a:off x="592355" y="4897919"/>
            <a:ext cx="16769608" cy="4467298"/>
            <a:chOff x="0" y="0"/>
            <a:chExt cx="22359478" cy="5956398"/>
          </a:xfrm>
        </p:grpSpPr>
        <p:grpSp>
          <p:nvGrpSpPr>
            <p:cNvPr id="15" name="Group 15"/>
            <p:cNvGrpSpPr/>
            <p:nvPr/>
          </p:nvGrpSpPr>
          <p:grpSpPr>
            <a:xfrm>
              <a:off x="0" y="2233656"/>
              <a:ext cx="4333698" cy="2530487"/>
              <a:chOff x="0" y="0"/>
              <a:chExt cx="856039" cy="499849"/>
            </a:xfrm>
          </p:grpSpPr>
          <p:sp>
            <p:nvSpPr>
              <p:cNvPr id="16" name="Freeform 16"/>
              <p:cNvSpPr/>
              <p:nvPr/>
            </p:nvSpPr>
            <p:spPr>
              <a:xfrm>
                <a:off x="0" y="0"/>
                <a:ext cx="856039" cy="499849"/>
              </a:xfrm>
              <a:custGeom>
                <a:avLst/>
                <a:gdLst/>
                <a:ahLst/>
                <a:cxnLst/>
                <a:rect l="l" t="t" r="r" b="b"/>
                <a:pathLst>
                  <a:path w="856039" h="499849">
                    <a:moveTo>
                      <a:pt x="66694" y="0"/>
                    </a:moveTo>
                    <a:lnTo>
                      <a:pt x="789345" y="0"/>
                    </a:lnTo>
                    <a:cubicBezTo>
                      <a:pt x="826179" y="0"/>
                      <a:pt x="856039" y="29860"/>
                      <a:pt x="856039" y="66694"/>
                    </a:cubicBezTo>
                    <a:lnTo>
                      <a:pt x="856039" y="433155"/>
                    </a:lnTo>
                    <a:cubicBezTo>
                      <a:pt x="856039" y="469989"/>
                      <a:pt x="826179" y="499849"/>
                      <a:pt x="789345" y="499849"/>
                    </a:cubicBezTo>
                    <a:lnTo>
                      <a:pt x="66694" y="499849"/>
                    </a:lnTo>
                    <a:cubicBezTo>
                      <a:pt x="29860" y="499849"/>
                      <a:pt x="0" y="469989"/>
                      <a:pt x="0" y="433155"/>
                    </a:cubicBezTo>
                    <a:lnTo>
                      <a:pt x="0" y="66694"/>
                    </a:lnTo>
                    <a:cubicBezTo>
                      <a:pt x="0" y="29860"/>
                      <a:pt x="29860" y="0"/>
                      <a:pt x="66694" y="0"/>
                    </a:cubicBezTo>
                    <a:close/>
                  </a:path>
                </a:pathLst>
              </a:custGeom>
              <a:ln w="19050" cap="rnd">
                <a:solidFill>
                  <a:srgbClr val="000000"/>
                </a:solidFill>
                <a:prstDash val="solid"/>
                <a:round/>
              </a:ln>
            </p:spPr>
            <p:txBody>
              <a:bodyPr/>
              <a:lstStyle/>
              <a:p>
                <a:endParaRPr lang="en-VN"/>
              </a:p>
            </p:txBody>
          </p:sp>
          <p:sp>
            <p:nvSpPr>
              <p:cNvPr id="17" name="TextBox 17"/>
              <p:cNvSpPr txBox="1"/>
              <p:nvPr/>
            </p:nvSpPr>
            <p:spPr>
              <a:xfrm>
                <a:off x="0" y="-19050"/>
                <a:ext cx="856039" cy="518899"/>
              </a:xfrm>
              <a:prstGeom prst="rect">
                <a:avLst/>
              </a:prstGeom>
            </p:spPr>
            <p:txBody>
              <a:bodyPr lIns="50800" tIns="50800" rIns="50800" bIns="50800" rtlCol="0" anchor="ctr"/>
              <a:lstStyle/>
              <a:p>
                <a:pPr algn="l">
                  <a:lnSpc>
                    <a:spcPts val="1679"/>
                  </a:lnSpc>
                </a:pPr>
                <a:r>
                  <a:rPr lang="en-US" sz="1200" spc="28">
                    <a:solidFill>
                      <a:srgbClr val="0C1D4B"/>
                    </a:solidFill>
                    <a:latin typeface="IBM Plex Mono"/>
                    <a:ea typeface="IBM Plex Mono"/>
                    <a:cs typeface="IBM Plex Mono"/>
                    <a:sym typeface="IBM Plex Mono"/>
                  </a:rPr>
                  <a:t>{</a:t>
                </a:r>
              </a:p>
              <a:p>
                <a:pPr algn="l">
                  <a:lnSpc>
                    <a:spcPts val="1679"/>
                  </a:lnSpc>
                </a:pPr>
                <a:r>
                  <a:rPr lang="en-US" sz="1200" spc="28">
                    <a:solidFill>
                      <a:srgbClr val="0C1D4B"/>
                    </a:solidFill>
                    <a:latin typeface="IBM Plex Mono"/>
                    <a:ea typeface="IBM Plex Mono"/>
                    <a:cs typeface="IBM Plex Mono"/>
                    <a:sym typeface="IBM Plex Mono"/>
                  </a:rPr>
                  <a:t> "law_id": "100/2015/QH13",</a:t>
                </a:r>
              </a:p>
              <a:p>
                <a:pPr algn="l">
                  <a:lnSpc>
                    <a:spcPts val="1679"/>
                  </a:lnSpc>
                </a:pPr>
                <a:r>
                  <a:rPr lang="en-US" sz="1200" spc="28">
                    <a:solidFill>
                      <a:srgbClr val="0C1D4B"/>
                    </a:solidFill>
                    <a:latin typeface="IBM Plex Mono"/>
                    <a:ea typeface="IBM Plex Mono"/>
                    <a:cs typeface="IBM Plex Mono"/>
                    <a:sym typeface="IBM Plex Mono"/>
                  </a:rPr>
                  <a:t> "article": "Điều 173. Tội trộm cắp tài sản",</a:t>
                </a:r>
              </a:p>
              <a:p>
                <a:pPr algn="l">
                  <a:lnSpc>
                    <a:spcPts val="1679"/>
                  </a:lnSpc>
                </a:pPr>
                <a:r>
                  <a:rPr lang="en-US" sz="1200" spc="28">
                    <a:solidFill>
                      <a:srgbClr val="0C1D4B"/>
                    </a:solidFill>
                    <a:latin typeface="IBM Plex Mono"/>
                    <a:ea typeface="IBM Plex Mono"/>
                    <a:cs typeface="IBM Plex Mono"/>
                    <a:sym typeface="IBM Plex Mono"/>
                  </a:rPr>
                  <a:t> "content": "Người nào trộm cắp tài sản của người khác..."</a:t>
                </a:r>
              </a:p>
              <a:p>
                <a:pPr algn="l">
                  <a:lnSpc>
                    <a:spcPts val="1679"/>
                  </a:lnSpc>
                </a:pPr>
                <a:r>
                  <a:rPr lang="en-US" sz="1200" spc="28">
                    <a:solidFill>
                      <a:srgbClr val="0C1D4B"/>
                    </a:solidFill>
                    <a:latin typeface="IBM Plex Mono"/>
                    <a:ea typeface="IBM Plex Mono"/>
                    <a:cs typeface="IBM Plex Mono"/>
                    <a:sym typeface="IBM Plex Mono"/>
                  </a:rPr>
                  <a:t>}</a:t>
                </a:r>
              </a:p>
            </p:txBody>
          </p:sp>
        </p:grpSp>
        <p:grpSp>
          <p:nvGrpSpPr>
            <p:cNvPr id="18" name="Group 18"/>
            <p:cNvGrpSpPr/>
            <p:nvPr/>
          </p:nvGrpSpPr>
          <p:grpSpPr>
            <a:xfrm>
              <a:off x="10504313" y="1041400"/>
              <a:ext cx="4596946" cy="4914998"/>
              <a:chOff x="0" y="0"/>
              <a:chExt cx="908039" cy="970864"/>
            </a:xfrm>
          </p:grpSpPr>
          <p:sp>
            <p:nvSpPr>
              <p:cNvPr id="19" name="Freeform 19"/>
              <p:cNvSpPr/>
              <p:nvPr/>
            </p:nvSpPr>
            <p:spPr>
              <a:xfrm>
                <a:off x="0" y="0"/>
                <a:ext cx="908039" cy="970864"/>
              </a:xfrm>
              <a:custGeom>
                <a:avLst/>
                <a:gdLst/>
                <a:ahLst/>
                <a:cxnLst/>
                <a:rect l="l" t="t" r="r" b="b"/>
                <a:pathLst>
                  <a:path w="908039" h="970864">
                    <a:moveTo>
                      <a:pt x="62875" y="0"/>
                    </a:moveTo>
                    <a:lnTo>
                      <a:pt x="845164" y="0"/>
                    </a:lnTo>
                    <a:cubicBezTo>
                      <a:pt x="879889" y="0"/>
                      <a:pt x="908039" y="28150"/>
                      <a:pt x="908039" y="62875"/>
                    </a:cubicBezTo>
                    <a:lnTo>
                      <a:pt x="908039" y="907989"/>
                    </a:lnTo>
                    <a:cubicBezTo>
                      <a:pt x="908039" y="942714"/>
                      <a:pt x="879889" y="970864"/>
                      <a:pt x="845164" y="970864"/>
                    </a:cubicBezTo>
                    <a:lnTo>
                      <a:pt x="62875" y="970864"/>
                    </a:lnTo>
                    <a:cubicBezTo>
                      <a:pt x="28150" y="970864"/>
                      <a:pt x="0" y="942714"/>
                      <a:pt x="0" y="907989"/>
                    </a:cubicBezTo>
                    <a:lnTo>
                      <a:pt x="0" y="62875"/>
                    </a:lnTo>
                    <a:cubicBezTo>
                      <a:pt x="0" y="28150"/>
                      <a:pt x="28150" y="0"/>
                      <a:pt x="62875" y="0"/>
                    </a:cubicBezTo>
                    <a:close/>
                  </a:path>
                </a:pathLst>
              </a:custGeom>
              <a:ln w="19050" cap="rnd">
                <a:solidFill>
                  <a:srgbClr val="000000"/>
                </a:solidFill>
                <a:prstDash val="solid"/>
                <a:round/>
              </a:ln>
            </p:spPr>
            <p:txBody>
              <a:bodyPr/>
              <a:lstStyle/>
              <a:p>
                <a:endParaRPr lang="en-VN"/>
              </a:p>
            </p:txBody>
          </p:sp>
          <p:sp>
            <p:nvSpPr>
              <p:cNvPr id="20" name="TextBox 20"/>
              <p:cNvSpPr txBox="1"/>
              <p:nvPr/>
            </p:nvSpPr>
            <p:spPr>
              <a:xfrm>
                <a:off x="0" y="-19050"/>
                <a:ext cx="908039" cy="989914"/>
              </a:xfrm>
              <a:prstGeom prst="rect">
                <a:avLst/>
              </a:prstGeom>
            </p:spPr>
            <p:txBody>
              <a:bodyPr lIns="50800" tIns="50800" rIns="50800" bIns="50800" rtlCol="0" anchor="ctr"/>
              <a:lstStyle/>
              <a:p>
                <a:pPr algn="l">
                  <a:lnSpc>
                    <a:spcPts val="1679"/>
                  </a:lnSpc>
                </a:pPr>
                <a:r>
                  <a:rPr lang="en-US" sz="1200" spc="28">
                    <a:solidFill>
                      <a:srgbClr val="0C1D4B"/>
                    </a:solidFill>
                    <a:latin typeface="IBM Plex Mono"/>
                    <a:ea typeface="IBM Plex Mono"/>
                    <a:cs typeface="IBM Plex Mono"/>
                    <a:sym typeface="IBM Plex Mono"/>
                  </a:rPr>
                  <a:t>{</a:t>
                </a:r>
              </a:p>
              <a:p>
                <a:pPr algn="l">
                  <a:lnSpc>
                    <a:spcPts val="1679"/>
                  </a:lnSpc>
                </a:pPr>
                <a:r>
                  <a:rPr lang="en-US" sz="1200" spc="28">
                    <a:solidFill>
                      <a:srgbClr val="0C1D4B"/>
                    </a:solidFill>
                    <a:latin typeface="IBM Plex Mono"/>
                    <a:ea typeface="IBM Plex Mono"/>
                    <a:cs typeface="IBM Plex Mono"/>
                    <a:sym typeface="IBM Plex Mono"/>
                  </a:rPr>
                  <a:t> "law_id": "100/2015/QH13",</a:t>
                </a:r>
              </a:p>
              <a:p>
                <a:pPr algn="l">
                  <a:lnSpc>
                    <a:spcPts val="1679"/>
                  </a:lnSpc>
                </a:pPr>
                <a:r>
                  <a:rPr lang="en-US" sz="1200" spc="28">
                    <a:solidFill>
                      <a:srgbClr val="0C1D4B"/>
                    </a:solidFill>
                    <a:latin typeface="IBM Plex Mono"/>
                    <a:ea typeface="IBM Plex Mono"/>
                    <a:cs typeface="IBM Plex Mono"/>
                    <a:sym typeface="IBM Plex Mono"/>
                  </a:rPr>
                  <a:t> "article_id": "173",</a:t>
                </a:r>
              </a:p>
              <a:p>
                <a:pPr algn="l">
                  <a:lnSpc>
                    <a:spcPts val="1679"/>
                  </a:lnSpc>
                </a:pPr>
                <a:r>
                  <a:rPr lang="en-US" sz="1200" spc="28">
                    <a:solidFill>
                      <a:srgbClr val="0C1D4B"/>
                    </a:solidFill>
                    <a:latin typeface="IBM Plex Mono"/>
                    <a:ea typeface="IBM Plex Mono"/>
                    <a:cs typeface="IBM Plex Mono"/>
                    <a:sym typeface="IBM Plex Mono"/>
                  </a:rPr>
                  <a:t> "title": "Điều 173. Tội trộm cắp tài sản",</a:t>
                </a:r>
              </a:p>
              <a:p>
                <a:pPr algn="l">
                  <a:lnSpc>
                    <a:spcPts val="1679"/>
                  </a:lnSpc>
                </a:pPr>
                <a:r>
                  <a:rPr lang="en-US" sz="1200" spc="28">
                    <a:solidFill>
                      <a:srgbClr val="0C1D4B"/>
                    </a:solidFill>
                    <a:latin typeface="IBM Plex Mono"/>
                    <a:ea typeface="IBM Plex Mono"/>
                    <a:cs typeface="IBM Plex Mono"/>
                    <a:sym typeface="IBM Plex Mono"/>
                  </a:rPr>
                  <a:t> "text": "Người nào trộm cắp tài sản của người khác...",</a:t>
                </a:r>
              </a:p>
              <a:p>
                <a:pPr algn="l">
                  <a:lnSpc>
                    <a:spcPts val="1679"/>
                  </a:lnSpc>
                </a:pPr>
                <a:r>
                  <a:rPr lang="en-US" sz="1200" spc="28">
                    <a:solidFill>
                      <a:srgbClr val="0C1D4B"/>
                    </a:solidFill>
                    <a:latin typeface="IBM Plex Mono"/>
                    <a:ea typeface="IBM Plex Mono"/>
                    <a:cs typeface="IBM Plex Mono"/>
                    <a:sym typeface="IBM Plex Mono"/>
                  </a:rPr>
                  <a:t> "metadata": {</a:t>
                </a:r>
              </a:p>
              <a:p>
                <a:pPr algn="l">
                  <a:lnSpc>
                    <a:spcPts val="1679"/>
                  </a:lnSpc>
                </a:pPr>
                <a:r>
                  <a:rPr lang="en-US" sz="1200" spc="28">
                    <a:solidFill>
                      <a:srgbClr val="0C1D4B"/>
                    </a:solidFill>
                    <a:latin typeface="IBM Plex Mono"/>
                    <a:ea typeface="IBM Plex Mono"/>
                    <a:cs typeface="IBM Plex Mono"/>
                    <a:sym typeface="IBM Plex Mono"/>
                  </a:rPr>
                  <a:t> "year": "2015",</a:t>
                </a:r>
              </a:p>
              <a:p>
                <a:pPr algn="l">
                  <a:lnSpc>
                    <a:spcPts val="1679"/>
                  </a:lnSpc>
                </a:pPr>
                <a:r>
                  <a:rPr lang="en-US" sz="1200" spc="28">
                    <a:solidFill>
                      <a:srgbClr val="0C1D4B"/>
                    </a:solidFill>
                    <a:latin typeface="IBM Plex Mono"/>
                    <a:ea typeface="IBM Plex Mono"/>
                    <a:cs typeface="IBM Plex Mono"/>
                    <a:sym typeface="IBM Plex Mono"/>
                  </a:rPr>
                  <a:t> "topics": ["Hình sự"],</a:t>
                </a:r>
              </a:p>
              <a:p>
                <a:pPr algn="l">
                  <a:lnSpc>
                    <a:spcPts val="1679"/>
                  </a:lnSpc>
                </a:pPr>
                <a:r>
                  <a:rPr lang="en-US" sz="1200" spc="28">
                    <a:solidFill>
                      <a:srgbClr val="0C1D4B"/>
                    </a:solidFill>
                    <a:latin typeface="IBM Plex Mono"/>
                    <a:ea typeface="IBM Plex Mono"/>
                    <a:cs typeface="IBM Plex Mono"/>
                    <a:sym typeface="IBM Plex Mono"/>
                  </a:rPr>
                  <a:t> "keywords": ["trộm cắp tài sản", "khung hình phạt"],</a:t>
                </a:r>
              </a:p>
              <a:p>
                <a:pPr algn="l">
                  <a:lnSpc>
                    <a:spcPts val="1679"/>
                  </a:lnSpc>
                </a:pPr>
                <a:r>
                  <a:rPr lang="en-US" sz="1200" spc="28">
                    <a:solidFill>
                      <a:srgbClr val="0C1D4B"/>
                    </a:solidFill>
                    <a:latin typeface="IBM Plex Mono"/>
                    <a:ea typeface="IBM Plex Mono"/>
                    <a:cs typeface="IBM Plex Mono"/>
                    <a:sym typeface="IBM Plex Mono"/>
                  </a:rPr>
                  <a:t> "summary": "Quy định về tội trộm cắp tài sản."</a:t>
                </a:r>
              </a:p>
              <a:p>
                <a:pPr algn="l">
                  <a:lnSpc>
                    <a:spcPts val="1679"/>
                  </a:lnSpc>
                </a:pPr>
                <a:r>
                  <a:rPr lang="en-US" sz="1200" spc="28">
                    <a:solidFill>
                      <a:srgbClr val="0C1D4B"/>
                    </a:solidFill>
                    <a:latin typeface="IBM Plex Mono"/>
                    <a:ea typeface="IBM Plex Mono"/>
                    <a:cs typeface="IBM Plex Mono"/>
                    <a:sym typeface="IBM Plex Mono"/>
                  </a:rPr>
                  <a:t> }</a:t>
                </a:r>
              </a:p>
              <a:p>
                <a:pPr algn="l">
                  <a:lnSpc>
                    <a:spcPts val="1679"/>
                  </a:lnSpc>
                </a:pPr>
                <a:r>
                  <a:rPr lang="en-US" sz="1200" spc="28">
                    <a:solidFill>
                      <a:srgbClr val="0C1D4B"/>
                    </a:solidFill>
                    <a:latin typeface="IBM Plex Mono"/>
                    <a:ea typeface="IBM Plex Mono"/>
                    <a:cs typeface="IBM Plex Mono"/>
                    <a:sym typeface="IBM Plex Mono"/>
                  </a:rPr>
                  <a:t>}</a:t>
                </a:r>
              </a:p>
            </p:txBody>
          </p:sp>
        </p:grpSp>
        <p:sp>
          <p:nvSpPr>
            <p:cNvPr id="21" name="AutoShape 21"/>
            <p:cNvSpPr/>
            <p:nvPr/>
          </p:nvSpPr>
          <p:spPr>
            <a:xfrm flipV="1">
              <a:off x="4333698" y="3498899"/>
              <a:ext cx="1212404" cy="0"/>
            </a:xfrm>
            <a:prstGeom prst="line">
              <a:avLst/>
            </a:prstGeom>
            <a:ln w="50800" cap="flat">
              <a:solidFill>
                <a:srgbClr val="0C0C6B"/>
              </a:solidFill>
              <a:prstDash val="solid"/>
              <a:headEnd type="none" w="sm" len="sm"/>
              <a:tailEnd type="arrow" w="med" len="sm"/>
            </a:ln>
          </p:spPr>
          <p:txBody>
            <a:bodyPr/>
            <a:lstStyle/>
            <a:p>
              <a:endParaRPr lang="en-VN"/>
            </a:p>
          </p:txBody>
        </p:sp>
        <p:sp>
          <p:nvSpPr>
            <p:cNvPr id="22" name="Freeform 22"/>
            <p:cNvSpPr/>
            <p:nvPr/>
          </p:nvSpPr>
          <p:spPr>
            <a:xfrm>
              <a:off x="5633212" y="3058777"/>
              <a:ext cx="1500501" cy="1552911"/>
            </a:xfrm>
            <a:custGeom>
              <a:avLst/>
              <a:gdLst/>
              <a:ahLst/>
              <a:cxnLst/>
              <a:rect l="l" t="t" r="r" b="b"/>
              <a:pathLst>
                <a:path w="1500501" h="1552911">
                  <a:moveTo>
                    <a:pt x="0" y="0"/>
                  </a:moveTo>
                  <a:lnTo>
                    <a:pt x="1500500" y="0"/>
                  </a:lnTo>
                  <a:lnTo>
                    <a:pt x="1500500" y="1552911"/>
                  </a:lnTo>
                  <a:lnTo>
                    <a:pt x="0" y="155291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23" name="TextBox 23"/>
            <p:cNvSpPr txBox="1"/>
            <p:nvPr/>
          </p:nvSpPr>
          <p:spPr>
            <a:xfrm>
              <a:off x="5546102" y="2328960"/>
              <a:ext cx="1674719" cy="665884"/>
            </a:xfrm>
            <a:prstGeom prst="rect">
              <a:avLst/>
            </a:prstGeom>
          </p:spPr>
          <p:txBody>
            <a:bodyPr lIns="0" tIns="0" rIns="0" bIns="0" rtlCol="0" anchor="t">
              <a:spAutoFit/>
            </a:bodyPr>
            <a:lstStyle/>
            <a:p>
              <a:pPr algn="ctr">
                <a:lnSpc>
                  <a:spcPts val="4232"/>
                </a:lnSpc>
                <a:spcBef>
                  <a:spcPct val="0"/>
                </a:spcBef>
              </a:pPr>
              <a:r>
                <a:rPr lang="en-US" sz="3023" b="1">
                  <a:solidFill>
                    <a:srgbClr val="000000"/>
                  </a:solidFill>
                  <a:latin typeface="Roboto Slab Bold"/>
                  <a:ea typeface="Roboto Slab Bold"/>
                  <a:cs typeface="Roboto Slab Bold"/>
                  <a:sym typeface="Roboto Slab Bold"/>
                </a:rPr>
                <a:t>LLMs</a:t>
              </a:r>
            </a:p>
          </p:txBody>
        </p:sp>
        <p:sp>
          <p:nvSpPr>
            <p:cNvPr id="24" name="AutoShape 24"/>
            <p:cNvSpPr/>
            <p:nvPr/>
          </p:nvSpPr>
          <p:spPr>
            <a:xfrm flipV="1">
              <a:off x="7220822" y="3498899"/>
              <a:ext cx="3283491" cy="0"/>
            </a:xfrm>
            <a:prstGeom prst="line">
              <a:avLst/>
            </a:prstGeom>
            <a:ln w="50800" cap="flat">
              <a:solidFill>
                <a:srgbClr val="0C0C6B"/>
              </a:solidFill>
              <a:prstDash val="solid"/>
              <a:headEnd type="none" w="sm" len="sm"/>
              <a:tailEnd type="arrow" w="med" len="sm"/>
            </a:ln>
          </p:spPr>
          <p:txBody>
            <a:bodyPr/>
            <a:lstStyle/>
            <a:p>
              <a:endParaRPr lang="en-VN"/>
            </a:p>
          </p:txBody>
        </p:sp>
        <p:sp>
          <p:nvSpPr>
            <p:cNvPr id="25" name="TextBox 25"/>
            <p:cNvSpPr txBox="1"/>
            <p:nvPr/>
          </p:nvSpPr>
          <p:spPr>
            <a:xfrm>
              <a:off x="7528093" y="1997097"/>
              <a:ext cx="2671420" cy="1401972"/>
            </a:xfrm>
            <a:prstGeom prst="rect">
              <a:avLst/>
            </a:prstGeom>
          </p:spPr>
          <p:txBody>
            <a:bodyPr lIns="0" tIns="0" rIns="0" bIns="0" rtlCol="0" anchor="t">
              <a:spAutoFit/>
            </a:bodyPr>
            <a:lstStyle/>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Làm sạch dữ liệu</a:t>
              </a:r>
            </a:p>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Gắn metadata</a:t>
              </a:r>
            </a:p>
          </p:txBody>
        </p:sp>
        <p:grpSp>
          <p:nvGrpSpPr>
            <p:cNvPr id="26" name="Group 26"/>
            <p:cNvGrpSpPr/>
            <p:nvPr/>
          </p:nvGrpSpPr>
          <p:grpSpPr>
            <a:xfrm>
              <a:off x="18217589" y="2272183"/>
              <a:ext cx="4141889" cy="928000"/>
              <a:chOff x="0" y="0"/>
              <a:chExt cx="818151" cy="183309"/>
            </a:xfrm>
          </p:grpSpPr>
          <p:sp>
            <p:nvSpPr>
              <p:cNvPr id="27" name="Freeform 27"/>
              <p:cNvSpPr/>
              <p:nvPr/>
            </p:nvSpPr>
            <p:spPr>
              <a:xfrm>
                <a:off x="0" y="0"/>
                <a:ext cx="818151" cy="183309"/>
              </a:xfrm>
              <a:custGeom>
                <a:avLst/>
                <a:gdLst/>
                <a:ahLst/>
                <a:cxnLst/>
                <a:rect l="l" t="t" r="r" b="b"/>
                <a:pathLst>
                  <a:path w="818151" h="183309">
                    <a:moveTo>
                      <a:pt x="69783" y="0"/>
                    </a:moveTo>
                    <a:lnTo>
                      <a:pt x="748368" y="0"/>
                    </a:lnTo>
                    <a:cubicBezTo>
                      <a:pt x="786908" y="0"/>
                      <a:pt x="818151" y="31243"/>
                      <a:pt x="818151" y="69783"/>
                    </a:cubicBezTo>
                    <a:lnTo>
                      <a:pt x="818151" y="113526"/>
                    </a:lnTo>
                    <a:cubicBezTo>
                      <a:pt x="818151" y="132033"/>
                      <a:pt x="810799" y="149783"/>
                      <a:pt x="797712" y="162870"/>
                    </a:cubicBezTo>
                    <a:cubicBezTo>
                      <a:pt x="784625" y="175956"/>
                      <a:pt x="766876" y="183309"/>
                      <a:pt x="748368"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txBody>
              <a:bodyPr/>
              <a:lstStyle/>
              <a:p>
                <a:endParaRPr lang="en-VN"/>
              </a:p>
            </p:txBody>
          </p:sp>
          <p:sp>
            <p:nvSpPr>
              <p:cNvPr id="28" name="TextBox 28"/>
              <p:cNvSpPr txBox="1"/>
              <p:nvPr/>
            </p:nvSpPr>
            <p:spPr>
              <a:xfrm>
                <a:off x="0" y="-38100"/>
                <a:ext cx="818151"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ChromaDB</a:t>
                </a:r>
              </a:p>
            </p:txBody>
          </p:sp>
        </p:grpSp>
        <p:sp>
          <p:nvSpPr>
            <p:cNvPr id="29" name="AutoShape 29"/>
            <p:cNvSpPr/>
            <p:nvPr/>
          </p:nvSpPr>
          <p:spPr>
            <a:xfrm flipV="1">
              <a:off x="15101259" y="2736183"/>
              <a:ext cx="3116330" cy="762716"/>
            </a:xfrm>
            <a:prstGeom prst="line">
              <a:avLst/>
            </a:prstGeom>
            <a:ln w="50800" cap="flat">
              <a:solidFill>
                <a:srgbClr val="0C0C6B"/>
              </a:solidFill>
              <a:prstDash val="solid"/>
              <a:headEnd type="none" w="sm" len="sm"/>
              <a:tailEnd type="arrow" w="med" len="sm"/>
            </a:ln>
          </p:spPr>
          <p:txBody>
            <a:bodyPr/>
            <a:lstStyle/>
            <a:p>
              <a:endParaRPr lang="en-VN"/>
            </a:p>
          </p:txBody>
        </p:sp>
        <p:sp>
          <p:nvSpPr>
            <p:cNvPr id="30" name="TextBox 30"/>
            <p:cNvSpPr txBox="1"/>
            <p:nvPr/>
          </p:nvSpPr>
          <p:spPr>
            <a:xfrm rot="-860574">
              <a:off x="15314276" y="2127951"/>
              <a:ext cx="2671420" cy="919408"/>
            </a:xfrm>
            <a:prstGeom prst="rect">
              <a:avLst/>
            </a:prstGeom>
          </p:spPr>
          <p:txBody>
            <a:bodyPr lIns="0" tIns="0" rIns="0" bIns="0" rtlCol="0" anchor="t">
              <a:spAutoFit/>
            </a:bodyPr>
            <a:lstStyle/>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Chunking </a:t>
              </a:r>
            </a:p>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Vector hoá </a:t>
              </a:r>
            </a:p>
          </p:txBody>
        </p:sp>
        <p:sp>
          <p:nvSpPr>
            <p:cNvPr id="31" name="TextBox 31"/>
            <p:cNvSpPr txBox="1"/>
            <p:nvPr/>
          </p:nvSpPr>
          <p:spPr>
            <a:xfrm>
              <a:off x="1320998" y="1636453"/>
              <a:ext cx="1691701" cy="436844"/>
            </a:xfrm>
            <a:prstGeom prst="rect">
              <a:avLst/>
            </a:prstGeom>
          </p:spPr>
          <p:txBody>
            <a:bodyPr lIns="0" tIns="0" rIns="0" bIns="0" rtlCol="0" anchor="t">
              <a:spAutoFit/>
            </a:bodyPr>
            <a:lstStyle/>
            <a:p>
              <a:pPr algn="ctr">
                <a:lnSpc>
                  <a:spcPts val="2880"/>
                </a:lnSpc>
              </a:pPr>
              <a:r>
                <a:rPr lang="en-US" sz="1800">
                  <a:solidFill>
                    <a:srgbClr val="0C1D4B"/>
                  </a:solidFill>
                  <a:latin typeface="Roboto Slab"/>
                  <a:ea typeface="Roboto Slab"/>
                  <a:cs typeface="Roboto Slab"/>
                  <a:sym typeface="Roboto Slab"/>
                </a:rPr>
                <a:t>Dữ liệu thô</a:t>
              </a:r>
            </a:p>
          </p:txBody>
        </p:sp>
        <p:sp>
          <p:nvSpPr>
            <p:cNvPr id="32" name="TextBox 32"/>
            <p:cNvSpPr txBox="1"/>
            <p:nvPr/>
          </p:nvSpPr>
          <p:spPr>
            <a:xfrm>
              <a:off x="11127942" y="-76200"/>
              <a:ext cx="3349687" cy="919408"/>
            </a:xfrm>
            <a:prstGeom prst="rect">
              <a:avLst/>
            </a:prstGeom>
          </p:spPr>
          <p:txBody>
            <a:bodyPr lIns="0" tIns="0" rIns="0" bIns="0" rtlCol="0" anchor="t">
              <a:spAutoFit/>
            </a:bodyPr>
            <a:lstStyle/>
            <a:p>
              <a:pPr algn="ctr">
                <a:lnSpc>
                  <a:spcPts val="2880"/>
                </a:lnSpc>
              </a:pPr>
              <a:r>
                <a:rPr lang="en-US" sz="1800">
                  <a:solidFill>
                    <a:srgbClr val="0C1D4B"/>
                  </a:solidFill>
                  <a:latin typeface="Roboto Slab"/>
                  <a:ea typeface="Roboto Slab"/>
                  <a:cs typeface="Roboto Slab"/>
                  <a:sym typeface="Roboto Slab"/>
                </a:rPr>
                <a:t>Dữ liệu sau khi làm sạch và gắn metadata</a:t>
              </a:r>
            </a:p>
          </p:txBody>
        </p:sp>
        <p:grpSp>
          <p:nvGrpSpPr>
            <p:cNvPr id="33" name="Group 33"/>
            <p:cNvGrpSpPr/>
            <p:nvPr/>
          </p:nvGrpSpPr>
          <p:grpSpPr>
            <a:xfrm>
              <a:off x="18217589" y="3917271"/>
              <a:ext cx="4141889" cy="928000"/>
              <a:chOff x="0" y="0"/>
              <a:chExt cx="818151" cy="183309"/>
            </a:xfrm>
          </p:grpSpPr>
          <p:sp>
            <p:nvSpPr>
              <p:cNvPr id="34" name="Freeform 34"/>
              <p:cNvSpPr/>
              <p:nvPr/>
            </p:nvSpPr>
            <p:spPr>
              <a:xfrm>
                <a:off x="0" y="0"/>
                <a:ext cx="818151" cy="183309"/>
              </a:xfrm>
              <a:custGeom>
                <a:avLst/>
                <a:gdLst/>
                <a:ahLst/>
                <a:cxnLst/>
                <a:rect l="l" t="t" r="r" b="b"/>
                <a:pathLst>
                  <a:path w="818151" h="183309">
                    <a:moveTo>
                      <a:pt x="69783" y="0"/>
                    </a:moveTo>
                    <a:lnTo>
                      <a:pt x="748368" y="0"/>
                    </a:lnTo>
                    <a:cubicBezTo>
                      <a:pt x="786908" y="0"/>
                      <a:pt x="818151" y="31243"/>
                      <a:pt x="818151" y="69783"/>
                    </a:cubicBezTo>
                    <a:lnTo>
                      <a:pt x="818151" y="113526"/>
                    </a:lnTo>
                    <a:cubicBezTo>
                      <a:pt x="818151" y="132033"/>
                      <a:pt x="810799" y="149783"/>
                      <a:pt x="797712" y="162870"/>
                    </a:cubicBezTo>
                    <a:cubicBezTo>
                      <a:pt x="784625" y="175956"/>
                      <a:pt x="766876" y="183309"/>
                      <a:pt x="748368" y="183309"/>
                    </a:cubicBezTo>
                    <a:lnTo>
                      <a:pt x="69783" y="183309"/>
                    </a:lnTo>
                    <a:cubicBezTo>
                      <a:pt x="51275" y="183309"/>
                      <a:pt x="33526" y="175956"/>
                      <a:pt x="20439" y="162870"/>
                    </a:cubicBezTo>
                    <a:cubicBezTo>
                      <a:pt x="7352" y="149783"/>
                      <a:pt x="0" y="132033"/>
                      <a:pt x="0" y="113526"/>
                    </a:cubicBezTo>
                    <a:lnTo>
                      <a:pt x="0" y="69783"/>
                    </a:lnTo>
                    <a:cubicBezTo>
                      <a:pt x="0" y="51275"/>
                      <a:pt x="7352" y="33526"/>
                      <a:pt x="20439" y="20439"/>
                    </a:cubicBezTo>
                    <a:cubicBezTo>
                      <a:pt x="33526" y="7352"/>
                      <a:pt x="51275" y="0"/>
                      <a:pt x="69783" y="0"/>
                    </a:cubicBezTo>
                    <a:close/>
                  </a:path>
                </a:pathLst>
              </a:custGeom>
              <a:solidFill>
                <a:srgbClr val="0D1D4B"/>
              </a:solidFill>
            </p:spPr>
            <p:txBody>
              <a:bodyPr/>
              <a:lstStyle/>
              <a:p>
                <a:endParaRPr lang="en-VN"/>
              </a:p>
            </p:txBody>
          </p:sp>
          <p:sp>
            <p:nvSpPr>
              <p:cNvPr id="35" name="TextBox 35"/>
              <p:cNvSpPr txBox="1"/>
              <p:nvPr/>
            </p:nvSpPr>
            <p:spPr>
              <a:xfrm>
                <a:off x="0" y="-38100"/>
                <a:ext cx="818151" cy="221409"/>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MongoDB</a:t>
                </a:r>
              </a:p>
            </p:txBody>
          </p:sp>
        </p:grpSp>
        <p:sp>
          <p:nvSpPr>
            <p:cNvPr id="36" name="AutoShape 36"/>
            <p:cNvSpPr/>
            <p:nvPr/>
          </p:nvSpPr>
          <p:spPr>
            <a:xfrm>
              <a:off x="15101259" y="3498899"/>
              <a:ext cx="3116330" cy="882372"/>
            </a:xfrm>
            <a:prstGeom prst="line">
              <a:avLst/>
            </a:prstGeom>
            <a:ln w="50800" cap="flat">
              <a:solidFill>
                <a:srgbClr val="0C0C6B"/>
              </a:solidFill>
              <a:prstDash val="solid"/>
              <a:headEnd type="none" w="sm" len="sm"/>
              <a:tailEnd type="arrow" w="med" len="sm"/>
            </a:ln>
          </p:spPr>
          <p:txBody>
            <a:bodyPr/>
            <a:lstStyle/>
            <a:p>
              <a:endParaRPr lang="en-VN"/>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331147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3.5. Xây dựng hệ thống truy vấn pháp luật nội bộ - RAG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Chunking, Embedding và lưu trữ ChromaDB</a:t>
            </a:r>
          </a:p>
        </p:txBody>
      </p:sp>
      <p:sp>
        <p:nvSpPr>
          <p:cNvPr id="13" name="TextBox 13"/>
          <p:cNvSpPr txBox="1"/>
          <p:nvPr/>
        </p:nvSpPr>
        <p:spPr>
          <a:xfrm>
            <a:off x="1028700" y="2515818"/>
            <a:ext cx="13822752" cy="1906688"/>
          </a:xfrm>
          <a:prstGeom prst="rect">
            <a:avLst/>
          </a:prstGeom>
        </p:spPr>
        <p:txBody>
          <a:bodyPr lIns="0" tIns="0" rIns="0" bIns="0" rtlCol="0" anchor="t">
            <a:spAutoFit/>
          </a:bodyPr>
          <a:lstStyle/>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Chiến thuật chunking lai: điều luật ngắn được giữ nguyên, điều luật dài mới được chia nhỏ</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Ngưỡng chia được cấu hình tối đa 1000 từ với overlap 150 từ</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Embedding dùng để tìm kiếm tương đồng ngữ nghĩa</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Document và metadata được trả về làm context pháp lý cho Agent</a:t>
            </a:r>
          </a:p>
        </p:txBody>
      </p:sp>
      <p:grpSp>
        <p:nvGrpSpPr>
          <p:cNvPr id="14" name="Group 14"/>
          <p:cNvGrpSpPr/>
          <p:nvPr/>
        </p:nvGrpSpPr>
        <p:grpSpPr>
          <a:xfrm>
            <a:off x="-912143" y="9429369"/>
            <a:ext cx="1940843" cy="970417"/>
            <a:chOff x="0" y="0"/>
            <a:chExt cx="2587790" cy="1293889"/>
          </a:xfrm>
        </p:grpSpPr>
        <p:sp>
          <p:nvSpPr>
            <p:cNvPr id="15" name="Freeform 1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16" name="Group 16"/>
          <p:cNvGrpSpPr/>
          <p:nvPr/>
        </p:nvGrpSpPr>
        <p:grpSpPr>
          <a:xfrm>
            <a:off x="1290150" y="4606260"/>
            <a:ext cx="15707699" cy="5196422"/>
            <a:chOff x="0" y="0"/>
            <a:chExt cx="20943599" cy="6928562"/>
          </a:xfrm>
        </p:grpSpPr>
        <p:grpSp>
          <p:nvGrpSpPr>
            <p:cNvPr id="17" name="Group 17"/>
            <p:cNvGrpSpPr/>
            <p:nvPr/>
          </p:nvGrpSpPr>
          <p:grpSpPr>
            <a:xfrm>
              <a:off x="0" y="1463004"/>
              <a:ext cx="4596946" cy="4914998"/>
              <a:chOff x="0" y="0"/>
              <a:chExt cx="908039" cy="970864"/>
            </a:xfrm>
          </p:grpSpPr>
          <p:sp>
            <p:nvSpPr>
              <p:cNvPr id="18" name="Freeform 18"/>
              <p:cNvSpPr/>
              <p:nvPr/>
            </p:nvSpPr>
            <p:spPr>
              <a:xfrm>
                <a:off x="0" y="0"/>
                <a:ext cx="908039" cy="970864"/>
              </a:xfrm>
              <a:custGeom>
                <a:avLst/>
                <a:gdLst/>
                <a:ahLst/>
                <a:cxnLst/>
                <a:rect l="l" t="t" r="r" b="b"/>
                <a:pathLst>
                  <a:path w="908039" h="970864">
                    <a:moveTo>
                      <a:pt x="62875" y="0"/>
                    </a:moveTo>
                    <a:lnTo>
                      <a:pt x="845164" y="0"/>
                    </a:lnTo>
                    <a:cubicBezTo>
                      <a:pt x="879889" y="0"/>
                      <a:pt x="908039" y="28150"/>
                      <a:pt x="908039" y="62875"/>
                    </a:cubicBezTo>
                    <a:lnTo>
                      <a:pt x="908039" y="907989"/>
                    </a:lnTo>
                    <a:cubicBezTo>
                      <a:pt x="908039" y="942714"/>
                      <a:pt x="879889" y="970864"/>
                      <a:pt x="845164" y="970864"/>
                    </a:cubicBezTo>
                    <a:lnTo>
                      <a:pt x="62875" y="970864"/>
                    </a:lnTo>
                    <a:cubicBezTo>
                      <a:pt x="28150" y="970864"/>
                      <a:pt x="0" y="942714"/>
                      <a:pt x="0" y="907989"/>
                    </a:cubicBezTo>
                    <a:lnTo>
                      <a:pt x="0" y="62875"/>
                    </a:lnTo>
                    <a:cubicBezTo>
                      <a:pt x="0" y="28150"/>
                      <a:pt x="28150" y="0"/>
                      <a:pt x="62875" y="0"/>
                    </a:cubicBezTo>
                    <a:close/>
                  </a:path>
                </a:pathLst>
              </a:custGeom>
              <a:ln w="19050" cap="rnd">
                <a:solidFill>
                  <a:srgbClr val="000000"/>
                </a:solidFill>
                <a:prstDash val="solid"/>
                <a:round/>
              </a:ln>
            </p:spPr>
            <p:txBody>
              <a:bodyPr/>
              <a:lstStyle/>
              <a:p>
                <a:endParaRPr lang="en-VN"/>
              </a:p>
            </p:txBody>
          </p:sp>
          <p:sp>
            <p:nvSpPr>
              <p:cNvPr id="19" name="TextBox 19"/>
              <p:cNvSpPr txBox="1"/>
              <p:nvPr/>
            </p:nvSpPr>
            <p:spPr>
              <a:xfrm>
                <a:off x="0" y="-19050"/>
                <a:ext cx="908039" cy="989914"/>
              </a:xfrm>
              <a:prstGeom prst="rect">
                <a:avLst/>
              </a:prstGeom>
            </p:spPr>
            <p:txBody>
              <a:bodyPr lIns="50800" tIns="50800" rIns="50800" bIns="50800" rtlCol="0" anchor="ctr"/>
              <a:lstStyle/>
              <a:p>
                <a:pPr algn="l">
                  <a:lnSpc>
                    <a:spcPts val="1679"/>
                  </a:lnSpc>
                </a:pPr>
                <a:r>
                  <a:rPr lang="en-US" sz="1200" spc="28">
                    <a:solidFill>
                      <a:srgbClr val="0C1D4B"/>
                    </a:solidFill>
                    <a:latin typeface="IBM Plex Mono"/>
                    <a:ea typeface="IBM Plex Mono"/>
                    <a:cs typeface="IBM Plex Mono"/>
                    <a:sym typeface="IBM Plex Mono"/>
                  </a:rPr>
                  <a:t>{</a:t>
                </a:r>
              </a:p>
              <a:p>
                <a:pPr algn="l">
                  <a:lnSpc>
                    <a:spcPts val="1679"/>
                  </a:lnSpc>
                </a:pPr>
                <a:r>
                  <a:rPr lang="en-US" sz="1200" spc="28">
                    <a:solidFill>
                      <a:srgbClr val="0C1D4B"/>
                    </a:solidFill>
                    <a:latin typeface="IBM Plex Mono"/>
                    <a:ea typeface="IBM Plex Mono"/>
                    <a:cs typeface="IBM Plex Mono"/>
                    <a:sym typeface="IBM Plex Mono"/>
                  </a:rPr>
                  <a:t> "law_id": "100/2015/QH13",</a:t>
                </a:r>
              </a:p>
              <a:p>
                <a:pPr algn="l">
                  <a:lnSpc>
                    <a:spcPts val="1679"/>
                  </a:lnSpc>
                </a:pPr>
                <a:r>
                  <a:rPr lang="en-US" sz="1200" spc="28">
                    <a:solidFill>
                      <a:srgbClr val="0C1D4B"/>
                    </a:solidFill>
                    <a:latin typeface="IBM Plex Mono"/>
                    <a:ea typeface="IBM Plex Mono"/>
                    <a:cs typeface="IBM Plex Mono"/>
                    <a:sym typeface="IBM Plex Mono"/>
                  </a:rPr>
                  <a:t> "article_id": "173",</a:t>
                </a:r>
              </a:p>
              <a:p>
                <a:pPr algn="l">
                  <a:lnSpc>
                    <a:spcPts val="1679"/>
                  </a:lnSpc>
                </a:pPr>
                <a:r>
                  <a:rPr lang="en-US" sz="1200" spc="28">
                    <a:solidFill>
                      <a:srgbClr val="0C1D4B"/>
                    </a:solidFill>
                    <a:latin typeface="IBM Plex Mono"/>
                    <a:ea typeface="IBM Plex Mono"/>
                    <a:cs typeface="IBM Plex Mono"/>
                    <a:sym typeface="IBM Plex Mono"/>
                  </a:rPr>
                  <a:t> "title": "Điều 173. Tội trộm cắp tài sản",</a:t>
                </a:r>
              </a:p>
              <a:p>
                <a:pPr algn="l">
                  <a:lnSpc>
                    <a:spcPts val="1679"/>
                  </a:lnSpc>
                </a:pPr>
                <a:r>
                  <a:rPr lang="en-US" sz="1200" spc="28">
                    <a:solidFill>
                      <a:srgbClr val="0C1D4B"/>
                    </a:solidFill>
                    <a:latin typeface="IBM Plex Mono"/>
                    <a:ea typeface="IBM Plex Mono"/>
                    <a:cs typeface="IBM Plex Mono"/>
                    <a:sym typeface="IBM Plex Mono"/>
                  </a:rPr>
                  <a:t> "text": "Người nào trộm cắp tài sản của người khác...",</a:t>
                </a:r>
              </a:p>
              <a:p>
                <a:pPr algn="l">
                  <a:lnSpc>
                    <a:spcPts val="1679"/>
                  </a:lnSpc>
                </a:pPr>
                <a:r>
                  <a:rPr lang="en-US" sz="1200" spc="28">
                    <a:solidFill>
                      <a:srgbClr val="0C1D4B"/>
                    </a:solidFill>
                    <a:latin typeface="IBM Plex Mono"/>
                    <a:ea typeface="IBM Plex Mono"/>
                    <a:cs typeface="IBM Plex Mono"/>
                    <a:sym typeface="IBM Plex Mono"/>
                  </a:rPr>
                  <a:t> "metadata": {</a:t>
                </a:r>
              </a:p>
              <a:p>
                <a:pPr algn="l">
                  <a:lnSpc>
                    <a:spcPts val="1679"/>
                  </a:lnSpc>
                </a:pPr>
                <a:r>
                  <a:rPr lang="en-US" sz="1200" spc="28">
                    <a:solidFill>
                      <a:srgbClr val="0C1D4B"/>
                    </a:solidFill>
                    <a:latin typeface="IBM Plex Mono"/>
                    <a:ea typeface="IBM Plex Mono"/>
                    <a:cs typeface="IBM Plex Mono"/>
                    <a:sym typeface="IBM Plex Mono"/>
                  </a:rPr>
                  <a:t> "year": "2015",</a:t>
                </a:r>
              </a:p>
              <a:p>
                <a:pPr algn="l">
                  <a:lnSpc>
                    <a:spcPts val="1679"/>
                  </a:lnSpc>
                </a:pPr>
                <a:r>
                  <a:rPr lang="en-US" sz="1200" spc="28">
                    <a:solidFill>
                      <a:srgbClr val="0C1D4B"/>
                    </a:solidFill>
                    <a:latin typeface="IBM Plex Mono"/>
                    <a:ea typeface="IBM Plex Mono"/>
                    <a:cs typeface="IBM Plex Mono"/>
                    <a:sym typeface="IBM Plex Mono"/>
                  </a:rPr>
                  <a:t> "topics": ["Hình sự"],</a:t>
                </a:r>
              </a:p>
              <a:p>
                <a:pPr algn="l">
                  <a:lnSpc>
                    <a:spcPts val="1679"/>
                  </a:lnSpc>
                </a:pPr>
                <a:r>
                  <a:rPr lang="en-US" sz="1200" spc="28">
                    <a:solidFill>
                      <a:srgbClr val="0C1D4B"/>
                    </a:solidFill>
                    <a:latin typeface="IBM Plex Mono"/>
                    <a:ea typeface="IBM Plex Mono"/>
                    <a:cs typeface="IBM Plex Mono"/>
                    <a:sym typeface="IBM Plex Mono"/>
                  </a:rPr>
                  <a:t> "keywords": ["trộm cắp tài sản", "khung hình phạt"],</a:t>
                </a:r>
              </a:p>
              <a:p>
                <a:pPr algn="l">
                  <a:lnSpc>
                    <a:spcPts val="1679"/>
                  </a:lnSpc>
                </a:pPr>
                <a:r>
                  <a:rPr lang="en-US" sz="1200" spc="28">
                    <a:solidFill>
                      <a:srgbClr val="0C1D4B"/>
                    </a:solidFill>
                    <a:latin typeface="IBM Plex Mono"/>
                    <a:ea typeface="IBM Plex Mono"/>
                    <a:cs typeface="IBM Plex Mono"/>
                    <a:sym typeface="IBM Plex Mono"/>
                  </a:rPr>
                  <a:t> "summary": "Quy định về tội trộm cắp tài sản."</a:t>
                </a:r>
              </a:p>
              <a:p>
                <a:pPr algn="l">
                  <a:lnSpc>
                    <a:spcPts val="1679"/>
                  </a:lnSpc>
                </a:pPr>
                <a:r>
                  <a:rPr lang="en-US" sz="1200" spc="28">
                    <a:solidFill>
                      <a:srgbClr val="0C1D4B"/>
                    </a:solidFill>
                    <a:latin typeface="IBM Plex Mono"/>
                    <a:ea typeface="IBM Plex Mono"/>
                    <a:cs typeface="IBM Plex Mono"/>
                    <a:sym typeface="IBM Plex Mono"/>
                  </a:rPr>
                  <a:t> }</a:t>
                </a:r>
              </a:p>
              <a:p>
                <a:pPr algn="l">
                  <a:lnSpc>
                    <a:spcPts val="1679"/>
                  </a:lnSpc>
                </a:pPr>
                <a:r>
                  <a:rPr lang="en-US" sz="1200" spc="28">
                    <a:solidFill>
                      <a:srgbClr val="0C1D4B"/>
                    </a:solidFill>
                    <a:latin typeface="IBM Plex Mono"/>
                    <a:ea typeface="IBM Plex Mono"/>
                    <a:cs typeface="IBM Plex Mono"/>
                    <a:sym typeface="IBM Plex Mono"/>
                  </a:rPr>
                  <a:t>}</a:t>
                </a:r>
              </a:p>
            </p:txBody>
          </p:sp>
        </p:grpSp>
        <p:sp>
          <p:nvSpPr>
            <p:cNvPr id="20" name="TextBox 20"/>
            <p:cNvSpPr txBox="1"/>
            <p:nvPr/>
          </p:nvSpPr>
          <p:spPr>
            <a:xfrm>
              <a:off x="623629" y="345404"/>
              <a:ext cx="3349687" cy="919408"/>
            </a:xfrm>
            <a:prstGeom prst="rect">
              <a:avLst/>
            </a:prstGeom>
          </p:spPr>
          <p:txBody>
            <a:bodyPr lIns="0" tIns="0" rIns="0" bIns="0" rtlCol="0" anchor="t">
              <a:spAutoFit/>
            </a:bodyPr>
            <a:lstStyle/>
            <a:p>
              <a:pPr algn="ctr">
                <a:lnSpc>
                  <a:spcPts val="2880"/>
                </a:lnSpc>
              </a:pPr>
              <a:r>
                <a:rPr lang="en-US" sz="1800">
                  <a:solidFill>
                    <a:srgbClr val="0C1D4B"/>
                  </a:solidFill>
                  <a:latin typeface="Roboto Slab"/>
                  <a:ea typeface="Roboto Slab"/>
                  <a:cs typeface="Roboto Slab"/>
                  <a:sym typeface="Roboto Slab"/>
                </a:rPr>
                <a:t>Dữ liệu sau khi làm sạch và gắn metadata</a:t>
              </a:r>
            </a:p>
          </p:txBody>
        </p:sp>
        <p:sp>
          <p:nvSpPr>
            <p:cNvPr id="21" name="AutoShape 21"/>
            <p:cNvSpPr/>
            <p:nvPr/>
          </p:nvSpPr>
          <p:spPr>
            <a:xfrm>
              <a:off x="4596946" y="3920503"/>
              <a:ext cx="3024838" cy="0"/>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22" name="Group 22"/>
            <p:cNvGrpSpPr/>
            <p:nvPr/>
          </p:nvGrpSpPr>
          <p:grpSpPr>
            <a:xfrm>
              <a:off x="7621784" y="2874129"/>
              <a:ext cx="3056661" cy="2092748"/>
              <a:chOff x="0" y="0"/>
              <a:chExt cx="603785" cy="413382"/>
            </a:xfrm>
          </p:grpSpPr>
          <p:sp>
            <p:nvSpPr>
              <p:cNvPr id="23" name="Freeform 23"/>
              <p:cNvSpPr/>
              <p:nvPr/>
            </p:nvSpPr>
            <p:spPr>
              <a:xfrm>
                <a:off x="0" y="0"/>
                <a:ext cx="603785" cy="413382"/>
              </a:xfrm>
              <a:custGeom>
                <a:avLst/>
                <a:gdLst/>
                <a:ahLst/>
                <a:cxnLst/>
                <a:rect l="l" t="t" r="r" b="b"/>
                <a:pathLst>
                  <a:path w="603785" h="413382">
                    <a:moveTo>
                      <a:pt x="94558" y="0"/>
                    </a:moveTo>
                    <a:lnTo>
                      <a:pt x="509227" y="0"/>
                    </a:lnTo>
                    <a:cubicBezTo>
                      <a:pt x="561450" y="0"/>
                      <a:pt x="603785" y="42335"/>
                      <a:pt x="603785" y="94558"/>
                    </a:cubicBezTo>
                    <a:lnTo>
                      <a:pt x="603785" y="318824"/>
                    </a:lnTo>
                    <a:cubicBezTo>
                      <a:pt x="603785" y="371047"/>
                      <a:pt x="561450" y="413382"/>
                      <a:pt x="509227" y="413382"/>
                    </a:cubicBezTo>
                    <a:lnTo>
                      <a:pt x="94558" y="413382"/>
                    </a:lnTo>
                    <a:cubicBezTo>
                      <a:pt x="42335" y="413382"/>
                      <a:pt x="0" y="371047"/>
                      <a:pt x="0" y="318824"/>
                    </a:cubicBezTo>
                    <a:lnTo>
                      <a:pt x="0" y="94558"/>
                    </a:lnTo>
                    <a:cubicBezTo>
                      <a:pt x="0" y="42335"/>
                      <a:pt x="42335" y="0"/>
                      <a:pt x="94558" y="0"/>
                    </a:cubicBezTo>
                    <a:close/>
                  </a:path>
                </a:pathLst>
              </a:custGeom>
              <a:solidFill>
                <a:srgbClr val="0D1D4B"/>
              </a:solidFill>
            </p:spPr>
            <p:txBody>
              <a:bodyPr/>
              <a:lstStyle/>
              <a:p>
                <a:endParaRPr lang="en-VN"/>
              </a:p>
            </p:txBody>
          </p:sp>
          <p:sp>
            <p:nvSpPr>
              <p:cNvPr id="24" name="TextBox 24"/>
              <p:cNvSpPr txBox="1"/>
              <p:nvPr/>
            </p:nvSpPr>
            <p:spPr>
              <a:xfrm>
                <a:off x="0" y="-38100"/>
                <a:ext cx="603785" cy="451482"/>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Chunk 0</a:t>
                </a:r>
              </a:p>
              <a:p>
                <a:pPr algn="ctr">
                  <a:lnSpc>
                    <a:spcPts val="2940"/>
                  </a:lnSpc>
                </a:pPr>
                <a:r>
                  <a:rPr lang="en-US" sz="2100" b="1" spc="50">
                    <a:solidFill>
                      <a:srgbClr val="FFFFFF"/>
                    </a:solidFill>
                    <a:latin typeface="Roboto Slab Bold"/>
                    <a:ea typeface="Roboto Slab Bold"/>
                    <a:cs typeface="Roboto Slab Bold"/>
                    <a:sym typeface="Roboto Slab Bold"/>
                  </a:rPr>
                  <a:t>Chung 1</a:t>
                </a:r>
              </a:p>
              <a:p>
                <a:pPr algn="ctr">
                  <a:lnSpc>
                    <a:spcPts val="2940"/>
                  </a:lnSpc>
                </a:pPr>
                <a:r>
                  <a:rPr lang="en-US" sz="2100" b="1" spc="50">
                    <a:solidFill>
                      <a:srgbClr val="FFFFFF"/>
                    </a:solidFill>
                    <a:latin typeface="Roboto Slab Bold"/>
                    <a:ea typeface="Roboto Slab Bold"/>
                    <a:cs typeface="Roboto Slab Bold"/>
                    <a:sym typeface="Roboto Slab Bold"/>
                  </a:rPr>
                  <a:t>...</a:t>
                </a:r>
              </a:p>
            </p:txBody>
          </p:sp>
        </p:grpSp>
        <p:sp>
          <p:nvSpPr>
            <p:cNvPr id="25" name="AutoShape 25"/>
            <p:cNvSpPr/>
            <p:nvPr/>
          </p:nvSpPr>
          <p:spPr>
            <a:xfrm flipV="1">
              <a:off x="10678445" y="3920503"/>
              <a:ext cx="4266456" cy="0"/>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26" name="Group 26"/>
            <p:cNvGrpSpPr/>
            <p:nvPr/>
          </p:nvGrpSpPr>
          <p:grpSpPr>
            <a:xfrm>
              <a:off x="14944901" y="912443"/>
              <a:ext cx="5998698" cy="6016119"/>
              <a:chOff x="0" y="0"/>
              <a:chExt cx="1184928" cy="1188369"/>
            </a:xfrm>
          </p:grpSpPr>
          <p:sp>
            <p:nvSpPr>
              <p:cNvPr id="27" name="Freeform 27"/>
              <p:cNvSpPr/>
              <p:nvPr/>
            </p:nvSpPr>
            <p:spPr>
              <a:xfrm>
                <a:off x="0" y="0"/>
                <a:ext cx="1184928" cy="1188369"/>
              </a:xfrm>
              <a:custGeom>
                <a:avLst/>
                <a:gdLst/>
                <a:ahLst/>
                <a:cxnLst/>
                <a:rect l="l" t="t" r="r" b="b"/>
                <a:pathLst>
                  <a:path w="1184928" h="1188369">
                    <a:moveTo>
                      <a:pt x="48182" y="0"/>
                    </a:moveTo>
                    <a:lnTo>
                      <a:pt x="1136746" y="0"/>
                    </a:lnTo>
                    <a:cubicBezTo>
                      <a:pt x="1149524" y="0"/>
                      <a:pt x="1161780" y="5076"/>
                      <a:pt x="1170816" y="14112"/>
                    </a:cubicBezTo>
                    <a:cubicBezTo>
                      <a:pt x="1179852" y="23148"/>
                      <a:pt x="1184928" y="35404"/>
                      <a:pt x="1184928" y="48182"/>
                    </a:cubicBezTo>
                    <a:lnTo>
                      <a:pt x="1184928" y="1140187"/>
                    </a:lnTo>
                    <a:cubicBezTo>
                      <a:pt x="1184928" y="1152966"/>
                      <a:pt x="1179852" y="1165221"/>
                      <a:pt x="1170816" y="1174257"/>
                    </a:cubicBezTo>
                    <a:cubicBezTo>
                      <a:pt x="1161780" y="1183293"/>
                      <a:pt x="1149524" y="1188369"/>
                      <a:pt x="1136746" y="1188369"/>
                    </a:cubicBezTo>
                    <a:lnTo>
                      <a:pt x="48182" y="1188369"/>
                    </a:lnTo>
                    <a:cubicBezTo>
                      <a:pt x="35404" y="1188369"/>
                      <a:pt x="23148" y="1183293"/>
                      <a:pt x="14112" y="1174257"/>
                    </a:cubicBezTo>
                    <a:cubicBezTo>
                      <a:pt x="5076" y="1165221"/>
                      <a:pt x="0" y="1152966"/>
                      <a:pt x="0" y="1140187"/>
                    </a:cubicBezTo>
                    <a:lnTo>
                      <a:pt x="0" y="48182"/>
                    </a:lnTo>
                    <a:cubicBezTo>
                      <a:pt x="0" y="35404"/>
                      <a:pt x="5076" y="23148"/>
                      <a:pt x="14112" y="14112"/>
                    </a:cubicBezTo>
                    <a:cubicBezTo>
                      <a:pt x="23148" y="5076"/>
                      <a:pt x="35404" y="0"/>
                      <a:pt x="48182" y="0"/>
                    </a:cubicBezTo>
                    <a:close/>
                  </a:path>
                </a:pathLst>
              </a:custGeom>
              <a:ln w="19050" cap="rnd">
                <a:solidFill>
                  <a:srgbClr val="000000"/>
                </a:solidFill>
                <a:prstDash val="solid"/>
                <a:round/>
              </a:ln>
            </p:spPr>
            <p:txBody>
              <a:bodyPr/>
              <a:lstStyle/>
              <a:p>
                <a:endParaRPr lang="en-VN"/>
              </a:p>
            </p:txBody>
          </p:sp>
          <p:sp>
            <p:nvSpPr>
              <p:cNvPr id="28" name="TextBox 28"/>
              <p:cNvSpPr txBox="1"/>
              <p:nvPr/>
            </p:nvSpPr>
            <p:spPr>
              <a:xfrm>
                <a:off x="0" y="-19050"/>
                <a:ext cx="1184928" cy="1207419"/>
              </a:xfrm>
              <a:prstGeom prst="rect">
                <a:avLst/>
              </a:prstGeom>
            </p:spPr>
            <p:txBody>
              <a:bodyPr lIns="50800" tIns="50800" rIns="50800" bIns="50800" rtlCol="0" anchor="ctr"/>
              <a:lstStyle/>
              <a:p>
                <a:pPr algn="l">
                  <a:lnSpc>
                    <a:spcPts val="1679"/>
                  </a:lnSpc>
                </a:pPr>
                <a:r>
                  <a:rPr lang="en-US" sz="1200" spc="28">
                    <a:solidFill>
                      <a:srgbClr val="0C1D4B"/>
                    </a:solidFill>
                    <a:latin typeface="IBM Plex Mono"/>
                    <a:ea typeface="IBM Plex Mono"/>
                    <a:cs typeface="IBM Plex Mono"/>
                    <a:sym typeface="IBM Plex Mono"/>
                  </a:rPr>
                  <a:t>{</a:t>
                </a:r>
              </a:p>
              <a:p>
                <a:pPr algn="l">
                  <a:lnSpc>
                    <a:spcPts val="1679"/>
                  </a:lnSpc>
                </a:pPr>
                <a:r>
                  <a:rPr lang="en-US" sz="1200" spc="28">
                    <a:solidFill>
                      <a:srgbClr val="0C1D4B"/>
                    </a:solidFill>
                    <a:latin typeface="IBM Plex Mono"/>
                    <a:ea typeface="IBM Plex Mono"/>
                    <a:cs typeface="IBM Plex Mono"/>
                    <a:sym typeface="IBM Plex Mono"/>
                  </a:rPr>
                  <a:t>  "id": "100/2015/QH13_173_chunk0",</a:t>
                </a:r>
              </a:p>
              <a:p>
                <a:pPr algn="l">
                  <a:lnSpc>
                    <a:spcPts val="1679"/>
                  </a:lnSpc>
                </a:pPr>
                <a:endParaRPr lang="en-US" sz="1200" spc="28">
                  <a:solidFill>
                    <a:srgbClr val="0C1D4B"/>
                  </a:solidFill>
                  <a:latin typeface="IBM Plex Mono"/>
                  <a:ea typeface="IBM Plex Mono"/>
                  <a:cs typeface="IBM Plex Mono"/>
                  <a:sym typeface="IBM Plex Mono"/>
                </a:endParaRPr>
              </a:p>
              <a:p>
                <a:pPr algn="l">
                  <a:lnSpc>
                    <a:spcPts val="1679"/>
                  </a:lnSpc>
                </a:pPr>
                <a:r>
                  <a:rPr lang="en-US" sz="1200" spc="28">
                    <a:solidFill>
                      <a:srgbClr val="0C1D4B"/>
                    </a:solidFill>
                    <a:latin typeface="IBM Plex Mono"/>
                    <a:ea typeface="IBM Plex Mono"/>
                    <a:cs typeface="IBM Plex Mono"/>
                    <a:sym typeface="IBM Plex Mono"/>
                  </a:rPr>
                  <a:t>  "document": "Điều 173. Tội trộm cắp tài sản\n\nNgười nào trộm cắp tài sản...",</a:t>
                </a:r>
              </a:p>
              <a:p>
                <a:pPr algn="l">
                  <a:lnSpc>
                    <a:spcPts val="1679"/>
                  </a:lnSpc>
                </a:pPr>
                <a:r>
                  <a:rPr lang="en-US" sz="1200" spc="28">
                    <a:solidFill>
                      <a:srgbClr val="0C1D4B"/>
                    </a:solidFill>
                    <a:latin typeface="IBM Plex Mono"/>
                    <a:ea typeface="IBM Plex Mono"/>
                    <a:cs typeface="IBM Plex Mono"/>
                    <a:sym typeface="IBM Plex Mono"/>
                  </a:rPr>
                  <a:t>  "embedding": [0.12, -0.04, 0.31, "..."],</a:t>
                </a:r>
              </a:p>
              <a:p>
                <a:pPr algn="l">
                  <a:lnSpc>
                    <a:spcPts val="1679"/>
                  </a:lnSpc>
                </a:pPr>
                <a:r>
                  <a:rPr lang="en-US" sz="1200" spc="28">
                    <a:solidFill>
                      <a:srgbClr val="0C1D4B"/>
                    </a:solidFill>
                    <a:latin typeface="IBM Plex Mono"/>
                    <a:ea typeface="IBM Plex Mono"/>
                    <a:cs typeface="IBM Plex Mono"/>
                    <a:sym typeface="IBM Plex Mono"/>
                  </a:rPr>
                  <a:t>  "metadata": {</a:t>
                </a:r>
              </a:p>
              <a:p>
                <a:pPr algn="l">
                  <a:lnSpc>
                    <a:spcPts val="1679"/>
                  </a:lnSpc>
                </a:pPr>
                <a:r>
                  <a:rPr lang="en-US" sz="1200" spc="28">
                    <a:solidFill>
                      <a:srgbClr val="0C1D4B"/>
                    </a:solidFill>
                    <a:latin typeface="IBM Plex Mono"/>
                    <a:ea typeface="IBM Plex Mono"/>
                    <a:cs typeface="IBM Plex Mono"/>
                    <a:sym typeface="IBM Plex Mono"/>
                  </a:rPr>
                  <a:t>    "law_id": "100/2015/QH13",</a:t>
                </a:r>
              </a:p>
              <a:p>
                <a:pPr algn="l">
                  <a:lnSpc>
                    <a:spcPts val="1679"/>
                  </a:lnSpc>
                </a:pPr>
                <a:r>
                  <a:rPr lang="en-US" sz="1200" spc="28">
                    <a:solidFill>
                      <a:srgbClr val="0C1D4B"/>
                    </a:solidFill>
                    <a:latin typeface="IBM Plex Mono"/>
                    <a:ea typeface="IBM Plex Mono"/>
                    <a:cs typeface="IBM Plex Mono"/>
                    <a:sym typeface="IBM Plex Mono"/>
                  </a:rPr>
                  <a:t>    "article_id": "173",</a:t>
                </a:r>
              </a:p>
              <a:p>
                <a:pPr algn="l">
                  <a:lnSpc>
                    <a:spcPts val="1679"/>
                  </a:lnSpc>
                </a:pPr>
                <a:r>
                  <a:rPr lang="en-US" sz="1200" spc="28">
                    <a:solidFill>
                      <a:srgbClr val="0C1D4B"/>
                    </a:solidFill>
                    <a:latin typeface="IBM Plex Mono"/>
                    <a:ea typeface="IBM Plex Mono"/>
                    <a:cs typeface="IBM Plex Mono"/>
                    <a:sym typeface="IBM Plex Mono"/>
                  </a:rPr>
                  <a:t>    "title": "Điều 173. Tội trộm cắp tài sản",</a:t>
                </a:r>
              </a:p>
              <a:p>
                <a:pPr algn="l">
                  <a:lnSpc>
                    <a:spcPts val="1679"/>
                  </a:lnSpc>
                </a:pPr>
                <a:r>
                  <a:rPr lang="en-US" sz="1200" spc="28">
                    <a:solidFill>
                      <a:srgbClr val="0C1D4B"/>
                    </a:solidFill>
                    <a:latin typeface="IBM Plex Mono"/>
                    <a:ea typeface="IBM Plex Mono"/>
                    <a:cs typeface="IBM Plex Mono"/>
                    <a:sym typeface="IBM Plex Mono"/>
                  </a:rPr>
                  <a:t>    "chunk_index": 0,</a:t>
                </a:r>
              </a:p>
              <a:p>
                <a:pPr algn="l">
                  <a:lnSpc>
                    <a:spcPts val="1679"/>
                  </a:lnSpc>
                </a:pPr>
                <a:r>
                  <a:rPr lang="en-US" sz="1200" spc="28">
                    <a:solidFill>
                      <a:srgbClr val="0C1D4B"/>
                    </a:solidFill>
                    <a:latin typeface="IBM Plex Mono"/>
                    <a:ea typeface="IBM Plex Mono"/>
                    <a:cs typeface="IBM Plex Mono"/>
                    <a:sym typeface="IBM Plex Mono"/>
                  </a:rPr>
                  <a:t>    "total_chunks": 1,</a:t>
                </a:r>
              </a:p>
              <a:p>
                <a:pPr algn="l">
                  <a:lnSpc>
                    <a:spcPts val="1679"/>
                  </a:lnSpc>
                </a:pPr>
                <a:r>
                  <a:rPr lang="en-US" sz="1200" spc="28">
                    <a:solidFill>
                      <a:srgbClr val="0C1D4B"/>
                    </a:solidFill>
                    <a:latin typeface="IBM Plex Mono"/>
                    <a:ea typeface="IBM Plex Mono"/>
                    <a:cs typeface="IBM Plex Mono"/>
                    <a:sym typeface="IBM Plex Mono"/>
                  </a:rPr>
                  <a:t>    "year": "2015",</a:t>
                </a:r>
              </a:p>
              <a:p>
                <a:pPr algn="l">
                  <a:lnSpc>
                    <a:spcPts val="1679"/>
                  </a:lnSpc>
                </a:pPr>
                <a:r>
                  <a:rPr lang="en-US" sz="1200" spc="28">
                    <a:solidFill>
                      <a:srgbClr val="0C1D4B"/>
                    </a:solidFill>
                    <a:latin typeface="IBM Plex Mono"/>
                    <a:ea typeface="IBM Plex Mono"/>
                    <a:cs typeface="IBM Plex Mono"/>
                    <a:sym typeface="IBM Plex Mono"/>
                  </a:rPr>
                  <a:t>    "topics": "[\"Hình sự\"]",</a:t>
                </a:r>
              </a:p>
              <a:p>
                <a:pPr algn="l">
                  <a:lnSpc>
                    <a:spcPts val="1679"/>
                  </a:lnSpc>
                </a:pPr>
                <a:r>
                  <a:rPr lang="en-US" sz="1200" spc="28">
                    <a:solidFill>
                      <a:srgbClr val="0C1D4B"/>
                    </a:solidFill>
                    <a:latin typeface="IBM Plex Mono"/>
                    <a:ea typeface="IBM Plex Mono"/>
                    <a:cs typeface="IBM Plex Mono"/>
                    <a:sym typeface="IBM Plex Mono"/>
                  </a:rPr>
                  <a:t>    "keywords": "[\"trộm cắp tài sản\", \"khung hình phạt\"]",</a:t>
                </a:r>
              </a:p>
              <a:p>
                <a:pPr algn="l">
                  <a:lnSpc>
                    <a:spcPts val="1679"/>
                  </a:lnSpc>
                </a:pPr>
                <a:r>
                  <a:rPr lang="en-US" sz="1200" spc="28">
                    <a:solidFill>
                      <a:srgbClr val="0C1D4B"/>
                    </a:solidFill>
                    <a:latin typeface="IBM Plex Mono"/>
                    <a:ea typeface="IBM Plex Mono"/>
                    <a:cs typeface="IBM Plex Mono"/>
                    <a:sym typeface="IBM Plex Mono"/>
                  </a:rPr>
                  <a:t>    "summary": "Quy định về tội trộm cắp tài sản."</a:t>
                </a:r>
              </a:p>
              <a:p>
                <a:pPr algn="l">
                  <a:lnSpc>
                    <a:spcPts val="1679"/>
                  </a:lnSpc>
                </a:pPr>
                <a:r>
                  <a:rPr lang="en-US" sz="1200" spc="28">
                    <a:solidFill>
                      <a:srgbClr val="0C1D4B"/>
                    </a:solidFill>
                    <a:latin typeface="IBM Plex Mono"/>
                    <a:ea typeface="IBM Plex Mono"/>
                    <a:cs typeface="IBM Plex Mono"/>
                    <a:sym typeface="IBM Plex Mono"/>
                  </a:rPr>
                  <a:t>  }</a:t>
                </a:r>
              </a:p>
              <a:p>
                <a:pPr algn="l">
                  <a:lnSpc>
                    <a:spcPts val="1679"/>
                  </a:lnSpc>
                </a:pPr>
                <a:r>
                  <a:rPr lang="en-US" sz="1200" spc="28">
                    <a:solidFill>
                      <a:srgbClr val="0C1D4B"/>
                    </a:solidFill>
                    <a:latin typeface="IBM Plex Mono"/>
                    <a:ea typeface="IBM Plex Mono"/>
                    <a:cs typeface="IBM Plex Mono"/>
                    <a:sym typeface="IBM Plex Mono"/>
                  </a:rPr>
                  <a:t>}</a:t>
                </a:r>
              </a:p>
            </p:txBody>
          </p:sp>
        </p:grpSp>
        <p:sp>
          <p:nvSpPr>
            <p:cNvPr id="29" name="TextBox 29"/>
            <p:cNvSpPr txBox="1"/>
            <p:nvPr/>
          </p:nvSpPr>
          <p:spPr>
            <a:xfrm>
              <a:off x="16269407" y="-76200"/>
              <a:ext cx="3349687" cy="919408"/>
            </a:xfrm>
            <a:prstGeom prst="rect">
              <a:avLst/>
            </a:prstGeom>
          </p:spPr>
          <p:txBody>
            <a:bodyPr lIns="0" tIns="0" rIns="0" bIns="0" rtlCol="0" anchor="t">
              <a:spAutoFit/>
            </a:bodyPr>
            <a:lstStyle/>
            <a:p>
              <a:pPr algn="ctr">
                <a:lnSpc>
                  <a:spcPts val="2880"/>
                </a:lnSpc>
              </a:pPr>
              <a:r>
                <a:rPr lang="en-US" sz="1800">
                  <a:solidFill>
                    <a:srgbClr val="0C1D4B"/>
                  </a:solidFill>
                  <a:latin typeface="Roboto Slab"/>
                  <a:ea typeface="Roboto Slab"/>
                  <a:cs typeface="Roboto Slab"/>
                  <a:sym typeface="Roboto Slab"/>
                </a:rPr>
                <a:t>Dữ liệu lưu trữ trong ChromaDB</a:t>
              </a:r>
            </a:p>
          </p:txBody>
        </p:sp>
      </p:grpSp>
      <p:sp>
        <p:nvSpPr>
          <p:cNvPr id="30" name="RestoredLabel Chunking"/>
          <p:cNvSpPr txBox="1"/>
          <p:nvPr/>
        </p:nvSpPr>
        <p:spPr>
          <a:xfrm>
            <a:off x="5550000" y="7420000"/>
            <a:ext cx="1500000" cy="360000"/>
          </a:xfrm>
          <a:prstGeom prst="rect">
            <a:avLst/>
          </a:prstGeom>
          <a:noFill/>
          <a:ln>
            <a:noFill/>
          </a:ln>
        </p:spPr>
        <p:txBody>
          <a:bodyPr lIns="0" tIns="0" rIns="0" bIns="0" rtlCol="0" anchor="mid" wrap="none">
            <a:spAutoFit/>
          </a:bodyPr>
          <a:lstStyle/>
          <a:p>
            <a:pPr algn="ctr"/>
            <a:r>
              <a:rPr lang="vi-VN" sz="1800" b="1">
                <a:solidFill>
                  <a:srgbClr val="0C1D4B"/>
                </a:solidFill>
                <a:latin typeface="Times New Roman"/>
              </a:rPr>
              <a:t>Chunking</a:t>
            </a:r>
            <a:endParaRPr lang="vi-VN" sz="1800" b="1">
              <a:solidFill>
                <a:srgbClr val="0C1D4B"/>
              </a:solidFill>
              <a:latin typeface="Times New Roman"/>
            </a:endParaRPr>
          </a:p>
        </p:txBody>
      </p:sp>
      <p:sp>
        <p:nvSpPr>
          <p:cNvPr id="31" name="RestoredLabel Vector hoa"/>
          <p:cNvSpPr txBox="1"/>
          <p:nvPr/>
        </p:nvSpPr>
        <p:spPr>
          <a:xfrm>
            <a:off x="10630000" y="7210000"/>
            <a:ext cx="3300000" cy="700000"/>
          </a:xfrm>
          <a:prstGeom prst="rect">
            <a:avLst/>
          </a:prstGeom>
          <a:noFill/>
          <a:ln>
            <a:noFill/>
          </a:ln>
        </p:spPr>
        <p:txBody>
          <a:bodyPr lIns="0" tIns="0" rIns="0" bIns="0" rtlCol="0" anchor="mid" wrap="none">
            <a:spAutoFit/>
          </a:bodyPr>
          <a:lstStyle/>
          <a:p>
            <a:pPr algn="ctr"/>
            <a:r>
              <a:rPr lang="vi-VN" sz="1650" b="1">
                <a:solidFill>
                  <a:srgbClr val="0C1D4B"/>
                </a:solidFill>
                <a:latin typeface="Times New Roman"/>
              </a:rPr>
              <a:t>Vector hóa</a:t>
            </a:r>
            <a:br/>
            <a:r>
              <a:rPr lang="vi-VN" sz="1650" b="1">
                <a:solidFill>
                  <a:srgbClr val="0C1D4B"/>
                </a:solidFill>
                <a:latin typeface="Times New Roman"/>
              </a:rPr>
              <a:t>(vietnamese-bi-encoder)</a:t>
            </a:r>
            <a:endParaRPr lang="vi-VN" sz="1650" b="1">
              <a:solidFill>
                <a:srgbClr val="0C1D4B"/>
              </a:solidFill>
              <a:latin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3311475"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3.5. Xây dựng hệ thống truy vấn pháp luật nội bộ - RAG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Retrieve, Rerank và đóng gói Context</a:t>
            </a:r>
          </a:p>
        </p:txBody>
      </p:sp>
      <p:sp>
        <p:nvSpPr>
          <p:cNvPr id="13" name="TextBox 13"/>
          <p:cNvSpPr txBox="1"/>
          <p:nvPr/>
        </p:nvSpPr>
        <p:spPr>
          <a:xfrm>
            <a:off x="1028700" y="2515818"/>
            <a:ext cx="9493147" cy="3849572"/>
          </a:xfrm>
          <a:prstGeom prst="rect">
            <a:avLst/>
          </a:prstGeom>
        </p:spPr>
        <p:txBody>
          <a:bodyPr lIns="0" tIns="0" rIns="0" bIns="0" rtlCol="0" anchor="t">
            <a:spAutoFit/>
          </a:bodyPr>
          <a:lstStyle/>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Sử dụng internal_search_query được tạo từ node Query_Analysis tối ưu cho truy hồi nội bộ</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Hệ thống encode truy vấn thành vector và tìm kiếm trong ChromaDB bằng độ tương đồng vector</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Cross-encoder rerank lại các candidate chunks bằng cách chấm điểm trực tiếp từng cặp query - chunk</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Kết quả sau đó được kiểm tra xung đột luật cũ - luật mới</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Cuối cùng được đóng gói thành context pháp lý cho Agent</a:t>
            </a:r>
          </a:p>
        </p:txBody>
      </p:sp>
      <p:grpSp>
        <p:nvGrpSpPr>
          <p:cNvPr id="14" name="Group 14"/>
          <p:cNvGrpSpPr/>
          <p:nvPr/>
        </p:nvGrpSpPr>
        <p:grpSpPr>
          <a:xfrm>
            <a:off x="11281427" y="1981987"/>
            <a:ext cx="5456191" cy="6905305"/>
            <a:chOff x="0" y="0"/>
            <a:chExt cx="7274921" cy="9207073"/>
          </a:xfrm>
        </p:grpSpPr>
        <p:grpSp>
          <p:nvGrpSpPr>
            <p:cNvPr id="15" name="Group 15"/>
            <p:cNvGrpSpPr/>
            <p:nvPr/>
          </p:nvGrpSpPr>
          <p:grpSpPr>
            <a:xfrm>
              <a:off x="0" y="0"/>
              <a:ext cx="5251376" cy="1548488"/>
              <a:chOff x="0" y="0"/>
              <a:chExt cx="1037309" cy="305874"/>
            </a:xfrm>
          </p:grpSpPr>
          <p:sp>
            <p:nvSpPr>
              <p:cNvPr id="16" name="Freeform 16"/>
              <p:cNvSpPr/>
              <p:nvPr/>
            </p:nvSpPr>
            <p:spPr>
              <a:xfrm>
                <a:off x="0" y="0"/>
                <a:ext cx="1037309" cy="305874"/>
              </a:xfrm>
              <a:custGeom>
                <a:avLst/>
                <a:gdLst/>
                <a:ahLst/>
                <a:cxnLst/>
                <a:rect l="l" t="t" r="r" b="b"/>
                <a:pathLst>
                  <a:path w="1037309" h="305874">
                    <a:moveTo>
                      <a:pt x="55039" y="0"/>
                    </a:moveTo>
                    <a:lnTo>
                      <a:pt x="982270" y="0"/>
                    </a:lnTo>
                    <a:cubicBezTo>
                      <a:pt x="996867" y="0"/>
                      <a:pt x="1010866" y="5799"/>
                      <a:pt x="1021188" y="16121"/>
                    </a:cubicBezTo>
                    <a:cubicBezTo>
                      <a:pt x="1031510" y="26442"/>
                      <a:pt x="1037309" y="40442"/>
                      <a:pt x="1037309" y="55039"/>
                    </a:cubicBezTo>
                    <a:lnTo>
                      <a:pt x="1037309" y="250835"/>
                    </a:lnTo>
                    <a:cubicBezTo>
                      <a:pt x="1037309" y="281232"/>
                      <a:pt x="1012667" y="305874"/>
                      <a:pt x="982270" y="305874"/>
                    </a:cubicBezTo>
                    <a:lnTo>
                      <a:pt x="55039" y="305874"/>
                    </a:lnTo>
                    <a:cubicBezTo>
                      <a:pt x="24642" y="305874"/>
                      <a:pt x="0" y="281232"/>
                      <a:pt x="0" y="250835"/>
                    </a:cubicBezTo>
                    <a:lnTo>
                      <a:pt x="0" y="55039"/>
                    </a:lnTo>
                    <a:cubicBezTo>
                      <a:pt x="0" y="24642"/>
                      <a:pt x="24642" y="0"/>
                      <a:pt x="55039" y="0"/>
                    </a:cubicBezTo>
                    <a:close/>
                  </a:path>
                </a:pathLst>
              </a:custGeom>
              <a:ln w="19050" cap="rnd">
                <a:solidFill>
                  <a:srgbClr val="000000"/>
                </a:solidFill>
                <a:prstDash val="solid"/>
                <a:round/>
              </a:ln>
            </p:spPr>
            <p:txBody>
              <a:bodyPr/>
              <a:lstStyle/>
              <a:p>
                <a:endParaRPr lang="en-VN"/>
              </a:p>
            </p:txBody>
          </p:sp>
          <p:sp>
            <p:nvSpPr>
              <p:cNvPr id="17" name="TextBox 17"/>
              <p:cNvSpPr txBox="1"/>
              <p:nvPr/>
            </p:nvSpPr>
            <p:spPr>
              <a:xfrm>
                <a:off x="0" y="-38100"/>
                <a:ext cx="1037309" cy="343974"/>
              </a:xfrm>
              <a:prstGeom prst="rect">
                <a:avLst/>
              </a:prstGeom>
            </p:spPr>
            <p:txBody>
              <a:bodyPr lIns="50800" tIns="50800" rIns="50800" bIns="50800" rtlCol="0" anchor="ctr"/>
              <a:lstStyle/>
              <a:p>
                <a:pPr algn="ctr">
                  <a:lnSpc>
                    <a:spcPts val="2940"/>
                  </a:lnSpc>
                </a:pPr>
                <a:r>
                  <a:rPr lang="en-US" sz="2100" b="1" spc="50">
                    <a:solidFill>
                      <a:srgbClr val="0C1D4B"/>
                    </a:solidFill>
                    <a:latin typeface="Roboto Slab Bold"/>
                    <a:ea typeface="Roboto Slab Bold"/>
                    <a:cs typeface="Roboto Slab Bold"/>
                    <a:sym typeface="Roboto Slab Bold"/>
                  </a:rPr>
                  <a:t>internal_search_query</a:t>
                </a:r>
              </a:p>
              <a:p>
                <a:pPr algn="ctr">
                  <a:lnSpc>
                    <a:spcPts val="2380"/>
                  </a:lnSpc>
                </a:pPr>
                <a:r>
                  <a:rPr lang="en-US" sz="1700" b="1" spc="40">
                    <a:solidFill>
                      <a:srgbClr val="0C1D4B"/>
                    </a:solidFill>
                    <a:latin typeface="Roboto Slab Bold"/>
                    <a:ea typeface="Roboto Slab Bold"/>
                    <a:cs typeface="Roboto Slab Bold"/>
                    <a:sym typeface="Roboto Slab Bold"/>
                  </a:rPr>
                  <a:t>(“tội trộm cắp tài sản khung hình phạt”)</a:t>
                </a:r>
              </a:p>
            </p:txBody>
          </p:sp>
        </p:grpSp>
        <p:sp>
          <p:nvSpPr>
            <p:cNvPr id="18" name="AutoShape 18"/>
            <p:cNvSpPr/>
            <p:nvPr/>
          </p:nvSpPr>
          <p:spPr>
            <a:xfrm flipH="1">
              <a:off x="2625688" y="1548488"/>
              <a:ext cx="0" cy="1797321"/>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19" name="Group 19"/>
            <p:cNvGrpSpPr/>
            <p:nvPr/>
          </p:nvGrpSpPr>
          <p:grpSpPr>
            <a:xfrm>
              <a:off x="833587" y="5451162"/>
              <a:ext cx="3584202" cy="1704987"/>
              <a:chOff x="0" y="0"/>
              <a:chExt cx="707991" cy="336788"/>
            </a:xfrm>
          </p:grpSpPr>
          <p:sp>
            <p:nvSpPr>
              <p:cNvPr id="20" name="Freeform 20"/>
              <p:cNvSpPr/>
              <p:nvPr/>
            </p:nvSpPr>
            <p:spPr>
              <a:xfrm>
                <a:off x="0" y="0"/>
                <a:ext cx="707991" cy="336788"/>
              </a:xfrm>
              <a:custGeom>
                <a:avLst/>
                <a:gdLst/>
                <a:ahLst/>
                <a:cxnLst/>
                <a:rect l="l" t="t" r="r" b="b"/>
                <a:pathLst>
                  <a:path w="707991" h="336788">
                    <a:moveTo>
                      <a:pt x="80640" y="0"/>
                    </a:moveTo>
                    <a:lnTo>
                      <a:pt x="627350" y="0"/>
                    </a:lnTo>
                    <a:cubicBezTo>
                      <a:pt x="671887" y="0"/>
                      <a:pt x="707991" y="36104"/>
                      <a:pt x="707991" y="80640"/>
                    </a:cubicBezTo>
                    <a:lnTo>
                      <a:pt x="707991" y="256147"/>
                    </a:lnTo>
                    <a:cubicBezTo>
                      <a:pt x="707991" y="300684"/>
                      <a:pt x="671887" y="336788"/>
                      <a:pt x="627350" y="336788"/>
                    </a:cubicBezTo>
                    <a:lnTo>
                      <a:pt x="80640" y="336788"/>
                    </a:lnTo>
                    <a:cubicBezTo>
                      <a:pt x="36104" y="336788"/>
                      <a:pt x="0" y="300684"/>
                      <a:pt x="0" y="256147"/>
                    </a:cubicBezTo>
                    <a:lnTo>
                      <a:pt x="0" y="80640"/>
                    </a:lnTo>
                    <a:cubicBezTo>
                      <a:pt x="0" y="36104"/>
                      <a:pt x="36104" y="0"/>
                      <a:pt x="80640" y="0"/>
                    </a:cubicBezTo>
                    <a:close/>
                  </a:path>
                </a:pathLst>
              </a:custGeom>
              <a:ln w="19050" cap="rnd">
                <a:solidFill>
                  <a:srgbClr val="000000"/>
                </a:solidFill>
                <a:prstDash val="solid"/>
                <a:round/>
              </a:ln>
            </p:spPr>
            <p:txBody>
              <a:bodyPr/>
              <a:lstStyle/>
              <a:p>
                <a:endParaRPr lang="en-VN"/>
              </a:p>
            </p:txBody>
          </p:sp>
          <p:sp>
            <p:nvSpPr>
              <p:cNvPr id="21" name="TextBox 21"/>
              <p:cNvSpPr txBox="1"/>
              <p:nvPr/>
            </p:nvSpPr>
            <p:spPr>
              <a:xfrm>
                <a:off x="0" y="-38100"/>
                <a:ext cx="707991" cy="374888"/>
              </a:xfrm>
              <a:prstGeom prst="rect">
                <a:avLst/>
              </a:prstGeom>
            </p:spPr>
            <p:txBody>
              <a:bodyPr lIns="50800" tIns="50800" rIns="50800" bIns="50800" rtlCol="0" anchor="ctr"/>
              <a:lstStyle/>
              <a:p>
                <a:pPr algn="ctr">
                  <a:lnSpc>
                    <a:spcPts val="2940"/>
                  </a:lnSpc>
                </a:pPr>
                <a:r>
                  <a:rPr lang="en-US" sz="2100" b="1" spc="50">
                    <a:solidFill>
                      <a:srgbClr val="0C1D4B"/>
                    </a:solidFill>
                    <a:latin typeface="Roboto Slab Bold"/>
                    <a:ea typeface="Roboto Slab Bold"/>
                    <a:cs typeface="Roboto Slab Bold"/>
                    <a:sym typeface="Roboto Slab Bold"/>
                  </a:rPr>
                  <a:t>Top 10 Documents</a:t>
                </a:r>
              </a:p>
            </p:txBody>
          </p:sp>
        </p:grpSp>
        <p:sp>
          <p:nvSpPr>
            <p:cNvPr id="22" name="AutoShape 22"/>
            <p:cNvSpPr/>
            <p:nvPr/>
          </p:nvSpPr>
          <p:spPr>
            <a:xfrm>
              <a:off x="2625688" y="4607918"/>
              <a:ext cx="0" cy="843244"/>
            </a:xfrm>
            <a:prstGeom prst="line">
              <a:avLst/>
            </a:prstGeom>
            <a:ln w="50800" cap="flat">
              <a:solidFill>
                <a:srgbClr val="0C0C6B"/>
              </a:solidFill>
              <a:prstDash val="solid"/>
              <a:headEnd type="none" w="sm" len="sm"/>
              <a:tailEnd type="arrow" w="med" len="sm"/>
            </a:ln>
          </p:spPr>
          <p:txBody>
            <a:bodyPr/>
            <a:lstStyle/>
            <a:p>
              <a:endParaRPr lang="en-VN"/>
            </a:p>
          </p:txBody>
        </p:sp>
        <p:sp>
          <p:nvSpPr>
            <p:cNvPr id="23" name="TextBox 23"/>
            <p:cNvSpPr txBox="1"/>
            <p:nvPr/>
          </p:nvSpPr>
          <p:spPr>
            <a:xfrm>
              <a:off x="2625688" y="1721574"/>
              <a:ext cx="4649233" cy="1401972"/>
            </a:xfrm>
            <a:prstGeom prst="rect">
              <a:avLst/>
            </a:prstGeom>
          </p:spPr>
          <p:txBody>
            <a:bodyPr lIns="0" tIns="0" rIns="0" bIns="0" rtlCol="0" anchor="t">
              <a:spAutoFit/>
            </a:bodyPr>
            <a:lstStyle/>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Encode query (vietnamese-bi-encoder)</a:t>
              </a:r>
            </a:p>
            <a:p>
              <a:pPr marL="388620" lvl="1" indent="-194310" algn="l">
                <a:lnSpc>
                  <a:spcPts val="2880"/>
                </a:lnSpc>
                <a:buFont typeface="Arial"/>
                <a:buChar char="•"/>
              </a:pPr>
              <a:r>
                <a:rPr lang="en-US" sz="1800">
                  <a:solidFill>
                    <a:srgbClr val="0C1D4B"/>
                  </a:solidFill>
                  <a:latin typeface="Roboto Slab"/>
                  <a:ea typeface="Roboto Slab"/>
                  <a:cs typeface="Roboto Slab"/>
                  <a:sym typeface="Roboto Slab"/>
                </a:rPr>
                <a:t>Vector search</a:t>
              </a:r>
            </a:p>
          </p:txBody>
        </p:sp>
        <p:sp>
          <p:nvSpPr>
            <p:cNvPr id="24" name="TextBox 24"/>
            <p:cNvSpPr txBox="1"/>
            <p:nvPr/>
          </p:nvSpPr>
          <p:spPr>
            <a:xfrm>
              <a:off x="2742945" y="4760318"/>
              <a:ext cx="3349687" cy="436844"/>
            </a:xfrm>
            <a:prstGeom prst="rect">
              <a:avLst/>
            </a:prstGeom>
          </p:spPr>
          <p:txBody>
            <a:bodyPr lIns="0" tIns="0" rIns="0" bIns="0" rtlCol="0" anchor="t">
              <a:spAutoFit/>
            </a:bodyPr>
            <a:lstStyle/>
            <a:p>
              <a:pPr algn="l">
                <a:lnSpc>
                  <a:spcPts val="2880"/>
                </a:lnSpc>
              </a:pPr>
              <a:r>
                <a:rPr lang="en-US" sz="1800">
                  <a:solidFill>
                    <a:srgbClr val="0C1D4B"/>
                  </a:solidFill>
                  <a:latin typeface="Roboto Slab"/>
                  <a:ea typeface="Roboto Slab"/>
                  <a:cs typeface="Roboto Slab"/>
                  <a:sym typeface="Roboto Slab"/>
                </a:rPr>
                <a:t>Cross-Encoder Rerank</a:t>
              </a:r>
            </a:p>
          </p:txBody>
        </p:sp>
        <p:sp>
          <p:nvSpPr>
            <p:cNvPr id="25" name="AutoShape 25"/>
            <p:cNvSpPr/>
            <p:nvPr/>
          </p:nvSpPr>
          <p:spPr>
            <a:xfrm>
              <a:off x="2625688" y="7156150"/>
              <a:ext cx="0" cy="1342137"/>
            </a:xfrm>
            <a:prstGeom prst="line">
              <a:avLst/>
            </a:prstGeom>
            <a:ln w="50800" cap="flat">
              <a:solidFill>
                <a:srgbClr val="0C0C6B"/>
              </a:solidFill>
              <a:prstDash val="solid"/>
              <a:headEnd type="none" w="sm" len="sm"/>
              <a:tailEnd type="arrow" w="med" len="sm"/>
            </a:ln>
          </p:spPr>
          <p:txBody>
            <a:bodyPr/>
            <a:lstStyle/>
            <a:p>
              <a:endParaRPr lang="en-VN"/>
            </a:p>
          </p:txBody>
        </p:sp>
        <p:grpSp>
          <p:nvGrpSpPr>
            <p:cNvPr id="26" name="Group 26"/>
            <p:cNvGrpSpPr/>
            <p:nvPr/>
          </p:nvGrpSpPr>
          <p:grpSpPr>
            <a:xfrm>
              <a:off x="685803" y="3345810"/>
              <a:ext cx="3879769" cy="1262109"/>
              <a:chOff x="0" y="0"/>
              <a:chExt cx="766374" cy="249305"/>
            </a:xfrm>
          </p:grpSpPr>
          <p:sp>
            <p:nvSpPr>
              <p:cNvPr id="27" name="Freeform 27"/>
              <p:cNvSpPr/>
              <p:nvPr/>
            </p:nvSpPr>
            <p:spPr>
              <a:xfrm>
                <a:off x="0" y="0"/>
                <a:ext cx="766374" cy="249305"/>
              </a:xfrm>
              <a:custGeom>
                <a:avLst/>
                <a:gdLst/>
                <a:ahLst/>
                <a:cxnLst/>
                <a:rect l="l" t="t" r="r" b="b"/>
                <a:pathLst>
                  <a:path w="766374" h="249305">
                    <a:moveTo>
                      <a:pt x="74497" y="0"/>
                    </a:moveTo>
                    <a:lnTo>
                      <a:pt x="691877" y="0"/>
                    </a:lnTo>
                    <a:cubicBezTo>
                      <a:pt x="711635" y="0"/>
                      <a:pt x="730583" y="7849"/>
                      <a:pt x="744554" y="21820"/>
                    </a:cubicBezTo>
                    <a:cubicBezTo>
                      <a:pt x="758525" y="35791"/>
                      <a:pt x="766374" y="54739"/>
                      <a:pt x="766374" y="74497"/>
                    </a:cubicBezTo>
                    <a:lnTo>
                      <a:pt x="766374" y="174808"/>
                    </a:lnTo>
                    <a:cubicBezTo>
                      <a:pt x="766374" y="194566"/>
                      <a:pt x="758525" y="213515"/>
                      <a:pt x="744554" y="227486"/>
                    </a:cubicBezTo>
                    <a:cubicBezTo>
                      <a:pt x="730583" y="241457"/>
                      <a:pt x="711635" y="249305"/>
                      <a:pt x="691877" y="249305"/>
                    </a:cubicBezTo>
                    <a:lnTo>
                      <a:pt x="74497" y="249305"/>
                    </a:lnTo>
                    <a:cubicBezTo>
                      <a:pt x="54739" y="249305"/>
                      <a:pt x="35791" y="241457"/>
                      <a:pt x="21820" y="227486"/>
                    </a:cubicBezTo>
                    <a:cubicBezTo>
                      <a:pt x="7849" y="213515"/>
                      <a:pt x="0" y="194566"/>
                      <a:pt x="0" y="174808"/>
                    </a:cubicBezTo>
                    <a:lnTo>
                      <a:pt x="0" y="74497"/>
                    </a:lnTo>
                    <a:cubicBezTo>
                      <a:pt x="0" y="54739"/>
                      <a:pt x="7849" y="35791"/>
                      <a:pt x="21820" y="21820"/>
                    </a:cubicBezTo>
                    <a:cubicBezTo>
                      <a:pt x="35791" y="7849"/>
                      <a:pt x="54739" y="0"/>
                      <a:pt x="74497" y="0"/>
                    </a:cubicBezTo>
                    <a:close/>
                  </a:path>
                </a:pathLst>
              </a:custGeom>
              <a:ln w="19050" cap="rnd">
                <a:solidFill>
                  <a:srgbClr val="000000"/>
                </a:solidFill>
                <a:prstDash val="solid"/>
                <a:round/>
              </a:ln>
            </p:spPr>
            <p:txBody>
              <a:bodyPr/>
              <a:lstStyle/>
              <a:p>
                <a:endParaRPr lang="en-VN"/>
              </a:p>
            </p:txBody>
          </p:sp>
          <p:sp>
            <p:nvSpPr>
              <p:cNvPr id="28" name="TextBox 28"/>
              <p:cNvSpPr txBox="1"/>
              <p:nvPr/>
            </p:nvSpPr>
            <p:spPr>
              <a:xfrm>
                <a:off x="0" y="-38100"/>
                <a:ext cx="766374" cy="287405"/>
              </a:xfrm>
              <a:prstGeom prst="rect">
                <a:avLst/>
              </a:prstGeom>
            </p:spPr>
            <p:txBody>
              <a:bodyPr lIns="50800" tIns="50800" rIns="50800" bIns="50800" rtlCol="0" anchor="ctr"/>
              <a:lstStyle/>
              <a:p>
                <a:pPr algn="ctr">
                  <a:lnSpc>
                    <a:spcPts val="2940"/>
                  </a:lnSpc>
                </a:pPr>
                <a:r>
                  <a:rPr lang="en-US" sz="2100" b="1" spc="50">
                    <a:solidFill>
                      <a:srgbClr val="0C1D4B"/>
                    </a:solidFill>
                    <a:latin typeface="Roboto Slab Bold"/>
                    <a:ea typeface="Roboto Slab Bold"/>
                    <a:cs typeface="Roboto Slab Bold"/>
                    <a:sym typeface="Roboto Slab Bold"/>
                  </a:rPr>
                  <a:t>Candidate chunks</a:t>
                </a:r>
              </a:p>
              <a:p>
                <a:pPr algn="ctr">
                  <a:lnSpc>
                    <a:spcPts val="2940"/>
                  </a:lnSpc>
                </a:pPr>
                <a:r>
                  <a:rPr lang="en-US" sz="2100" b="1" spc="50">
                    <a:solidFill>
                      <a:srgbClr val="0C1D4B"/>
                    </a:solidFill>
                    <a:latin typeface="Roboto Slab Bold"/>
                    <a:ea typeface="Roboto Slab Bold"/>
                    <a:cs typeface="Roboto Slab Bold"/>
                    <a:sym typeface="Roboto Slab Bold"/>
                  </a:rPr>
                  <a:t>top 60</a:t>
                </a:r>
              </a:p>
            </p:txBody>
          </p:sp>
        </p:grpSp>
        <p:grpSp>
          <p:nvGrpSpPr>
            <p:cNvPr id="29" name="Group 29"/>
            <p:cNvGrpSpPr/>
            <p:nvPr/>
          </p:nvGrpSpPr>
          <p:grpSpPr>
            <a:xfrm>
              <a:off x="1003316" y="8498287"/>
              <a:ext cx="3244744" cy="708786"/>
              <a:chOff x="0" y="0"/>
              <a:chExt cx="640937" cy="140007"/>
            </a:xfrm>
          </p:grpSpPr>
          <p:sp>
            <p:nvSpPr>
              <p:cNvPr id="30" name="Freeform 30"/>
              <p:cNvSpPr/>
              <p:nvPr/>
            </p:nvSpPr>
            <p:spPr>
              <a:xfrm>
                <a:off x="0" y="0"/>
                <a:ext cx="640937" cy="140007"/>
              </a:xfrm>
              <a:custGeom>
                <a:avLst/>
                <a:gdLst/>
                <a:ahLst/>
                <a:cxnLst/>
                <a:rect l="l" t="t" r="r" b="b"/>
                <a:pathLst>
                  <a:path w="640937" h="140007">
                    <a:moveTo>
                      <a:pt x="70004" y="0"/>
                    </a:moveTo>
                    <a:lnTo>
                      <a:pt x="570933" y="0"/>
                    </a:lnTo>
                    <a:cubicBezTo>
                      <a:pt x="609595" y="0"/>
                      <a:pt x="640937" y="31342"/>
                      <a:pt x="640937" y="70004"/>
                    </a:cubicBezTo>
                    <a:lnTo>
                      <a:pt x="640937" y="70004"/>
                    </a:lnTo>
                    <a:cubicBezTo>
                      <a:pt x="640937" y="88570"/>
                      <a:pt x="633562" y="106375"/>
                      <a:pt x="620433" y="119504"/>
                    </a:cubicBezTo>
                    <a:cubicBezTo>
                      <a:pt x="607305" y="132632"/>
                      <a:pt x="589500" y="140007"/>
                      <a:pt x="570933" y="140007"/>
                    </a:cubicBezTo>
                    <a:lnTo>
                      <a:pt x="70004" y="140007"/>
                    </a:lnTo>
                    <a:cubicBezTo>
                      <a:pt x="51437" y="140007"/>
                      <a:pt x="33632" y="132632"/>
                      <a:pt x="20504" y="119504"/>
                    </a:cubicBezTo>
                    <a:cubicBezTo>
                      <a:pt x="7375" y="106375"/>
                      <a:pt x="0" y="88570"/>
                      <a:pt x="0" y="70004"/>
                    </a:cubicBezTo>
                    <a:lnTo>
                      <a:pt x="0" y="70004"/>
                    </a:lnTo>
                    <a:cubicBezTo>
                      <a:pt x="0" y="51437"/>
                      <a:pt x="7375" y="33632"/>
                      <a:pt x="20504" y="20504"/>
                    </a:cubicBezTo>
                    <a:cubicBezTo>
                      <a:pt x="33632" y="7375"/>
                      <a:pt x="51437" y="0"/>
                      <a:pt x="70004" y="0"/>
                    </a:cubicBezTo>
                    <a:close/>
                  </a:path>
                </a:pathLst>
              </a:custGeom>
              <a:solidFill>
                <a:srgbClr val="0C1D4B"/>
              </a:solidFill>
              <a:ln cap="rnd">
                <a:noFill/>
                <a:prstDash val="solid"/>
                <a:round/>
              </a:ln>
            </p:spPr>
            <p:txBody>
              <a:bodyPr/>
              <a:lstStyle/>
              <a:p>
                <a:endParaRPr lang="en-VN"/>
              </a:p>
            </p:txBody>
          </p:sp>
          <p:sp>
            <p:nvSpPr>
              <p:cNvPr id="31" name="TextBox 31"/>
              <p:cNvSpPr txBox="1"/>
              <p:nvPr/>
            </p:nvSpPr>
            <p:spPr>
              <a:xfrm>
                <a:off x="0" y="-38100"/>
                <a:ext cx="640937" cy="178107"/>
              </a:xfrm>
              <a:prstGeom prst="rect">
                <a:avLst/>
              </a:prstGeom>
            </p:spPr>
            <p:txBody>
              <a:bodyPr lIns="50800" tIns="50800" rIns="50800" bIns="50800" rtlCol="0" anchor="ctr"/>
              <a:lstStyle/>
              <a:p>
                <a:pPr algn="ctr">
                  <a:lnSpc>
                    <a:spcPts val="2940"/>
                  </a:lnSpc>
                </a:pPr>
                <a:r>
                  <a:rPr lang="en-US" sz="2100" b="1" spc="50">
                    <a:solidFill>
                      <a:srgbClr val="FFFFFF"/>
                    </a:solidFill>
                    <a:latin typeface="Roboto Slab Bold"/>
                    <a:ea typeface="Roboto Slab Bold"/>
                    <a:cs typeface="Roboto Slab Bold"/>
                    <a:sym typeface="Roboto Slab Bold"/>
                  </a:rPr>
                  <a:t>Agent</a:t>
                </a:r>
              </a:p>
            </p:txBody>
          </p:sp>
        </p:grpSp>
        <p:sp>
          <p:nvSpPr>
            <p:cNvPr id="32" name="TextBox 32"/>
            <p:cNvSpPr txBox="1"/>
            <p:nvPr/>
          </p:nvSpPr>
          <p:spPr>
            <a:xfrm>
              <a:off x="2742945" y="7553443"/>
              <a:ext cx="3349687" cy="436844"/>
            </a:xfrm>
            <a:prstGeom prst="rect">
              <a:avLst/>
            </a:prstGeom>
          </p:spPr>
          <p:txBody>
            <a:bodyPr lIns="0" tIns="0" rIns="0" bIns="0" rtlCol="0" anchor="t">
              <a:spAutoFit/>
            </a:bodyPr>
            <a:lstStyle/>
            <a:p>
              <a:pPr algn="l">
                <a:lnSpc>
                  <a:spcPts val="2880"/>
                </a:lnSpc>
              </a:pPr>
              <a:r>
                <a:rPr lang="en-US" sz="1800">
                  <a:solidFill>
                    <a:srgbClr val="0C1D4B"/>
                  </a:solidFill>
                  <a:latin typeface="Roboto Slab"/>
                  <a:ea typeface="Roboto Slab"/>
                  <a:cs typeface="Roboto Slab"/>
                  <a:sym typeface="Roboto Slab"/>
                </a:rPr>
                <a:t>Formatted Context</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3.6. Cập nhật văn bản pháp luật từ Web Admin</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grpSp>
        <p:nvGrpSpPr>
          <p:cNvPr id="12" name="Group 12"/>
          <p:cNvGrpSpPr/>
          <p:nvPr/>
        </p:nvGrpSpPr>
        <p:grpSpPr>
          <a:xfrm>
            <a:off x="3328355" y="5380893"/>
            <a:ext cx="11631289" cy="2648006"/>
            <a:chOff x="0" y="0"/>
            <a:chExt cx="15508386" cy="3530675"/>
          </a:xfrm>
        </p:grpSpPr>
        <p:sp>
          <p:nvSpPr>
            <p:cNvPr id="13" name="AutoShape 13"/>
            <p:cNvSpPr/>
            <p:nvPr/>
          </p:nvSpPr>
          <p:spPr>
            <a:xfrm flipV="1">
              <a:off x="1671066" y="1984926"/>
              <a:ext cx="2046613" cy="17107"/>
            </a:xfrm>
            <a:prstGeom prst="line">
              <a:avLst/>
            </a:prstGeom>
            <a:ln w="50800" cap="flat">
              <a:solidFill>
                <a:srgbClr val="000000"/>
              </a:solidFill>
              <a:prstDash val="solid"/>
              <a:headEnd type="none" w="sm" len="sm"/>
              <a:tailEnd type="triangle" w="lg" len="med"/>
            </a:ln>
          </p:spPr>
          <p:txBody>
            <a:bodyPr/>
            <a:lstStyle/>
            <a:p>
              <a:endParaRPr lang="en-VN"/>
            </a:p>
          </p:txBody>
        </p:sp>
        <p:sp>
          <p:nvSpPr>
            <p:cNvPr id="14" name="AutoShape 14"/>
            <p:cNvSpPr/>
            <p:nvPr/>
          </p:nvSpPr>
          <p:spPr>
            <a:xfrm>
              <a:off x="5834374" y="1984926"/>
              <a:ext cx="3052901" cy="17107"/>
            </a:xfrm>
            <a:prstGeom prst="line">
              <a:avLst/>
            </a:prstGeom>
            <a:ln w="50800" cap="flat">
              <a:solidFill>
                <a:srgbClr val="000000"/>
              </a:solidFill>
              <a:prstDash val="solid"/>
              <a:headEnd type="none" w="sm" len="sm"/>
              <a:tailEnd type="triangle" w="lg" len="med"/>
            </a:ln>
          </p:spPr>
          <p:txBody>
            <a:bodyPr/>
            <a:lstStyle/>
            <a:p>
              <a:endParaRPr lang="en-VN"/>
            </a:p>
          </p:txBody>
        </p:sp>
        <p:sp>
          <p:nvSpPr>
            <p:cNvPr id="15" name="Freeform 15"/>
            <p:cNvSpPr/>
            <p:nvPr/>
          </p:nvSpPr>
          <p:spPr>
            <a:xfrm>
              <a:off x="510147" y="1286725"/>
              <a:ext cx="1139290" cy="1430615"/>
            </a:xfrm>
            <a:custGeom>
              <a:avLst/>
              <a:gdLst/>
              <a:ahLst/>
              <a:cxnLst/>
              <a:rect l="l" t="t" r="r" b="b"/>
              <a:pathLst>
                <a:path w="1139290" h="1430615">
                  <a:moveTo>
                    <a:pt x="0" y="0"/>
                  </a:moveTo>
                  <a:lnTo>
                    <a:pt x="1139290" y="0"/>
                  </a:lnTo>
                  <a:lnTo>
                    <a:pt x="1139290" y="1430615"/>
                  </a:lnTo>
                  <a:lnTo>
                    <a:pt x="0" y="143061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16" name="Freeform 16"/>
            <p:cNvSpPr/>
            <p:nvPr/>
          </p:nvSpPr>
          <p:spPr>
            <a:xfrm>
              <a:off x="3717679" y="926578"/>
              <a:ext cx="2116695" cy="2116695"/>
            </a:xfrm>
            <a:custGeom>
              <a:avLst/>
              <a:gdLst/>
              <a:ahLst/>
              <a:cxnLst/>
              <a:rect l="l" t="t" r="r" b="b"/>
              <a:pathLst>
                <a:path w="2116695" h="2116695">
                  <a:moveTo>
                    <a:pt x="0" y="0"/>
                  </a:moveTo>
                  <a:lnTo>
                    <a:pt x="2116695" y="0"/>
                  </a:lnTo>
                  <a:lnTo>
                    <a:pt x="2116695" y="2116695"/>
                  </a:lnTo>
                  <a:lnTo>
                    <a:pt x="0" y="211669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17" name="TextBox 17"/>
            <p:cNvSpPr txBox="1"/>
            <p:nvPr/>
          </p:nvSpPr>
          <p:spPr>
            <a:xfrm>
              <a:off x="0" y="2819576"/>
              <a:ext cx="2159584" cy="711099"/>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Văn bản pháp luật mới</a:t>
              </a:r>
            </a:p>
          </p:txBody>
        </p:sp>
        <p:sp>
          <p:nvSpPr>
            <p:cNvPr id="18" name="TextBox 18"/>
            <p:cNvSpPr txBox="1"/>
            <p:nvPr/>
          </p:nvSpPr>
          <p:spPr>
            <a:xfrm>
              <a:off x="9136323" y="2819576"/>
              <a:ext cx="711669" cy="342727"/>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LLMs</a:t>
              </a:r>
            </a:p>
          </p:txBody>
        </p:sp>
        <p:sp>
          <p:nvSpPr>
            <p:cNvPr id="19" name="TextBox 19"/>
            <p:cNvSpPr txBox="1"/>
            <p:nvPr/>
          </p:nvSpPr>
          <p:spPr>
            <a:xfrm>
              <a:off x="8254103" y="128501"/>
              <a:ext cx="2476109" cy="1079471"/>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Cấu trúc, làm sạch và gắn metadata cho dữ liệu</a:t>
              </a:r>
            </a:p>
          </p:txBody>
        </p:sp>
        <p:sp>
          <p:nvSpPr>
            <p:cNvPr id="20" name="Freeform 20"/>
            <p:cNvSpPr/>
            <p:nvPr/>
          </p:nvSpPr>
          <p:spPr>
            <a:xfrm>
              <a:off x="8887275" y="1376018"/>
              <a:ext cx="1209764" cy="1252030"/>
            </a:xfrm>
            <a:custGeom>
              <a:avLst/>
              <a:gdLst/>
              <a:ahLst/>
              <a:cxnLst/>
              <a:rect l="l" t="t" r="r" b="b"/>
              <a:pathLst>
                <a:path w="1209764" h="1252030">
                  <a:moveTo>
                    <a:pt x="0" y="0"/>
                  </a:moveTo>
                  <a:lnTo>
                    <a:pt x="1209764" y="0"/>
                  </a:lnTo>
                  <a:lnTo>
                    <a:pt x="1209764" y="1252029"/>
                  </a:lnTo>
                  <a:lnTo>
                    <a:pt x="0" y="1252029"/>
                  </a:lnTo>
                  <a:lnTo>
                    <a:pt x="0" y="0"/>
                  </a:lnTo>
                  <a:close/>
                </a:path>
              </a:pathLst>
            </a:custGeom>
            <a:blipFill>
              <a:blip>
                <a:extLst>
                  <a:ext uri="{96DAC541-7B7A-43D3-8B79-37D633B846F1}">
                    <asvg:svgBlip xmlns:asvg="http://schemas.microsoft.com/office/drawing/2016/SVG/main" r:embed="rId6"/>
                  </a:ext>
                </a:extLst>
              </a:blip>
              <a:stretch>
                <a:fillRect l="-178" r="-178"/>
              </a:stretch>
            </a:blipFill>
          </p:spPr>
          <p:txBody>
            <a:bodyPr/>
            <a:lstStyle/>
            <a:p>
              <a:endParaRPr lang="en-VN"/>
            </a:p>
          </p:txBody>
        </p:sp>
        <p:sp>
          <p:nvSpPr>
            <p:cNvPr id="21" name="TextBox 21"/>
            <p:cNvSpPr txBox="1"/>
            <p:nvPr/>
          </p:nvSpPr>
          <p:spPr>
            <a:xfrm>
              <a:off x="3696234" y="-28575"/>
              <a:ext cx="2159584" cy="711099"/>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OCR/Parse file PDF</a:t>
              </a:r>
            </a:p>
          </p:txBody>
        </p:sp>
        <p:sp>
          <p:nvSpPr>
            <p:cNvPr id="22" name="AutoShape 22"/>
            <p:cNvSpPr/>
            <p:nvPr/>
          </p:nvSpPr>
          <p:spPr>
            <a:xfrm>
              <a:off x="10097039" y="2002032"/>
              <a:ext cx="1269458" cy="15316"/>
            </a:xfrm>
            <a:prstGeom prst="line">
              <a:avLst/>
            </a:prstGeom>
            <a:ln w="50800" cap="flat">
              <a:solidFill>
                <a:srgbClr val="000000"/>
              </a:solidFill>
              <a:prstDash val="solid"/>
              <a:headEnd type="none" w="sm" len="sm"/>
              <a:tailEnd type="triangle" w="lg" len="med"/>
            </a:ln>
          </p:spPr>
          <p:txBody>
            <a:bodyPr/>
            <a:lstStyle/>
            <a:p>
              <a:endParaRPr lang="en-VN"/>
            </a:p>
          </p:txBody>
        </p:sp>
        <p:grpSp>
          <p:nvGrpSpPr>
            <p:cNvPr id="23" name="Group 23"/>
            <p:cNvGrpSpPr/>
            <p:nvPr/>
          </p:nvGrpSpPr>
          <p:grpSpPr>
            <a:xfrm>
              <a:off x="11366497" y="1406649"/>
              <a:ext cx="4141889" cy="1221398"/>
              <a:chOff x="0" y="0"/>
              <a:chExt cx="818151" cy="241264"/>
            </a:xfrm>
          </p:grpSpPr>
          <p:sp>
            <p:nvSpPr>
              <p:cNvPr id="24" name="Freeform 24"/>
              <p:cNvSpPr/>
              <p:nvPr/>
            </p:nvSpPr>
            <p:spPr>
              <a:xfrm>
                <a:off x="0" y="0"/>
                <a:ext cx="818151" cy="241264"/>
              </a:xfrm>
              <a:custGeom>
                <a:avLst/>
                <a:gdLst/>
                <a:ahLst/>
                <a:cxnLst/>
                <a:rect l="l" t="t" r="r" b="b"/>
                <a:pathLst>
                  <a:path w="818151" h="241264">
                    <a:moveTo>
                      <a:pt x="69783" y="0"/>
                    </a:moveTo>
                    <a:lnTo>
                      <a:pt x="748368" y="0"/>
                    </a:lnTo>
                    <a:cubicBezTo>
                      <a:pt x="786908" y="0"/>
                      <a:pt x="818151" y="31243"/>
                      <a:pt x="818151" y="69783"/>
                    </a:cubicBezTo>
                    <a:lnTo>
                      <a:pt x="818151" y="171481"/>
                    </a:lnTo>
                    <a:cubicBezTo>
                      <a:pt x="818151" y="189989"/>
                      <a:pt x="810799" y="207738"/>
                      <a:pt x="797712" y="220825"/>
                    </a:cubicBezTo>
                    <a:cubicBezTo>
                      <a:pt x="784625" y="233912"/>
                      <a:pt x="766876" y="241264"/>
                      <a:pt x="748368" y="241264"/>
                    </a:cubicBezTo>
                    <a:lnTo>
                      <a:pt x="69783" y="241264"/>
                    </a:lnTo>
                    <a:cubicBezTo>
                      <a:pt x="51275" y="241264"/>
                      <a:pt x="33526" y="233912"/>
                      <a:pt x="20439" y="220825"/>
                    </a:cubicBezTo>
                    <a:cubicBezTo>
                      <a:pt x="7352" y="207738"/>
                      <a:pt x="0" y="189989"/>
                      <a:pt x="0" y="171481"/>
                    </a:cubicBezTo>
                    <a:lnTo>
                      <a:pt x="0" y="69783"/>
                    </a:lnTo>
                    <a:cubicBezTo>
                      <a:pt x="0" y="51275"/>
                      <a:pt x="7352" y="33526"/>
                      <a:pt x="20439" y="20439"/>
                    </a:cubicBezTo>
                    <a:cubicBezTo>
                      <a:pt x="33526" y="7352"/>
                      <a:pt x="51275" y="0"/>
                      <a:pt x="69783" y="0"/>
                    </a:cubicBezTo>
                    <a:close/>
                  </a:path>
                </a:pathLst>
              </a:custGeom>
              <a:ln w="28575" cap="rnd">
                <a:solidFill>
                  <a:srgbClr val="000000"/>
                </a:solidFill>
                <a:prstDash val="solid"/>
                <a:round/>
              </a:ln>
            </p:spPr>
            <p:txBody>
              <a:bodyPr/>
              <a:lstStyle/>
              <a:p>
                <a:endParaRPr lang="en-VN"/>
              </a:p>
            </p:txBody>
          </p:sp>
          <p:sp>
            <p:nvSpPr>
              <p:cNvPr id="25" name="TextBox 25"/>
              <p:cNvSpPr txBox="1"/>
              <p:nvPr/>
            </p:nvSpPr>
            <p:spPr>
              <a:xfrm>
                <a:off x="0" y="-38100"/>
                <a:ext cx="818151" cy="279364"/>
              </a:xfrm>
              <a:prstGeom prst="rect">
                <a:avLst/>
              </a:prstGeom>
            </p:spPr>
            <p:txBody>
              <a:bodyPr lIns="50800" tIns="50800" rIns="50800" bIns="50800" rtlCol="0" anchor="ctr"/>
              <a:lstStyle/>
              <a:p>
                <a:pPr algn="ctr">
                  <a:lnSpc>
                    <a:spcPts val="2940"/>
                  </a:lnSpc>
                </a:pPr>
                <a:r>
                  <a:rPr lang="en-US" sz="2100" b="1" spc="50">
                    <a:solidFill>
                      <a:srgbClr val="000000"/>
                    </a:solidFill>
                    <a:latin typeface="Roboto Slab Bold"/>
                    <a:ea typeface="Roboto Slab Bold"/>
                    <a:cs typeface="Roboto Slab Bold"/>
                    <a:sym typeface="Roboto Slab Bold"/>
                  </a:rPr>
                  <a:t>Dữ liệu sau khi được xử lý</a:t>
                </a:r>
              </a:p>
            </p:txBody>
          </p:sp>
        </p:grpSp>
      </p:grpSp>
      <p:sp>
        <p:nvSpPr>
          <p:cNvPr id="26" name="TextBox 26"/>
          <p:cNvSpPr txBox="1"/>
          <p:nvPr/>
        </p:nvSpPr>
        <p:spPr>
          <a:xfrm>
            <a:off x="949843" y="1868118"/>
            <a:ext cx="12056408" cy="1906688"/>
          </a:xfrm>
          <a:prstGeom prst="rect">
            <a:avLst/>
          </a:prstGeom>
        </p:spPr>
        <p:txBody>
          <a:bodyPr lIns="0" tIns="0" rIns="0" bIns="0" rtlCol="0" anchor="t">
            <a:spAutoFit/>
          </a:bodyPr>
          <a:lstStyle/>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Admin upload file PDF văn bản pháp luật mới</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Hệ thống tạo task xử lý để theo dõi trạng thái cập nhật</a:t>
            </a:r>
          </a:p>
          <a:p>
            <a:pPr marL="518162" lvl="1" indent="-259081" algn="l">
              <a:lnSpc>
                <a:spcPts val="3840"/>
              </a:lnSpc>
              <a:buFont typeface="Arial"/>
              <a:buChar char="•"/>
            </a:pPr>
            <a:r>
              <a:rPr lang="en-US" sz="2400">
                <a:solidFill>
                  <a:srgbClr val="0C1D4B"/>
                </a:solidFill>
                <a:latin typeface="Roboto Slab"/>
                <a:ea typeface="Roboto Slab"/>
                <a:cs typeface="Roboto Slab"/>
                <a:sym typeface="Roboto Slab"/>
              </a:rPr>
              <a:t>PDF được trích xuất nội dung bằng OCR và chuẩn hóa thành dữ liệu chuẩn sau đó được xử lý đưa vào MongoDB và ChromaDB</a:t>
            </a:r>
          </a:p>
        </p:txBody>
      </p:sp>
      <p:sp>
        <p:nvSpPr>
          <p:cNvPr id="27" name="RestoredLabel Du lieu tho"/>
          <p:cNvSpPr txBox="1"/>
          <p:nvPr/>
        </p:nvSpPr>
        <p:spPr>
          <a:xfrm>
            <a:off x="6500000" y="7200000"/>
            <a:ext cx="1800000" cy="380000"/>
          </a:xfrm>
          <a:prstGeom prst="rect">
            <a:avLst/>
          </a:prstGeom>
          <a:noFill/>
          <a:ln>
            <a:noFill/>
          </a:ln>
        </p:spPr>
        <p:txBody>
          <a:bodyPr lIns="0" tIns="0" rIns="0" bIns="0" rtlCol="0" anchor="mid" wrap="none">
            <a:spAutoFit/>
          </a:bodyPr>
          <a:lstStyle/>
          <a:p>
            <a:pPr algn="ctr"/>
            <a:r>
              <a:rPr lang="vi-VN" sz="1800" b="1">
                <a:solidFill>
                  <a:srgbClr val="0C1D4B"/>
                </a:solidFill>
                <a:latin typeface="Times New Roman"/>
              </a:rPr>
              <a:t>Dữ liệu thô</a:t>
            </a:r>
            <a:endParaRPr lang="vi-VN" sz="1800" b="1">
              <a:solidFill>
                <a:srgbClr val="0C1D4B"/>
              </a:solidFill>
              <a:latin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3.7. Mô hình tổng quan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grpSp>
        <p:nvGrpSpPr>
          <p:cNvPr id="12" name="Group 12"/>
          <p:cNvGrpSpPr/>
          <p:nvPr/>
        </p:nvGrpSpPr>
        <p:grpSpPr>
          <a:xfrm>
            <a:off x="1687249" y="1629993"/>
            <a:ext cx="13868931" cy="7876659"/>
            <a:chOff x="0" y="0"/>
            <a:chExt cx="18491908" cy="10502211"/>
          </a:xfrm>
        </p:grpSpPr>
        <p:sp>
          <p:nvSpPr>
            <p:cNvPr id="13" name="Freeform 13"/>
            <p:cNvSpPr/>
            <p:nvPr/>
          </p:nvSpPr>
          <p:spPr>
            <a:xfrm>
              <a:off x="499293" y="4470125"/>
              <a:ext cx="1160998" cy="1917564"/>
            </a:xfrm>
            <a:custGeom>
              <a:avLst/>
              <a:gdLst/>
              <a:ahLst/>
              <a:cxnLst/>
              <a:rect l="l" t="t" r="r" b="b"/>
              <a:pathLst>
                <a:path w="1160998" h="1917564">
                  <a:moveTo>
                    <a:pt x="0" y="0"/>
                  </a:moveTo>
                  <a:lnTo>
                    <a:pt x="1160998" y="0"/>
                  </a:lnTo>
                  <a:lnTo>
                    <a:pt x="1160998" y="1917564"/>
                  </a:lnTo>
                  <a:lnTo>
                    <a:pt x="0" y="191756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14" name="TextBox 14"/>
            <p:cNvSpPr txBox="1"/>
            <p:nvPr/>
          </p:nvSpPr>
          <p:spPr>
            <a:xfrm>
              <a:off x="0" y="6613114"/>
              <a:ext cx="2159584" cy="342727"/>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Mobile App</a:t>
              </a:r>
            </a:p>
          </p:txBody>
        </p:sp>
        <p:sp>
          <p:nvSpPr>
            <p:cNvPr id="15" name="Freeform 15"/>
            <p:cNvSpPr/>
            <p:nvPr/>
          </p:nvSpPr>
          <p:spPr>
            <a:xfrm>
              <a:off x="76285" y="1810686"/>
              <a:ext cx="2007014" cy="1784418"/>
            </a:xfrm>
            <a:custGeom>
              <a:avLst/>
              <a:gdLst/>
              <a:ahLst/>
              <a:cxnLst/>
              <a:rect l="l" t="t" r="r" b="b"/>
              <a:pathLst>
                <a:path w="2007014" h="1784418">
                  <a:moveTo>
                    <a:pt x="0" y="0"/>
                  </a:moveTo>
                  <a:lnTo>
                    <a:pt x="2007014" y="0"/>
                  </a:lnTo>
                  <a:lnTo>
                    <a:pt x="2007014" y="1784418"/>
                  </a:lnTo>
                  <a:lnTo>
                    <a:pt x="0" y="178441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16" name="TextBox 16"/>
            <p:cNvSpPr txBox="1"/>
            <p:nvPr/>
          </p:nvSpPr>
          <p:spPr>
            <a:xfrm>
              <a:off x="0" y="3695598"/>
              <a:ext cx="2159584" cy="342727"/>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Admin Web</a:t>
              </a:r>
            </a:p>
          </p:txBody>
        </p:sp>
        <p:sp>
          <p:nvSpPr>
            <p:cNvPr id="17" name="Freeform 17"/>
            <p:cNvSpPr/>
            <p:nvPr/>
          </p:nvSpPr>
          <p:spPr>
            <a:xfrm>
              <a:off x="11484344" y="6230470"/>
              <a:ext cx="1822684" cy="2066961"/>
            </a:xfrm>
            <a:custGeom>
              <a:avLst/>
              <a:gdLst/>
              <a:ahLst/>
              <a:cxnLst/>
              <a:rect l="l" t="t" r="r" b="b"/>
              <a:pathLst>
                <a:path w="1822684" h="2066961">
                  <a:moveTo>
                    <a:pt x="0" y="0"/>
                  </a:moveTo>
                  <a:lnTo>
                    <a:pt x="1822684" y="0"/>
                  </a:lnTo>
                  <a:lnTo>
                    <a:pt x="1822684" y="2066962"/>
                  </a:lnTo>
                  <a:lnTo>
                    <a:pt x="0" y="206696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VN"/>
            </a:p>
          </p:txBody>
        </p:sp>
        <p:sp>
          <p:nvSpPr>
            <p:cNvPr id="18" name="TextBox 18"/>
            <p:cNvSpPr txBox="1"/>
            <p:nvPr/>
          </p:nvSpPr>
          <p:spPr>
            <a:xfrm>
              <a:off x="11067196" y="8435725"/>
              <a:ext cx="2656980" cy="711133"/>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Chatbot backend</a:t>
              </a:r>
            </a:p>
            <a:p>
              <a:pPr algn="ctr">
                <a:lnSpc>
                  <a:spcPts val="2238"/>
                </a:lnSpc>
              </a:pPr>
              <a:r>
                <a:rPr lang="en-US" sz="1599" b="1">
                  <a:solidFill>
                    <a:srgbClr val="000000"/>
                  </a:solidFill>
                  <a:latin typeface="Roboto Slab Bold"/>
                  <a:ea typeface="Roboto Slab Bold"/>
                  <a:cs typeface="Roboto Slab Bold"/>
                  <a:sym typeface="Roboto Slab Bold"/>
                </a:rPr>
                <a:t>(RAG Service)</a:t>
              </a:r>
            </a:p>
          </p:txBody>
        </p:sp>
        <p:sp>
          <p:nvSpPr>
            <p:cNvPr id="19" name="Freeform 19"/>
            <p:cNvSpPr/>
            <p:nvPr/>
          </p:nvSpPr>
          <p:spPr>
            <a:xfrm>
              <a:off x="6374013" y="3057170"/>
              <a:ext cx="1822684" cy="2066961"/>
            </a:xfrm>
            <a:custGeom>
              <a:avLst/>
              <a:gdLst/>
              <a:ahLst/>
              <a:cxnLst/>
              <a:rect l="l" t="t" r="r" b="b"/>
              <a:pathLst>
                <a:path w="1822684" h="2066961">
                  <a:moveTo>
                    <a:pt x="0" y="0"/>
                  </a:moveTo>
                  <a:lnTo>
                    <a:pt x="1822684" y="0"/>
                  </a:lnTo>
                  <a:lnTo>
                    <a:pt x="1822684" y="2066961"/>
                  </a:lnTo>
                  <a:lnTo>
                    <a:pt x="0" y="206696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VN"/>
            </a:p>
          </p:txBody>
        </p:sp>
        <p:sp>
          <p:nvSpPr>
            <p:cNvPr id="20" name="TextBox 20"/>
            <p:cNvSpPr txBox="1"/>
            <p:nvPr/>
          </p:nvSpPr>
          <p:spPr>
            <a:xfrm>
              <a:off x="5956865" y="5171947"/>
              <a:ext cx="2656980" cy="711133"/>
            </a:xfrm>
            <a:prstGeom prst="rect">
              <a:avLst/>
            </a:prstGeom>
          </p:spPr>
          <p:txBody>
            <a:bodyPr lIns="0" tIns="0" rIns="0" bIns="0" rtlCol="0" anchor="t">
              <a:spAutoFit/>
            </a:bodyPr>
            <a:lstStyle/>
            <a:p>
              <a:pPr algn="ctr">
                <a:lnSpc>
                  <a:spcPts val="2238"/>
                </a:lnSpc>
              </a:pPr>
              <a:r>
                <a:rPr lang="en-US" sz="1599" b="1">
                  <a:solidFill>
                    <a:srgbClr val="000000"/>
                  </a:solidFill>
                  <a:latin typeface="Roboto Slab Bold"/>
                  <a:ea typeface="Roboto Slab Bold"/>
                  <a:cs typeface="Roboto Slab Bold"/>
                  <a:sym typeface="Roboto Slab Bold"/>
                </a:rPr>
                <a:t>Backend</a:t>
              </a:r>
            </a:p>
            <a:p>
              <a:pPr algn="ctr">
                <a:lnSpc>
                  <a:spcPts val="2238"/>
                </a:lnSpc>
              </a:pPr>
              <a:r>
                <a:rPr lang="en-US" sz="1599" b="1">
                  <a:solidFill>
                    <a:srgbClr val="000000"/>
                  </a:solidFill>
                  <a:latin typeface="Roboto Slab Bold"/>
                  <a:ea typeface="Roboto Slab Bold"/>
                  <a:cs typeface="Roboto Slab Bold"/>
                  <a:sym typeface="Roboto Slab Bold"/>
                </a:rPr>
                <a:t>(Main Service)</a:t>
              </a:r>
            </a:p>
          </p:txBody>
        </p:sp>
        <p:sp>
          <p:nvSpPr>
            <p:cNvPr id="21" name="Freeform 21"/>
            <p:cNvSpPr/>
            <p:nvPr/>
          </p:nvSpPr>
          <p:spPr>
            <a:xfrm>
              <a:off x="11828809" y="3132695"/>
              <a:ext cx="1133754" cy="1382624"/>
            </a:xfrm>
            <a:custGeom>
              <a:avLst/>
              <a:gdLst/>
              <a:ahLst/>
              <a:cxnLst/>
              <a:rect l="l" t="t" r="r" b="b"/>
              <a:pathLst>
                <a:path w="1133754" h="1382624">
                  <a:moveTo>
                    <a:pt x="0" y="0"/>
                  </a:moveTo>
                  <a:lnTo>
                    <a:pt x="1133755" y="0"/>
                  </a:lnTo>
                  <a:lnTo>
                    <a:pt x="1133755" y="1382623"/>
                  </a:lnTo>
                  <a:lnTo>
                    <a:pt x="0" y="1382623"/>
                  </a:lnTo>
                  <a:lnTo>
                    <a:pt x="0" y="0"/>
                  </a:lnTo>
                  <a:close/>
                </a:path>
              </a:pathLst>
            </a:custGeom>
            <a:blipFill>
              <a:blip>
                <a:extLst>
                  <a:ext uri="{96DAC541-7B7A-43D3-8B79-37D633B846F1}">
                    <asvg:svgBlip xmlns:asvg="http://schemas.microsoft.com/office/drawing/2016/SVG/main" r:embed="rId7"/>
                  </a:ext>
                </a:extLst>
              </a:blip>
              <a:stretch>
                <a:fillRect l="-347" r="-346"/>
              </a:stretch>
            </a:blipFill>
          </p:spPr>
          <p:txBody>
            <a:bodyPr/>
            <a:lstStyle/>
            <a:p>
              <a:endParaRPr lang="en-VN"/>
            </a:p>
          </p:txBody>
        </p:sp>
        <p:sp>
          <p:nvSpPr>
            <p:cNvPr id="22" name="TextBox 22"/>
            <p:cNvSpPr txBox="1"/>
            <p:nvPr/>
          </p:nvSpPr>
          <p:spPr>
            <a:xfrm>
              <a:off x="11429075" y="4646514"/>
              <a:ext cx="1933223" cy="791909"/>
            </a:xfrm>
            <a:prstGeom prst="rect">
              <a:avLst/>
            </a:prstGeom>
          </p:spPr>
          <p:txBody>
            <a:bodyPr lIns="0" tIns="0" rIns="0" bIns="0" rtlCol="0" anchor="t">
              <a:spAutoFit/>
            </a:bodyPr>
            <a:lstStyle/>
            <a:p>
              <a:pPr algn="ctr">
                <a:lnSpc>
                  <a:spcPts val="2443"/>
                </a:lnSpc>
              </a:pPr>
              <a:r>
                <a:rPr lang="en-US" sz="1746" b="1">
                  <a:solidFill>
                    <a:srgbClr val="000000"/>
                  </a:solidFill>
                  <a:latin typeface="Roboto Slab Bold"/>
                  <a:ea typeface="Roboto Slab Bold"/>
                  <a:cs typeface="Roboto Slab Bold"/>
                  <a:sym typeface="Roboto Slab Bold"/>
                </a:rPr>
                <a:t>Database</a:t>
              </a:r>
            </a:p>
            <a:p>
              <a:pPr algn="ctr">
                <a:lnSpc>
                  <a:spcPts val="2443"/>
                </a:lnSpc>
              </a:pPr>
              <a:r>
                <a:rPr lang="en-US" sz="1746" b="1">
                  <a:solidFill>
                    <a:srgbClr val="000000"/>
                  </a:solidFill>
                  <a:latin typeface="Roboto Slab Bold"/>
                  <a:ea typeface="Roboto Slab Bold"/>
                  <a:cs typeface="Roboto Slab Bold"/>
                  <a:sym typeface="Roboto Slab Bold"/>
                </a:rPr>
                <a:t>(PostgreSQL)</a:t>
              </a:r>
            </a:p>
          </p:txBody>
        </p:sp>
        <p:sp>
          <p:nvSpPr>
            <p:cNvPr id="23" name="Freeform 23"/>
            <p:cNvSpPr/>
            <p:nvPr/>
          </p:nvSpPr>
          <p:spPr>
            <a:xfrm>
              <a:off x="16996101" y="4915220"/>
              <a:ext cx="1133754" cy="1382624"/>
            </a:xfrm>
            <a:custGeom>
              <a:avLst/>
              <a:gdLst/>
              <a:ahLst/>
              <a:cxnLst/>
              <a:rect l="l" t="t" r="r" b="b"/>
              <a:pathLst>
                <a:path w="1133754" h="1382624">
                  <a:moveTo>
                    <a:pt x="0" y="0"/>
                  </a:moveTo>
                  <a:lnTo>
                    <a:pt x="1133754" y="0"/>
                  </a:lnTo>
                  <a:lnTo>
                    <a:pt x="1133754" y="1382623"/>
                  </a:lnTo>
                  <a:lnTo>
                    <a:pt x="0" y="1382623"/>
                  </a:lnTo>
                  <a:lnTo>
                    <a:pt x="0" y="0"/>
                  </a:lnTo>
                  <a:close/>
                </a:path>
              </a:pathLst>
            </a:custGeom>
            <a:blipFill>
              <a:blip>
                <a:extLst>
                  <a:ext uri="{96DAC541-7B7A-43D3-8B79-37D633B846F1}">
                    <asvg:svgBlip xmlns:asvg="http://schemas.microsoft.com/office/drawing/2016/SVG/main" r:embed="rId7"/>
                  </a:ext>
                </a:extLst>
              </a:blip>
              <a:stretch>
                <a:fillRect l="-347" r="-346"/>
              </a:stretch>
            </a:blipFill>
          </p:spPr>
          <p:txBody>
            <a:bodyPr/>
            <a:lstStyle/>
            <a:p>
              <a:endParaRPr lang="en-VN"/>
            </a:p>
          </p:txBody>
        </p:sp>
        <p:sp>
          <p:nvSpPr>
            <p:cNvPr id="24" name="TextBox 24"/>
            <p:cNvSpPr txBox="1"/>
            <p:nvPr/>
          </p:nvSpPr>
          <p:spPr>
            <a:xfrm>
              <a:off x="16634048" y="6456143"/>
              <a:ext cx="1857860" cy="791909"/>
            </a:xfrm>
            <a:prstGeom prst="rect">
              <a:avLst/>
            </a:prstGeom>
          </p:spPr>
          <p:txBody>
            <a:bodyPr lIns="0" tIns="0" rIns="0" bIns="0" rtlCol="0" anchor="t">
              <a:spAutoFit/>
            </a:bodyPr>
            <a:lstStyle/>
            <a:p>
              <a:pPr algn="ctr">
                <a:lnSpc>
                  <a:spcPts val="2443"/>
                </a:lnSpc>
              </a:pPr>
              <a:r>
                <a:rPr lang="en-US" sz="1746" b="1">
                  <a:solidFill>
                    <a:srgbClr val="000000"/>
                  </a:solidFill>
                  <a:latin typeface="Roboto Slab Bold"/>
                  <a:ea typeface="Roboto Slab Bold"/>
                  <a:cs typeface="Roboto Slab Bold"/>
                  <a:sym typeface="Roboto Slab Bold"/>
                </a:rPr>
                <a:t>Database</a:t>
              </a:r>
            </a:p>
            <a:p>
              <a:pPr algn="ctr">
                <a:lnSpc>
                  <a:spcPts val="2443"/>
                </a:lnSpc>
              </a:pPr>
              <a:r>
                <a:rPr lang="en-US" sz="1746" b="1">
                  <a:solidFill>
                    <a:srgbClr val="000000"/>
                  </a:solidFill>
                  <a:latin typeface="Roboto Slab Bold"/>
                  <a:ea typeface="Roboto Slab Bold"/>
                  <a:cs typeface="Roboto Slab Bold"/>
                  <a:sym typeface="Roboto Slab Bold"/>
                </a:rPr>
                <a:t>(ChromaDB)</a:t>
              </a:r>
            </a:p>
          </p:txBody>
        </p:sp>
        <p:sp>
          <p:nvSpPr>
            <p:cNvPr id="25" name="Freeform 25"/>
            <p:cNvSpPr/>
            <p:nvPr/>
          </p:nvSpPr>
          <p:spPr>
            <a:xfrm>
              <a:off x="11828809" y="0"/>
              <a:ext cx="1133754" cy="1382624"/>
            </a:xfrm>
            <a:custGeom>
              <a:avLst/>
              <a:gdLst/>
              <a:ahLst/>
              <a:cxnLst/>
              <a:rect l="l" t="t" r="r" b="b"/>
              <a:pathLst>
                <a:path w="1133754" h="1382624">
                  <a:moveTo>
                    <a:pt x="0" y="0"/>
                  </a:moveTo>
                  <a:lnTo>
                    <a:pt x="1133755" y="0"/>
                  </a:lnTo>
                  <a:lnTo>
                    <a:pt x="1133755" y="1382624"/>
                  </a:lnTo>
                  <a:lnTo>
                    <a:pt x="0" y="1382624"/>
                  </a:lnTo>
                  <a:lnTo>
                    <a:pt x="0" y="0"/>
                  </a:lnTo>
                  <a:close/>
                </a:path>
              </a:pathLst>
            </a:custGeom>
            <a:blipFill>
              <a:blip>
                <a:extLst>
                  <a:ext uri="{96DAC541-7B7A-43D3-8B79-37D633B846F1}">
                    <asvg:svgBlip xmlns:asvg="http://schemas.microsoft.com/office/drawing/2016/SVG/main" r:embed="rId7"/>
                  </a:ext>
                </a:extLst>
              </a:blip>
              <a:stretch>
                <a:fillRect l="-347" r="-346"/>
              </a:stretch>
            </a:blipFill>
          </p:spPr>
          <p:txBody>
            <a:bodyPr/>
            <a:lstStyle/>
            <a:p>
              <a:endParaRPr lang="en-VN"/>
            </a:p>
          </p:txBody>
        </p:sp>
        <p:sp>
          <p:nvSpPr>
            <p:cNvPr id="26" name="TextBox 26"/>
            <p:cNvSpPr txBox="1"/>
            <p:nvPr/>
          </p:nvSpPr>
          <p:spPr>
            <a:xfrm>
              <a:off x="11564728" y="1548738"/>
              <a:ext cx="1661916" cy="791909"/>
            </a:xfrm>
            <a:prstGeom prst="rect">
              <a:avLst/>
            </a:prstGeom>
          </p:spPr>
          <p:txBody>
            <a:bodyPr lIns="0" tIns="0" rIns="0" bIns="0" rtlCol="0" anchor="t">
              <a:spAutoFit/>
            </a:bodyPr>
            <a:lstStyle/>
            <a:p>
              <a:pPr algn="ctr">
                <a:lnSpc>
                  <a:spcPts val="2443"/>
                </a:lnSpc>
              </a:pPr>
              <a:r>
                <a:rPr lang="en-US" sz="1746" b="1">
                  <a:solidFill>
                    <a:srgbClr val="000000"/>
                  </a:solidFill>
                  <a:latin typeface="Roboto Slab Bold"/>
                  <a:ea typeface="Roboto Slab Bold"/>
                  <a:cs typeface="Roboto Slab Bold"/>
                  <a:sym typeface="Roboto Slab Bold"/>
                </a:rPr>
                <a:t>Database</a:t>
              </a:r>
            </a:p>
            <a:p>
              <a:pPr algn="ctr">
                <a:lnSpc>
                  <a:spcPts val="2443"/>
                </a:lnSpc>
              </a:pPr>
              <a:r>
                <a:rPr lang="en-US" sz="1746" b="1">
                  <a:solidFill>
                    <a:srgbClr val="000000"/>
                  </a:solidFill>
                  <a:latin typeface="Roboto Slab Bold"/>
                  <a:ea typeface="Roboto Slab Bold"/>
                  <a:cs typeface="Roboto Slab Bold"/>
                  <a:sym typeface="Roboto Slab Bold"/>
                </a:rPr>
                <a:t>(MongoDB)</a:t>
              </a:r>
            </a:p>
          </p:txBody>
        </p:sp>
        <p:sp>
          <p:nvSpPr>
            <p:cNvPr id="27" name="AutoShape 27"/>
            <p:cNvSpPr/>
            <p:nvPr/>
          </p:nvSpPr>
          <p:spPr>
            <a:xfrm>
              <a:off x="2159584" y="2924506"/>
              <a:ext cx="3797281" cy="1226435"/>
            </a:xfrm>
            <a:prstGeom prst="line">
              <a:avLst/>
            </a:prstGeom>
            <a:ln w="50800" cap="flat">
              <a:solidFill>
                <a:srgbClr val="000000"/>
              </a:solidFill>
              <a:prstDash val="solid"/>
              <a:headEnd type="arrow" w="med" len="sm"/>
              <a:tailEnd type="arrow" w="med" len="sm"/>
            </a:ln>
          </p:spPr>
          <p:txBody>
            <a:bodyPr/>
            <a:lstStyle/>
            <a:p>
              <a:endParaRPr lang="en-VN"/>
            </a:p>
          </p:txBody>
        </p:sp>
        <p:sp>
          <p:nvSpPr>
            <p:cNvPr id="28" name="AutoShape 28"/>
            <p:cNvSpPr/>
            <p:nvPr/>
          </p:nvSpPr>
          <p:spPr>
            <a:xfrm flipV="1">
              <a:off x="2159584" y="4470125"/>
              <a:ext cx="3797281" cy="1242858"/>
            </a:xfrm>
            <a:prstGeom prst="line">
              <a:avLst/>
            </a:prstGeom>
            <a:ln w="50800" cap="flat">
              <a:solidFill>
                <a:srgbClr val="000000"/>
              </a:solidFill>
              <a:prstDash val="solid"/>
              <a:headEnd type="arrow" w="med" len="sm"/>
              <a:tailEnd type="arrow" w="med" len="sm"/>
            </a:ln>
          </p:spPr>
          <p:txBody>
            <a:bodyPr/>
            <a:lstStyle/>
            <a:p>
              <a:endParaRPr lang="en-VN"/>
            </a:p>
          </p:txBody>
        </p:sp>
        <p:sp>
          <p:nvSpPr>
            <p:cNvPr id="29" name="AutoShape 29"/>
            <p:cNvSpPr/>
            <p:nvPr/>
          </p:nvSpPr>
          <p:spPr>
            <a:xfrm>
              <a:off x="8613845" y="4470125"/>
              <a:ext cx="2453352" cy="2959625"/>
            </a:xfrm>
            <a:prstGeom prst="line">
              <a:avLst/>
            </a:prstGeom>
            <a:ln w="50800" cap="flat">
              <a:solidFill>
                <a:srgbClr val="000000"/>
              </a:solidFill>
              <a:prstDash val="solid"/>
              <a:headEnd type="arrow" w="med" len="sm"/>
              <a:tailEnd type="arrow" w="med" len="sm"/>
            </a:ln>
          </p:spPr>
          <p:txBody>
            <a:bodyPr/>
            <a:lstStyle/>
            <a:p>
              <a:endParaRPr lang="en-VN"/>
            </a:p>
          </p:txBody>
        </p:sp>
        <p:sp>
          <p:nvSpPr>
            <p:cNvPr id="30" name="AutoShape 30"/>
            <p:cNvSpPr/>
            <p:nvPr/>
          </p:nvSpPr>
          <p:spPr>
            <a:xfrm flipV="1">
              <a:off x="13724176" y="6081636"/>
              <a:ext cx="2909871" cy="1607028"/>
            </a:xfrm>
            <a:prstGeom prst="line">
              <a:avLst/>
            </a:prstGeom>
            <a:ln w="50800" cap="flat">
              <a:solidFill>
                <a:srgbClr val="000000"/>
              </a:solidFill>
              <a:prstDash val="solid"/>
              <a:headEnd type="arrow" w="med" len="sm"/>
              <a:tailEnd type="arrow" w="med" len="sm"/>
            </a:ln>
          </p:spPr>
          <p:txBody>
            <a:bodyPr/>
            <a:lstStyle/>
            <a:p>
              <a:endParaRPr lang="en-VN"/>
            </a:p>
          </p:txBody>
        </p:sp>
        <p:sp>
          <p:nvSpPr>
            <p:cNvPr id="31" name="Freeform 31"/>
            <p:cNvSpPr/>
            <p:nvPr/>
          </p:nvSpPr>
          <p:spPr>
            <a:xfrm>
              <a:off x="16868159" y="8137156"/>
              <a:ext cx="1389637" cy="1420632"/>
            </a:xfrm>
            <a:custGeom>
              <a:avLst/>
              <a:gdLst/>
              <a:ahLst/>
              <a:cxnLst/>
              <a:rect l="l" t="t" r="r" b="b"/>
              <a:pathLst>
                <a:path w="1389637" h="1420632">
                  <a:moveTo>
                    <a:pt x="0" y="0"/>
                  </a:moveTo>
                  <a:lnTo>
                    <a:pt x="1389637" y="0"/>
                  </a:lnTo>
                  <a:lnTo>
                    <a:pt x="1389637" y="1420633"/>
                  </a:lnTo>
                  <a:lnTo>
                    <a:pt x="0" y="1420633"/>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VN"/>
            </a:p>
          </p:txBody>
        </p:sp>
        <p:sp>
          <p:nvSpPr>
            <p:cNvPr id="32" name="TextBox 32"/>
            <p:cNvSpPr txBox="1"/>
            <p:nvPr/>
          </p:nvSpPr>
          <p:spPr>
            <a:xfrm>
              <a:off x="16634048" y="9710189"/>
              <a:ext cx="1857860" cy="792023"/>
            </a:xfrm>
            <a:prstGeom prst="rect">
              <a:avLst/>
            </a:prstGeom>
          </p:spPr>
          <p:txBody>
            <a:bodyPr lIns="0" tIns="0" rIns="0" bIns="0" rtlCol="0" anchor="t">
              <a:spAutoFit/>
            </a:bodyPr>
            <a:lstStyle/>
            <a:p>
              <a:pPr algn="ctr">
                <a:lnSpc>
                  <a:spcPts val="2442"/>
                </a:lnSpc>
              </a:pPr>
              <a:r>
                <a:rPr lang="en-US" sz="1746" b="1">
                  <a:solidFill>
                    <a:srgbClr val="000000"/>
                  </a:solidFill>
                  <a:latin typeface="Roboto Slab Bold"/>
                  <a:ea typeface="Roboto Slab Bold"/>
                  <a:cs typeface="Roboto Slab Bold"/>
                  <a:sym typeface="Roboto Slab Bold"/>
                </a:rPr>
                <a:t>LLMs</a:t>
              </a:r>
            </a:p>
            <a:p>
              <a:pPr algn="ctr">
                <a:lnSpc>
                  <a:spcPts val="2443"/>
                </a:lnSpc>
              </a:pPr>
              <a:r>
                <a:rPr lang="en-US" sz="1746" b="1">
                  <a:solidFill>
                    <a:srgbClr val="000000"/>
                  </a:solidFill>
                  <a:latin typeface="Roboto Slab Bold"/>
                  <a:ea typeface="Roboto Slab Bold"/>
                  <a:cs typeface="Roboto Slab Bold"/>
                  <a:sym typeface="Roboto Slab Bold"/>
                </a:rPr>
                <a:t>(Gemini API)</a:t>
              </a:r>
            </a:p>
          </p:txBody>
        </p:sp>
        <p:sp>
          <p:nvSpPr>
            <p:cNvPr id="33" name="AutoShape 33"/>
            <p:cNvSpPr/>
            <p:nvPr/>
          </p:nvSpPr>
          <p:spPr>
            <a:xfrm>
              <a:off x="13724176" y="7997372"/>
              <a:ext cx="2909871" cy="1322312"/>
            </a:xfrm>
            <a:prstGeom prst="line">
              <a:avLst/>
            </a:prstGeom>
            <a:ln w="50800" cap="flat">
              <a:solidFill>
                <a:srgbClr val="000000"/>
              </a:solidFill>
              <a:prstDash val="solid"/>
              <a:headEnd type="arrow" w="med" len="sm"/>
              <a:tailEnd type="arrow" w="med" len="sm"/>
            </a:ln>
          </p:spPr>
          <p:txBody>
            <a:bodyPr/>
            <a:lstStyle/>
            <a:p>
              <a:endParaRPr lang="en-VN"/>
            </a:p>
          </p:txBody>
        </p:sp>
        <p:sp>
          <p:nvSpPr>
            <p:cNvPr id="34" name="AutoShape 34"/>
            <p:cNvSpPr/>
            <p:nvPr/>
          </p:nvSpPr>
          <p:spPr>
            <a:xfrm>
              <a:off x="8613845" y="4070421"/>
              <a:ext cx="2815230" cy="215138"/>
            </a:xfrm>
            <a:prstGeom prst="line">
              <a:avLst/>
            </a:prstGeom>
            <a:ln w="50800" cap="flat">
              <a:solidFill>
                <a:srgbClr val="000000"/>
              </a:solidFill>
              <a:prstDash val="solid"/>
              <a:headEnd type="arrow" w="med" len="sm"/>
              <a:tailEnd type="arrow" w="med" len="sm"/>
            </a:ln>
          </p:spPr>
          <p:txBody>
            <a:bodyPr/>
            <a:lstStyle/>
            <a:p>
              <a:endParaRPr lang="en-VN"/>
            </a:p>
          </p:txBody>
        </p:sp>
        <p:sp>
          <p:nvSpPr>
            <p:cNvPr id="35" name="AutoShape 35"/>
            <p:cNvSpPr/>
            <p:nvPr/>
          </p:nvSpPr>
          <p:spPr>
            <a:xfrm flipV="1">
              <a:off x="8613845" y="1215592"/>
              <a:ext cx="2882777" cy="2304399"/>
            </a:xfrm>
            <a:prstGeom prst="line">
              <a:avLst/>
            </a:prstGeom>
            <a:ln w="50800" cap="flat">
              <a:solidFill>
                <a:srgbClr val="000000"/>
              </a:solidFill>
              <a:prstDash val="solid"/>
              <a:headEnd type="arrow" w="med" len="sm"/>
              <a:tailEnd type="arrow" w="med" len="sm"/>
            </a:ln>
          </p:spPr>
          <p:txBody>
            <a:bodyPr/>
            <a:lstStyle/>
            <a:p>
              <a:endParaRPr lang="en-VN"/>
            </a:p>
          </p:txBody>
        </p:sp>
      </p:grpSp>
      <p:sp>
        <p:nvSpPr>
          <p:cNvPr id="36" name="RestoredLabel API WebSocket"/>
          <p:cNvSpPr txBox="1"/>
          <p:nvPr/>
        </p:nvSpPr>
        <p:spPr>
          <a:xfrm>
            <a:off x="3900000" y="4050000"/>
            <a:ext cx="2100000" cy="360000"/>
          </a:xfrm>
          <a:prstGeom prst="roundRect">
            <a:avLst/>
          </a:prstGeom>
          <a:solidFill>
            <a:srgbClr val="FFFFFF"/>
          </a:solidFill>
          <a:ln w="9525">
            <a:solidFill>
              <a:srgbClr val="0C1D4B"/>
            </a:solidFill>
          </a:ln>
        </p:spPr>
        <p:txBody>
          <a:bodyPr lIns="70000" tIns="25000" rIns="70000" bIns="25000" rtlCol="0" anchor="mid" wrap="none">
            <a:spAutoFit/>
          </a:bodyPr>
          <a:lstStyle/>
          <a:p>
            <a:pPr algn="ctr"/>
            <a:r>
              <a:rPr lang="en-US" sz="1550" b="1">
                <a:solidFill>
                  <a:srgbClr val="0C1D4B"/>
                </a:solidFill>
                <a:latin typeface="Times New Roman"/>
              </a:rPr>
              <a:t>API + WebSocket</a:t>
            </a:r>
          </a:p>
        </p:txBody>
      </p:sp>
      <p:sp>
        <p:nvSpPr>
          <p:cNvPr id="37" name="RestoredLabel API SSE"/>
          <p:cNvSpPr txBox="1"/>
          <p:nvPr/>
        </p:nvSpPr>
        <p:spPr>
          <a:xfrm>
            <a:off x="4100000" y="5350000"/>
            <a:ext cx="1450000" cy="360000"/>
          </a:xfrm>
          <a:prstGeom prst="roundRect">
            <a:avLst/>
          </a:prstGeom>
          <a:solidFill>
            <a:srgbClr val="FFFFFF"/>
          </a:solidFill>
          <a:ln w="9525">
            <a:solidFill>
              <a:srgbClr val="0C1D4B"/>
            </a:solidFill>
          </a:ln>
        </p:spPr>
        <p:txBody>
          <a:bodyPr lIns="70000" tIns="25000" rIns="70000" bIns="25000" rtlCol="0" anchor="mid" wrap="none">
            <a:spAutoFit/>
          </a:bodyPr>
          <a:lstStyle/>
          <a:p>
            <a:pPr algn="ctr"/>
            <a:r>
              <a:rPr lang="en-US" sz="1550" b="1">
                <a:solidFill>
                  <a:srgbClr val="0C1D4B"/>
                </a:solidFill>
                <a:latin typeface="Times New Roman"/>
              </a:rPr>
              <a:t>API + SSE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3.8. Các chức năng của hệ thống</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Hình thức của hệ thống</a:t>
            </a:r>
          </a:p>
        </p:txBody>
      </p:sp>
      <p:sp>
        <p:nvSpPr>
          <p:cNvPr id="13" name="TextBox 13"/>
          <p:cNvSpPr txBox="1"/>
          <p:nvPr/>
        </p:nvSpPr>
        <p:spPr>
          <a:xfrm>
            <a:off x="1028700" y="2630118"/>
            <a:ext cx="9079671"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Mobile App dành cho người dùng tra cứu và tư vấn pháp luật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Web Admin dành cho quản trị viên quản lý, cập nhật dữ liệu pháp luật</a:t>
            </a:r>
          </a:p>
        </p:txBody>
      </p:sp>
      <p:sp>
        <p:nvSpPr>
          <p:cNvPr id="14" name="TextBox 14"/>
          <p:cNvSpPr txBox="1"/>
          <p:nvPr/>
        </p:nvSpPr>
        <p:spPr>
          <a:xfrm>
            <a:off x="1028700" y="5051968"/>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Chức năng của hệ thống</a:t>
            </a:r>
          </a:p>
        </p:txBody>
      </p:sp>
      <p:sp>
        <p:nvSpPr>
          <p:cNvPr id="15" name="TextBox 15"/>
          <p:cNvSpPr txBox="1"/>
          <p:nvPr/>
        </p:nvSpPr>
        <p:spPr>
          <a:xfrm>
            <a:off x="1028700" y="5956843"/>
            <a:ext cx="9079671" cy="3334710"/>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Chat tư vấn pháp luật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Tư vấn có hướng dẫn</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Tra cứu văn bản pháp luật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Quản lý hội thoại và nguồn tham chiếu</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Cập nhật văn bản pháp luật mới từ PDF</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Quản lý kho tri thức phục vụ RAG</a:t>
            </a:r>
          </a:p>
        </p:txBody>
      </p:sp>
      <p:sp>
        <p:nvSpPr>
          <p:cNvPr id="16" name="Freeform 16"/>
          <p:cNvSpPr/>
          <p:nvPr/>
        </p:nvSpPr>
        <p:spPr>
          <a:xfrm rot="801521">
            <a:off x="11385359" y="2916698"/>
            <a:ext cx="5006522" cy="5374801"/>
          </a:xfrm>
          <a:custGeom>
            <a:avLst/>
            <a:gdLst/>
            <a:ahLst/>
            <a:cxnLst/>
            <a:rect l="l" t="t" r="r" b="b"/>
            <a:pathLst>
              <a:path w="5006522" h="5374801">
                <a:moveTo>
                  <a:pt x="0" y="0"/>
                </a:moveTo>
                <a:lnTo>
                  <a:pt x="5006521" y="0"/>
                </a:lnTo>
                <a:lnTo>
                  <a:pt x="5006521" y="5374801"/>
                </a:lnTo>
                <a:lnTo>
                  <a:pt x="0" y="53748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Freeform 10"/>
          <p:cNvSpPr/>
          <p:nvPr/>
        </p:nvSpPr>
        <p:spPr>
          <a:xfrm>
            <a:off x="4221591" y="2734893"/>
            <a:ext cx="9844818" cy="6694476"/>
          </a:xfrm>
          <a:custGeom>
            <a:avLst/>
            <a:gdLst/>
            <a:ahLst/>
            <a:cxnLst/>
            <a:rect l="l" t="t" r="r" b="b"/>
            <a:pathLst>
              <a:path w="9844818" h="6694476">
                <a:moveTo>
                  <a:pt x="0" y="0"/>
                </a:moveTo>
                <a:lnTo>
                  <a:pt x="9844818" y="0"/>
                </a:lnTo>
                <a:lnTo>
                  <a:pt x="9844818" y="6694476"/>
                </a:lnTo>
                <a:lnTo>
                  <a:pt x="0" y="6694476"/>
                </a:lnTo>
                <a:lnTo>
                  <a:pt x="0" y="0"/>
                </a:lnTo>
                <a:close/>
              </a:path>
            </a:pathLst>
          </a:custGeom>
          <a:blipFill>
            <a:blip r:embed="rId4"/>
            <a:stretch>
              <a:fillRect/>
            </a:stretch>
          </a:blipFill>
        </p:spPr>
        <p:txBody>
          <a:bodyPr/>
          <a:lstStyle/>
          <a:p>
            <a:endParaRPr lang="en-VN"/>
          </a:p>
        </p:txBody>
      </p:sp>
      <p:sp>
        <p:nvSpPr>
          <p:cNvPr id="11" name="TextBox 11"/>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3.8. Các chức năng của hệ thống</a:t>
            </a:r>
          </a:p>
        </p:txBody>
      </p:sp>
      <p:sp>
        <p:nvSpPr>
          <p:cNvPr id="12" name="TextBox 12"/>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3" name="TextBox 13"/>
          <p:cNvSpPr txBox="1"/>
          <p:nvPr/>
        </p:nvSpPr>
        <p:spPr>
          <a:xfrm>
            <a:off x="1028700" y="1725243"/>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Usecase tổng quát của hệ thống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27839" y="9986436"/>
            <a:ext cx="22035035" cy="2837612"/>
            <a:chOff x="0" y="0"/>
            <a:chExt cx="5803466" cy="747355"/>
          </a:xfrm>
        </p:grpSpPr>
        <p:sp>
          <p:nvSpPr>
            <p:cNvPr id="3" name="Freeform 3"/>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4" name="TextBox 4"/>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rot="-10800000">
            <a:off x="17259300" y="-233820"/>
            <a:ext cx="1940843" cy="970417"/>
            <a:chOff x="0" y="0"/>
            <a:chExt cx="2587790" cy="1293889"/>
          </a:xfrm>
        </p:grpSpPr>
        <p:sp>
          <p:nvSpPr>
            <p:cNvPr id="6" name="Freeform 6"/>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7" name="Group 7"/>
          <p:cNvGrpSpPr/>
          <p:nvPr/>
        </p:nvGrpSpPr>
        <p:grpSpPr>
          <a:xfrm>
            <a:off x="-912143" y="9429369"/>
            <a:ext cx="1940843" cy="970417"/>
            <a:chOff x="0" y="0"/>
            <a:chExt cx="2587790" cy="1293889"/>
          </a:xfrm>
        </p:grpSpPr>
        <p:sp>
          <p:nvSpPr>
            <p:cNvPr id="8" name="Freeform 8"/>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grpSp>
        <p:nvGrpSpPr>
          <p:cNvPr id="10" name="Group 10"/>
          <p:cNvGrpSpPr/>
          <p:nvPr/>
        </p:nvGrpSpPr>
        <p:grpSpPr>
          <a:xfrm>
            <a:off x="8555428" y="3969707"/>
            <a:ext cx="1177144" cy="1173793"/>
            <a:chOff x="0" y="0"/>
            <a:chExt cx="871377" cy="868896"/>
          </a:xfrm>
        </p:grpSpPr>
        <p:sp>
          <p:nvSpPr>
            <p:cNvPr id="11" name="Freeform 11"/>
            <p:cNvSpPr/>
            <p:nvPr/>
          </p:nvSpPr>
          <p:spPr>
            <a:xfrm>
              <a:off x="0" y="0"/>
              <a:ext cx="871377" cy="868896"/>
            </a:xfrm>
            <a:custGeom>
              <a:avLst/>
              <a:gdLst/>
              <a:ahLst/>
              <a:cxnLst/>
              <a:rect l="l" t="t" r="r" b="b"/>
              <a:pathLst>
                <a:path w="871377" h="868896">
                  <a:moveTo>
                    <a:pt x="435688" y="0"/>
                  </a:moveTo>
                  <a:cubicBezTo>
                    <a:pt x="195064" y="0"/>
                    <a:pt x="0" y="194509"/>
                    <a:pt x="0" y="434448"/>
                  </a:cubicBezTo>
                  <a:cubicBezTo>
                    <a:pt x="0" y="674387"/>
                    <a:pt x="195064" y="868896"/>
                    <a:pt x="435688" y="868896"/>
                  </a:cubicBezTo>
                  <a:cubicBezTo>
                    <a:pt x="676312" y="868896"/>
                    <a:pt x="871377" y="674387"/>
                    <a:pt x="871377" y="434448"/>
                  </a:cubicBezTo>
                  <a:cubicBezTo>
                    <a:pt x="871377" y="194509"/>
                    <a:pt x="676312" y="0"/>
                    <a:pt x="435688" y="0"/>
                  </a:cubicBezTo>
                  <a:close/>
                </a:path>
              </a:pathLst>
            </a:custGeom>
            <a:solidFill>
              <a:srgbClr val="0C1D4B"/>
            </a:solidFill>
          </p:spPr>
          <p:txBody>
            <a:bodyPr/>
            <a:lstStyle/>
            <a:p>
              <a:endParaRPr lang="en-VN"/>
            </a:p>
          </p:txBody>
        </p:sp>
        <p:sp>
          <p:nvSpPr>
            <p:cNvPr id="12" name="TextBox 12"/>
            <p:cNvSpPr txBox="1"/>
            <p:nvPr/>
          </p:nvSpPr>
          <p:spPr>
            <a:xfrm>
              <a:off x="81692" y="14784"/>
              <a:ext cx="707993" cy="772653"/>
            </a:xfrm>
            <a:prstGeom prst="rect">
              <a:avLst/>
            </a:prstGeom>
          </p:spPr>
          <p:txBody>
            <a:bodyPr lIns="50800" tIns="50800" rIns="50800" bIns="50800" rtlCol="0" anchor="ctr"/>
            <a:lstStyle/>
            <a:p>
              <a:pPr algn="ctr">
                <a:lnSpc>
                  <a:spcPts val="5880"/>
                </a:lnSpc>
              </a:pPr>
              <a:r>
                <a:rPr lang="en-US" sz="4200" b="1">
                  <a:solidFill>
                    <a:srgbClr val="FFFFFF"/>
                  </a:solidFill>
                  <a:latin typeface="Roboto Slab Bold"/>
                  <a:ea typeface="Roboto Slab Bold"/>
                  <a:cs typeface="Roboto Slab Bold"/>
                  <a:sym typeface="Roboto Slab Bold"/>
                </a:rPr>
                <a:t>4</a:t>
              </a:r>
            </a:p>
          </p:txBody>
        </p:sp>
      </p:grpSp>
      <p:sp>
        <p:nvSpPr>
          <p:cNvPr id="13" name="TextBox 13"/>
          <p:cNvSpPr txBox="1"/>
          <p:nvPr/>
        </p:nvSpPr>
        <p:spPr>
          <a:xfrm>
            <a:off x="4641270" y="5430926"/>
            <a:ext cx="8784503" cy="630228"/>
          </a:xfrm>
          <a:prstGeom prst="rect">
            <a:avLst/>
          </a:prstGeom>
        </p:spPr>
        <p:txBody>
          <a:bodyPr lIns="0" tIns="0" rIns="0" bIns="0" rtlCol="0" anchor="t">
            <a:spAutoFit/>
          </a:bodyPr>
          <a:lstStyle/>
          <a:p>
            <a:pPr algn="ctr">
              <a:lnSpc>
                <a:spcPts val="4848"/>
              </a:lnSpc>
            </a:pPr>
            <a:r>
              <a:rPr lang="en-US" sz="4800" b="1">
                <a:solidFill>
                  <a:srgbClr val="0C1D4B"/>
                </a:solidFill>
                <a:latin typeface="Roboto Slab Bold"/>
                <a:ea typeface="Roboto Slab Bold"/>
                <a:cs typeface="Roboto Slab Bold"/>
                <a:sym typeface="Roboto Slab Bold"/>
              </a:rPr>
              <a:t>THỰC NGHIỆM VÀ KẾT LUẬN</a:t>
            </a:r>
          </a:p>
        </p:txBody>
      </p:sp>
      <p:sp>
        <p:nvSpPr>
          <p:cNvPr id="14" name="TextBox 14"/>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Freeform 10"/>
          <p:cNvSpPr/>
          <p:nvPr/>
        </p:nvSpPr>
        <p:spPr>
          <a:xfrm>
            <a:off x="5485915" y="1953843"/>
            <a:ext cx="3360050" cy="7304457"/>
          </a:xfrm>
          <a:custGeom>
            <a:avLst/>
            <a:gdLst/>
            <a:ahLst/>
            <a:cxnLst/>
            <a:rect l="l" t="t" r="r" b="b"/>
            <a:pathLst>
              <a:path w="3360050" h="7304457">
                <a:moveTo>
                  <a:pt x="0" y="0"/>
                </a:moveTo>
                <a:lnTo>
                  <a:pt x="3360051" y="0"/>
                </a:lnTo>
                <a:lnTo>
                  <a:pt x="3360051" y="7304457"/>
                </a:lnTo>
                <a:lnTo>
                  <a:pt x="0" y="7304457"/>
                </a:lnTo>
                <a:lnTo>
                  <a:pt x="0" y="0"/>
                </a:lnTo>
                <a:close/>
              </a:path>
            </a:pathLst>
          </a:custGeom>
          <a:blipFill>
            <a:blip r:embed="rId4"/>
            <a:stretch>
              <a:fillRect/>
            </a:stretch>
          </a:blipFill>
        </p:spPr>
        <p:txBody>
          <a:bodyPr/>
          <a:lstStyle/>
          <a:p>
            <a:endParaRPr lang="en-VN"/>
          </a:p>
        </p:txBody>
      </p:sp>
      <p:sp>
        <p:nvSpPr>
          <p:cNvPr id="11" name="Freeform 11"/>
          <p:cNvSpPr/>
          <p:nvPr/>
        </p:nvSpPr>
        <p:spPr>
          <a:xfrm>
            <a:off x="1028700" y="1953843"/>
            <a:ext cx="3360050" cy="7304457"/>
          </a:xfrm>
          <a:custGeom>
            <a:avLst/>
            <a:gdLst/>
            <a:ahLst/>
            <a:cxnLst/>
            <a:rect l="l" t="t" r="r" b="b"/>
            <a:pathLst>
              <a:path w="3360050" h="7304457">
                <a:moveTo>
                  <a:pt x="0" y="0"/>
                </a:moveTo>
                <a:lnTo>
                  <a:pt x="3360050" y="0"/>
                </a:lnTo>
                <a:lnTo>
                  <a:pt x="3360050" y="7304457"/>
                </a:lnTo>
                <a:lnTo>
                  <a:pt x="0" y="7304457"/>
                </a:lnTo>
                <a:lnTo>
                  <a:pt x="0" y="0"/>
                </a:lnTo>
                <a:close/>
              </a:path>
            </a:pathLst>
          </a:custGeom>
          <a:blipFill>
            <a:blip r:embed="rId5"/>
            <a:stretch>
              <a:fillRect/>
            </a:stretch>
          </a:blipFill>
        </p:spPr>
        <p:txBody>
          <a:bodyPr/>
          <a:lstStyle/>
          <a:p>
            <a:endParaRPr lang="en-VN"/>
          </a:p>
        </p:txBody>
      </p:sp>
      <p:sp>
        <p:nvSpPr>
          <p:cNvPr id="12" name="Freeform 12"/>
          <p:cNvSpPr/>
          <p:nvPr/>
        </p:nvSpPr>
        <p:spPr>
          <a:xfrm>
            <a:off x="9575165" y="3699190"/>
            <a:ext cx="8404988" cy="3813764"/>
          </a:xfrm>
          <a:custGeom>
            <a:avLst/>
            <a:gdLst/>
            <a:ahLst/>
            <a:cxnLst/>
            <a:rect l="l" t="t" r="r" b="b"/>
            <a:pathLst>
              <a:path w="8404988" h="3813764">
                <a:moveTo>
                  <a:pt x="0" y="0"/>
                </a:moveTo>
                <a:lnTo>
                  <a:pt x="8404989" y="0"/>
                </a:lnTo>
                <a:lnTo>
                  <a:pt x="8404989" y="3813763"/>
                </a:lnTo>
                <a:lnTo>
                  <a:pt x="0" y="3813763"/>
                </a:lnTo>
                <a:lnTo>
                  <a:pt x="0" y="0"/>
                </a:lnTo>
                <a:close/>
              </a:path>
            </a:pathLst>
          </a:custGeom>
          <a:blipFill>
            <a:blip r:embed="rId6"/>
            <a:stretch>
              <a:fillRect/>
            </a:stretch>
          </a:blipFill>
        </p:spPr>
        <p:txBody>
          <a:bodyPr/>
          <a:lstStyle/>
          <a:p>
            <a:endParaRPr lang="en-VN"/>
          </a:p>
        </p:txBody>
      </p:sp>
      <p:sp>
        <p:nvSpPr>
          <p:cNvPr id="13" name="TextBox 13"/>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4.1. Demo các chức năng</a:t>
            </a:r>
          </a:p>
        </p:txBody>
      </p:sp>
      <p:sp>
        <p:nvSpPr>
          <p:cNvPr id="14" name="TextBox 14"/>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4.2. Thực nghiệm</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12467061" cy="685800"/>
          </a:xfrm>
          <a:prstGeom prst="rect">
            <a:avLst/>
          </a:prstGeom>
        </p:spPr>
        <p:txBody>
          <a:bodyPr lIns="0" tIns="0" rIns="0" bIns="0" rtlCol="0" anchor="t">
            <a:spAutoFit/>
          </a:bodyPr>
          <a:lstStyle/>
          <a:p>
            <a:pPr algn="l">
              <a:lnSpc>
                <a:spcPts val="6000"/>
              </a:lnSpc>
            </a:pPr>
            <a:r>
              <a:rPr lang="en-US" sz="3000" b="1">
                <a:solidFill>
                  <a:srgbClr val="0C1D4B"/>
                </a:solidFill>
                <a:latin typeface="Roboto Slab Bold"/>
                <a:ea typeface="Roboto Slab Bold"/>
                <a:cs typeface="Roboto Slab Bold"/>
                <a:sym typeface="Roboto Slab Bold"/>
              </a:rPr>
              <a:t>Bộ kiểm thử gồm 100 câu hỏi pháp luật, chia thành hai nhóm chính:</a:t>
            </a:r>
          </a:p>
        </p:txBody>
      </p:sp>
      <p:sp>
        <p:nvSpPr>
          <p:cNvPr id="13" name="TextBox 13"/>
          <p:cNvSpPr txBox="1"/>
          <p:nvPr/>
        </p:nvSpPr>
        <p:spPr>
          <a:xfrm>
            <a:off x="1028700" y="2496768"/>
            <a:ext cx="12467061"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Nhóm N1 - Factual Questions: 50 câu hỏi có đáp án xác định, dùng để đánh giá độ chính xác thông tin, điều khoản và nguồn trích dẫn.</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Nhóm N2 - Open Questions: 50 câu hỏi tình huống mở, dùng để đánh giá chất lượng câu trả lời, khả năng phân tích và tổng hợp tư vấn.</a:t>
            </a:r>
          </a:p>
        </p:txBody>
      </p:sp>
      <p:sp>
        <p:nvSpPr>
          <p:cNvPr id="14" name="TextBox 14"/>
          <p:cNvSpPr txBox="1"/>
          <p:nvPr/>
        </p:nvSpPr>
        <p:spPr>
          <a:xfrm>
            <a:off x="1028700" y="4802669"/>
            <a:ext cx="10081822" cy="685800"/>
          </a:xfrm>
          <a:prstGeom prst="rect">
            <a:avLst/>
          </a:prstGeom>
        </p:spPr>
        <p:txBody>
          <a:bodyPr lIns="0" tIns="0" rIns="0" bIns="0" rtlCol="0" anchor="t">
            <a:spAutoFit/>
          </a:bodyPr>
          <a:lstStyle/>
          <a:p>
            <a:pPr algn="just">
              <a:lnSpc>
                <a:spcPts val="6000"/>
              </a:lnSpc>
            </a:pPr>
            <a:r>
              <a:rPr lang="en-US" sz="3000" b="1">
                <a:solidFill>
                  <a:srgbClr val="0C1D4B"/>
                </a:solidFill>
                <a:latin typeface="Roboto Slab Bold"/>
                <a:ea typeface="Roboto Slab Bold"/>
                <a:cs typeface="Roboto Slab Bold"/>
                <a:sym typeface="Roboto Slab Bold"/>
              </a:rPr>
              <a:t>Phương pháp đánh giá</a:t>
            </a:r>
          </a:p>
        </p:txBody>
      </p:sp>
      <p:sp>
        <p:nvSpPr>
          <p:cNvPr id="15" name="TextBox 15"/>
          <p:cNvSpPr txBox="1"/>
          <p:nvPr/>
        </p:nvSpPr>
        <p:spPr>
          <a:xfrm>
            <a:off x="1028700" y="5707544"/>
            <a:ext cx="15755813" cy="3896739"/>
          </a:xfrm>
          <a:prstGeom prst="rect">
            <a:avLst/>
          </a:prstGeom>
        </p:spPr>
        <p:txBody>
          <a:bodyPr lIns="0" tIns="0" rIns="0" bIns="0" rtlCol="0" anchor="t">
            <a:spAutoFit/>
          </a:bodyPr>
          <a:lstStyle/>
          <a:p>
            <a:pPr algn="l">
              <a:lnSpc>
                <a:spcPts val="4479"/>
              </a:lnSpc>
            </a:pPr>
            <a:r>
              <a:rPr lang="en-US" sz="2799">
                <a:solidFill>
                  <a:srgbClr val="0C1D4B"/>
                </a:solidFill>
                <a:latin typeface="Roboto Slab"/>
                <a:ea typeface="Roboto Slab"/>
                <a:cs typeface="Roboto Slab"/>
                <a:sym typeface="Roboto Slab"/>
              </a:rPr>
              <a:t>Thực nghiệm đo đạc các chỉ số phản ánh độ chính xác, chất lượng câu trả lời và hiệu năng phản hồi của hệ thống:</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Accuracy@1</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Citation Accuracy</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Temporal Conflict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Answer Quality</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Response Latency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4.2. Thực nghiệm</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849068"/>
            <a:ext cx="12467061" cy="1086593"/>
          </a:xfrm>
          <a:prstGeom prst="rect">
            <a:avLst/>
          </a:prstGeom>
        </p:spPr>
        <p:txBody>
          <a:bodyPr lIns="0" tIns="0" rIns="0" bIns="0" rtlCol="0" anchor="t">
            <a:spAutoFit/>
          </a:bodyPr>
          <a:lstStyle/>
          <a:p>
            <a:pPr algn="l">
              <a:lnSpc>
                <a:spcPts val="4479"/>
              </a:lnSpc>
            </a:pPr>
            <a:r>
              <a:rPr lang="en-US" sz="2799" b="1">
                <a:solidFill>
                  <a:srgbClr val="0C1D4B"/>
                </a:solidFill>
                <a:latin typeface="Roboto Slab Bold"/>
                <a:ea typeface="Roboto Slab Bold"/>
                <a:cs typeface="Roboto Slab Bold"/>
                <a:sym typeface="Roboto Slab Bold"/>
              </a:rPr>
              <a:t>Accuracy@1:</a:t>
            </a:r>
            <a:r>
              <a:rPr lang="en-US" sz="2799">
                <a:solidFill>
                  <a:srgbClr val="0C1D4B"/>
                </a:solidFill>
                <a:latin typeface="Roboto Slab"/>
                <a:ea typeface="Roboto Slab"/>
                <a:cs typeface="Roboto Slab"/>
                <a:sym typeface="Roboto Slab"/>
              </a:rPr>
              <a:t> tỷ lệ câu trả lời đầu tiên chứa đúng thông tin kỳ vọng</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Accuracy@1 = số câu trả lời đúng / tổng số câu thực tế</a:t>
            </a:r>
          </a:p>
        </p:txBody>
      </p:sp>
      <p:sp>
        <p:nvSpPr>
          <p:cNvPr id="13" name="TextBox 13"/>
          <p:cNvSpPr txBox="1"/>
          <p:nvPr/>
        </p:nvSpPr>
        <p:spPr>
          <a:xfrm>
            <a:off x="1028700" y="3154736"/>
            <a:ext cx="14388818" cy="1086593"/>
          </a:xfrm>
          <a:prstGeom prst="rect">
            <a:avLst/>
          </a:prstGeom>
        </p:spPr>
        <p:txBody>
          <a:bodyPr lIns="0" tIns="0" rIns="0" bIns="0" rtlCol="0" anchor="t">
            <a:spAutoFit/>
          </a:bodyPr>
          <a:lstStyle/>
          <a:p>
            <a:pPr algn="l">
              <a:lnSpc>
                <a:spcPts val="4479"/>
              </a:lnSpc>
            </a:pPr>
            <a:r>
              <a:rPr lang="en-US" sz="2799" b="1">
                <a:solidFill>
                  <a:srgbClr val="0C1D4B"/>
                </a:solidFill>
                <a:latin typeface="Roboto Slab Bold"/>
                <a:ea typeface="Roboto Slab Bold"/>
                <a:cs typeface="Roboto Slab Bold"/>
                <a:sym typeface="Roboto Slab Bold"/>
              </a:rPr>
              <a:t>Citation Accuracy:</a:t>
            </a:r>
            <a:r>
              <a:rPr lang="en-US" sz="2799">
                <a:solidFill>
                  <a:srgbClr val="0C1D4B"/>
                </a:solidFill>
                <a:latin typeface="Roboto Slab"/>
                <a:ea typeface="Roboto Slab"/>
                <a:cs typeface="Roboto Slab"/>
                <a:sym typeface="Roboto Slab"/>
              </a:rPr>
              <a:t> tỷ lệ câu trả lời trích dẫn đúng văn bản pháp luật chứa đáp án</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Công thức: Citation Accuracy = số câu trích dẫn đúng nguồn / tổng số câu thực tế</a:t>
            </a:r>
          </a:p>
        </p:txBody>
      </p:sp>
      <p:sp>
        <p:nvSpPr>
          <p:cNvPr id="14" name="TextBox 14"/>
          <p:cNvSpPr txBox="1"/>
          <p:nvPr/>
        </p:nvSpPr>
        <p:spPr>
          <a:xfrm>
            <a:off x="1028700" y="4460404"/>
            <a:ext cx="16230600" cy="1086593"/>
          </a:xfrm>
          <a:prstGeom prst="rect">
            <a:avLst/>
          </a:prstGeom>
        </p:spPr>
        <p:txBody>
          <a:bodyPr lIns="0" tIns="0" rIns="0" bIns="0" rtlCol="0" anchor="t">
            <a:spAutoFit/>
          </a:bodyPr>
          <a:lstStyle/>
          <a:p>
            <a:pPr algn="l">
              <a:lnSpc>
                <a:spcPts val="4479"/>
              </a:lnSpc>
            </a:pPr>
            <a:r>
              <a:rPr lang="en-US" sz="2799" b="1">
                <a:solidFill>
                  <a:srgbClr val="0C1D4B"/>
                </a:solidFill>
                <a:latin typeface="Roboto Slab Bold"/>
                <a:ea typeface="Roboto Slab Bold"/>
                <a:cs typeface="Roboto Slab Bold"/>
                <a:sym typeface="Roboto Slab Bold"/>
              </a:rPr>
              <a:t>Answer Quality:</a:t>
            </a:r>
            <a:r>
              <a:rPr lang="en-US" sz="2799">
                <a:solidFill>
                  <a:srgbClr val="0C1D4B"/>
                </a:solidFill>
                <a:latin typeface="Roboto Slab"/>
                <a:ea typeface="Roboto Slab"/>
                <a:cs typeface="Roboto Slab"/>
                <a:sym typeface="Roboto Slab"/>
              </a:rPr>
              <a:t> Đánh giá câu hỏi tình huống mở theo thang 1-5 dựa trên độ đúng pháp lý, độ đầy đủ, khả năng áp dụng vào tình huống và cách trình bày câu trả lời</a:t>
            </a:r>
          </a:p>
        </p:txBody>
      </p:sp>
      <p:sp>
        <p:nvSpPr>
          <p:cNvPr id="15" name="TextBox 15"/>
          <p:cNvSpPr txBox="1"/>
          <p:nvPr/>
        </p:nvSpPr>
        <p:spPr>
          <a:xfrm>
            <a:off x="1028700" y="5766073"/>
            <a:ext cx="16230600" cy="1086593"/>
          </a:xfrm>
          <a:prstGeom prst="rect">
            <a:avLst/>
          </a:prstGeom>
        </p:spPr>
        <p:txBody>
          <a:bodyPr lIns="0" tIns="0" rIns="0" bIns="0" rtlCol="0" anchor="t">
            <a:spAutoFit/>
          </a:bodyPr>
          <a:lstStyle/>
          <a:p>
            <a:pPr algn="l">
              <a:lnSpc>
                <a:spcPts val="4479"/>
              </a:lnSpc>
            </a:pPr>
            <a:r>
              <a:rPr lang="en-US" sz="2799" b="1">
                <a:solidFill>
                  <a:srgbClr val="0C1D4B"/>
                </a:solidFill>
                <a:latin typeface="Roboto Slab Bold"/>
                <a:ea typeface="Roboto Slab Bold"/>
                <a:cs typeface="Roboto Slab Bold"/>
                <a:sym typeface="Roboto Slab Bold"/>
              </a:rPr>
              <a:t>Response Latency:</a:t>
            </a:r>
            <a:r>
              <a:rPr lang="en-US" sz="2799">
                <a:solidFill>
                  <a:srgbClr val="0C1D4B"/>
                </a:solidFill>
                <a:latin typeface="Roboto Slab"/>
                <a:ea typeface="Roboto Slab"/>
                <a:cs typeface="Roboto Slab"/>
                <a:sym typeface="Roboto Slab"/>
              </a:rPr>
              <a:t> Đo thời gian từ lúc gửi câu hỏi đến khi hệ thống hoàn tất phản hồi</a:t>
            </a:r>
          </a:p>
          <a:p>
            <a:pPr algn="l">
              <a:lnSpc>
                <a:spcPts val="4479"/>
              </a:lnSpc>
            </a:pPr>
            <a:r>
              <a:rPr lang="en-US" sz="2799">
                <a:solidFill>
                  <a:srgbClr val="0C1D4B"/>
                </a:solidFill>
                <a:latin typeface="Roboto Slab"/>
                <a:ea typeface="Roboto Slab"/>
                <a:cs typeface="Roboto Slab"/>
                <a:sym typeface="Roboto Slab"/>
              </a:rPr>
              <a:t>Sử dụng P50 và P95 để đánh giá độ trễ trung vị và độ trễ ở nhóm câu hỏi chậm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4.2. Thực nghiệm</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5955697" cy="685800"/>
          </a:xfrm>
          <a:prstGeom prst="rect">
            <a:avLst/>
          </a:prstGeom>
        </p:spPr>
        <p:txBody>
          <a:bodyPr lIns="0" tIns="0" rIns="0" bIns="0" rtlCol="0" anchor="t">
            <a:spAutoFit/>
          </a:bodyPr>
          <a:lstStyle/>
          <a:p>
            <a:pPr algn="l">
              <a:lnSpc>
                <a:spcPts val="6000"/>
              </a:lnSpc>
            </a:pPr>
            <a:r>
              <a:rPr lang="en-US" sz="3000" b="1">
                <a:solidFill>
                  <a:srgbClr val="0C1D4B"/>
                </a:solidFill>
                <a:latin typeface="Roboto Slab Bold"/>
                <a:ea typeface="Roboto Slab Bold"/>
                <a:cs typeface="Roboto Slab Bold"/>
                <a:sym typeface="Roboto Slab Bold"/>
              </a:rPr>
              <a:t>Kết quả thực nghiệm:</a:t>
            </a:r>
          </a:p>
        </p:txBody>
      </p:sp>
      <p:sp>
        <p:nvSpPr>
          <p:cNvPr id="13" name="TextBox 13"/>
          <p:cNvSpPr txBox="1"/>
          <p:nvPr/>
        </p:nvSpPr>
        <p:spPr>
          <a:xfrm>
            <a:off x="1028700" y="2496768"/>
            <a:ext cx="5797435" cy="2772681"/>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Accuracy@1: 90,0%</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Citation Accuracy: 56,7%</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Answer Quality: 4,13/5,0</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Latency P50: 65,5 giây</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Latency P95: 100,6 giây</a:t>
            </a:r>
          </a:p>
        </p:txBody>
      </p:sp>
      <p:sp>
        <p:nvSpPr>
          <p:cNvPr id="14" name="TextBox 14"/>
          <p:cNvSpPr txBox="1"/>
          <p:nvPr/>
        </p:nvSpPr>
        <p:spPr>
          <a:xfrm>
            <a:off x="1028700" y="5364698"/>
            <a:ext cx="5955697" cy="685800"/>
          </a:xfrm>
          <a:prstGeom prst="rect">
            <a:avLst/>
          </a:prstGeom>
        </p:spPr>
        <p:txBody>
          <a:bodyPr lIns="0" tIns="0" rIns="0" bIns="0" rtlCol="0" anchor="t">
            <a:spAutoFit/>
          </a:bodyPr>
          <a:lstStyle/>
          <a:p>
            <a:pPr algn="l">
              <a:lnSpc>
                <a:spcPts val="6000"/>
              </a:lnSpc>
            </a:pPr>
            <a:r>
              <a:rPr lang="en-US" sz="3000" b="1">
                <a:solidFill>
                  <a:srgbClr val="0C1D4B"/>
                </a:solidFill>
                <a:latin typeface="Roboto Slab Bold"/>
                <a:ea typeface="Roboto Slab Bold"/>
                <a:cs typeface="Roboto Slab Bold"/>
                <a:sym typeface="Roboto Slab Bold"/>
              </a:rPr>
              <a:t>Nhận xét:</a:t>
            </a:r>
          </a:p>
        </p:txBody>
      </p:sp>
      <p:sp>
        <p:nvSpPr>
          <p:cNvPr id="15" name="TextBox 15"/>
          <p:cNvSpPr txBox="1"/>
          <p:nvPr/>
        </p:nvSpPr>
        <p:spPr>
          <a:xfrm>
            <a:off x="1028700" y="6269573"/>
            <a:ext cx="11800099"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Hệ thống đạt độ chính xác tốt ở nhóm câu hỏi factual</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Chất lượng câu trả lời ở mức tốt, phù hợp với tư vấn pháp luật có căn cứ</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Hạn chế chính nằm ở thời gian phản hồi</a:t>
            </a:r>
          </a:p>
        </p:txBody>
      </p:sp>
      <p:sp>
        <p:nvSpPr>
          <p:cNvPr id="16" name="Freeform 16"/>
          <p:cNvSpPr/>
          <p:nvPr/>
        </p:nvSpPr>
        <p:spPr>
          <a:xfrm>
            <a:off x="12955966" y="1953843"/>
            <a:ext cx="4303334" cy="4407511"/>
          </a:xfrm>
          <a:custGeom>
            <a:avLst/>
            <a:gdLst/>
            <a:ahLst/>
            <a:cxnLst/>
            <a:rect l="l" t="t" r="r" b="b"/>
            <a:pathLst>
              <a:path w="4303334" h="4407511">
                <a:moveTo>
                  <a:pt x="0" y="0"/>
                </a:moveTo>
                <a:lnTo>
                  <a:pt x="4303334" y="0"/>
                </a:lnTo>
                <a:lnTo>
                  <a:pt x="4303334" y="4407511"/>
                </a:lnTo>
                <a:lnTo>
                  <a:pt x="0" y="440751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028700" y="1095375"/>
            <a:ext cx="11197543" cy="534618"/>
          </a:xfrm>
          <a:prstGeom prst="rect">
            <a:avLst/>
          </a:prstGeom>
        </p:spPr>
        <p:txBody>
          <a:bodyPr lIns="0" tIns="0" rIns="0" bIns="0" rtlCol="0" anchor="t">
            <a:spAutoFit/>
          </a:bodyPr>
          <a:lstStyle/>
          <a:p>
            <a:pPr algn="just">
              <a:lnSpc>
                <a:spcPts val="4039"/>
              </a:lnSpc>
            </a:pPr>
            <a:r>
              <a:rPr lang="en-US" sz="3999" b="1">
                <a:solidFill>
                  <a:srgbClr val="0C1D4B"/>
                </a:solidFill>
                <a:latin typeface="Roboto Slab Bold"/>
                <a:ea typeface="Roboto Slab Bold"/>
                <a:cs typeface="Roboto Slab Bold"/>
                <a:sym typeface="Roboto Slab Bold"/>
              </a:rPr>
              <a:t>4.3. Kết luận</a:t>
            </a:r>
          </a:p>
        </p:txBody>
      </p:sp>
      <p:sp>
        <p:nvSpPr>
          <p:cNvPr id="11" name="TextBox 11"/>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2" name="TextBox 12"/>
          <p:cNvSpPr txBox="1"/>
          <p:nvPr/>
        </p:nvSpPr>
        <p:spPr>
          <a:xfrm>
            <a:off x="1028700" y="1725243"/>
            <a:ext cx="5955697" cy="685800"/>
          </a:xfrm>
          <a:prstGeom prst="rect">
            <a:avLst/>
          </a:prstGeom>
        </p:spPr>
        <p:txBody>
          <a:bodyPr lIns="0" tIns="0" rIns="0" bIns="0" rtlCol="0" anchor="t">
            <a:spAutoFit/>
          </a:bodyPr>
          <a:lstStyle/>
          <a:p>
            <a:pPr algn="l">
              <a:lnSpc>
                <a:spcPts val="6000"/>
              </a:lnSpc>
            </a:pPr>
            <a:r>
              <a:rPr lang="en-US" sz="3000" b="1">
                <a:solidFill>
                  <a:srgbClr val="0C1D4B"/>
                </a:solidFill>
                <a:latin typeface="Roboto Slab Bold"/>
                <a:ea typeface="Roboto Slab Bold"/>
                <a:cs typeface="Roboto Slab Bold"/>
                <a:sym typeface="Roboto Slab Bold"/>
              </a:rPr>
              <a:t>Kết quả đạt được:</a:t>
            </a:r>
          </a:p>
        </p:txBody>
      </p:sp>
      <p:sp>
        <p:nvSpPr>
          <p:cNvPr id="13" name="TextBox 13"/>
          <p:cNvSpPr txBox="1"/>
          <p:nvPr/>
        </p:nvSpPr>
        <p:spPr>
          <a:xfrm>
            <a:off x="1028700" y="2496768"/>
            <a:ext cx="14344525" cy="221065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Tìm hiểu về các khái niệm về chatbot, AI Agent, RAG, LLMs.</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Xây dựng được hệ thống trợ lý ảo pháp luật với kiến trúc AI Agent</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Ứng dụng thành công kỹ thuật truy vấn RAG vào hệ thống</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Xây dựng được ứng dụng Mobile và Web cho hệ thống</a:t>
            </a:r>
          </a:p>
        </p:txBody>
      </p:sp>
      <p:sp>
        <p:nvSpPr>
          <p:cNvPr id="14" name="TextBox 14"/>
          <p:cNvSpPr txBox="1"/>
          <p:nvPr/>
        </p:nvSpPr>
        <p:spPr>
          <a:xfrm>
            <a:off x="1028700" y="4802669"/>
            <a:ext cx="5955697" cy="685800"/>
          </a:xfrm>
          <a:prstGeom prst="rect">
            <a:avLst/>
          </a:prstGeom>
        </p:spPr>
        <p:txBody>
          <a:bodyPr lIns="0" tIns="0" rIns="0" bIns="0" rtlCol="0" anchor="t">
            <a:spAutoFit/>
          </a:bodyPr>
          <a:lstStyle/>
          <a:p>
            <a:pPr algn="l">
              <a:lnSpc>
                <a:spcPts val="6000"/>
              </a:lnSpc>
            </a:pPr>
            <a:r>
              <a:rPr lang="en-US" sz="3000" b="1">
                <a:solidFill>
                  <a:srgbClr val="0C1D4B"/>
                </a:solidFill>
                <a:latin typeface="Roboto Slab Bold"/>
                <a:ea typeface="Roboto Slab Bold"/>
                <a:cs typeface="Roboto Slab Bold"/>
                <a:sym typeface="Roboto Slab Bold"/>
              </a:rPr>
              <a:t>Hạn chế:</a:t>
            </a:r>
          </a:p>
        </p:txBody>
      </p:sp>
      <p:sp>
        <p:nvSpPr>
          <p:cNvPr id="15" name="TextBox 15"/>
          <p:cNvSpPr txBox="1"/>
          <p:nvPr/>
        </p:nvSpPr>
        <p:spPr>
          <a:xfrm>
            <a:off x="1028700" y="5574194"/>
            <a:ext cx="14988879" cy="1086593"/>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Độ trễ phản hồi của pipeline Agentic RAG còn cao</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Bộ kiểm thử còn giới hạn, chưa bao phủ đầy đủ toàn bộ lĩnh vực pháp luật Việt Nam</a:t>
            </a:r>
          </a:p>
        </p:txBody>
      </p:sp>
      <p:sp>
        <p:nvSpPr>
          <p:cNvPr id="16" name="TextBox 16"/>
          <p:cNvSpPr txBox="1"/>
          <p:nvPr/>
        </p:nvSpPr>
        <p:spPr>
          <a:xfrm>
            <a:off x="1028700" y="6756037"/>
            <a:ext cx="5955697" cy="685800"/>
          </a:xfrm>
          <a:prstGeom prst="rect">
            <a:avLst/>
          </a:prstGeom>
        </p:spPr>
        <p:txBody>
          <a:bodyPr lIns="0" tIns="0" rIns="0" bIns="0" rtlCol="0" anchor="t">
            <a:spAutoFit/>
          </a:bodyPr>
          <a:lstStyle/>
          <a:p>
            <a:pPr algn="l">
              <a:lnSpc>
                <a:spcPts val="6000"/>
              </a:lnSpc>
            </a:pPr>
            <a:r>
              <a:rPr lang="en-US" sz="3000" b="1">
                <a:solidFill>
                  <a:srgbClr val="0C1D4B"/>
                </a:solidFill>
                <a:latin typeface="Roboto Slab Bold"/>
                <a:ea typeface="Roboto Slab Bold"/>
                <a:cs typeface="Roboto Slab Bold"/>
                <a:sym typeface="Roboto Slab Bold"/>
              </a:rPr>
              <a:t>Hướng phát triển:</a:t>
            </a:r>
          </a:p>
        </p:txBody>
      </p:sp>
      <p:sp>
        <p:nvSpPr>
          <p:cNvPr id="17" name="TextBox 17"/>
          <p:cNvSpPr txBox="1"/>
          <p:nvPr/>
        </p:nvSpPr>
        <p:spPr>
          <a:xfrm>
            <a:off x="1028700" y="7527562"/>
            <a:ext cx="14988879" cy="1648622"/>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Tối ưu thời gian phản hồi của luồng Agentic RAG</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Mở rộng và cập nhật kho dữ liệu pháp luật nội bộ</a:t>
            </a:r>
          </a:p>
          <a:p>
            <a:pPr marL="604519" lvl="1" indent="-302260" algn="l">
              <a:lnSpc>
                <a:spcPts val="4479"/>
              </a:lnSpc>
              <a:buFont typeface="Arial"/>
              <a:buChar char="•"/>
            </a:pPr>
            <a:r>
              <a:rPr lang="en-US" sz="2799">
                <a:solidFill>
                  <a:srgbClr val="0C1D4B"/>
                </a:solidFill>
                <a:latin typeface="Roboto Slab"/>
                <a:ea typeface="Roboto Slab"/>
                <a:cs typeface="Roboto Slab"/>
                <a:sym typeface="Roboto Slab"/>
              </a:rPr>
              <a:t>Mở rộng thêm tính năng cho hệ thống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7259300" y="-233820"/>
            <a:ext cx="1940843" cy="970417"/>
            <a:chOff x="0" y="0"/>
            <a:chExt cx="2587790" cy="1293889"/>
          </a:xfrm>
        </p:grpSpPr>
        <p:sp>
          <p:nvSpPr>
            <p:cNvPr id="3" name="Freeform 3"/>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4" name="Group 4"/>
          <p:cNvGrpSpPr/>
          <p:nvPr/>
        </p:nvGrpSpPr>
        <p:grpSpPr>
          <a:xfrm>
            <a:off x="-912143" y="9429369"/>
            <a:ext cx="1940843" cy="970417"/>
            <a:chOff x="0" y="0"/>
            <a:chExt cx="2587790" cy="1293889"/>
          </a:xfrm>
        </p:grpSpPr>
        <p:sp>
          <p:nvSpPr>
            <p:cNvPr id="5" name="Freeform 5"/>
            <p:cNvSpPr/>
            <p:nvPr/>
          </p:nvSpPr>
          <p:spPr>
            <a:xfrm>
              <a:off x="0" y="0"/>
              <a:ext cx="2587752" cy="1293876"/>
            </a:xfrm>
            <a:custGeom>
              <a:avLst/>
              <a:gdLst/>
              <a:ahLst/>
              <a:cxnLst/>
              <a:rect l="l" t="t" r="r" b="b"/>
              <a:pathLst>
                <a:path w="2587752" h="1293876">
                  <a:moveTo>
                    <a:pt x="0" y="0"/>
                  </a:moveTo>
                  <a:lnTo>
                    <a:pt x="2587752" y="0"/>
                  </a:lnTo>
                  <a:lnTo>
                    <a:pt x="2587752" y="1293876"/>
                  </a:lnTo>
                  <a:lnTo>
                    <a:pt x="0" y="1293876"/>
                  </a:lnTo>
                  <a:lnTo>
                    <a:pt x="0" y="0"/>
                  </a:lnTo>
                  <a:close/>
                </a:path>
              </a:pathLst>
            </a:custGeom>
            <a:blipFill>
              <a:blip r:embed="rId2"/>
              <a:stretch>
                <a:fillRect r="-1"/>
              </a:stretch>
            </a:blipFill>
          </p:spPr>
          <p:txBody>
            <a:bodyPr/>
            <a:lstStyle/>
            <a:p>
              <a:endParaRPr lang="en-VN"/>
            </a:p>
          </p:txBody>
        </p:sp>
      </p:grpSp>
      <p:grpSp>
        <p:nvGrpSpPr>
          <p:cNvPr id="6" name="Group 6"/>
          <p:cNvGrpSpPr/>
          <p:nvPr/>
        </p:nvGrpSpPr>
        <p:grpSpPr>
          <a:xfrm>
            <a:off x="-3127839" y="9986436"/>
            <a:ext cx="22035035" cy="2837612"/>
            <a:chOff x="0" y="0"/>
            <a:chExt cx="5803466" cy="747355"/>
          </a:xfrm>
        </p:grpSpPr>
        <p:sp>
          <p:nvSpPr>
            <p:cNvPr id="7" name="Freeform 7"/>
            <p:cNvSpPr/>
            <p:nvPr/>
          </p:nvSpPr>
          <p:spPr>
            <a:xfrm>
              <a:off x="0" y="0"/>
              <a:ext cx="5803466" cy="747355"/>
            </a:xfrm>
            <a:custGeom>
              <a:avLst/>
              <a:gdLst/>
              <a:ahLst/>
              <a:cxnLst/>
              <a:rect l="l" t="t" r="r" b="b"/>
              <a:pathLst>
                <a:path w="5803466" h="747355">
                  <a:moveTo>
                    <a:pt x="0" y="0"/>
                  </a:moveTo>
                  <a:lnTo>
                    <a:pt x="5803466" y="0"/>
                  </a:lnTo>
                  <a:lnTo>
                    <a:pt x="5803466" y="747355"/>
                  </a:lnTo>
                  <a:lnTo>
                    <a:pt x="0" y="747355"/>
                  </a:lnTo>
                  <a:close/>
                </a:path>
              </a:pathLst>
            </a:custGeom>
            <a:solidFill>
              <a:srgbClr val="3C4F75"/>
            </a:solidFill>
          </p:spPr>
          <p:txBody>
            <a:bodyPr/>
            <a:lstStyle/>
            <a:p>
              <a:endParaRPr lang="en-VN"/>
            </a:p>
          </p:txBody>
        </p:sp>
        <p:sp>
          <p:nvSpPr>
            <p:cNvPr id="8" name="TextBox 8"/>
            <p:cNvSpPr txBox="1"/>
            <p:nvPr/>
          </p:nvSpPr>
          <p:spPr>
            <a:xfrm>
              <a:off x="0" y="-47625"/>
              <a:ext cx="5803466" cy="79498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1028700" y="251389"/>
            <a:ext cx="551704" cy="584433"/>
          </a:xfrm>
          <a:custGeom>
            <a:avLst/>
            <a:gdLst/>
            <a:ahLst/>
            <a:cxnLst/>
            <a:rect l="l" t="t" r="r" b="b"/>
            <a:pathLst>
              <a:path w="551704" h="584433">
                <a:moveTo>
                  <a:pt x="0" y="0"/>
                </a:moveTo>
                <a:lnTo>
                  <a:pt x="551704" y="0"/>
                </a:lnTo>
                <a:lnTo>
                  <a:pt x="551704" y="584432"/>
                </a:lnTo>
                <a:lnTo>
                  <a:pt x="0" y="584432"/>
                </a:lnTo>
                <a:lnTo>
                  <a:pt x="0" y="0"/>
                </a:lnTo>
                <a:close/>
              </a:path>
            </a:pathLst>
          </a:custGeom>
          <a:blipFill>
            <a:blip r:embed="rId3"/>
            <a:stretch>
              <a:fillRect/>
            </a:stretch>
          </a:blipFill>
        </p:spPr>
        <p:txBody>
          <a:bodyPr/>
          <a:lstStyle/>
          <a:p>
            <a:endParaRPr lang="en-VN"/>
          </a:p>
        </p:txBody>
      </p:sp>
      <p:sp>
        <p:nvSpPr>
          <p:cNvPr id="10" name="TextBox 10"/>
          <p:cNvSpPr txBox="1"/>
          <p:nvPr/>
        </p:nvSpPr>
        <p:spPr>
          <a:xfrm>
            <a:off x="1687249" y="346410"/>
            <a:ext cx="3954904" cy="356289"/>
          </a:xfrm>
          <a:prstGeom prst="rect">
            <a:avLst/>
          </a:prstGeom>
        </p:spPr>
        <p:txBody>
          <a:bodyPr lIns="0" tIns="0" rIns="0" bIns="0" rtlCol="0" anchor="t">
            <a:spAutoFit/>
          </a:bodyPr>
          <a:lstStyle/>
          <a:p>
            <a:pPr algn="l">
              <a:lnSpc>
                <a:spcPts val="2940"/>
              </a:lnSpc>
            </a:pPr>
            <a:r>
              <a:rPr lang="en-US" sz="2100" b="1">
                <a:solidFill>
                  <a:srgbClr val="2C2C2C"/>
                </a:solidFill>
                <a:latin typeface="Roboto Slab Bold"/>
                <a:ea typeface="Roboto Slab Bold"/>
                <a:cs typeface="Roboto Slab Bold"/>
                <a:sym typeface="Roboto Slab Bold"/>
              </a:rPr>
              <a:t>HỌC VIỆN KỸ THUẬT MẬT MÃ</a:t>
            </a:r>
          </a:p>
        </p:txBody>
      </p:sp>
      <p:sp>
        <p:nvSpPr>
          <p:cNvPr id="11" name="TextBox 11"/>
          <p:cNvSpPr txBox="1"/>
          <p:nvPr/>
        </p:nvSpPr>
        <p:spPr>
          <a:xfrm>
            <a:off x="3334264" y="3539348"/>
            <a:ext cx="11619472" cy="1459103"/>
          </a:xfrm>
          <a:prstGeom prst="rect">
            <a:avLst/>
          </a:prstGeom>
        </p:spPr>
        <p:txBody>
          <a:bodyPr lIns="0" tIns="0" rIns="0" bIns="0" rtlCol="0" anchor="t">
            <a:spAutoFit/>
          </a:bodyPr>
          <a:lstStyle/>
          <a:p>
            <a:pPr algn="ctr">
              <a:lnSpc>
                <a:spcPts val="5656"/>
              </a:lnSpc>
            </a:pPr>
            <a:r>
              <a:rPr lang="en-US" sz="5600" b="1">
                <a:solidFill>
                  <a:srgbClr val="0C1D4B"/>
                </a:solidFill>
                <a:latin typeface="Roboto Slab Bold"/>
                <a:ea typeface="Roboto Slab Bold"/>
                <a:cs typeface="Roboto Slab Bold"/>
                <a:sym typeface="Roboto Slab Bold"/>
              </a:rPr>
              <a:t>CẢM ƠN THẦY CÔ VÀ CÁC BẠN ĐÃ LẮNG NGHE</a:t>
            </a:r>
          </a:p>
        </p:txBody>
      </p:sp>
      <p:grpSp>
        <p:nvGrpSpPr>
          <p:cNvPr id="12" name="Group 12"/>
          <p:cNvGrpSpPr/>
          <p:nvPr/>
        </p:nvGrpSpPr>
        <p:grpSpPr>
          <a:xfrm>
            <a:off x="5686529" y="5500645"/>
            <a:ext cx="6914943" cy="814121"/>
            <a:chOff x="0" y="0"/>
            <a:chExt cx="1821220" cy="214419"/>
          </a:xfrm>
        </p:grpSpPr>
        <p:sp>
          <p:nvSpPr>
            <p:cNvPr id="13" name="Freeform 13"/>
            <p:cNvSpPr/>
            <p:nvPr/>
          </p:nvSpPr>
          <p:spPr>
            <a:xfrm>
              <a:off x="0" y="0"/>
              <a:ext cx="1821219" cy="214419"/>
            </a:xfrm>
            <a:custGeom>
              <a:avLst/>
              <a:gdLst/>
              <a:ahLst/>
              <a:cxnLst/>
              <a:rect l="l" t="t" r="r" b="b"/>
              <a:pathLst>
                <a:path w="1821219" h="214419">
                  <a:moveTo>
                    <a:pt x="31349" y="0"/>
                  </a:moveTo>
                  <a:lnTo>
                    <a:pt x="1789871" y="0"/>
                  </a:lnTo>
                  <a:cubicBezTo>
                    <a:pt x="1798185" y="0"/>
                    <a:pt x="1806159" y="3303"/>
                    <a:pt x="1812038" y="9182"/>
                  </a:cubicBezTo>
                  <a:cubicBezTo>
                    <a:pt x="1817917" y="15061"/>
                    <a:pt x="1821219" y="23034"/>
                    <a:pt x="1821219" y="31349"/>
                  </a:cubicBezTo>
                  <a:lnTo>
                    <a:pt x="1821219" y="183070"/>
                  </a:lnTo>
                  <a:cubicBezTo>
                    <a:pt x="1821219" y="200384"/>
                    <a:pt x="1807184" y="214419"/>
                    <a:pt x="1789871" y="214419"/>
                  </a:cubicBezTo>
                  <a:lnTo>
                    <a:pt x="31349" y="214419"/>
                  </a:lnTo>
                  <a:cubicBezTo>
                    <a:pt x="23034" y="214419"/>
                    <a:pt x="15061" y="211116"/>
                    <a:pt x="9182" y="205237"/>
                  </a:cubicBezTo>
                  <a:cubicBezTo>
                    <a:pt x="3303" y="199358"/>
                    <a:pt x="0" y="191384"/>
                    <a:pt x="0" y="183070"/>
                  </a:cubicBezTo>
                  <a:lnTo>
                    <a:pt x="0" y="31349"/>
                  </a:lnTo>
                  <a:cubicBezTo>
                    <a:pt x="0" y="14035"/>
                    <a:pt x="14035" y="0"/>
                    <a:pt x="31349" y="0"/>
                  </a:cubicBezTo>
                  <a:close/>
                </a:path>
              </a:pathLst>
            </a:custGeom>
            <a:solidFill>
              <a:srgbClr val="0C1D4B"/>
            </a:solidFill>
          </p:spPr>
          <p:txBody>
            <a:bodyPr/>
            <a:lstStyle/>
            <a:p>
              <a:endParaRPr lang="en-VN"/>
            </a:p>
          </p:txBody>
        </p:sp>
        <p:sp>
          <p:nvSpPr>
            <p:cNvPr id="14" name="TextBox 14"/>
            <p:cNvSpPr txBox="1"/>
            <p:nvPr/>
          </p:nvSpPr>
          <p:spPr>
            <a:xfrm>
              <a:off x="0" y="-47625"/>
              <a:ext cx="1821220" cy="262044"/>
            </a:xfrm>
            <a:prstGeom prst="rect">
              <a:avLst/>
            </a:prstGeom>
          </p:spPr>
          <p:txBody>
            <a:bodyPr lIns="50800" tIns="50800" rIns="50800" bIns="50800" rtlCol="0" anchor="ctr"/>
            <a:lstStyle/>
            <a:p>
              <a:pPr algn="ctr">
                <a:lnSpc>
                  <a:spcPts val="3779"/>
                </a:lnSpc>
              </a:pPr>
              <a:r>
                <a:rPr lang="en-US" sz="2699" b="1" spc="64">
                  <a:solidFill>
                    <a:srgbClr val="FFFFFF"/>
                  </a:solidFill>
                  <a:latin typeface="DM Sans Bold"/>
                  <a:ea typeface="DM Sans Bold"/>
                  <a:cs typeface="DM Sans Bold"/>
                  <a:sym typeface="DM Sans Bold"/>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3057</Words>
  <Application>Microsoft Macintosh PowerPoint</Application>
  <PresentationFormat>Custom</PresentationFormat>
  <Paragraphs>375</Paragraphs>
  <Slides>35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Calibri</vt:lpstr>
      <vt:lpstr>Roboto Slab</vt:lpstr>
      <vt:lpstr>Roboto Bold Italics</vt:lpstr>
      <vt:lpstr>Roboto Italics</vt:lpstr>
      <vt:lpstr>Arial</vt:lpstr>
      <vt:lpstr>DM Sans Bold</vt:lpstr>
      <vt:lpstr>Roboto Slab Bold</vt:lpstr>
      <vt:lpstr>IBM Plex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 sao của Báo cáo đồ án</dc:title>
  <cp:lastModifiedBy>Chris Green</cp:lastModifiedBy>
  <cp:revision>2</cp:revision>
  <dcterms:created xsi:type="dcterms:W3CDTF">2006-08-16T00:00:00Z</dcterms:created>
  <dcterms:modified xsi:type="dcterms:W3CDTF">2026-06-07T15:11:27Z</dcterms:modified>
  <dc:identifier>DAHL5LA9SxM</dc:identifier>
</cp:coreProperties>
</file>