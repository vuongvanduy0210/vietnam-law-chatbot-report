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301" r:id="rId30"/>
    <p:sldId id="284" r:id="rId31"/>
    <p:sldId id="285" r:id="rId32"/>
    <p:sldId id="286" r:id="rId33"/>
    <p:sldId id="302" r:id="rId34"/>
    <p:sldId id="304" r:id="rId35"/>
    <p:sldId id="305" r:id="rId36"/>
    <p:sldId id="306" r:id="rId37"/>
    <p:sldId id="303"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8288000" cy="10287000"/>
  <p:notesSz cx="6858000" cy="9144000"/>
  <p:embeddedFontLst>
    <p:embeddedFont>
      <p:font typeface="Canva Sans Bold" panose="020B0803030501040103" pitchFamily="34" charset="0"/>
      <p:regular r:id="rId53"/>
      <p:bold r:id="rId54"/>
    </p:embeddedFont>
    <p:embeddedFont>
      <p:font typeface="Canva Sans Italics" panose="020B0503030501040103" pitchFamily="34" charset="0"/>
      <p:regular r:id="rId55"/>
      <p:italic r:id="rId56"/>
    </p:embeddedFont>
    <p:embeddedFont>
      <p:font typeface="DM Sans" pitchFamily="2" charset="77"/>
      <p:regular r:id="rId57"/>
      <p:bold r:id="rId58"/>
      <p:italic r:id="rId59"/>
      <p:boldItalic r:id="rId60"/>
    </p:embeddedFont>
    <p:embeddedFont>
      <p:font typeface="DM Sans Bold" pitchFamily="2" charset="77"/>
      <p:regular r:id="rId61"/>
      <p:bold r:id="rId62"/>
    </p:embeddedFont>
    <p:embeddedFont>
      <p:font typeface="Montserrat" pitchFamily="2" charset="77"/>
      <p:regular r:id="rId63"/>
      <p:bold r:id="rId64"/>
      <p:italic r:id="rId65"/>
      <p:boldItalic r:id="rId66"/>
    </p:embeddedFont>
    <p:embeddedFont>
      <p:font typeface="Montserrat Bold" pitchFamily="2" charset="77"/>
      <p:regular r:id="rId67"/>
      <p:bold r:id="rId68"/>
    </p:embeddedFont>
    <p:embeddedFont>
      <p:font typeface="Montserrat Bold Italics" pitchFamily="2" charset="77"/>
      <p:regular r:id="rId69"/>
      <p:bold r:id="rId70"/>
      <p:italic r:id="rId71"/>
      <p:boldItalic r:id="rId72"/>
    </p:embeddedFont>
    <p:embeddedFont>
      <p:font typeface="Montserrat Heavy" pitchFamily="2" charset="77"/>
      <p:regular r:id="rId73"/>
      <p:bold r:id="rId74"/>
    </p:embeddedFont>
    <p:embeddedFont>
      <p:font typeface="Montserrat Italics" pitchFamily="2" charset="77"/>
      <p:regular r:id="rId75"/>
      <p:italic r:id="rId76"/>
    </p:embeddedFont>
    <p:embeddedFont>
      <p:font typeface="Montserrat Medium" panose="020F0502020204030204" pitchFamily="34" charset="0"/>
      <p:regular r:id="rId77"/>
      <p:italic r:id="rId78"/>
    </p:embeddedFont>
    <p:embeddedFont>
      <p:font typeface="Montserrat Semi-Bold" pitchFamily="2" charset="77"/>
      <p:regular r:id="rId79"/>
      <p:bold r:id="rId8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3" autoAdjust="0"/>
    <p:restoredTop sz="94607" autoAdjust="0"/>
  </p:normalViewPr>
  <p:slideViewPr>
    <p:cSldViewPr>
      <p:cViewPr varScale="1">
        <p:scale>
          <a:sx n="99" d="100"/>
          <a:sy n="99" d="100"/>
        </p:scale>
        <p:origin x="2088" y="2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1.fntdata"/><Relationship Id="rId68" Type="http://schemas.openxmlformats.org/officeDocument/2006/relationships/font" Target="fonts/font16.fntdata"/><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font" Target="fonts/font1.fntdata"/><Relationship Id="rId58" Type="http://schemas.openxmlformats.org/officeDocument/2006/relationships/font" Target="fonts/font6.fntdata"/><Relationship Id="rId74" Type="http://schemas.openxmlformats.org/officeDocument/2006/relationships/font" Target="fonts/font22.fntdata"/><Relationship Id="rId79" Type="http://schemas.openxmlformats.org/officeDocument/2006/relationships/font" Target="fonts/font27.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font" Target="fonts/font17.fntdata"/><Relationship Id="rId77" Type="http://schemas.openxmlformats.org/officeDocument/2006/relationships/font" Target="fonts/font2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0.fntdata"/><Relationship Id="rId80" Type="http://schemas.openxmlformats.org/officeDocument/2006/relationships/font" Target="fonts/font28.fntdata"/><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font" Target="fonts/font18.fntdata"/><Relationship Id="rId75" Type="http://schemas.openxmlformats.org/officeDocument/2006/relationships/font" Target="fonts/font23.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8.fntdata"/><Relationship Id="rId65" Type="http://schemas.openxmlformats.org/officeDocument/2006/relationships/font" Target="fonts/font13.fntdata"/><Relationship Id="rId73" Type="http://schemas.openxmlformats.org/officeDocument/2006/relationships/font" Target="fonts/font21.fntdata"/><Relationship Id="rId78" Type="http://schemas.openxmlformats.org/officeDocument/2006/relationships/font" Target="fonts/font26.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3.fntdata"/><Relationship Id="rId76" Type="http://schemas.openxmlformats.org/officeDocument/2006/relationships/font" Target="fonts/font24.fntdata"/><Relationship Id="rId7" Type="http://schemas.openxmlformats.org/officeDocument/2006/relationships/slide" Target="slides/slide6.xml"/><Relationship Id="rId71" Type="http://schemas.openxmlformats.org/officeDocument/2006/relationships/font" Target="fonts/font1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4.fntdata"/><Relationship Id="rId61" Type="http://schemas.openxmlformats.org/officeDocument/2006/relationships/font" Target="fonts/font9.fntdata"/><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ọc Nguyễn Thị Bích" userId="d0c38be54d97746e" providerId="LiveId" clId="{7C947A30-70E0-45BC-B43D-CE50415EEB0D}"/>
    <pc:docChg chg="custSel modSld">
      <pc:chgData name="Ngọc Nguyễn Thị Bích" userId="d0c38be54d97746e" providerId="LiveId" clId="{7C947A30-70E0-45BC-B43D-CE50415EEB0D}" dt="2025-06-13T16:16:28.394" v="21" actId="2711"/>
      <pc:docMkLst>
        <pc:docMk/>
      </pc:docMkLst>
      <pc:sldChg chg="modSp mod">
        <pc:chgData name="Ngọc Nguyễn Thị Bích" userId="d0c38be54d97746e" providerId="LiveId" clId="{7C947A30-70E0-45BC-B43D-CE50415EEB0D}" dt="2025-06-13T15:59:49.964" v="10" actId="1076"/>
        <pc:sldMkLst>
          <pc:docMk/>
          <pc:sldMk cId="0" sldId="272"/>
        </pc:sldMkLst>
        <pc:spChg chg="mod">
          <ac:chgData name="Ngọc Nguyễn Thị Bích" userId="d0c38be54d97746e" providerId="LiveId" clId="{7C947A30-70E0-45BC-B43D-CE50415EEB0D}" dt="2025-06-13T15:59:16.091" v="1" actId="1076"/>
          <ac:spMkLst>
            <pc:docMk/>
            <pc:sldMk cId="0" sldId="272"/>
            <ac:spMk id="15" creationId="{00000000-0000-0000-0000-000000000000}"/>
          </ac:spMkLst>
        </pc:spChg>
        <pc:spChg chg="mod">
          <ac:chgData name="Ngọc Nguyễn Thị Bích" userId="d0c38be54d97746e" providerId="LiveId" clId="{7C947A30-70E0-45BC-B43D-CE50415EEB0D}" dt="2025-06-13T15:59:19.431" v="2" actId="1076"/>
          <ac:spMkLst>
            <pc:docMk/>
            <pc:sldMk cId="0" sldId="272"/>
            <ac:spMk id="16" creationId="{00000000-0000-0000-0000-000000000000}"/>
          </ac:spMkLst>
        </pc:spChg>
        <pc:spChg chg="mod">
          <ac:chgData name="Ngọc Nguyễn Thị Bích" userId="d0c38be54d97746e" providerId="LiveId" clId="{7C947A30-70E0-45BC-B43D-CE50415EEB0D}" dt="2025-06-13T15:59:23.352" v="3" actId="1076"/>
          <ac:spMkLst>
            <pc:docMk/>
            <pc:sldMk cId="0" sldId="272"/>
            <ac:spMk id="21" creationId="{00000000-0000-0000-0000-000000000000}"/>
          </ac:spMkLst>
        </pc:spChg>
        <pc:spChg chg="mod">
          <ac:chgData name="Ngọc Nguyễn Thị Bích" userId="d0c38be54d97746e" providerId="LiveId" clId="{7C947A30-70E0-45BC-B43D-CE50415EEB0D}" dt="2025-06-13T15:59:25.540" v="4" actId="1076"/>
          <ac:spMkLst>
            <pc:docMk/>
            <pc:sldMk cId="0" sldId="272"/>
            <ac:spMk id="23" creationId="{00000000-0000-0000-0000-000000000000}"/>
          </ac:spMkLst>
        </pc:spChg>
        <pc:spChg chg="mod">
          <ac:chgData name="Ngọc Nguyễn Thị Bích" userId="d0c38be54d97746e" providerId="LiveId" clId="{7C947A30-70E0-45BC-B43D-CE50415EEB0D}" dt="2025-06-13T15:59:30.211" v="5" actId="1076"/>
          <ac:spMkLst>
            <pc:docMk/>
            <pc:sldMk cId="0" sldId="272"/>
            <ac:spMk id="26" creationId="{00000000-0000-0000-0000-000000000000}"/>
          </ac:spMkLst>
        </pc:spChg>
        <pc:spChg chg="mod">
          <ac:chgData name="Ngọc Nguyễn Thị Bích" userId="d0c38be54d97746e" providerId="LiveId" clId="{7C947A30-70E0-45BC-B43D-CE50415EEB0D}" dt="2025-06-13T15:59:38.971" v="8" actId="1076"/>
          <ac:spMkLst>
            <pc:docMk/>
            <pc:sldMk cId="0" sldId="272"/>
            <ac:spMk id="27" creationId="{00000000-0000-0000-0000-000000000000}"/>
          </ac:spMkLst>
        </pc:spChg>
        <pc:spChg chg="mod">
          <ac:chgData name="Ngọc Nguyễn Thị Bích" userId="d0c38be54d97746e" providerId="LiveId" clId="{7C947A30-70E0-45BC-B43D-CE50415EEB0D}" dt="2025-06-13T15:59:44.276" v="9" actId="1076"/>
          <ac:spMkLst>
            <pc:docMk/>
            <pc:sldMk cId="0" sldId="272"/>
            <ac:spMk id="31" creationId="{00000000-0000-0000-0000-000000000000}"/>
          </ac:spMkLst>
        </pc:spChg>
        <pc:spChg chg="mod">
          <ac:chgData name="Ngọc Nguyễn Thị Bích" userId="d0c38be54d97746e" providerId="LiveId" clId="{7C947A30-70E0-45BC-B43D-CE50415EEB0D}" dt="2025-06-13T15:59:49.964" v="10" actId="1076"/>
          <ac:spMkLst>
            <pc:docMk/>
            <pc:sldMk cId="0" sldId="272"/>
            <ac:spMk id="33" creationId="{00000000-0000-0000-0000-000000000000}"/>
          </ac:spMkLst>
        </pc:spChg>
      </pc:sldChg>
      <pc:sldChg chg="modSp mod">
        <pc:chgData name="Ngọc Nguyễn Thị Bích" userId="d0c38be54d97746e" providerId="LiveId" clId="{7C947A30-70E0-45BC-B43D-CE50415EEB0D}" dt="2025-06-13T16:00:02.028" v="11" actId="14100"/>
        <pc:sldMkLst>
          <pc:docMk/>
          <pc:sldMk cId="0" sldId="273"/>
        </pc:sldMkLst>
        <pc:spChg chg="mod">
          <ac:chgData name="Ngọc Nguyễn Thị Bích" userId="d0c38be54d97746e" providerId="LiveId" clId="{7C947A30-70E0-45BC-B43D-CE50415EEB0D}" dt="2025-06-13T16:00:02.028" v="11" actId="14100"/>
          <ac:spMkLst>
            <pc:docMk/>
            <pc:sldMk cId="0" sldId="273"/>
            <ac:spMk id="24" creationId="{00000000-0000-0000-0000-000000000000}"/>
          </ac:spMkLst>
        </pc:spChg>
      </pc:sldChg>
      <pc:sldChg chg="addSp delSp modSp mod">
        <pc:chgData name="Ngọc Nguyễn Thị Bích" userId="d0c38be54d97746e" providerId="LiveId" clId="{7C947A30-70E0-45BC-B43D-CE50415EEB0D}" dt="2025-06-13T16:00:40.155" v="14" actId="1076"/>
        <pc:sldMkLst>
          <pc:docMk/>
          <pc:sldMk cId="0" sldId="275"/>
        </pc:sldMkLst>
        <pc:grpChg chg="del">
          <ac:chgData name="Ngọc Nguyễn Thị Bích" userId="d0c38be54d97746e" providerId="LiveId" clId="{7C947A30-70E0-45BC-B43D-CE50415EEB0D}" dt="2025-06-13T16:00:14.275" v="12" actId="478"/>
          <ac:grpSpMkLst>
            <pc:docMk/>
            <pc:sldMk cId="0" sldId="275"/>
            <ac:grpSpMk id="12" creationId="{00000000-0000-0000-0000-000000000000}"/>
          </ac:grpSpMkLst>
        </pc:grpChg>
        <pc:picChg chg="add mod">
          <ac:chgData name="Ngọc Nguyễn Thị Bích" userId="d0c38be54d97746e" providerId="LiveId" clId="{7C947A30-70E0-45BC-B43D-CE50415EEB0D}" dt="2025-06-13T16:00:40.155" v="14" actId="1076"/>
          <ac:picMkLst>
            <pc:docMk/>
            <pc:sldMk cId="0" sldId="275"/>
            <ac:picMk id="68" creationId="{27BDD147-EF24-4163-8649-D7B2CAF3D56A}"/>
          </ac:picMkLst>
        </pc:picChg>
      </pc:sldChg>
      <pc:sldChg chg="addSp delSp modSp mod">
        <pc:chgData name="Ngọc Nguyễn Thị Bích" userId="d0c38be54d97746e" providerId="LiveId" clId="{7C947A30-70E0-45BC-B43D-CE50415EEB0D}" dt="2025-06-13T16:16:28.394" v="21" actId="2711"/>
        <pc:sldMkLst>
          <pc:docMk/>
          <pc:sldMk cId="0" sldId="283"/>
        </pc:sldMkLst>
        <pc:spChg chg="del">
          <ac:chgData name="Ngọc Nguyễn Thị Bích" userId="d0c38be54d97746e" providerId="LiveId" clId="{7C947A30-70E0-45BC-B43D-CE50415EEB0D}" dt="2025-06-13T16:14:00.178" v="15" actId="478"/>
          <ac:spMkLst>
            <pc:docMk/>
            <pc:sldMk cId="0" sldId="283"/>
            <ac:spMk id="12" creationId="{00000000-0000-0000-0000-000000000000}"/>
          </ac:spMkLst>
        </pc:spChg>
        <pc:spChg chg="mod">
          <ac:chgData name="Ngọc Nguyễn Thị Bích" userId="d0c38be54d97746e" providerId="LiveId" clId="{7C947A30-70E0-45BC-B43D-CE50415EEB0D}" dt="2025-06-13T16:16:28.394" v="21" actId="2711"/>
          <ac:spMkLst>
            <pc:docMk/>
            <pc:sldMk cId="0" sldId="283"/>
            <ac:spMk id="14" creationId="{00000000-0000-0000-0000-000000000000}"/>
          </ac:spMkLst>
        </pc:spChg>
        <pc:picChg chg="add mod">
          <ac:chgData name="Ngọc Nguyễn Thị Bích" userId="d0c38be54d97746e" providerId="LiveId" clId="{7C947A30-70E0-45BC-B43D-CE50415EEB0D}" dt="2025-06-13T16:14:15.289" v="20" actId="1076"/>
          <ac:picMkLst>
            <pc:docMk/>
            <pc:sldMk cId="0" sldId="283"/>
            <ac:picMk id="1026" creationId="{08654A68-D5E9-4414-9AB8-425F4085C35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4.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4.png"/><Relationship Id="rId7" Type="http://schemas.openxmlformats.org/officeDocument/2006/relationships/image" Target="../media/image10.svg"/><Relationship Id="rId12"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0.jpeg"/><Relationship Id="rId5" Type="http://schemas.openxmlformats.org/officeDocument/2006/relationships/image" Target="../media/image4.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4.png"/><Relationship Id="rId7" Type="http://schemas.openxmlformats.org/officeDocument/2006/relationships/image" Target="../media/image3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s>
</file>

<file path=ppt/slides/_rels/slide1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4.png"/><Relationship Id="rId7" Type="http://schemas.openxmlformats.org/officeDocument/2006/relationships/image" Target="../media/image3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1.svg"/><Relationship Id="rId5" Type="http://schemas.openxmlformats.org/officeDocument/2006/relationships/image" Target="../media/image43.svg"/><Relationship Id="rId10" Type="http://schemas.openxmlformats.org/officeDocument/2006/relationships/image" Target="../media/image40.png"/><Relationship Id="rId4" Type="http://schemas.openxmlformats.org/officeDocument/2006/relationships/image" Target="../media/image42.png"/><Relationship Id="rId9" Type="http://schemas.openxmlformats.org/officeDocument/2006/relationships/image" Target="../media/image39.sv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4.jp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sv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sv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sv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svg"/><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png"/><Relationship Id="rId7" Type="http://schemas.openxmlformats.org/officeDocument/2006/relationships/image" Target="../media/image4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svg"/><Relationship Id="rId4" Type="http://schemas.openxmlformats.org/officeDocument/2006/relationships/image" Target="../media/image45.png"/><Relationship Id="rId9" Type="http://schemas.openxmlformats.org/officeDocument/2006/relationships/image" Target="../media/image50.sv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5.sv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39.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svg"/></Relationships>
</file>

<file path=ppt/slides/_rels/slide44.xml.rels><?xml version="1.0" encoding="UTF-8" standalone="yes"?>
<Relationships xmlns="http://schemas.openxmlformats.org/package/2006/relationships"><Relationship Id="rId3" Type="http://schemas.openxmlformats.org/officeDocument/2006/relationships/image" Target="../media/image63.svg"/><Relationship Id="rId7" Type="http://schemas.openxmlformats.org/officeDocument/2006/relationships/image" Target="../media/image6.sv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9.svg"/><Relationship Id="rId4" Type="http://schemas.openxmlformats.org/officeDocument/2006/relationships/image" Target="../media/image68.png"/></Relationships>
</file>

<file path=ppt/slides/_rels/slide45.xml.rels><?xml version="1.0" encoding="UTF-8" standalone="yes"?>
<Relationships xmlns="http://schemas.openxmlformats.org/package/2006/relationships"><Relationship Id="rId3" Type="http://schemas.openxmlformats.org/officeDocument/2006/relationships/image" Target="../media/image63.svg"/><Relationship Id="rId7" Type="http://schemas.openxmlformats.org/officeDocument/2006/relationships/image" Target="../media/image71.sv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55.svg"/><Relationship Id="rId4" Type="http://schemas.openxmlformats.org/officeDocument/2006/relationships/image" Target="../media/image54.png"/></Relationships>
</file>

<file path=ppt/slides/_rels/slide46.xml.rels><?xml version="1.0" encoding="UTF-8" standalone="yes"?>
<Relationships xmlns="http://schemas.openxmlformats.org/package/2006/relationships"><Relationship Id="rId3" Type="http://schemas.openxmlformats.org/officeDocument/2006/relationships/image" Target="../media/image63.svg"/><Relationship Id="rId7" Type="http://schemas.openxmlformats.org/officeDocument/2006/relationships/image" Target="../media/image75.sv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svg"/><Relationship Id="rId4" Type="http://schemas.openxmlformats.org/officeDocument/2006/relationships/image" Target="../media/image72.png"/></Relationships>
</file>

<file path=ppt/slides/_rels/slide47.xml.rels><?xml version="1.0" encoding="UTF-8" standalone="yes"?>
<Relationships xmlns="http://schemas.openxmlformats.org/package/2006/relationships"><Relationship Id="rId3" Type="http://schemas.openxmlformats.org/officeDocument/2006/relationships/image" Target="../media/image63.svg"/><Relationship Id="rId7" Type="http://schemas.openxmlformats.org/officeDocument/2006/relationships/image" Target="../media/image79.sv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78.png"/><Relationship Id="rId5" Type="http://schemas.openxmlformats.org/officeDocument/2006/relationships/image" Target="../media/image77.svg"/><Relationship Id="rId4" Type="http://schemas.openxmlformats.org/officeDocument/2006/relationships/image" Target="../media/image76.png"/></Relationships>
</file>

<file path=ppt/slides/_rels/slide48.xml.rels><?xml version="1.0" encoding="UTF-8" standalone="yes"?>
<Relationships xmlns="http://schemas.openxmlformats.org/package/2006/relationships"><Relationship Id="rId3" Type="http://schemas.openxmlformats.org/officeDocument/2006/relationships/image" Target="../media/image63.svg"/><Relationship Id="rId7" Type="http://schemas.openxmlformats.org/officeDocument/2006/relationships/image" Target="../media/image73.sv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81.svg"/><Relationship Id="rId4" Type="http://schemas.openxmlformats.org/officeDocument/2006/relationships/image" Target="../media/image80.png"/></Relationships>
</file>

<file path=ppt/slides/_rels/slide49.xml.rels><?xml version="1.0" encoding="UTF-8" standalone="yes"?>
<Relationships xmlns="http://schemas.openxmlformats.org/package/2006/relationships"><Relationship Id="rId3" Type="http://schemas.openxmlformats.org/officeDocument/2006/relationships/image" Target="../media/image63.svg"/><Relationship Id="rId7" Type="http://schemas.openxmlformats.org/officeDocument/2006/relationships/image" Target="../media/image83.sv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82.png"/><Relationship Id="rId5" Type="http://schemas.openxmlformats.org/officeDocument/2006/relationships/image" Target="../media/image71.svg"/><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85.svg"/><Relationship Id="rId4" Type="http://schemas.openxmlformats.org/officeDocument/2006/relationships/image" Target="../media/image84.png"/></Relationships>
</file>

<file path=ppt/slides/_rels/slide51.xml.rels><?xml version="1.0" encoding="UTF-8" standalone="yes"?>
<Relationships xmlns="http://schemas.openxmlformats.org/package/2006/relationships"><Relationship Id="rId3" Type="http://schemas.openxmlformats.org/officeDocument/2006/relationships/image" Target="../media/image63.svg"/><Relationship Id="rId7" Type="http://schemas.openxmlformats.org/officeDocument/2006/relationships/image" Target="../media/image73.sv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71.svg"/><Relationship Id="rId4"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11416" y="5115807"/>
            <a:ext cx="13407550" cy="1695450"/>
          </a:xfrm>
          <a:prstGeom prst="rect">
            <a:avLst/>
          </a:prstGeom>
        </p:spPr>
        <p:txBody>
          <a:bodyPr lIns="0" tIns="0" rIns="0" bIns="0" rtlCol="0" anchor="t">
            <a:spAutoFit/>
          </a:bodyPr>
          <a:lstStyle/>
          <a:p>
            <a:pPr algn="ctr">
              <a:lnSpc>
                <a:spcPts val="6720"/>
              </a:lnSpc>
            </a:pPr>
            <a:r>
              <a:rPr lang="en-US" sz="5600" b="1" dirty="0" err="1">
                <a:solidFill>
                  <a:srgbClr val="2C2C2C"/>
                </a:solidFill>
                <a:latin typeface="Montserrat Bold"/>
                <a:ea typeface="Montserrat Bold"/>
                <a:cs typeface="Montserrat Bold"/>
                <a:sym typeface="Montserrat Bold"/>
              </a:rPr>
              <a:t>Xây</a:t>
            </a:r>
            <a:r>
              <a:rPr lang="en-US" sz="5600" b="1" dirty="0">
                <a:solidFill>
                  <a:srgbClr val="2C2C2C"/>
                </a:solidFill>
                <a:latin typeface="Montserrat Bold"/>
                <a:ea typeface="Montserrat Bold"/>
                <a:cs typeface="Montserrat Bold"/>
                <a:sym typeface="Montserrat Bold"/>
              </a:rPr>
              <a:t> </a:t>
            </a:r>
            <a:r>
              <a:rPr lang="en-US" sz="5600" b="1" dirty="0" err="1">
                <a:solidFill>
                  <a:srgbClr val="2C2C2C"/>
                </a:solidFill>
                <a:latin typeface="Montserrat Bold"/>
                <a:ea typeface="Montserrat Bold"/>
                <a:cs typeface="Montserrat Bold"/>
                <a:sym typeface="Montserrat Bold"/>
              </a:rPr>
              <a:t>dựng</a:t>
            </a:r>
            <a:r>
              <a:rPr lang="en-US" sz="5600" b="1" dirty="0">
                <a:solidFill>
                  <a:srgbClr val="2C2C2C"/>
                </a:solidFill>
                <a:latin typeface="Montserrat Bold"/>
                <a:ea typeface="Montserrat Bold"/>
                <a:cs typeface="Montserrat Bold"/>
                <a:sym typeface="Montserrat Bold"/>
              </a:rPr>
              <a:t> chatbot </a:t>
            </a:r>
            <a:r>
              <a:rPr lang="en-US" sz="5600" b="1" dirty="0" err="1">
                <a:solidFill>
                  <a:srgbClr val="2C2C2C"/>
                </a:solidFill>
                <a:latin typeface="Montserrat Bold"/>
                <a:ea typeface="Montserrat Bold"/>
                <a:cs typeface="Montserrat Bold"/>
                <a:sym typeface="Montserrat Bold"/>
              </a:rPr>
              <a:t>phục</a:t>
            </a:r>
            <a:r>
              <a:rPr lang="en-US" sz="5600" b="1" dirty="0">
                <a:solidFill>
                  <a:srgbClr val="2C2C2C"/>
                </a:solidFill>
                <a:latin typeface="Montserrat Bold"/>
                <a:ea typeface="Montserrat Bold"/>
                <a:cs typeface="Montserrat Bold"/>
                <a:sym typeface="Montserrat Bold"/>
              </a:rPr>
              <a:t> </a:t>
            </a:r>
            <a:r>
              <a:rPr lang="en-US" sz="5600" b="1" dirty="0" err="1">
                <a:solidFill>
                  <a:srgbClr val="2C2C2C"/>
                </a:solidFill>
                <a:latin typeface="Montserrat Bold"/>
                <a:ea typeface="Montserrat Bold"/>
                <a:cs typeface="Montserrat Bold"/>
                <a:sym typeface="Montserrat Bold"/>
              </a:rPr>
              <a:t>vụ</a:t>
            </a:r>
            <a:r>
              <a:rPr lang="en-US" sz="5600" b="1" dirty="0">
                <a:solidFill>
                  <a:srgbClr val="2C2C2C"/>
                </a:solidFill>
                <a:latin typeface="Montserrat Bold"/>
                <a:ea typeface="Montserrat Bold"/>
                <a:cs typeface="Montserrat Bold"/>
                <a:sym typeface="Montserrat Bold"/>
              </a:rPr>
              <a:t> </a:t>
            </a:r>
            <a:r>
              <a:rPr lang="en-US" sz="5600" b="1" dirty="0" err="1">
                <a:solidFill>
                  <a:srgbClr val="2C2C2C"/>
                </a:solidFill>
                <a:latin typeface="Montserrat Bold"/>
                <a:ea typeface="Montserrat Bold"/>
                <a:cs typeface="Montserrat Bold"/>
                <a:sym typeface="Montserrat Bold"/>
              </a:rPr>
              <a:t>đào</a:t>
            </a:r>
            <a:r>
              <a:rPr lang="en-US" sz="5600" b="1" dirty="0">
                <a:solidFill>
                  <a:srgbClr val="2C2C2C"/>
                </a:solidFill>
                <a:latin typeface="Montserrat Bold"/>
                <a:ea typeface="Montserrat Bold"/>
                <a:cs typeface="Montserrat Bold"/>
                <a:sym typeface="Montserrat Bold"/>
              </a:rPr>
              <a:t> </a:t>
            </a:r>
            <a:r>
              <a:rPr lang="en-US" sz="5600" b="1" dirty="0" err="1">
                <a:solidFill>
                  <a:srgbClr val="2C2C2C"/>
                </a:solidFill>
                <a:latin typeface="Montserrat Bold"/>
                <a:ea typeface="Montserrat Bold"/>
                <a:cs typeface="Montserrat Bold"/>
                <a:sym typeface="Montserrat Bold"/>
              </a:rPr>
              <a:t>tạo</a:t>
            </a:r>
            <a:r>
              <a:rPr lang="en-US" sz="5600" b="1" dirty="0">
                <a:solidFill>
                  <a:srgbClr val="2C2C2C"/>
                </a:solidFill>
                <a:latin typeface="Montserrat Bold"/>
                <a:ea typeface="Montserrat Bold"/>
                <a:cs typeface="Montserrat Bold"/>
                <a:sym typeface="Montserrat Bold"/>
              </a:rPr>
              <a:t> </a:t>
            </a:r>
            <a:r>
              <a:rPr lang="en-US" sz="5600" b="1" dirty="0" err="1">
                <a:solidFill>
                  <a:srgbClr val="2C2C2C"/>
                </a:solidFill>
                <a:latin typeface="Montserrat Bold"/>
                <a:ea typeface="Montserrat Bold"/>
                <a:cs typeface="Montserrat Bold"/>
                <a:sym typeface="Montserrat Bold"/>
              </a:rPr>
              <a:t>tại</a:t>
            </a:r>
            <a:r>
              <a:rPr lang="en-US" sz="5600" b="1" dirty="0">
                <a:solidFill>
                  <a:srgbClr val="2C2C2C"/>
                </a:solidFill>
                <a:latin typeface="Montserrat Bold"/>
                <a:ea typeface="Montserrat Bold"/>
                <a:cs typeface="Montserrat Bold"/>
                <a:sym typeface="Montserrat Bold"/>
              </a:rPr>
              <a:t> Học </a:t>
            </a:r>
            <a:r>
              <a:rPr lang="en-US" sz="5600" b="1" dirty="0" err="1">
                <a:solidFill>
                  <a:srgbClr val="2C2C2C"/>
                </a:solidFill>
                <a:latin typeface="Montserrat Bold"/>
                <a:ea typeface="Montserrat Bold"/>
                <a:cs typeface="Montserrat Bold"/>
                <a:sym typeface="Montserrat Bold"/>
              </a:rPr>
              <a:t>viện</a:t>
            </a:r>
            <a:r>
              <a:rPr lang="en-US" sz="5600" b="1" dirty="0">
                <a:solidFill>
                  <a:srgbClr val="2C2C2C"/>
                </a:solidFill>
                <a:latin typeface="Montserrat Bold"/>
                <a:ea typeface="Montserrat Bold"/>
                <a:cs typeface="Montserrat Bold"/>
                <a:sym typeface="Montserrat Bold"/>
              </a:rPr>
              <a:t> </a:t>
            </a:r>
            <a:r>
              <a:rPr lang="en-US" sz="5600" b="1" dirty="0" err="1">
                <a:solidFill>
                  <a:srgbClr val="2C2C2C"/>
                </a:solidFill>
                <a:latin typeface="Montserrat Bold"/>
                <a:ea typeface="Montserrat Bold"/>
                <a:cs typeface="Montserrat Bold"/>
                <a:sym typeface="Montserrat Bold"/>
              </a:rPr>
              <a:t>Kỹ</a:t>
            </a:r>
            <a:r>
              <a:rPr lang="en-US" sz="5600" b="1" dirty="0">
                <a:solidFill>
                  <a:srgbClr val="2C2C2C"/>
                </a:solidFill>
                <a:latin typeface="Montserrat Bold"/>
                <a:ea typeface="Montserrat Bold"/>
                <a:cs typeface="Montserrat Bold"/>
                <a:sym typeface="Montserrat Bold"/>
              </a:rPr>
              <a:t> </a:t>
            </a:r>
            <a:r>
              <a:rPr lang="en-US" sz="5600" b="1" dirty="0" err="1">
                <a:solidFill>
                  <a:srgbClr val="2C2C2C"/>
                </a:solidFill>
                <a:latin typeface="Montserrat Bold"/>
                <a:ea typeface="Montserrat Bold"/>
                <a:cs typeface="Montserrat Bold"/>
                <a:sym typeface="Montserrat Bold"/>
              </a:rPr>
              <a:t>thuật</a:t>
            </a:r>
            <a:r>
              <a:rPr lang="en-US" sz="5600" b="1" dirty="0">
                <a:solidFill>
                  <a:srgbClr val="2C2C2C"/>
                </a:solidFill>
                <a:latin typeface="Montserrat Bold"/>
                <a:ea typeface="Montserrat Bold"/>
                <a:cs typeface="Montserrat Bold"/>
                <a:sym typeface="Montserrat Bold"/>
              </a:rPr>
              <a:t> </a:t>
            </a:r>
            <a:r>
              <a:rPr lang="en-US" sz="5600" b="1" dirty="0" err="1">
                <a:solidFill>
                  <a:srgbClr val="2C2C2C"/>
                </a:solidFill>
                <a:latin typeface="Montserrat Bold"/>
                <a:ea typeface="Montserrat Bold"/>
                <a:cs typeface="Montserrat Bold"/>
                <a:sym typeface="Montserrat Bold"/>
              </a:rPr>
              <a:t>mật</a:t>
            </a:r>
            <a:r>
              <a:rPr lang="en-US" sz="5600" b="1" dirty="0">
                <a:solidFill>
                  <a:srgbClr val="2C2C2C"/>
                </a:solidFill>
                <a:latin typeface="Montserrat Bold"/>
                <a:ea typeface="Montserrat Bold"/>
                <a:cs typeface="Montserrat Bold"/>
                <a:sym typeface="Montserrat Bold"/>
              </a:rPr>
              <a:t> </a:t>
            </a:r>
            <a:r>
              <a:rPr lang="en-US" sz="5600" b="1" dirty="0" err="1">
                <a:solidFill>
                  <a:srgbClr val="2C2C2C"/>
                </a:solidFill>
                <a:latin typeface="Montserrat Bold"/>
                <a:ea typeface="Montserrat Bold"/>
                <a:cs typeface="Montserrat Bold"/>
                <a:sym typeface="Montserrat Bold"/>
              </a:rPr>
              <a:t>mã</a:t>
            </a:r>
            <a:endParaRPr lang="en-US" sz="5600" b="1" dirty="0">
              <a:solidFill>
                <a:srgbClr val="2C2C2C"/>
              </a:solidFill>
              <a:latin typeface="Montserrat Bold"/>
              <a:ea typeface="Montserrat Bold"/>
              <a:cs typeface="Montserrat Bold"/>
              <a:sym typeface="Montserrat Bold"/>
            </a:endParaRPr>
          </a:p>
        </p:txBody>
      </p:sp>
      <p:sp>
        <p:nvSpPr>
          <p:cNvPr id="3" name="TextBox 3"/>
          <p:cNvSpPr txBox="1"/>
          <p:nvPr/>
        </p:nvSpPr>
        <p:spPr>
          <a:xfrm>
            <a:off x="1028700" y="8291195"/>
            <a:ext cx="5864224" cy="967105"/>
          </a:xfrm>
          <a:prstGeom prst="rect">
            <a:avLst/>
          </a:prstGeom>
        </p:spPr>
        <p:txBody>
          <a:bodyPr lIns="0" tIns="0" rIns="0" bIns="0" rtlCol="0" anchor="t">
            <a:spAutoFit/>
          </a:bodyPr>
          <a:lstStyle/>
          <a:p>
            <a:pPr algn="l">
              <a:lnSpc>
                <a:spcPts val="3919"/>
              </a:lnSpc>
            </a:pPr>
            <a:r>
              <a:rPr lang="en-US" sz="2799" dirty="0">
                <a:solidFill>
                  <a:srgbClr val="2C2C2C"/>
                </a:solidFill>
                <a:latin typeface="Montserrat"/>
                <a:ea typeface="Montserrat"/>
                <a:cs typeface="Montserrat"/>
                <a:sym typeface="Montserrat"/>
              </a:rPr>
              <a:t>Sinh </a:t>
            </a:r>
            <a:r>
              <a:rPr lang="en-US" sz="2799" dirty="0" err="1">
                <a:solidFill>
                  <a:srgbClr val="2C2C2C"/>
                </a:solidFill>
                <a:latin typeface="Montserrat"/>
                <a:ea typeface="Montserrat"/>
                <a:cs typeface="Montserrat"/>
                <a:sym typeface="Montserrat"/>
              </a:rPr>
              <a:t>viên</a:t>
            </a:r>
            <a:r>
              <a:rPr lang="en-US" sz="2799" dirty="0">
                <a:solidFill>
                  <a:srgbClr val="2C2C2C"/>
                </a:solidFill>
                <a:latin typeface="Montserrat"/>
                <a:ea typeface="Montserrat"/>
                <a:cs typeface="Montserrat"/>
                <a:sym typeface="Montserrat"/>
              </a:rPr>
              <a:t> </a:t>
            </a:r>
            <a:r>
              <a:rPr lang="en-US" sz="2799" dirty="0" err="1">
                <a:solidFill>
                  <a:srgbClr val="2C2C2C"/>
                </a:solidFill>
                <a:latin typeface="Montserrat"/>
                <a:ea typeface="Montserrat"/>
                <a:cs typeface="Montserrat"/>
                <a:sym typeface="Montserrat"/>
              </a:rPr>
              <a:t>thực</a:t>
            </a:r>
            <a:r>
              <a:rPr lang="en-US" sz="2799" dirty="0">
                <a:solidFill>
                  <a:srgbClr val="2C2C2C"/>
                </a:solidFill>
                <a:latin typeface="Montserrat"/>
                <a:ea typeface="Montserrat"/>
                <a:cs typeface="Montserrat"/>
                <a:sym typeface="Montserrat"/>
              </a:rPr>
              <a:t> </a:t>
            </a:r>
            <a:r>
              <a:rPr lang="en-US" sz="2799" dirty="0" err="1">
                <a:solidFill>
                  <a:srgbClr val="2C2C2C"/>
                </a:solidFill>
                <a:latin typeface="Montserrat"/>
                <a:ea typeface="Montserrat"/>
                <a:cs typeface="Montserrat"/>
                <a:sym typeface="Montserrat"/>
              </a:rPr>
              <a:t>hiện</a:t>
            </a:r>
            <a:endParaRPr lang="en-US" sz="2799" dirty="0">
              <a:solidFill>
                <a:srgbClr val="2C2C2C"/>
              </a:solidFill>
              <a:latin typeface="Montserrat"/>
              <a:ea typeface="Montserrat"/>
              <a:cs typeface="Montserrat"/>
              <a:sym typeface="Montserrat"/>
            </a:endParaRPr>
          </a:p>
          <a:p>
            <a:pPr algn="l">
              <a:lnSpc>
                <a:spcPts val="3919"/>
              </a:lnSpc>
            </a:pPr>
            <a:r>
              <a:rPr lang="en-US" sz="2799" b="1" dirty="0">
                <a:solidFill>
                  <a:srgbClr val="2C2C2C"/>
                </a:solidFill>
                <a:latin typeface="Montserrat Bold"/>
                <a:ea typeface="Montserrat Bold"/>
                <a:cs typeface="Montserrat Bold"/>
                <a:sym typeface="Montserrat Bold"/>
              </a:rPr>
              <a:t>         Hoàng Văn Giang - CT5D</a:t>
            </a:r>
          </a:p>
        </p:txBody>
      </p:sp>
      <p:sp>
        <p:nvSpPr>
          <p:cNvPr id="4" name="TextBox 4"/>
          <p:cNvSpPr txBox="1"/>
          <p:nvPr/>
        </p:nvSpPr>
        <p:spPr>
          <a:xfrm>
            <a:off x="12884362" y="8291195"/>
            <a:ext cx="4374938" cy="967105"/>
          </a:xfrm>
          <a:prstGeom prst="rect">
            <a:avLst/>
          </a:prstGeom>
        </p:spPr>
        <p:txBody>
          <a:bodyPr lIns="0" tIns="0" rIns="0" bIns="0" rtlCol="0" anchor="t">
            <a:spAutoFit/>
          </a:bodyPr>
          <a:lstStyle/>
          <a:p>
            <a:pPr algn="r">
              <a:lnSpc>
                <a:spcPts val="3919"/>
              </a:lnSpc>
            </a:pPr>
            <a:r>
              <a:rPr lang="en-US" sz="2799" dirty="0" err="1">
                <a:solidFill>
                  <a:srgbClr val="2C2C2C"/>
                </a:solidFill>
                <a:latin typeface="Montserrat"/>
                <a:ea typeface="Montserrat"/>
                <a:cs typeface="Montserrat"/>
                <a:sym typeface="Montserrat"/>
              </a:rPr>
              <a:t>Giảng</a:t>
            </a:r>
            <a:r>
              <a:rPr lang="en-US" sz="2799" dirty="0">
                <a:solidFill>
                  <a:srgbClr val="2C2C2C"/>
                </a:solidFill>
                <a:latin typeface="Montserrat"/>
                <a:ea typeface="Montserrat"/>
                <a:cs typeface="Montserrat"/>
                <a:sym typeface="Montserrat"/>
              </a:rPr>
              <a:t> </a:t>
            </a:r>
            <a:r>
              <a:rPr lang="en-US" sz="2799" dirty="0" err="1">
                <a:solidFill>
                  <a:srgbClr val="2C2C2C"/>
                </a:solidFill>
                <a:latin typeface="Montserrat"/>
                <a:ea typeface="Montserrat"/>
                <a:cs typeface="Montserrat"/>
                <a:sym typeface="Montserrat"/>
              </a:rPr>
              <a:t>viên</a:t>
            </a:r>
            <a:r>
              <a:rPr lang="en-US" sz="2799" dirty="0">
                <a:solidFill>
                  <a:srgbClr val="2C2C2C"/>
                </a:solidFill>
                <a:latin typeface="Montserrat"/>
                <a:ea typeface="Montserrat"/>
                <a:cs typeface="Montserrat"/>
                <a:sym typeface="Montserrat"/>
              </a:rPr>
              <a:t> </a:t>
            </a:r>
            <a:r>
              <a:rPr lang="en-US" sz="2799" dirty="0" err="1">
                <a:solidFill>
                  <a:srgbClr val="2C2C2C"/>
                </a:solidFill>
                <a:latin typeface="Montserrat"/>
                <a:ea typeface="Montserrat"/>
                <a:cs typeface="Montserrat"/>
                <a:sym typeface="Montserrat"/>
              </a:rPr>
              <a:t>hướng</a:t>
            </a:r>
            <a:r>
              <a:rPr lang="en-US" sz="2799" dirty="0">
                <a:solidFill>
                  <a:srgbClr val="2C2C2C"/>
                </a:solidFill>
                <a:latin typeface="Montserrat"/>
                <a:ea typeface="Montserrat"/>
                <a:cs typeface="Montserrat"/>
                <a:sym typeface="Montserrat"/>
              </a:rPr>
              <a:t> </a:t>
            </a:r>
            <a:r>
              <a:rPr lang="en-US" sz="2799" dirty="0" err="1">
                <a:solidFill>
                  <a:srgbClr val="2C2C2C"/>
                </a:solidFill>
                <a:latin typeface="Montserrat"/>
                <a:ea typeface="Montserrat"/>
                <a:cs typeface="Montserrat"/>
                <a:sym typeface="Montserrat"/>
              </a:rPr>
              <a:t>dẫn</a:t>
            </a:r>
            <a:endParaRPr lang="en-US" sz="2799" dirty="0">
              <a:solidFill>
                <a:srgbClr val="2C2C2C"/>
              </a:solidFill>
              <a:latin typeface="Montserrat"/>
              <a:ea typeface="Montserrat"/>
              <a:cs typeface="Montserrat"/>
              <a:sym typeface="Montserrat"/>
            </a:endParaRPr>
          </a:p>
          <a:p>
            <a:pPr algn="r">
              <a:lnSpc>
                <a:spcPts val="3919"/>
              </a:lnSpc>
            </a:pPr>
            <a:r>
              <a:rPr lang="en-US" sz="2799" b="1" dirty="0" err="1">
                <a:solidFill>
                  <a:srgbClr val="2C2C2C"/>
                </a:solidFill>
                <a:latin typeface="Montserrat Bold"/>
                <a:ea typeface="Montserrat Bold"/>
                <a:cs typeface="Montserrat Bold"/>
                <a:sym typeface="Montserrat Bold"/>
              </a:rPr>
              <a:t>Ths</a:t>
            </a:r>
            <a:r>
              <a:rPr lang="en-US" sz="2799" b="1" dirty="0">
                <a:solidFill>
                  <a:srgbClr val="2C2C2C"/>
                </a:solidFill>
                <a:latin typeface="Montserrat Bold"/>
                <a:ea typeface="Montserrat Bold"/>
                <a:cs typeface="Montserrat Bold"/>
                <a:sym typeface="Montserrat Bold"/>
              </a:rPr>
              <a:t>. Mạc Văn Hải</a:t>
            </a:r>
          </a:p>
        </p:txBody>
      </p:sp>
      <p:sp>
        <p:nvSpPr>
          <p:cNvPr id="5" name="TextBox 5"/>
          <p:cNvSpPr txBox="1"/>
          <p:nvPr/>
        </p:nvSpPr>
        <p:spPr>
          <a:xfrm>
            <a:off x="4864693" y="7209690"/>
            <a:ext cx="8558614" cy="471805"/>
          </a:xfrm>
          <a:prstGeom prst="rect">
            <a:avLst/>
          </a:prstGeom>
        </p:spPr>
        <p:txBody>
          <a:bodyPr lIns="0" tIns="0" rIns="0" bIns="0" rtlCol="0" anchor="t">
            <a:spAutoFit/>
          </a:bodyPr>
          <a:lstStyle/>
          <a:p>
            <a:pPr algn="ctr">
              <a:lnSpc>
                <a:spcPts val="3919"/>
              </a:lnSpc>
            </a:pPr>
            <a:r>
              <a:rPr lang="en-US" sz="2799">
                <a:solidFill>
                  <a:srgbClr val="2C2C2C"/>
                </a:solidFill>
                <a:latin typeface="Montserrat"/>
                <a:ea typeface="Montserrat"/>
                <a:cs typeface="Montserrat"/>
                <a:sym typeface="Montserrat"/>
              </a:rPr>
              <a:t>Chuyên ngành: Phát triển phần mềm di động</a:t>
            </a:r>
          </a:p>
        </p:txBody>
      </p:sp>
      <p:sp>
        <p:nvSpPr>
          <p:cNvPr id="6" name="TextBox 6"/>
          <p:cNvSpPr txBox="1"/>
          <p:nvPr/>
        </p:nvSpPr>
        <p:spPr>
          <a:xfrm>
            <a:off x="6514727" y="4217570"/>
            <a:ext cx="5258546" cy="629920"/>
          </a:xfrm>
          <a:prstGeom prst="rect">
            <a:avLst/>
          </a:prstGeom>
        </p:spPr>
        <p:txBody>
          <a:bodyPr lIns="0" tIns="0" rIns="0" bIns="0" rtlCol="0" anchor="t">
            <a:spAutoFit/>
          </a:bodyPr>
          <a:lstStyle/>
          <a:p>
            <a:pPr algn="ctr">
              <a:lnSpc>
                <a:spcPts val="5179"/>
              </a:lnSpc>
            </a:pPr>
            <a:r>
              <a:rPr lang="en-US" sz="3699" dirty="0" err="1">
                <a:solidFill>
                  <a:srgbClr val="2C2C2C"/>
                </a:solidFill>
                <a:latin typeface="Montserrat"/>
                <a:ea typeface="Montserrat"/>
                <a:cs typeface="Montserrat"/>
                <a:sym typeface="Montserrat"/>
              </a:rPr>
              <a:t>Đồ</a:t>
            </a:r>
            <a:r>
              <a:rPr lang="en-US" sz="3699" dirty="0">
                <a:solidFill>
                  <a:srgbClr val="2C2C2C"/>
                </a:solidFill>
                <a:latin typeface="Montserrat"/>
                <a:ea typeface="Montserrat"/>
                <a:cs typeface="Montserrat"/>
                <a:sym typeface="Montserrat"/>
              </a:rPr>
              <a:t> </a:t>
            </a:r>
            <a:r>
              <a:rPr lang="en-US" sz="3699" dirty="0" err="1">
                <a:solidFill>
                  <a:srgbClr val="2C2C2C"/>
                </a:solidFill>
                <a:latin typeface="Montserrat"/>
                <a:ea typeface="Montserrat"/>
                <a:cs typeface="Montserrat"/>
                <a:sym typeface="Montserrat"/>
              </a:rPr>
              <a:t>án</a:t>
            </a:r>
            <a:r>
              <a:rPr lang="en-US" sz="3699" dirty="0">
                <a:solidFill>
                  <a:srgbClr val="2C2C2C"/>
                </a:solidFill>
                <a:latin typeface="Montserrat"/>
                <a:ea typeface="Montserrat"/>
                <a:cs typeface="Montserrat"/>
                <a:sym typeface="Montserrat"/>
              </a:rPr>
              <a:t> </a:t>
            </a:r>
            <a:r>
              <a:rPr lang="en-US" sz="3699" dirty="0" err="1">
                <a:solidFill>
                  <a:srgbClr val="2C2C2C"/>
                </a:solidFill>
                <a:latin typeface="Montserrat"/>
                <a:ea typeface="Montserrat"/>
                <a:cs typeface="Montserrat"/>
                <a:sym typeface="Montserrat"/>
              </a:rPr>
              <a:t>tốt</a:t>
            </a:r>
            <a:r>
              <a:rPr lang="en-US" sz="3699" dirty="0">
                <a:solidFill>
                  <a:srgbClr val="2C2C2C"/>
                </a:solidFill>
                <a:latin typeface="Montserrat"/>
                <a:ea typeface="Montserrat"/>
                <a:cs typeface="Montserrat"/>
                <a:sym typeface="Montserrat"/>
              </a:rPr>
              <a:t> </a:t>
            </a:r>
            <a:r>
              <a:rPr lang="en-US" sz="3699" dirty="0" err="1">
                <a:solidFill>
                  <a:srgbClr val="2C2C2C"/>
                </a:solidFill>
                <a:latin typeface="Montserrat"/>
                <a:ea typeface="Montserrat"/>
                <a:cs typeface="Montserrat"/>
                <a:sym typeface="Montserrat"/>
              </a:rPr>
              <a:t>nghiệp</a:t>
            </a:r>
            <a:endParaRPr lang="en-US" sz="3699" dirty="0">
              <a:solidFill>
                <a:srgbClr val="2C2C2C"/>
              </a:solidFill>
              <a:latin typeface="Montserrat"/>
              <a:ea typeface="Montserrat"/>
              <a:cs typeface="Montserrat"/>
              <a:sym typeface="Montserrat"/>
            </a:endParaRPr>
          </a:p>
        </p:txBody>
      </p:sp>
      <p:sp>
        <p:nvSpPr>
          <p:cNvPr id="7" name="TextBox 7"/>
          <p:cNvSpPr txBox="1"/>
          <p:nvPr/>
        </p:nvSpPr>
        <p:spPr>
          <a:xfrm>
            <a:off x="5869247" y="743285"/>
            <a:ext cx="6549507" cy="1047750"/>
          </a:xfrm>
          <a:prstGeom prst="rect">
            <a:avLst/>
          </a:prstGeom>
        </p:spPr>
        <p:txBody>
          <a:bodyPr lIns="0" tIns="0" rIns="0" bIns="0" rtlCol="0" anchor="t">
            <a:spAutoFit/>
          </a:bodyPr>
          <a:lstStyle/>
          <a:p>
            <a:pPr algn="ctr">
              <a:lnSpc>
                <a:spcPts val="4200"/>
              </a:lnSpc>
            </a:pPr>
            <a:r>
              <a:rPr lang="en-US" sz="3000" dirty="0">
                <a:solidFill>
                  <a:srgbClr val="2C2C2C"/>
                </a:solidFill>
                <a:latin typeface="Montserrat"/>
                <a:ea typeface="Montserrat"/>
                <a:cs typeface="Montserrat"/>
                <a:sym typeface="Montserrat"/>
              </a:rPr>
              <a:t>BAN CƠ YẾU CHÍNH PHỦ</a:t>
            </a:r>
          </a:p>
          <a:p>
            <a:pPr algn="ctr">
              <a:lnSpc>
                <a:spcPts val="4200"/>
              </a:lnSpc>
            </a:pPr>
            <a:r>
              <a:rPr lang="en-US" sz="3000" b="1" dirty="0">
                <a:solidFill>
                  <a:srgbClr val="2C2C2C"/>
                </a:solidFill>
                <a:latin typeface="Montserrat Bold"/>
                <a:ea typeface="Montserrat Bold"/>
                <a:cs typeface="Montserrat Bold"/>
                <a:sym typeface="Montserrat Bold"/>
              </a:rPr>
              <a:t>HỌC VIỆN KỸ THUẬT MẬT MÃ</a:t>
            </a:r>
          </a:p>
        </p:txBody>
      </p:sp>
      <p:sp>
        <p:nvSpPr>
          <p:cNvPr id="8" name="Freeform 8"/>
          <p:cNvSpPr/>
          <p:nvPr/>
        </p:nvSpPr>
        <p:spPr>
          <a:xfrm>
            <a:off x="8342063" y="2238710"/>
            <a:ext cx="1603874" cy="1597860"/>
          </a:xfrm>
          <a:custGeom>
            <a:avLst/>
            <a:gdLst/>
            <a:ahLst/>
            <a:cxnLst/>
            <a:rect l="l" t="t" r="r" b="b"/>
            <a:pathLst>
              <a:path w="1603874" h="1597860">
                <a:moveTo>
                  <a:pt x="0" y="0"/>
                </a:moveTo>
                <a:lnTo>
                  <a:pt x="1603874" y="0"/>
                </a:lnTo>
                <a:lnTo>
                  <a:pt x="1603874" y="1597860"/>
                </a:lnTo>
                <a:lnTo>
                  <a:pt x="0" y="1597860"/>
                </a:lnTo>
                <a:lnTo>
                  <a:pt x="0" y="0"/>
                </a:lnTo>
                <a:close/>
              </a:path>
            </a:pathLst>
          </a:custGeom>
          <a:blipFill>
            <a:blip r:embed="rId2"/>
            <a:stretch>
              <a:fillRect/>
            </a:stretch>
          </a:blipFill>
        </p:spPr>
      </p:sp>
      <p:grpSp>
        <p:nvGrpSpPr>
          <p:cNvPr id="9" name="Group 9"/>
          <p:cNvGrpSpPr/>
          <p:nvPr/>
        </p:nvGrpSpPr>
        <p:grpSpPr>
          <a:xfrm>
            <a:off x="-3127839" y="10145380"/>
            <a:ext cx="22035035" cy="2678668"/>
            <a:chOff x="0" y="0"/>
            <a:chExt cx="5803466" cy="705493"/>
          </a:xfrm>
        </p:grpSpPr>
        <p:sp>
          <p:nvSpPr>
            <p:cNvPr id="10" name="Freeform 10"/>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1" name="TextBox 11"/>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2" name="TextBox 1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2C2C2C"/>
                </a:solidFill>
                <a:latin typeface="Montserrat"/>
                <a:ea typeface="Montserrat"/>
                <a:cs typeface="Montserrat"/>
                <a:sym typeface="Montserrat"/>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569234" y="8449152"/>
            <a:ext cx="1052409" cy="263102"/>
          </a:xfrm>
          <a:custGeom>
            <a:avLst/>
            <a:gdLst/>
            <a:ahLst/>
            <a:cxnLst/>
            <a:rect l="l" t="t" r="r" b="b"/>
            <a:pathLst>
              <a:path w="1052409" h="263102">
                <a:moveTo>
                  <a:pt x="0" y="0"/>
                </a:moveTo>
                <a:lnTo>
                  <a:pt x="1052409" y="0"/>
                </a:lnTo>
                <a:lnTo>
                  <a:pt x="1052409" y="263102"/>
                </a:lnTo>
                <a:lnTo>
                  <a:pt x="0" y="2631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705846" y="434975"/>
            <a:ext cx="5042638" cy="603250"/>
            <a:chOff x="0" y="0"/>
            <a:chExt cx="6723518" cy="804333"/>
          </a:xfrm>
        </p:grpSpPr>
        <p:sp>
          <p:nvSpPr>
            <p:cNvPr id="4" name="TextBox 4"/>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dirty="0">
                  <a:solidFill>
                    <a:srgbClr val="2C2C2C"/>
                  </a:solidFill>
                  <a:latin typeface="Montserrat Bold"/>
                  <a:ea typeface="Montserrat Bold"/>
                  <a:cs typeface="Montserrat Bold"/>
                  <a:sym typeface="Montserrat Bold"/>
                </a:rPr>
                <a:t>HỌC VIỆN KỸ THUẬT MẬT MÃ</a:t>
              </a:r>
            </a:p>
          </p:txBody>
        </p:sp>
        <p:sp>
          <p:nvSpPr>
            <p:cNvPr id="5" name="Freeform 5"/>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4"/>
              <a:stretch>
                <a:fillRect t="-295" b="-1201"/>
              </a:stretch>
            </a:blipFill>
          </p:spPr>
        </p:sp>
      </p:grpSp>
      <p:grpSp>
        <p:nvGrpSpPr>
          <p:cNvPr id="6" name="Group 6"/>
          <p:cNvGrpSpPr/>
          <p:nvPr/>
        </p:nvGrpSpPr>
        <p:grpSpPr>
          <a:xfrm>
            <a:off x="-3127839" y="10145380"/>
            <a:ext cx="22035035" cy="2678668"/>
            <a:chOff x="0" y="0"/>
            <a:chExt cx="5803466" cy="705493"/>
          </a:xfrm>
        </p:grpSpPr>
        <p:sp>
          <p:nvSpPr>
            <p:cNvPr id="7" name="Freeform 7"/>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8" name="TextBox 8"/>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5"/>
            <a:stretch>
              <a:fillRect/>
            </a:stretch>
          </a:blipFill>
        </p:spPr>
      </p:sp>
      <p:sp>
        <p:nvSpPr>
          <p:cNvPr id="10" name="TextBox 10"/>
          <p:cNvSpPr txBox="1"/>
          <p:nvPr/>
        </p:nvSpPr>
        <p:spPr>
          <a:xfrm>
            <a:off x="7411052" y="1592402"/>
            <a:ext cx="3465897" cy="663575"/>
          </a:xfrm>
          <a:prstGeom prst="rect">
            <a:avLst/>
          </a:prstGeom>
        </p:spPr>
        <p:txBody>
          <a:bodyPr lIns="0" tIns="0" rIns="0" bIns="0" rtlCol="0" anchor="t">
            <a:spAutoFit/>
          </a:bodyPr>
          <a:lstStyle/>
          <a:p>
            <a:pPr algn="just">
              <a:lnSpc>
                <a:spcPts val="5049"/>
              </a:lnSpc>
            </a:pPr>
            <a:r>
              <a:rPr lang="en-US" sz="4999" b="1" dirty="0">
                <a:solidFill>
                  <a:srgbClr val="0C1D4B"/>
                </a:solidFill>
                <a:latin typeface="Montserrat Bold"/>
                <a:ea typeface="Montserrat Bold"/>
                <a:cs typeface="Montserrat Bold"/>
                <a:sym typeface="Montserrat Bold"/>
              </a:rPr>
              <a:t>NỘI DUNG</a:t>
            </a:r>
          </a:p>
        </p:txBody>
      </p:sp>
      <p:grpSp>
        <p:nvGrpSpPr>
          <p:cNvPr id="11" name="Group 11"/>
          <p:cNvGrpSpPr/>
          <p:nvPr/>
        </p:nvGrpSpPr>
        <p:grpSpPr>
          <a:xfrm>
            <a:off x="3841874" y="2885241"/>
            <a:ext cx="10604252" cy="5422087"/>
            <a:chOff x="0" y="0"/>
            <a:chExt cx="14139003" cy="7229450"/>
          </a:xfrm>
        </p:grpSpPr>
        <p:grpSp>
          <p:nvGrpSpPr>
            <p:cNvPr id="12" name="Group 12"/>
            <p:cNvGrpSpPr/>
            <p:nvPr/>
          </p:nvGrpSpPr>
          <p:grpSpPr>
            <a:xfrm>
              <a:off x="0" y="5698312"/>
              <a:ext cx="14139003" cy="1531137"/>
              <a:chOff x="0" y="0"/>
              <a:chExt cx="2792890" cy="302447"/>
            </a:xfrm>
          </p:grpSpPr>
          <p:sp>
            <p:nvSpPr>
              <p:cNvPr id="13" name="Freeform 13"/>
              <p:cNvSpPr/>
              <p:nvPr/>
            </p:nvSpPr>
            <p:spPr>
              <a:xfrm>
                <a:off x="0" y="0"/>
                <a:ext cx="2792890" cy="302447"/>
              </a:xfrm>
              <a:custGeom>
                <a:avLst/>
                <a:gdLst/>
                <a:ahLst/>
                <a:cxnLst/>
                <a:rect l="l" t="t" r="r" b="b"/>
                <a:pathLst>
                  <a:path w="2792890" h="302447">
                    <a:moveTo>
                      <a:pt x="37234" y="0"/>
                    </a:moveTo>
                    <a:lnTo>
                      <a:pt x="2755656" y="0"/>
                    </a:lnTo>
                    <a:cubicBezTo>
                      <a:pt x="2765531" y="0"/>
                      <a:pt x="2775001" y="3923"/>
                      <a:pt x="2781984" y="10906"/>
                    </a:cubicBezTo>
                    <a:cubicBezTo>
                      <a:pt x="2788967" y="17888"/>
                      <a:pt x="2792890" y="27359"/>
                      <a:pt x="2792890" y="37234"/>
                    </a:cubicBezTo>
                    <a:lnTo>
                      <a:pt x="2792890" y="265213"/>
                    </a:lnTo>
                    <a:cubicBezTo>
                      <a:pt x="2792890" y="275088"/>
                      <a:pt x="2788967" y="284559"/>
                      <a:pt x="2781984" y="291541"/>
                    </a:cubicBezTo>
                    <a:cubicBezTo>
                      <a:pt x="2775001" y="298524"/>
                      <a:pt x="2765531" y="302447"/>
                      <a:pt x="2755656" y="302447"/>
                    </a:cubicBezTo>
                    <a:lnTo>
                      <a:pt x="37234" y="302447"/>
                    </a:lnTo>
                    <a:cubicBezTo>
                      <a:pt x="27359" y="302447"/>
                      <a:pt x="17888" y="298524"/>
                      <a:pt x="10906" y="291541"/>
                    </a:cubicBezTo>
                    <a:cubicBezTo>
                      <a:pt x="3923" y="284559"/>
                      <a:pt x="0" y="275088"/>
                      <a:pt x="0" y="265213"/>
                    </a:cubicBezTo>
                    <a:lnTo>
                      <a:pt x="0" y="37234"/>
                    </a:lnTo>
                    <a:cubicBezTo>
                      <a:pt x="0" y="27359"/>
                      <a:pt x="3923" y="17888"/>
                      <a:pt x="10906" y="10906"/>
                    </a:cubicBezTo>
                    <a:cubicBezTo>
                      <a:pt x="17888" y="3923"/>
                      <a:pt x="27359" y="0"/>
                      <a:pt x="37234" y="0"/>
                    </a:cubicBezTo>
                    <a:close/>
                  </a:path>
                </a:pathLst>
              </a:custGeom>
              <a:solidFill>
                <a:srgbClr val="0C0C6B"/>
              </a:solidFill>
            </p:spPr>
          </p:sp>
          <p:sp>
            <p:nvSpPr>
              <p:cNvPr id="14" name="TextBox 14"/>
              <p:cNvSpPr txBox="1"/>
              <p:nvPr/>
            </p:nvSpPr>
            <p:spPr>
              <a:xfrm>
                <a:off x="0" y="-66675"/>
                <a:ext cx="2792890" cy="369122"/>
              </a:xfrm>
              <a:prstGeom prst="rect">
                <a:avLst/>
              </a:prstGeom>
            </p:spPr>
            <p:txBody>
              <a:bodyPr lIns="50800" tIns="50800" rIns="50800" bIns="50800" rtlCol="0" anchor="ctr"/>
              <a:lstStyle/>
              <a:p>
                <a:pPr algn="ctr">
                  <a:lnSpc>
                    <a:spcPts val="4899"/>
                  </a:lnSpc>
                </a:pPr>
                <a:r>
                  <a:rPr lang="en-US" sz="3499" b="1" spc="83" dirty="0">
                    <a:solidFill>
                      <a:srgbClr val="FFFFFF"/>
                    </a:solidFill>
                    <a:latin typeface="Montserrat Semi-Bold"/>
                    <a:ea typeface="Montserrat Semi-Bold"/>
                    <a:cs typeface="Montserrat Semi-Bold"/>
                    <a:sym typeface="Montserrat Semi-Bold"/>
                  </a:rPr>
                  <a:t>4. THỰC NGHIỆM VÀ KẾT LUẬN</a:t>
                </a:r>
              </a:p>
            </p:txBody>
          </p:sp>
        </p:grpSp>
        <p:grpSp>
          <p:nvGrpSpPr>
            <p:cNvPr id="15" name="Group 15"/>
            <p:cNvGrpSpPr/>
            <p:nvPr/>
          </p:nvGrpSpPr>
          <p:grpSpPr>
            <a:xfrm>
              <a:off x="0" y="3798875"/>
              <a:ext cx="14139003" cy="1531137"/>
              <a:chOff x="0" y="0"/>
              <a:chExt cx="2792890" cy="302447"/>
            </a:xfrm>
          </p:grpSpPr>
          <p:sp>
            <p:nvSpPr>
              <p:cNvPr id="16" name="Freeform 16"/>
              <p:cNvSpPr/>
              <p:nvPr/>
            </p:nvSpPr>
            <p:spPr>
              <a:xfrm>
                <a:off x="0" y="0"/>
                <a:ext cx="2792890" cy="302447"/>
              </a:xfrm>
              <a:custGeom>
                <a:avLst/>
                <a:gdLst/>
                <a:ahLst/>
                <a:cxnLst/>
                <a:rect l="l" t="t" r="r" b="b"/>
                <a:pathLst>
                  <a:path w="2792890" h="302447">
                    <a:moveTo>
                      <a:pt x="37234" y="0"/>
                    </a:moveTo>
                    <a:lnTo>
                      <a:pt x="2755656" y="0"/>
                    </a:lnTo>
                    <a:cubicBezTo>
                      <a:pt x="2765531" y="0"/>
                      <a:pt x="2775001" y="3923"/>
                      <a:pt x="2781984" y="10906"/>
                    </a:cubicBezTo>
                    <a:cubicBezTo>
                      <a:pt x="2788967" y="17888"/>
                      <a:pt x="2792890" y="27359"/>
                      <a:pt x="2792890" y="37234"/>
                    </a:cubicBezTo>
                    <a:lnTo>
                      <a:pt x="2792890" y="265213"/>
                    </a:lnTo>
                    <a:cubicBezTo>
                      <a:pt x="2792890" y="275088"/>
                      <a:pt x="2788967" y="284559"/>
                      <a:pt x="2781984" y="291541"/>
                    </a:cubicBezTo>
                    <a:cubicBezTo>
                      <a:pt x="2775001" y="298524"/>
                      <a:pt x="2765531" y="302447"/>
                      <a:pt x="2755656" y="302447"/>
                    </a:cubicBezTo>
                    <a:lnTo>
                      <a:pt x="37234" y="302447"/>
                    </a:lnTo>
                    <a:cubicBezTo>
                      <a:pt x="27359" y="302447"/>
                      <a:pt x="17888" y="298524"/>
                      <a:pt x="10906" y="291541"/>
                    </a:cubicBezTo>
                    <a:cubicBezTo>
                      <a:pt x="3923" y="284559"/>
                      <a:pt x="0" y="275088"/>
                      <a:pt x="0" y="265213"/>
                    </a:cubicBezTo>
                    <a:lnTo>
                      <a:pt x="0" y="37234"/>
                    </a:lnTo>
                    <a:cubicBezTo>
                      <a:pt x="0" y="27359"/>
                      <a:pt x="3923" y="17888"/>
                      <a:pt x="10906" y="10906"/>
                    </a:cubicBezTo>
                    <a:cubicBezTo>
                      <a:pt x="17888" y="3923"/>
                      <a:pt x="27359" y="0"/>
                      <a:pt x="37234" y="0"/>
                    </a:cubicBezTo>
                    <a:close/>
                  </a:path>
                </a:pathLst>
              </a:custGeom>
              <a:solidFill>
                <a:srgbClr val="0C0C6B"/>
              </a:solidFill>
            </p:spPr>
          </p:sp>
          <p:sp>
            <p:nvSpPr>
              <p:cNvPr id="17" name="TextBox 17"/>
              <p:cNvSpPr txBox="1"/>
              <p:nvPr/>
            </p:nvSpPr>
            <p:spPr>
              <a:xfrm>
                <a:off x="0" y="-66675"/>
                <a:ext cx="2792890" cy="369122"/>
              </a:xfrm>
              <a:prstGeom prst="rect">
                <a:avLst/>
              </a:prstGeom>
            </p:spPr>
            <p:txBody>
              <a:bodyPr lIns="50800" tIns="50800" rIns="50800" bIns="50800" rtlCol="0" anchor="ctr"/>
              <a:lstStyle/>
              <a:p>
                <a:pPr algn="ctr">
                  <a:lnSpc>
                    <a:spcPts val="4899"/>
                  </a:lnSpc>
                </a:pPr>
                <a:r>
                  <a:rPr lang="en-US" sz="3499" b="1" spc="83" dirty="0">
                    <a:solidFill>
                      <a:srgbClr val="FFFFFF"/>
                    </a:solidFill>
                    <a:latin typeface="Montserrat Semi-Bold"/>
                    <a:ea typeface="Montserrat Semi-Bold"/>
                    <a:cs typeface="Montserrat Semi-Bold"/>
                    <a:sym typeface="Montserrat Semi-Bold"/>
                  </a:rPr>
                  <a:t>3. XÂY DỰNG HỆ THỐNG</a:t>
                </a:r>
              </a:p>
            </p:txBody>
          </p:sp>
        </p:grpSp>
        <p:grpSp>
          <p:nvGrpSpPr>
            <p:cNvPr id="18" name="Group 18"/>
            <p:cNvGrpSpPr/>
            <p:nvPr/>
          </p:nvGrpSpPr>
          <p:grpSpPr>
            <a:xfrm>
              <a:off x="0" y="0"/>
              <a:ext cx="14139003" cy="1531137"/>
              <a:chOff x="0" y="0"/>
              <a:chExt cx="2792890" cy="302447"/>
            </a:xfrm>
          </p:grpSpPr>
          <p:sp>
            <p:nvSpPr>
              <p:cNvPr id="19" name="Freeform 19"/>
              <p:cNvSpPr/>
              <p:nvPr/>
            </p:nvSpPr>
            <p:spPr>
              <a:xfrm>
                <a:off x="0" y="0"/>
                <a:ext cx="2792890" cy="302447"/>
              </a:xfrm>
              <a:custGeom>
                <a:avLst/>
                <a:gdLst/>
                <a:ahLst/>
                <a:cxnLst/>
                <a:rect l="l" t="t" r="r" b="b"/>
                <a:pathLst>
                  <a:path w="2792890" h="302447">
                    <a:moveTo>
                      <a:pt x="37234" y="0"/>
                    </a:moveTo>
                    <a:lnTo>
                      <a:pt x="2755656" y="0"/>
                    </a:lnTo>
                    <a:cubicBezTo>
                      <a:pt x="2765531" y="0"/>
                      <a:pt x="2775001" y="3923"/>
                      <a:pt x="2781984" y="10906"/>
                    </a:cubicBezTo>
                    <a:cubicBezTo>
                      <a:pt x="2788967" y="17888"/>
                      <a:pt x="2792890" y="27359"/>
                      <a:pt x="2792890" y="37234"/>
                    </a:cubicBezTo>
                    <a:lnTo>
                      <a:pt x="2792890" y="265213"/>
                    </a:lnTo>
                    <a:cubicBezTo>
                      <a:pt x="2792890" y="275088"/>
                      <a:pt x="2788967" y="284559"/>
                      <a:pt x="2781984" y="291541"/>
                    </a:cubicBezTo>
                    <a:cubicBezTo>
                      <a:pt x="2775001" y="298524"/>
                      <a:pt x="2765531" y="302447"/>
                      <a:pt x="2755656" y="302447"/>
                    </a:cubicBezTo>
                    <a:lnTo>
                      <a:pt x="37234" y="302447"/>
                    </a:lnTo>
                    <a:cubicBezTo>
                      <a:pt x="27359" y="302447"/>
                      <a:pt x="17888" y="298524"/>
                      <a:pt x="10906" y="291541"/>
                    </a:cubicBezTo>
                    <a:cubicBezTo>
                      <a:pt x="3923" y="284559"/>
                      <a:pt x="0" y="275088"/>
                      <a:pt x="0" y="265213"/>
                    </a:cubicBezTo>
                    <a:lnTo>
                      <a:pt x="0" y="37234"/>
                    </a:lnTo>
                    <a:cubicBezTo>
                      <a:pt x="0" y="27359"/>
                      <a:pt x="3923" y="17888"/>
                      <a:pt x="10906" y="10906"/>
                    </a:cubicBezTo>
                    <a:cubicBezTo>
                      <a:pt x="17888" y="3923"/>
                      <a:pt x="27359" y="0"/>
                      <a:pt x="37234" y="0"/>
                    </a:cubicBezTo>
                    <a:close/>
                  </a:path>
                </a:pathLst>
              </a:custGeom>
              <a:solidFill>
                <a:srgbClr val="0C0C6B"/>
              </a:solidFill>
            </p:spPr>
          </p:sp>
          <p:sp>
            <p:nvSpPr>
              <p:cNvPr id="20" name="TextBox 20"/>
              <p:cNvSpPr txBox="1"/>
              <p:nvPr/>
            </p:nvSpPr>
            <p:spPr>
              <a:xfrm>
                <a:off x="0" y="-66675"/>
                <a:ext cx="2792890" cy="369122"/>
              </a:xfrm>
              <a:prstGeom prst="rect">
                <a:avLst/>
              </a:prstGeom>
            </p:spPr>
            <p:txBody>
              <a:bodyPr lIns="50800" tIns="50800" rIns="50800" bIns="50800" rtlCol="0" anchor="ctr"/>
              <a:lstStyle/>
              <a:p>
                <a:pPr algn="ctr">
                  <a:lnSpc>
                    <a:spcPts val="4899"/>
                  </a:lnSpc>
                </a:pPr>
                <a:r>
                  <a:rPr lang="en-US" sz="3499" b="1" spc="83" dirty="0">
                    <a:solidFill>
                      <a:srgbClr val="FFFFFF"/>
                    </a:solidFill>
                    <a:latin typeface="Montserrat Semi-Bold"/>
                    <a:ea typeface="Montserrat Semi-Bold"/>
                    <a:cs typeface="Montserrat Semi-Bold"/>
                    <a:sym typeface="Montserrat Semi-Bold"/>
                  </a:rPr>
                  <a:t>1. PHÁT BIỂU BÀI TOÁN</a:t>
                </a:r>
              </a:p>
            </p:txBody>
          </p:sp>
        </p:grpSp>
        <p:grpSp>
          <p:nvGrpSpPr>
            <p:cNvPr id="21" name="Group 21"/>
            <p:cNvGrpSpPr/>
            <p:nvPr/>
          </p:nvGrpSpPr>
          <p:grpSpPr>
            <a:xfrm>
              <a:off x="0" y="1899437"/>
              <a:ext cx="14139003" cy="1531137"/>
              <a:chOff x="0" y="0"/>
              <a:chExt cx="2792890" cy="302447"/>
            </a:xfrm>
          </p:grpSpPr>
          <p:sp>
            <p:nvSpPr>
              <p:cNvPr id="22" name="Freeform 22"/>
              <p:cNvSpPr/>
              <p:nvPr/>
            </p:nvSpPr>
            <p:spPr>
              <a:xfrm>
                <a:off x="0" y="0"/>
                <a:ext cx="2792890" cy="302447"/>
              </a:xfrm>
              <a:custGeom>
                <a:avLst/>
                <a:gdLst/>
                <a:ahLst/>
                <a:cxnLst/>
                <a:rect l="l" t="t" r="r" b="b"/>
                <a:pathLst>
                  <a:path w="2792890" h="302447">
                    <a:moveTo>
                      <a:pt x="37234" y="0"/>
                    </a:moveTo>
                    <a:lnTo>
                      <a:pt x="2755656" y="0"/>
                    </a:lnTo>
                    <a:cubicBezTo>
                      <a:pt x="2765531" y="0"/>
                      <a:pt x="2775001" y="3923"/>
                      <a:pt x="2781984" y="10906"/>
                    </a:cubicBezTo>
                    <a:cubicBezTo>
                      <a:pt x="2788967" y="17888"/>
                      <a:pt x="2792890" y="27359"/>
                      <a:pt x="2792890" y="37234"/>
                    </a:cubicBezTo>
                    <a:lnTo>
                      <a:pt x="2792890" y="265213"/>
                    </a:lnTo>
                    <a:cubicBezTo>
                      <a:pt x="2792890" y="275088"/>
                      <a:pt x="2788967" y="284559"/>
                      <a:pt x="2781984" y="291541"/>
                    </a:cubicBezTo>
                    <a:cubicBezTo>
                      <a:pt x="2775001" y="298524"/>
                      <a:pt x="2765531" y="302447"/>
                      <a:pt x="2755656" y="302447"/>
                    </a:cubicBezTo>
                    <a:lnTo>
                      <a:pt x="37234" y="302447"/>
                    </a:lnTo>
                    <a:cubicBezTo>
                      <a:pt x="27359" y="302447"/>
                      <a:pt x="17888" y="298524"/>
                      <a:pt x="10906" y="291541"/>
                    </a:cubicBezTo>
                    <a:cubicBezTo>
                      <a:pt x="3923" y="284559"/>
                      <a:pt x="0" y="275088"/>
                      <a:pt x="0" y="265213"/>
                    </a:cubicBezTo>
                    <a:lnTo>
                      <a:pt x="0" y="37234"/>
                    </a:lnTo>
                    <a:cubicBezTo>
                      <a:pt x="0" y="27359"/>
                      <a:pt x="3923" y="17888"/>
                      <a:pt x="10906" y="10906"/>
                    </a:cubicBezTo>
                    <a:cubicBezTo>
                      <a:pt x="17888" y="3923"/>
                      <a:pt x="27359" y="0"/>
                      <a:pt x="37234" y="0"/>
                    </a:cubicBezTo>
                    <a:close/>
                  </a:path>
                </a:pathLst>
              </a:custGeom>
              <a:solidFill>
                <a:srgbClr val="0C0C6B"/>
              </a:solidFill>
            </p:spPr>
          </p:sp>
          <p:sp>
            <p:nvSpPr>
              <p:cNvPr id="23" name="TextBox 23"/>
              <p:cNvSpPr txBox="1"/>
              <p:nvPr/>
            </p:nvSpPr>
            <p:spPr>
              <a:xfrm>
                <a:off x="0" y="-66675"/>
                <a:ext cx="2792890" cy="369122"/>
              </a:xfrm>
              <a:prstGeom prst="rect">
                <a:avLst/>
              </a:prstGeom>
            </p:spPr>
            <p:txBody>
              <a:bodyPr lIns="50800" tIns="50800" rIns="50800" bIns="50800" rtlCol="0" anchor="ctr"/>
              <a:lstStyle/>
              <a:p>
                <a:pPr algn="ctr">
                  <a:lnSpc>
                    <a:spcPts val="4899"/>
                  </a:lnSpc>
                </a:pPr>
                <a:r>
                  <a:rPr lang="en-US" sz="3499" b="1" spc="83" dirty="0">
                    <a:solidFill>
                      <a:srgbClr val="FFFFFF"/>
                    </a:solidFill>
                    <a:latin typeface="Montserrat Semi-Bold"/>
                    <a:ea typeface="Montserrat Semi-Bold"/>
                    <a:cs typeface="Montserrat Semi-Bold"/>
                    <a:sym typeface="Montserrat Semi-Bold"/>
                  </a:rPr>
                  <a:t>2. CƠ SỞ LÝ THUYẾT</a:t>
                </a:r>
              </a:p>
            </p:txBody>
          </p:sp>
        </p:grpSp>
      </p:grpSp>
      <p:sp>
        <p:nvSpPr>
          <p:cNvPr id="24" name="TextBox 24"/>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grpSp>
        <p:nvGrpSpPr>
          <p:cNvPr id="5" name="Group 5"/>
          <p:cNvGrpSpPr/>
          <p:nvPr/>
        </p:nvGrpSpPr>
        <p:grpSpPr>
          <a:xfrm>
            <a:off x="8598061" y="3599413"/>
            <a:ext cx="1091879" cy="1091879"/>
            <a:chOff x="0" y="0"/>
            <a:chExt cx="1455838" cy="1455838"/>
          </a:xfrm>
        </p:grpSpPr>
        <p:grpSp>
          <p:nvGrpSpPr>
            <p:cNvPr id="6" name="Group 6"/>
            <p:cNvGrpSpPr/>
            <p:nvPr/>
          </p:nvGrpSpPr>
          <p:grpSpPr>
            <a:xfrm>
              <a:off x="0" y="0"/>
              <a:ext cx="1455838" cy="145583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1D4B"/>
              </a:solidFill>
              <a:ln w="38100" cap="sq">
                <a:solidFill>
                  <a:srgbClr val="0C1D4B"/>
                </a:solid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92932" y="227539"/>
              <a:ext cx="1069975" cy="924560"/>
            </a:xfrm>
            <a:prstGeom prst="rect">
              <a:avLst/>
            </a:prstGeom>
          </p:spPr>
          <p:txBody>
            <a:bodyPr lIns="0" tIns="0" rIns="0" bIns="0" rtlCol="0" anchor="t">
              <a:spAutoFit/>
            </a:bodyPr>
            <a:lstStyle/>
            <a:p>
              <a:pPr algn="ctr">
                <a:lnSpc>
                  <a:spcPts val="5880"/>
                </a:lnSpc>
              </a:pPr>
              <a:r>
                <a:rPr lang="en-US" sz="4200" b="1" spc="100">
                  <a:solidFill>
                    <a:srgbClr val="FFFFFF"/>
                  </a:solidFill>
                  <a:latin typeface="Montserrat Bold"/>
                  <a:ea typeface="Montserrat Bold"/>
                  <a:cs typeface="Montserrat Bold"/>
                  <a:sym typeface="Montserrat Bold"/>
                </a:rPr>
                <a:t>1</a:t>
              </a:r>
            </a:p>
          </p:txBody>
        </p:sp>
      </p:grpSp>
      <p:grpSp>
        <p:nvGrpSpPr>
          <p:cNvPr id="10" name="Group 10"/>
          <p:cNvGrpSpPr/>
          <p:nvPr/>
        </p:nvGrpSpPr>
        <p:grpSpPr>
          <a:xfrm>
            <a:off x="4934556" y="4244655"/>
            <a:ext cx="8418889" cy="1616861"/>
            <a:chOff x="0" y="-241102"/>
            <a:chExt cx="11225185" cy="2155815"/>
          </a:xfrm>
        </p:grpSpPr>
        <p:sp>
          <p:nvSpPr>
            <p:cNvPr id="11" name="TextBox 11"/>
            <p:cNvSpPr txBox="1"/>
            <p:nvPr/>
          </p:nvSpPr>
          <p:spPr>
            <a:xfrm>
              <a:off x="527438" y="568991"/>
              <a:ext cx="10170308" cy="871982"/>
            </a:xfrm>
            <a:prstGeom prst="rect">
              <a:avLst/>
            </a:prstGeom>
          </p:spPr>
          <p:txBody>
            <a:bodyPr lIns="0" tIns="0" rIns="0" bIns="0" rtlCol="0" anchor="t">
              <a:spAutoFit/>
            </a:bodyPr>
            <a:lstStyle/>
            <a:p>
              <a:pPr algn="just">
                <a:lnSpc>
                  <a:spcPts val="4848"/>
                </a:lnSpc>
              </a:pPr>
              <a:r>
                <a:rPr lang="en-US" sz="4800" b="1">
                  <a:solidFill>
                    <a:srgbClr val="0C1D4B"/>
                  </a:solidFill>
                  <a:latin typeface="Montserrat Heavy"/>
                  <a:ea typeface="Montserrat Heavy"/>
                  <a:cs typeface="Montserrat Heavy"/>
                  <a:sym typeface="Montserrat Heavy"/>
                </a:rPr>
                <a:t>PHÁT BIỂU BÀI TOÁN</a:t>
              </a:r>
            </a:p>
          </p:txBody>
        </p:sp>
        <p:grpSp>
          <p:nvGrpSpPr>
            <p:cNvPr id="12" name="Group 12"/>
            <p:cNvGrpSpPr/>
            <p:nvPr/>
          </p:nvGrpSpPr>
          <p:grpSpPr>
            <a:xfrm>
              <a:off x="0" y="-241102"/>
              <a:ext cx="11225185" cy="2155815"/>
              <a:chOff x="0" y="-47625"/>
              <a:chExt cx="2217321" cy="425840"/>
            </a:xfrm>
          </p:grpSpPr>
          <p:sp>
            <p:nvSpPr>
              <p:cNvPr id="13" name="Freeform 13"/>
              <p:cNvSpPr/>
              <p:nvPr/>
            </p:nvSpPr>
            <p:spPr>
              <a:xfrm>
                <a:off x="0" y="0"/>
                <a:ext cx="2217320" cy="378215"/>
              </a:xfrm>
              <a:custGeom>
                <a:avLst/>
                <a:gdLst/>
                <a:ahLst/>
                <a:cxnLst/>
                <a:rect l="l" t="t" r="r" b="b"/>
                <a:pathLst>
                  <a:path w="2217320" h="378215">
                    <a:moveTo>
                      <a:pt x="25749" y="0"/>
                    </a:moveTo>
                    <a:lnTo>
                      <a:pt x="2191572" y="0"/>
                    </a:lnTo>
                    <a:cubicBezTo>
                      <a:pt x="2198401" y="0"/>
                      <a:pt x="2204950" y="2713"/>
                      <a:pt x="2209779" y="7542"/>
                    </a:cubicBezTo>
                    <a:cubicBezTo>
                      <a:pt x="2214608" y="12370"/>
                      <a:pt x="2217320" y="18920"/>
                      <a:pt x="2217320" y="25749"/>
                    </a:cubicBezTo>
                    <a:lnTo>
                      <a:pt x="2217320" y="352466"/>
                    </a:lnTo>
                    <a:cubicBezTo>
                      <a:pt x="2217320" y="359295"/>
                      <a:pt x="2214608" y="365845"/>
                      <a:pt x="2209779" y="370673"/>
                    </a:cubicBezTo>
                    <a:cubicBezTo>
                      <a:pt x="2204950" y="375502"/>
                      <a:pt x="2198401" y="378215"/>
                      <a:pt x="2191572" y="378215"/>
                    </a:cubicBezTo>
                    <a:lnTo>
                      <a:pt x="25749" y="378215"/>
                    </a:lnTo>
                    <a:cubicBezTo>
                      <a:pt x="18920" y="378215"/>
                      <a:pt x="12370" y="375502"/>
                      <a:pt x="7542" y="370673"/>
                    </a:cubicBezTo>
                    <a:cubicBezTo>
                      <a:pt x="2713" y="365845"/>
                      <a:pt x="0" y="359295"/>
                      <a:pt x="0" y="352466"/>
                    </a:cubicBezTo>
                    <a:lnTo>
                      <a:pt x="0" y="25749"/>
                    </a:lnTo>
                    <a:cubicBezTo>
                      <a:pt x="0" y="18920"/>
                      <a:pt x="2713" y="12370"/>
                      <a:pt x="7542" y="7542"/>
                    </a:cubicBezTo>
                    <a:cubicBezTo>
                      <a:pt x="12370" y="2713"/>
                      <a:pt x="18920" y="0"/>
                      <a:pt x="25749" y="0"/>
                    </a:cubicBezTo>
                    <a:close/>
                  </a:path>
                </a:pathLst>
              </a:custGeom>
              <a:solidFill>
                <a:srgbClr val="000000">
                  <a:alpha val="0"/>
                </a:srgbClr>
              </a:solidFill>
              <a:ln w="38100" cap="rnd">
                <a:solidFill>
                  <a:srgbClr val="0D1D4B"/>
                </a:solidFill>
                <a:prstDash val="solid"/>
                <a:round/>
              </a:ln>
            </p:spPr>
            <p:txBody>
              <a:bodyPr/>
              <a:lstStyle/>
              <a:p>
                <a:endParaRPr lang="en-VN" dirty="0"/>
              </a:p>
            </p:txBody>
          </p:sp>
          <p:sp>
            <p:nvSpPr>
              <p:cNvPr id="14" name="TextBox 14"/>
              <p:cNvSpPr txBox="1"/>
              <p:nvPr/>
            </p:nvSpPr>
            <p:spPr>
              <a:xfrm>
                <a:off x="0" y="-47625"/>
                <a:ext cx="2217321" cy="425840"/>
              </a:xfrm>
              <a:prstGeom prst="rect">
                <a:avLst/>
              </a:prstGeom>
            </p:spPr>
            <p:txBody>
              <a:bodyPr lIns="50800" tIns="50800" rIns="50800" bIns="50800" rtlCol="0" anchor="ctr"/>
              <a:lstStyle/>
              <a:p>
                <a:pPr algn="ctr">
                  <a:lnSpc>
                    <a:spcPts val="2940"/>
                  </a:lnSpc>
                </a:pPr>
                <a:endParaRPr/>
              </a:p>
            </p:txBody>
          </p:sp>
        </p:grpSp>
      </p:grpSp>
      <p:sp>
        <p:nvSpPr>
          <p:cNvPr id="15" name="Freeform 15"/>
          <p:cNvSpPr/>
          <p:nvPr/>
        </p:nvSpPr>
        <p:spPr>
          <a:xfrm>
            <a:off x="15569234" y="8449152"/>
            <a:ext cx="1052409" cy="263102"/>
          </a:xfrm>
          <a:custGeom>
            <a:avLst/>
            <a:gdLst/>
            <a:ahLst/>
            <a:cxnLst/>
            <a:rect l="l" t="t" r="r" b="b"/>
            <a:pathLst>
              <a:path w="1052409" h="263102">
                <a:moveTo>
                  <a:pt x="0" y="0"/>
                </a:moveTo>
                <a:lnTo>
                  <a:pt x="1052409" y="0"/>
                </a:lnTo>
                <a:lnTo>
                  <a:pt x="1052409" y="263102"/>
                </a:lnTo>
                <a:lnTo>
                  <a:pt x="0" y="2631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Freeform 1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5"/>
            <a:stretch>
              <a:fillRect/>
            </a:stretch>
          </a:blipFill>
        </p:spPr>
      </p:sp>
      <p:grpSp>
        <p:nvGrpSpPr>
          <p:cNvPr id="17" name="Group 17"/>
          <p:cNvGrpSpPr/>
          <p:nvPr/>
        </p:nvGrpSpPr>
        <p:grpSpPr>
          <a:xfrm>
            <a:off x="-3127839" y="9429370"/>
            <a:ext cx="22035035" cy="3394679"/>
            <a:chOff x="0" y="0"/>
            <a:chExt cx="29380046" cy="4526239"/>
          </a:xfrm>
        </p:grpSpPr>
        <p:grpSp>
          <p:nvGrpSpPr>
            <p:cNvPr id="18" name="Group 18"/>
            <p:cNvGrpSpPr/>
            <p:nvPr/>
          </p:nvGrpSpPr>
          <p:grpSpPr>
            <a:xfrm>
              <a:off x="0" y="954681"/>
              <a:ext cx="29380046" cy="3571558"/>
              <a:chOff x="0" y="0"/>
              <a:chExt cx="5803466" cy="705493"/>
            </a:xfrm>
          </p:grpSpPr>
          <p:sp>
            <p:nvSpPr>
              <p:cNvPr id="19" name="Freeform 1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20" name="TextBox 2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21" name="Freeform 2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5"/>
              <a:stretch>
                <a:fillRect/>
              </a:stretch>
            </a:blipFill>
          </p:spPr>
        </p:sp>
      </p:grpSp>
      <p:sp>
        <p:nvSpPr>
          <p:cNvPr id="22" name="TextBox 2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569234" y="8449152"/>
            <a:ext cx="1052409" cy="263102"/>
          </a:xfrm>
          <a:custGeom>
            <a:avLst/>
            <a:gdLst/>
            <a:ahLst/>
            <a:cxnLst/>
            <a:rect l="l" t="t" r="r" b="b"/>
            <a:pathLst>
              <a:path w="1052409" h="263102">
                <a:moveTo>
                  <a:pt x="0" y="0"/>
                </a:moveTo>
                <a:lnTo>
                  <a:pt x="1052409" y="0"/>
                </a:lnTo>
                <a:lnTo>
                  <a:pt x="1052409" y="263102"/>
                </a:lnTo>
                <a:lnTo>
                  <a:pt x="0" y="2631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grpSp>
        <p:nvGrpSpPr>
          <p:cNvPr id="4" name="Group 4"/>
          <p:cNvGrpSpPr/>
          <p:nvPr/>
        </p:nvGrpSpPr>
        <p:grpSpPr>
          <a:xfrm>
            <a:off x="705846" y="434975"/>
            <a:ext cx="5042638" cy="603250"/>
            <a:chOff x="0" y="0"/>
            <a:chExt cx="6723518" cy="804333"/>
          </a:xfrm>
        </p:grpSpPr>
        <p:sp>
          <p:nvSpPr>
            <p:cNvPr id="5" name="TextBox 5"/>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dirty="0">
                  <a:solidFill>
                    <a:srgbClr val="2C2C2C"/>
                  </a:solidFill>
                  <a:latin typeface="Montserrat Bold"/>
                  <a:ea typeface="Montserrat Bold"/>
                  <a:cs typeface="Montserrat Bold"/>
                  <a:sym typeface="Montserrat Bold"/>
                </a:rPr>
                <a:t>HỌC VIỆN KỸ THUẬT MẬT MÃ</a:t>
              </a:r>
            </a:p>
          </p:txBody>
        </p:sp>
        <p:sp>
          <p:nvSpPr>
            <p:cNvPr id="6" name="Freeform 6"/>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4"/>
              <a:stretch>
                <a:fillRect t="-295" b="-1201"/>
              </a:stretch>
            </a:blipFill>
          </p:spPr>
        </p:sp>
      </p:grpSp>
      <p:sp>
        <p:nvSpPr>
          <p:cNvPr id="7" name="TextBox 7"/>
          <p:cNvSpPr txBox="1"/>
          <p:nvPr/>
        </p:nvSpPr>
        <p:spPr>
          <a:xfrm>
            <a:off x="1028700" y="1751449"/>
            <a:ext cx="7627731"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1.1. Lý do </a:t>
            </a:r>
            <a:r>
              <a:rPr lang="en-US" sz="3999" b="1" dirty="0" err="1">
                <a:solidFill>
                  <a:srgbClr val="0C1D4B"/>
                </a:solidFill>
                <a:latin typeface="Montserrat Heavy"/>
                <a:ea typeface="Montserrat Heavy"/>
                <a:cs typeface="Montserrat Heavy"/>
                <a:sym typeface="Montserrat Heavy"/>
              </a:rPr>
              <a:t>chọn</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đề</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tài</a:t>
            </a:r>
            <a:endParaRPr lang="en-US" sz="3999" b="1" dirty="0">
              <a:solidFill>
                <a:srgbClr val="0C1D4B"/>
              </a:solidFill>
              <a:latin typeface="Montserrat Heavy"/>
              <a:ea typeface="Montserrat Heavy"/>
              <a:cs typeface="Montserrat Heavy"/>
              <a:sym typeface="Montserrat Heavy"/>
            </a:endParaRPr>
          </a:p>
        </p:txBody>
      </p:sp>
      <p:sp>
        <p:nvSpPr>
          <p:cNvPr id="8" name="TextBox 8"/>
          <p:cNvSpPr txBox="1"/>
          <p:nvPr/>
        </p:nvSpPr>
        <p:spPr>
          <a:xfrm>
            <a:off x="1028700" y="2800469"/>
            <a:ext cx="9848377" cy="3619500"/>
          </a:xfrm>
          <a:prstGeom prst="rect">
            <a:avLst/>
          </a:prstGeom>
        </p:spPr>
        <p:txBody>
          <a:bodyPr lIns="0" tIns="0" rIns="0" bIns="0" rtlCol="0" anchor="t">
            <a:spAutoFit/>
          </a:bodyPr>
          <a:lstStyle/>
          <a:p>
            <a:pPr algn="just">
              <a:lnSpc>
                <a:spcPts val="4800"/>
              </a:lnSpc>
            </a:pPr>
            <a:r>
              <a:rPr lang="en-US" sz="3000" b="1" dirty="0" err="1">
                <a:solidFill>
                  <a:srgbClr val="0C1D4B"/>
                </a:solidFill>
                <a:latin typeface="Montserrat Bold"/>
                <a:ea typeface="Montserrat Bold"/>
                <a:cs typeface="Montserrat Bold"/>
                <a:sym typeface="Montserrat Bold"/>
              </a:rPr>
              <a:t>Bắt</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nguồn</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từ</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những</a:t>
            </a:r>
            <a:r>
              <a:rPr lang="en-US" sz="3000" b="1" dirty="0">
                <a:solidFill>
                  <a:srgbClr val="0C1D4B"/>
                </a:solidFill>
                <a:latin typeface="Montserrat Bold"/>
                <a:ea typeface="Montserrat Bold"/>
                <a:cs typeface="Montserrat Bold"/>
                <a:sym typeface="Montserrat Bold"/>
              </a:rPr>
              <a:t> </a:t>
            </a:r>
            <a:r>
              <a:rPr lang="en-US" sz="3000" b="1" i="1" dirty="0" err="1">
                <a:solidFill>
                  <a:srgbClr val="0C1D4B"/>
                </a:solidFill>
                <a:latin typeface="Montserrat Bold Italics"/>
                <a:ea typeface="Montserrat Bold Italics"/>
                <a:cs typeface="Montserrat Bold Italics"/>
                <a:sym typeface="Montserrat Bold Italics"/>
              </a:rPr>
              <a:t>khó</a:t>
            </a:r>
            <a:r>
              <a:rPr lang="en-US" sz="3000" b="1" i="1" dirty="0">
                <a:solidFill>
                  <a:srgbClr val="0C1D4B"/>
                </a:solidFill>
                <a:latin typeface="Montserrat Bold Italics"/>
                <a:ea typeface="Montserrat Bold Italics"/>
                <a:cs typeface="Montserrat Bold Italics"/>
                <a:sym typeface="Montserrat Bold Italics"/>
              </a:rPr>
              <a:t> </a:t>
            </a:r>
            <a:r>
              <a:rPr lang="en-US" sz="3000" b="1" i="1" dirty="0" err="1">
                <a:solidFill>
                  <a:srgbClr val="0C1D4B"/>
                </a:solidFill>
                <a:latin typeface="Montserrat Bold Italics"/>
                <a:ea typeface="Montserrat Bold Italics"/>
                <a:cs typeface="Montserrat Bold Italics"/>
                <a:sym typeface="Montserrat Bold Italics"/>
              </a:rPr>
              <a:t>khăn</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trong</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quá</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trình</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tra</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cứu</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tiếp</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cận</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thông</a:t>
            </a:r>
            <a:r>
              <a:rPr lang="en-US" sz="3000" b="1" dirty="0">
                <a:solidFill>
                  <a:srgbClr val="0C1D4B"/>
                </a:solidFill>
                <a:latin typeface="Montserrat Bold"/>
                <a:ea typeface="Montserrat Bold"/>
                <a:cs typeface="Montserrat Bold"/>
                <a:sym typeface="Montserrat Bold"/>
              </a:rPr>
              <a:t> tin </a:t>
            </a:r>
            <a:r>
              <a:rPr lang="en-US" sz="3000" b="1" dirty="0" err="1">
                <a:solidFill>
                  <a:srgbClr val="0C1D4B"/>
                </a:solidFill>
                <a:latin typeface="Montserrat Bold"/>
                <a:ea typeface="Montserrat Bold"/>
                <a:cs typeface="Montserrat Bold"/>
                <a:sym typeface="Montserrat Bold"/>
              </a:rPr>
              <a:t>của</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sinh</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viên</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học</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viện</a:t>
            </a:r>
            <a:endParaRPr lang="en-US" sz="3000" b="1" dirty="0">
              <a:solidFill>
                <a:srgbClr val="0C1D4B"/>
              </a:solidFill>
              <a:latin typeface="Montserrat Bold"/>
              <a:ea typeface="Montserrat Bold"/>
              <a:cs typeface="Montserrat Bold"/>
              <a:sym typeface="Montserrat Bold"/>
            </a:endParaRPr>
          </a:p>
          <a:p>
            <a:pPr marL="647700" lvl="1" indent="-323850" algn="just">
              <a:lnSpc>
                <a:spcPts val="4800"/>
              </a:lnSpc>
              <a:buFont typeface="Arial"/>
              <a:buChar char="•"/>
            </a:pPr>
            <a:r>
              <a:rPr lang="en-US" sz="3000" dirty="0">
                <a:solidFill>
                  <a:srgbClr val="0C1D4B"/>
                </a:solidFill>
                <a:latin typeface="Montserrat"/>
                <a:ea typeface="Montserrat"/>
                <a:cs typeface="Montserrat"/>
                <a:sym typeface="Montserrat"/>
              </a:rPr>
              <a:t>Sinh </a:t>
            </a:r>
            <a:r>
              <a:rPr lang="en-US" sz="3000" dirty="0" err="1">
                <a:solidFill>
                  <a:srgbClr val="0C1D4B"/>
                </a:solidFill>
                <a:latin typeface="Montserrat"/>
                <a:ea typeface="Montserrat"/>
                <a:cs typeface="Montserrat"/>
                <a:sym typeface="Montserrat"/>
              </a:rPr>
              <a:t>viên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thường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xuyên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đặt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câu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hỏi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lặp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lại</a:t>
            </a:r>
            <a:endParaRPr lang="en-US" sz="3000" dirty="0">
              <a:solidFill>
                <a:srgbClr val="0C1D4B"/>
              </a:solidFill>
              <a:latin typeface="Montserrat"/>
              <a:ea typeface="Montserrat"/>
              <a:cs typeface="Montserrat"/>
              <a:sym typeface="Montserrat"/>
            </a:endParaRPr>
          </a:p>
          <a:p>
            <a:pPr marL="647700" lvl="1" indent="-323850" algn="just">
              <a:lnSpc>
                <a:spcPts val="4800"/>
              </a:lnSpc>
              <a:buFont typeface="Arial"/>
              <a:buChar char="•"/>
            </a:pPr>
            <a:r>
              <a:rPr lang="en-US" sz="3000" dirty="0" err="1">
                <a:solidFill>
                  <a:srgbClr val="0C1D4B"/>
                </a:solidFill>
                <a:latin typeface="Montserrat"/>
                <a:ea typeface="Montserrat"/>
                <a:cs typeface="Montserrat"/>
                <a:sym typeface="Montserrat"/>
              </a:rPr>
              <a:t>Chưa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có</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hệ</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thống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cứu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thông</a:t>
            </a:r>
            <a:r>
              <a:rPr lang="en-US" sz="3000" dirty="0">
                <a:solidFill>
                  <a:srgbClr val="0C1D4B"/>
                </a:solidFill>
                <a:latin typeface="Montserrat"/>
                <a:ea typeface="Montserrat"/>
                <a:cs typeface="Montserrat"/>
                <a:sym typeface="Montserrat"/>
              </a:rPr>
              <a:t> tin </a:t>
            </a:r>
            <a:r>
              <a:rPr lang="en-US" sz="3000" dirty="0" err="1">
                <a:solidFill>
                  <a:srgbClr val="0C1D4B"/>
                </a:solidFill>
                <a:latin typeface="Montserrat"/>
                <a:ea typeface="Montserrat"/>
                <a:cs typeface="Montserrat"/>
                <a:sym typeface="Montserrat"/>
              </a:rPr>
              <a:t>tập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trung</a:t>
            </a:r>
            <a:endParaRPr lang="en-US" sz="3000" dirty="0">
              <a:solidFill>
                <a:srgbClr val="0C1D4B"/>
              </a:solidFill>
              <a:latin typeface="Montserrat"/>
              <a:ea typeface="Montserrat"/>
              <a:cs typeface="Montserrat"/>
              <a:sym typeface="Montserrat"/>
            </a:endParaRPr>
          </a:p>
          <a:p>
            <a:pPr marL="647700" lvl="1" indent="-323850" algn="just">
              <a:lnSpc>
                <a:spcPts val="4800"/>
              </a:lnSpc>
              <a:buFont typeface="Arial"/>
              <a:buChar char="•"/>
            </a:pPr>
            <a:r>
              <a:rPr lang="en-US" sz="3000" dirty="0">
                <a:solidFill>
                  <a:srgbClr val="0C1D4B"/>
                </a:solidFill>
                <a:latin typeface="Montserrat"/>
                <a:ea typeface="Montserrat"/>
                <a:cs typeface="Montserrat"/>
                <a:sym typeface="Montserrat"/>
              </a:rPr>
              <a:t>Các </a:t>
            </a:r>
            <a:r>
              <a:rPr lang="en-US" sz="3000" dirty="0" err="1">
                <a:solidFill>
                  <a:srgbClr val="0C1D4B"/>
                </a:solidFill>
                <a:latin typeface="Montserrat"/>
                <a:ea typeface="Montserrat"/>
                <a:cs typeface="Montserrat"/>
                <a:sym typeface="Montserrat"/>
              </a:rPr>
              <a:t>phòng</a:t>
            </a:r>
            <a:r>
              <a:rPr lang="en-US" sz="3000" dirty="0">
                <a:solidFill>
                  <a:srgbClr val="0C1D4B"/>
                </a:solidFill>
                <a:latin typeface="Montserrat"/>
                <a:ea typeface="Montserrat"/>
                <a:cs typeface="Montserrat"/>
                <a:sym typeface="Montserrat"/>
              </a:rPr>
              <a:t> ban </a:t>
            </a:r>
            <a:r>
              <a:rPr lang="en-US" sz="3000" dirty="0" err="1">
                <a:solidFill>
                  <a:srgbClr val="0C1D4B"/>
                </a:solidFill>
                <a:latin typeface="Montserrat"/>
                <a:ea typeface="Montserrat"/>
                <a:cs typeface="Montserrat"/>
                <a:sym typeface="Montserrat"/>
              </a:rPr>
              <a:t>chức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năng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phải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tiếp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nhận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quá</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nhiều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sinh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viên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dẫn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đến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quá</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tải</a:t>
            </a:r>
            <a:endParaRPr lang="en-US" sz="3000" dirty="0">
              <a:solidFill>
                <a:srgbClr val="0C1D4B"/>
              </a:solidFill>
              <a:latin typeface="Montserrat"/>
              <a:ea typeface="Montserrat"/>
              <a:cs typeface="Montserrat"/>
              <a:sym typeface="Montserrat"/>
            </a:endParaRPr>
          </a:p>
        </p:txBody>
      </p:sp>
      <p:sp>
        <p:nvSpPr>
          <p:cNvPr id="9" name="Freeform 9"/>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5"/>
            <a:stretch>
              <a:fillRect/>
            </a:stretch>
          </a:blipFill>
        </p:spPr>
      </p:sp>
      <p:grpSp>
        <p:nvGrpSpPr>
          <p:cNvPr id="10" name="Group 10"/>
          <p:cNvGrpSpPr/>
          <p:nvPr/>
        </p:nvGrpSpPr>
        <p:grpSpPr>
          <a:xfrm>
            <a:off x="-3127839" y="9429370"/>
            <a:ext cx="22035035" cy="3394679"/>
            <a:chOff x="0" y="0"/>
            <a:chExt cx="29380046" cy="4526239"/>
          </a:xfrm>
        </p:grpSpPr>
        <p:grpSp>
          <p:nvGrpSpPr>
            <p:cNvPr id="11" name="Group 11"/>
            <p:cNvGrpSpPr/>
            <p:nvPr/>
          </p:nvGrpSpPr>
          <p:grpSpPr>
            <a:xfrm>
              <a:off x="0" y="954681"/>
              <a:ext cx="29380046" cy="3571558"/>
              <a:chOff x="0" y="0"/>
              <a:chExt cx="5803466" cy="705493"/>
            </a:xfrm>
          </p:grpSpPr>
          <p:sp>
            <p:nvSpPr>
              <p:cNvPr id="12" name="Freeform 12"/>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3" name="TextBox 13"/>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4" name="Freeform 14"/>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5"/>
              <a:stretch>
                <a:fillRect/>
              </a:stretch>
            </a:blipFill>
          </p:spPr>
        </p:sp>
      </p:grpSp>
      <p:sp>
        <p:nvSpPr>
          <p:cNvPr id="15" name="Freeform 15"/>
          <p:cNvSpPr/>
          <p:nvPr/>
        </p:nvSpPr>
        <p:spPr>
          <a:xfrm>
            <a:off x="11627442" y="2615297"/>
            <a:ext cx="6036750" cy="4840376"/>
          </a:xfrm>
          <a:custGeom>
            <a:avLst/>
            <a:gdLst/>
            <a:ahLst/>
            <a:cxnLst/>
            <a:rect l="l" t="t" r="r" b="b"/>
            <a:pathLst>
              <a:path w="6036750" h="4840376">
                <a:moveTo>
                  <a:pt x="0" y="0"/>
                </a:moveTo>
                <a:lnTo>
                  <a:pt x="6036751" y="0"/>
                </a:lnTo>
                <a:lnTo>
                  <a:pt x="6036751" y="4840377"/>
                </a:lnTo>
                <a:lnTo>
                  <a:pt x="0" y="48403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6" name="TextBox 16"/>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Freeform 5"/>
          <p:cNvSpPr/>
          <p:nvPr/>
        </p:nvSpPr>
        <p:spPr>
          <a:xfrm>
            <a:off x="10944208" y="5012756"/>
            <a:ext cx="1431418" cy="1899062"/>
          </a:xfrm>
          <a:custGeom>
            <a:avLst/>
            <a:gdLst/>
            <a:ahLst/>
            <a:cxnLst/>
            <a:rect l="l" t="t" r="r" b="b"/>
            <a:pathLst>
              <a:path w="1431418" h="1899062">
                <a:moveTo>
                  <a:pt x="0" y="0"/>
                </a:moveTo>
                <a:lnTo>
                  <a:pt x="1431418" y="0"/>
                </a:lnTo>
                <a:lnTo>
                  <a:pt x="1431418" y="1899062"/>
                </a:lnTo>
                <a:lnTo>
                  <a:pt x="0" y="18990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14814026" y="5012756"/>
            <a:ext cx="1679719" cy="1964583"/>
          </a:xfrm>
          <a:custGeom>
            <a:avLst/>
            <a:gdLst/>
            <a:ahLst/>
            <a:cxnLst/>
            <a:rect l="l" t="t" r="r" b="b"/>
            <a:pathLst>
              <a:path w="1679719" h="1964583">
                <a:moveTo>
                  <a:pt x="0" y="0"/>
                </a:moveTo>
                <a:lnTo>
                  <a:pt x="1679719" y="0"/>
                </a:lnTo>
                <a:lnTo>
                  <a:pt x="1679719" y="1964583"/>
                </a:lnTo>
                <a:lnTo>
                  <a:pt x="0" y="19645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6410780" y="4947534"/>
            <a:ext cx="2095028" cy="2095028"/>
          </a:xfrm>
          <a:custGeom>
            <a:avLst/>
            <a:gdLst/>
            <a:ahLst/>
            <a:cxnLst/>
            <a:rect l="l" t="t" r="r" b="b"/>
            <a:pathLst>
              <a:path w="2095028" h="2095028">
                <a:moveTo>
                  <a:pt x="0" y="0"/>
                </a:moveTo>
                <a:lnTo>
                  <a:pt x="2095028" y="0"/>
                </a:lnTo>
                <a:lnTo>
                  <a:pt x="2095028" y="2095028"/>
                </a:lnTo>
                <a:lnTo>
                  <a:pt x="0" y="209502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a:off x="1928600" y="5012756"/>
            <a:ext cx="2043780" cy="1964583"/>
          </a:xfrm>
          <a:custGeom>
            <a:avLst/>
            <a:gdLst/>
            <a:ahLst/>
            <a:cxnLst/>
            <a:rect l="l" t="t" r="r" b="b"/>
            <a:pathLst>
              <a:path w="2043780" h="1964583">
                <a:moveTo>
                  <a:pt x="0" y="0"/>
                </a:moveTo>
                <a:lnTo>
                  <a:pt x="2043780" y="0"/>
                </a:lnTo>
                <a:lnTo>
                  <a:pt x="2043780" y="1964583"/>
                </a:lnTo>
                <a:lnTo>
                  <a:pt x="0" y="196458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9" name="Group 9"/>
          <p:cNvGrpSpPr/>
          <p:nvPr/>
        </p:nvGrpSpPr>
        <p:grpSpPr>
          <a:xfrm>
            <a:off x="-3127839" y="9429370"/>
            <a:ext cx="22035035" cy="3394679"/>
            <a:chOff x="0" y="0"/>
            <a:chExt cx="29380046" cy="4526239"/>
          </a:xfrm>
        </p:grpSpPr>
        <p:grpSp>
          <p:nvGrpSpPr>
            <p:cNvPr id="10" name="Group 10"/>
            <p:cNvGrpSpPr/>
            <p:nvPr/>
          </p:nvGrpSpPr>
          <p:grpSpPr>
            <a:xfrm>
              <a:off x="0" y="954681"/>
              <a:ext cx="29380046" cy="3571558"/>
              <a:chOff x="0" y="0"/>
              <a:chExt cx="5803466" cy="705493"/>
            </a:xfrm>
          </p:grpSpPr>
          <p:sp>
            <p:nvSpPr>
              <p:cNvPr id="11" name="Freeform 11"/>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2" name="TextBox 12"/>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3" name="Freeform 13"/>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11"/>
              <a:stretch>
                <a:fillRect/>
              </a:stretch>
            </a:blipFill>
          </p:spPr>
        </p:sp>
      </p:grpSp>
      <p:sp>
        <p:nvSpPr>
          <p:cNvPr id="14" name="TextBox 14"/>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15" name="TextBox 15"/>
          <p:cNvSpPr txBox="1"/>
          <p:nvPr/>
        </p:nvSpPr>
        <p:spPr>
          <a:xfrm>
            <a:off x="1028700" y="1741591"/>
            <a:ext cx="7627731"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1.2. Mục tiêu đề tài</a:t>
            </a:r>
          </a:p>
        </p:txBody>
      </p:sp>
      <p:sp>
        <p:nvSpPr>
          <p:cNvPr id="16" name="TextBox 16"/>
          <p:cNvSpPr txBox="1"/>
          <p:nvPr/>
        </p:nvSpPr>
        <p:spPr>
          <a:xfrm>
            <a:off x="1028700" y="2672089"/>
            <a:ext cx="16230600" cy="685800"/>
          </a:xfrm>
          <a:prstGeom prst="rect">
            <a:avLst/>
          </a:prstGeom>
        </p:spPr>
        <p:txBody>
          <a:bodyPr lIns="0" tIns="0" rIns="0" bIns="0" rtlCol="0" anchor="t">
            <a:spAutoFit/>
          </a:bodyPr>
          <a:lstStyle/>
          <a:p>
            <a:pPr algn="just">
              <a:lnSpc>
                <a:spcPts val="6000"/>
              </a:lnSpc>
            </a:pPr>
            <a:r>
              <a:rPr lang="en-US" sz="3000" b="1">
                <a:solidFill>
                  <a:srgbClr val="0C1D4B"/>
                </a:solidFill>
                <a:latin typeface="Montserrat Semi-Bold"/>
                <a:ea typeface="Montserrat Semi-Bold"/>
                <a:cs typeface="Montserrat Semi-Bold"/>
                <a:sym typeface="Montserrat Semi-Bold"/>
              </a:rPr>
              <a:t>Mục tiêu xây dựng hệ thống Chatbot đáp ứng những yêu cầu sau:</a:t>
            </a:r>
          </a:p>
        </p:txBody>
      </p:sp>
      <p:sp>
        <p:nvSpPr>
          <p:cNvPr id="17" name="TextBox 17"/>
          <p:cNvSpPr txBox="1"/>
          <p:nvPr/>
        </p:nvSpPr>
        <p:spPr>
          <a:xfrm>
            <a:off x="1469863" y="7204557"/>
            <a:ext cx="3190664" cy="1156335"/>
          </a:xfrm>
          <a:prstGeom prst="rect">
            <a:avLst/>
          </a:prstGeom>
        </p:spPr>
        <p:txBody>
          <a:bodyPr lIns="0" tIns="0" rIns="0" bIns="0" rtlCol="0" anchor="t">
            <a:spAutoFit/>
          </a:bodyPr>
          <a:lstStyle/>
          <a:p>
            <a:pPr algn="ctr">
              <a:lnSpc>
                <a:spcPts val="4800"/>
              </a:lnSpc>
            </a:pPr>
            <a:r>
              <a:rPr lang="en-US" sz="2400" b="1">
                <a:solidFill>
                  <a:srgbClr val="0C1D4B"/>
                </a:solidFill>
                <a:latin typeface="Montserrat Bold"/>
                <a:ea typeface="Montserrat Bold"/>
                <a:cs typeface="Montserrat Bold"/>
                <a:sym typeface="Montserrat Bold"/>
              </a:rPr>
              <a:t>Tự động trả lời câu hỏi của người dùng</a:t>
            </a:r>
          </a:p>
        </p:txBody>
      </p:sp>
      <p:sp>
        <p:nvSpPr>
          <p:cNvPr id="18" name="TextBox 18"/>
          <p:cNvSpPr txBox="1"/>
          <p:nvPr/>
        </p:nvSpPr>
        <p:spPr>
          <a:xfrm>
            <a:off x="5965495" y="7204557"/>
            <a:ext cx="2881838" cy="1156335"/>
          </a:xfrm>
          <a:prstGeom prst="rect">
            <a:avLst/>
          </a:prstGeom>
        </p:spPr>
        <p:txBody>
          <a:bodyPr lIns="0" tIns="0" rIns="0" bIns="0" rtlCol="0" anchor="t">
            <a:spAutoFit/>
          </a:bodyPr>
          <a:lstStyle/>
          <a:p>
            <a:pPr algn="ctr">
              <a:lnSpc>
                <a:spcPts val="4800"/>
              </a:lnSpc>
            </a:pPr>
            <a:r>
              <a:rPr lang="en-US" sz="2400" b="1" dirty="0" err="1">
                <a:solidFill>
                  <a:srgbClr val="0C1D4B"/>
                </a:solidFill>
                <a:latin typeface="Montserrat Bold"/>
                <a:ea typeface="Montserrat Bold"/>
                <a:cs typeface="Montserrat Bold"/>
                <a:sym typeface="Montserrat Bold"/>
              </a:rPr>
              <a:t>Hiểu</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ngữ</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cảnh</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của</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người</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dùng</a:t>
            </a:r>
            <a:endParaRPr lang="en-US" sz="2400" b="1" dirty="0">
              <a:solidFill>
                <a:srgbClr val="0C1D4B"/>
              </a:solidFill>
              <a:latin typeface="Montserrat Bold"/>
              <a:ea typeface="Montserrat Bold"/>
              <a:cs typeface="Montserrat Bold"/>
              <a:sym typeface="Montserrat Bold"/>
            </a:endParaRPr>
          </a:p>
        </p:txBody>
      </p:sp>
      <p:sp>
        <p:nvSpPr>
          <p:cNvPr id="19" name="TextBox 19"/>
          <p:cNvSpPr txBox="1"/>
          <p:nvPr/>
        </p:nvSpPr>
        <p:spPr>
          <a:xfrm>
            <a:off x="9967260" y="7204557"/>
            <a:ext cx="3218622" cy="1156335"/>
          </a:xfrm>
          <a:prstGeom prst="rect">
            <a:avLst/>
          </a:prstGeom>
        </p:spPr>
        <p:txBody>
          <a:bodyPr lIns="0" tIns="0" rIns="0" bIns="0" rtlCol="0" anchor="t">
            <a:spAutoFit/>
          </a:bodyPr>
          <a:lstStyle/>
          <a:p>
            <a:pPr algn="ctr">
              <a:lnSpc>
                <a:spcPts val="4800"/>
              </a:lnSpc>
            </a:pPr>
            <a:r>
              <a:rPr lang="en-US" sz="2400" b="1" dirty="0" err="1">
                <a:solidFill>
                  <a:srgbClr val="0C1D4B"/>
                </a:solidFill>
                <a:latin typeface="Montserrat Bold"/>
                <a:ea typeface="Montserrat Bold"/>
                <a:cs typeface="Montserrat Bold"/>
                <a:sym typeface="Montserrat Bold"/>
              </a:rPr>
              <a:t>Truy</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vấn</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thông</a:t>
            </a:r>
            <a:r>
              <a:rPr lang="en-US" sz="2400" b="1" dirty="0">
                <a:solidFill>
                  <a:srgbClr val="0C1D4B"/>
                </a:solidFill>
                <a:latin typeface="Montserrat Bold"/>
                <a:ea typeface="Montserrat Bold"/>
                <a:cs typeface="Montserrat Bold"/>
                <a:sym typeface="Montserrat Bold"/>
              </a:rPr>
              <a:t> tin </a:t>
            </a:r>
            <a:r>
              <a:rPr lang="en-US" sz="2400" b="1" dirty="0" err="1">
                <a:solidFill>
                  <a:srgbClr val="0C1D4B"/>
                </a:solidFill>
                <a:latin typeface="Montserrat Bold"/>
                <a:ea typeface="Montserrat Bold"/>
                <a:cs typeface="Montserrat Bold"/>
                <a:sym typeface="Montserrat Bold"/>
              </a:rPr>
              <a:t>học</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tập</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điểm</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số</a:t>
            </a:r>
            <a:endParaRPr lang="en-US" sz="2400" b="1" dirty="0">
              <a:solidFill>
                <a:srgbClr val="0C1D4B"/>
              </a:solidFill>
              <a:latin typeface="Montserrat Bold"/>
              <a:ea typeface="Montserrat Bold"/>
              <a:cs typeface="Montserrat Bold"/>
              <a:sym typeface="Montserrat Bold"/>
            </a:endParaRPr>
          </a:p>
        </p:txBody>
      </p:sp>
      <p:sp>
        <p:nvSpPr>
          <p:cNvPr id="20" name="TextBox 20"/>
          <p:cNvSpPr txBox="1"/>
          <p:nvPr/>
        </p:nvSpPr>
        <p:spPr>
          <a:xfrm>
            <a:off x="14305808" y="7204557"/>
            <a:ext cx="2953492" cy="1156335"/>
          </a:xfrm>
          <a:prstGeom prst="rect">
            <a:avLst/>
          </a:prstGeom>
        </p:spPr>
        <p:txBody>
          <a:bodyPr lIns="0" tIns="0" rIns="0" bIns="0" rtlCol="0" anchor="t">
            <a:spAutoFit/>
          </a:bodyPr>
          <a:lstStyle/>
          <a:p>
            <a:pPr algn="ctr">
              <a:lnSpc>
                <a:spcPts val="4800"/>
              </a:lnSpc>
            </a:pPr>
            <a:r>
              <a:rPr lang="en-US" sz="2400" b="1" dirty="0" err="1">
                <a:solidFill>
                  <a:srgbClr val="0C1D4B"/>
                </a:solidFill>
                <a:latin typeface="Montserrat Bold"/>
                <a:ea typeface="Montserrat Bold"/>
                <a:cs typeface="Montserrat Bold"/>
                <a:sym typeface="Montserrat Bold"/>
              </a:rPr>
              <a:t>Truy</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vấn</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thông</a:t>
            </a:r>
            <a:r>
              <a:rPr lang="en-US" sz="2400" b="1" dirty="0">
                <a:solidFill>
                  <a:srgbClr val="0C1D4B"/>
                </a:solidFill>
                <a:latin typeface="Montserrat Bold"/>
                <a:ea typeface="Montserrat Bold"/>
                <a:cs typeface="Montserrat Bold"/>
                <a:sym typeface="Montserrat Bold"/>
              </a:rPr>
              <a:t> tin </a:t>
            </a:r>
            <a:r>
              <a:rPr lang="en-US" sz="2400" b="1" dirty="0" err="1">
                <a:solidFill>
                  <a:srgbClr val="0C1D4B"/>
                </a:solidFill>
                <a:latin typeface="Montserrat Bold"/>
                <a:ea typeface="Montserrat Bold"/>
                <a:cs typeface="Montserrat Bold"/>
                <a:sym typeface="Montserrat Bold"/>
              </a:rPr>
              <a:t>quy</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định</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học</a:t>
            </a:r>
            <a:r>
              <a:rPr lang="en-US" sz="2400" b="1" dirty="0">
                <a:solidFill>
                  <a:srgbClr val="0C1D4B"/>
                </a:solidFill>
                <a:latin typeface="Montserrat Bold"/>
                <a:ea typeface="Montserrat Bold"/>
                <a:cs typeface="Montserrat Bold"/>
                <a:sym typeface="Montserrat Bold"/>
              </a:rPr>
              <a:t> </a:t>
            </a:r>
            <a:r>
              <a:rPr lang="en-US" sz="2400" b="1" dirty="0" err="1">
                <a:solidFill>
                  <a:srgbClr val="0C1D4B"/>
                </a:solidFill>
                <a:latin typeface="Montserrat Bold"/>
                <a:ea typeface="Montserrat Bold"/>
                <a:cs typeface="Montserrat Bold"/>
                <a:sym typeface="Montserrat Bold"/>
              </a:rPr>
              <a:t>tập</a:t>
            </a:r>
            <a:endParaRPr lang="en-US" sz="2400" b="1" dirty="0">
              <a:solidFill>
                <a:srgbClr val="0C1D4B"/>
              </a:solidFill>
              <a:latin typeface="Montserrat Bold"/>
              <a:ea typeface="Montserrat Bold"/>
              <a:cs typeface="Montserrat Bold"/>
              <a:sym typeface="Montserrat Bold"/>
            </a:endParaRPr>
          </a:p>
        </p:txBody>
      </p:sp>
      <p:sp>
        <p:nvSpPr>
          <p:cNvPr id="21" name="Freeform 21"/>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11"/>
            <a:stretch>
              <a:fillRect/>
            </a:stretch>
          </a:blipFill>
        </p:spPr>
      </p:sp>
      <p:sp>
        <p:nvSpPr>
          <p:cNvPr id="22" name="TextBox 2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grpSp>
        <p:nvGrpSpPr>
          <p:cNvPr id="5" name="Group 5"/>
          <p:cNvGrpSpPr/>
          <p:nvPr/>
        </p:nvGrpSpPr>
        <p:grpSpPr>
          <a:xfrm>
            <a:off x="4934556" y="4425482"/>
            <a:ext cx="8418889" cy="1436035"/>
            <a:chOff x="0" y="0"/>
            <a:chExt cx="2217321" cy="378215"/>
          </a:xfrm>
        </p:grpSpPr>
        <p:sp>
          <p:nvSpPr>
            <p:cNvPr id="6" name="Freeform 6"/>
            <p:cNvSpPr/>
            <p:nvPr/>
          </p:nvSpPr>
          <p:spPr>
            <a:xfrm>
              <a:off x="0" y="0"/>
              <a:ext cx="2217320" cy="378215"/>
            </a:xfrm>
            <a:custGeom>
              <a:avLst/>
              <a:gdLst/>
              <a:ahLst/>
              <a:cxnLst/>
              <a:rect l="l" t="t" r="r" b="b"/>
              <a:pathLst>
                <a:path w="2217320" h="378215">
                  <a:moveTo>
                    <a:pt x="25749" y="0"/>
                  </a:moveTo>
                  <a:lnTo>
                    <a:pt x="2191572" y="0"/>
                  </a:lnTo>
                  <a:cubicBezTo>
                    <a:pt x="2198401" y="0"/>
                    <a:pt x="2204950" y="2713"/>
                    <a:pt x="2209779" y="7542"/>
                  </a:cubicBezTo>
                  <a:cubicBezTo>
                    <a:pt x="2214608" y="12370"/>
                    <a:pt x="2217320" y="18920"/>
                    <a:pt x="2217320" y="25749"/>
                  </a:cubicBezTo>
                  <a:lnTo>
                    <a:pt x="2217320" y="352466"/>
                  </a:lnTo>
                  <a:cubicBezTo>
                    <a:pt x="2217320" y="359295"/>
                    <a:pt x="2214608" y="365845"/>
                    <a:pt x="2209779" y="370673"/>
                  </a:cubicBezTo>
                  <a:cubicBezTo>
                    <a:pt x="2204950" y="375502"/>
                    <a:pt x="2198401" y="378215"/>
                    <a:pt x="2191572" y="378215"/>
                  </a:cubicBezTo>
                  <a:lnTo>
                    <a:pt x="25749" y="378215"/>
                  </a:lnTo>
                  <a:cubicBezTo>
                    <a:pt x="18920" y="378215"/>
                    <a:pt x="12370" y="375502"/>
                    <a:pt x="7542" y="370673"/>
                  </a:cubicBezTo>
                  <a:cubicBezTo>
                    <a:pt x="2713" y="365845"/>
                    <a:pt x="0" y="359295"/>
                    <a:pt x="0" y="352466"/>
                  </a:cubicBezTo>
                  <a:lnTo>
                    <a:pt x="0" y="25749"/>
                  </a:lnTo>
                  <a:cubicBezTo>
                    <a:pt x="0" y="18920"/>
                    <a:pt x="2713" y="12370"/>
                    <a:pt x="7542" y="7542"/>
                  </a:cubicBezTo>
                  <a:cubicBezTo>
                    <a:pt x="12370" y="2713"/>
                    <a:pt x="18920" y="0"/>
                    <a:pt x="25749" y="0"/>
                  </a:cubicBezTo>
                  <a:close/>
                </a:path>
              </a:pathLst>
            </a:custGeom>
            <a:solidFill>
              <a:srgbClr val="000000">
                <a:alpha val="0"/>
              </a:srgbClr>
            </a:solidFill>
            <a:ln w="38100" cap="rnd">
              <a:solidFill>
                <a:srgbClr val="0D1D4B"/>
              </a:solidFill>
              <a:prstDash val="solid"/>
              <a:round/>
            </a:ln>
          </p:spPr>
        </p:sp>
        <p:sp>
          <p:nvSpPr>
            <p:cNvPr id="7" name="TextBox 7"/>
            <p:cNvSpPr txBox="1"/>
            <p:nvPr/>
          </p:nvSpPr>
          <p:spPr>
            <a:xfrm>
              <a:off x="0" y="-47625"/>
              <a:ext cx="2217321" cy="425840"/>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8598061" y="3599413"/>
            <a:ext cx="1091879" cy="1091879"/>
            <a:chOff x="0" y="0"/>
            <a:chExt cx="1455838" cy="1455838"/>
          </a:xfrm>
        </p:grpSpPr>
        <p:grpSp>
          <p:nvGrpSpPr>
            <p:cNvPr id="9" name="Group 9"/>
            <p:cNvGrpSpPr/>
            <p:nvPr/>
          </p:nvGrpSpPr>
          <p:grpSpPr>
            <a:xfrm>
              <a:off x="0" y="0"/>
              <a:ext cx="1455838" cy="145583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1D4B"/>
              </a:solidFill>
              <a:ln w="38100" cap="sq">
                <a:solidFill>
                  <a:srgbClr val="0C1D4B"/>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940"/>
                  </a:lnSpc>
                </a:pPr>
                <a:endParaRPr/>
              </a:p>
            </p:txBody>
          </p:sp>
        </p:grpSp>
        <p:sp>
          <p:nvSpPr>
            <p:cNvPr id="12" name="TextBox 12"/>
            <p:cNvSpPr txBox="1"/>
            <p:nvPr/>
          </p:nvSpPr>
          <p:spPr>
            <a:xfrm>
              <a:off x="192932" y="227539"/>
              <a:ext cx="1069975" cy="924560"/>
            </a:xfrm>
            <a:prstGeom prst="rect">
              <a:avLst/>
            </a:prstGeom>
          </p:spPr>
          <p:txBody>
            <a:bodyPr lIns="0" tIns="0" rIns="0" bIns="0" rtlCol="0" anchor="t">
              <a:spAutoFit/>
            </a:bodyPr>
            <a:lstStyle/>
            <a:p>
              <a:pPr algn="ctr">
                <a:lnSpc>
                  <a:spcPts val="5880"/>
                </a:lnSpc>
              </a:pPr>
              <a:r>
                <a:rPr lang="en-US" sz="4200" b="1" spc="100">
                  <a:solidFill>
                    <a:srgbClr val="FFFFFF"/>
                  </a:solidFill>
                  <a:latin typeface="Montserrat Bold"/>
                  <a:ea typeface="Montserrat Bold"/>
                  <a:cs typeface="Montserrat Bold"/>
                  <a:sym typeface="Montserrat Bold"/>
                </a:rPr>
                <a:t>2</a:t>
              </a:r>
            </a:p>
          </p:txBody>
        </p:sp>
      </p:grpSp>
      <p:sp>
        <p:nvSpPr>
          <p:cNvPr id="13" name="TextBox 13"/>
          <p:cNvSpPr txBox="1"/>
          <p:nvPr/>
        </p:nvSpPr>
        <p:spPr>
          <a:xfrm>
            <a:off x="5330134" y="4876038"/>
            <a:ext cx="7627731" cy="630174"/>
          </a:xfrm>
          <a:prstGeom prst="rect">
            <a:avLst/>
          </a:prstGeom>
        </p:spPr>
        <p:txBody>
          <a:bodyPr lIns="0" tIns="0" rIns="0" bIns="0" rtlCol="0" anchor="t">
            <a:spAutoFit/>
          </a:bodyPr>
          <a:lstStyle/>
          <a:p>
            <a:pPr algn="ctr">
              <a:lnSpc>
                <a:spcPts val="4848"/>
              </a:lnSpc>
            </a:pPr>
            <a:r>
              <a:rPr lang="en-US" sz="4800" b="1">
                <a:solidFill>
                  <a:srgbClr val="0C1D4B"/>
                </a:solidFill>
                <a:latin typeface="Montserrat Heavy"/>
                <a:ea typeface="Montserrat Heavy"/>
                <a:cs typeface="Montserrat Heavy"/>
                <a:sym typeface="Montserrat Heavy"/>
              </a:rPr>
              <a:t>CƠ SỞ LÝ THUYẾT</a:t>
            </a:r>
          </a:p>
        </p:txBody>
      </p:sp>
      <p:sp>
        <p:nvSpPr>
          <p:cNvPr id="14" name="Freeform 14"/>
          <p:cNvSpPr/>
          <p:nvPr/>
        </p:nvSpPr>
        <p:spPr>
          <a:xfrm>
            <a:off x="15569234" y="8449152"/>
            <a:ext cx="1052409" cy="263102"/>
          </a:xfrm>
          <a:custGeom>
            <a:avLst/>
            <a:gdLst/>
            <a:ahLst/>
            <a:cxnLst/>
            <a:rect l="l" t="t" r="r" b="b"/>
            <a:pathLst>
              <a:path w="1052409" h="263102">
                <a:moveTo>
                  <a:pt x="0" y="0"/>
                </a:moveTo>
                <a:lnTo>
                  <a:pt x="1052409" y="0"/>
                </a:lnTo>
                <a:lnTo>
                  <a:pt x="1052409" y="263102"/>
                </a:lnTo>
                <a:lnTo>
                  <a:pt x="0" y="2631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5"/>
            <a:stretch>
              <a:fillRect/>
            </a:stretch>
          </a:blipFill>
        </p:spPr>
      </p:sp>
      <p:grpSp>
        <p:nvGrpSpPr>
          <p:cNvPr id="16" name="Group 16"/>
          <p:cNvGrpSpPr/>
          <p:nvPr/>
        </p:nvGrpSpPr>
        <p:grpSpPr>
          <a:xfrm>
            <a:off x="-3127839" y="9429370"/>
            <a:ext cx="22035035" cy="3394679"/>
            <a:chOff x="0" y="0"/>
            <a:chExt cx="29380046" cy="4526239"/>
          </a:xfrm>
        </p:grpSpPr>
        <p:grpSp>
          <p:nvGrpSpPr>
            <p:cNvPr id="17" name="Group 17"/>
            <p:cNvGrpSpPr/>
            <p:nvPr/>
          </p:nvGrpSpPr>
          <p:grpSpPr>
            <a:xfrm>
              <a:off x="0" y="954681"/>
              <a:ext cx="29380046" cy="3571558"/>
              <a:chOff x="0" y="0"/>
              <a:chExt cx="5803466" cy="705493"/>
            </a:xfrm>
          </p:grpSpPr>
          <p:sp>
            <p:nvSpPr>
              <p:cNvPr id="18" name="Freeform 18"/>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9" name="TextBox 19"/>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20" name="Freeform 20"/>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5"/>
              <a:stretch>
                <a:fillRect/>
              </a:stretch>
            </a:blipFill>
          </p:spPr>
        </p:sp>
      </p:grpSp>
      <p:sp>
        <p:nvSpPr>
          <p:cNvPr id="21" name="TextBox 21"/>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Freeform 5"/>
          <p:cNvSpPr/>
          <p:nvPr/>
        </p:nvSpPr>
        <p:spPr>
          <a:xfrm>
            <a:off x="11683557" y="1927512"/>
            <a:ext cx="5575743" cy="5568774"/>
          </a:xfrm>
          <a:custGeom>
            <a:avLst/>
            <a:gdLst/>
            <a:ahLst/>
            <a:cxnLst/>
            <a:rect l="l" t="t" r="r" b="b"/>
            <a:pathLst>
              <a:path w="5575743" h="5568774">
                <a:moveTo>
                  <a:pt x="0" y="0"/>
                </a:moveTo>
                <a:lnTo>
                  <a:pt x="5575743" y="0"/>
                </a:lnTo>
                <a:lnTo>
                  <a:pt x="5575743" y="5568774"/>
                </a:lnTo>
                <a:lnTo>
                  <a:pt x="0" y="55687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17636790" y="8438016"/>
            <a:ext cx="972800" cy="1134934"/>
          </a:xfrm>
          <a:custGeom>
            <a:avLst/>
            <a:gdLst/>
            <a:ahLst/>
            <a:cxnLst/>
            <a:rect l="l" t="t" r="r" b="b"/>
            <a:pathLst>
              <a:path w="972800" h="1134934">
                <a:moveTo>
                  <a:pt x="0" y="0"/>
                </a:moveTo>
                <a:lnTo>
                  <a:pt x="972800" y="0"/>
                </a:lnTo>
                <a:lnTo>
                  <a:pt x="972800" y="1134934"/>
                </a:lnTo>
                <a:lnTo>
                  <a:pt x="0" y="1134934"/>
                </a:lnTo>
                <a:lnTo>
                  <a:pt x="0" y="0"/>
                </a:lnTo>
                <a:close/>
              </a:path>
            </a:pathLst>
          </a:custGeom>
          <a:blipFill>
            <a:blip r:embed="rId5"/>
            <a:stretch>
              <a:fillRect/>
            </a:stretch>
          </a:blipFill>
        </p:spPr>
      </p:sp>
      <p:sp>
        <p:nvSpPr>
          <p:cNvPr id="7" name="TextBox 7"/>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8" name="TextBox 8"/>
          <p:cNvSpPr txBox="1"/>
          <p:nvPr/>
        </p:nvSpPr>
        <p:spPr>
          <a:xfrm>
            <a:off x="1028700" y="1703040"/>
            <a:ext cx="7627731"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2.1. Chatbot</a:t>
            </a:r>
          </a:p>
        </p:txBody>
      </p:sp>
      <p:sp>
        <p:nvSpPr>
          <p:cNvPr id="9" name="TextBox 9"/>
          <p:cNvSpPr txBox="1"/>
          <p:nvPr/>
        </p:nvSpPr>
        <p:spPr>
          <a:xfrm>
            <a:off x="1028700" y="2702499"/>
            <a:ext cx="8572227" cy="3619500"/>
          </a:xfrm>
          <a:prstGeom prst="rect">
            <a:avLst/>
          </a:prstGeom>
        </p:spPr>
        <p:txBody>
          <a:bodyPr lIns="0" tIns="0" rIns="0" bIns="0" rtlCol="0" anchor="t">
            <a:spAutoFit/>
          </a:bodyPr>
          <a:lstStyle/>
          <a:p>
            <a:pPr marL="647700" lvl="1" indent="-323850" algn="just">
              <a:lnSpc>
                <a:spcPts val="4800"/>
              </a:lnSpc>
              <a:buFont typeface="Arial"/>
              <a:buChar char="•"/>
            </a:pPr>
            <a:r>
              <a:rPr lang="en-US" sz="3000" dirty="0">
                <a:solidFill>
                  <a:srgbClr val="0C1D4B"/>
                </a:solidFill>
                <a:latin typeface="Montserrat"/>
                <a:ea typeface="Montserrat"/>
                <a:cs typeface="Montserrat"/>
                <a:sym typeface="Montserrat"/>
              </a:rPr>
              <a:t>Chatbot </a:t>
            </a:r>
            <a:r>
              <a:rPr lang="en-US" sz="3000" dirty="0" err="1">
                <a:solidFill>
                  <a:srgbClr val="0C1D4B"/>
                </a:solidFill>
                <a:latin typeface="Montserrat"/>
                <a:ea typeface="Montserrat"/>
                <a:cs typeface="Montserrat"/>
                <a:sym typeface="Montserrat"/>
              </a:rPr>
              <a:t>là</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hệ</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thống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phần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mềm</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được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thiết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kế</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để</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mô</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phỏng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cuộc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hội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thoại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với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người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dùng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thông</a:t>
            </a:r>
            <a:r>
              <a:rPr lang="en-US" sz="3000" dirty="0">
                <a:solidFill>
                  <a:srgbClr val="0C1D4B"/>
                </a:solidFill>
                <a:latin typeface="Montserrat"/>
                <a:ea typeface="Montserrat"/>
                <a:cs typeface="Montserrat"/>
                <a:sym typeface="Montserrat"/>
              </a:rPr>
              <a:t> qua </a:t>
            </a:r>
            <a:r>
              <a:rPr lang="en-US" sz="3000" dirty="0" err="1">
                <a:solidFill>
                  <a:srgbClr val="0C1D4B"/>
                </a:solidFill>
                <a:latin typeface="Montserrat"/>
                <a:ea typeface="Montserrat"/>
                <a:cs typeface="Montserrat"/>
                <a:sym typeface="Montserrat"/>
              </a:rPr>
              <a:t>giao</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diện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văn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bản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hoặc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giọng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nói</a:t>
            </a:r>
            <a:r>
              <a:rPr lang="en-US" sz="3000" dirty="0">
                <a:solidFill>
                  <a:srgbClr val="0C1D4B"/>
                </a:solidFill>
                <a:latin typeface="Montserrat"/>
                <a:ea typeface="Montserrat"/>
                <a:cs typeface="Montserrat"/>
                <a:sym typeface="Montserrat"/>
              </a:rPr>
              <a:t>.</a:t>
            </a:r>
          </a:p>
          <a:p>
            <a:pPr marL="647700" lvl="1" indent="-323850" algn="just">
              <a:lnSpc>
                <a:spcPts val="4800"/>
              </a:lnSpc>
              <a:buFont typeface="Arial"/>
              <a:buChar char="•"/>
            </a:pPr>
            <a:r>
              <a:rPr lang="en-US" sz="3000" dirty="0">
                <a:solidFill>
                  <a:srgbClr val="0C1D4B"/>
                </a:solidFill>
                <a:latin typeface="Montserrat"/>
                <a:ea typeface="Montserrat"/>
                <a:cs typeface="Montserrat"/>
                <a:sym typeface="Montserrat"/>
              </a:rPr>
              <a:t>Chatbot </a:t>
            </a:r>
            <a:r>
              <a:rPr lang="en-US" sz="3000" dirty="0" err="1">
                <a:solidFill>
                  <a:srgbClr val="0C1D4B"/>
                </a:solidFill>
                <a:latin typeface="Montserrat"/>
                <a:ea typeface="Montserrat"/>
                <a:cs typeface="Montserrat"/>
                <a:sym typeface="Montserrat"/>
              </a:rPr>
              <a:t>có</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khả</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năng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tự</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động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trả</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lời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câu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hỏi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của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người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dùng</a:t>
            </a:r>
            <a:endParaRPr lang="en-US" sz="3000" dirty="0">
              <a:solidFill>
                <a:srgbClr val="0C1D4B"/>
              </a:solidFill>
              <a:latin typeface="Montserrat"/>
              <a:ea typeface="Montserrat"/>
              <a:cs typeface="Montserrat"/>
              <a:sym typeface="Montserrat"/>
            </a:endParaRPr>
          </a:p>
        </p:txBody>
      </p:sp>
      <p:sp>
        <p:nvSpPr>
          <p:cNvPr id="10" name="Freeform 10"/>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6"/>
            <a:stretch>
              <a:fillRect/>
            </a:stretch>
          </a:blipFill>
        </p:spPr>
      </p:sp>
      <p:grpSp>
        <p:nvGrpSpPr>
          <p:cNvPr id="11" name="Group 11"/>
          <p:cNvGrpSpPr/>
          <p:nvPr/>
        </p:nvGrpSpPr>
        <p:grpSpPr>
          <a:xfrm>
            <a:off x="-3127839" y="9429370"/>
            <a:ext cx="22035035" cy="3394679"/>
            <a:chOff x="0" y="0"/>
            <a:chExt cx="29380046" cy="4526239"/>
          </a:xfrm>
        </p:grpSpPr>
        <p:grpSp>
          <p:nvGrpSpPr>
            <p:cNvPr id="12" name="Group 12"/>
            <p:cNvGrpSpPr/>
            <p:nvPr/>
          </p:nvGrpSpPr>
          <p:grpSpPr>
            <a:xfrm>
              <a:off x="0" y="954681"/>
              <a:ext cx="29380046" cy="3571558"/>
              <a:chOff x="0" y="0"/>
              <a:chExt cx="5803466" cy="705493"/>
            </a:xfrm>
          </p:grpSpPr>
          <p:sp>
            <p:nvSpPr>
              <p:cNvPr id="13" name="Freeform 13"/>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4" name="TextBox 14"/>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5" name="Freeform 15"/>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6"/>
              <a:stretch>
                <a:fillRect/>
              </a:stretch>
            </a:blipFill>
          </p:spPr>
        </p:sp>
      </p:grpSp>
      <p:sp>
        <p:nvSpPr>
          <p:cNvPr id="16" name="TextBox 16"/>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27839" y="9429370"/>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p:cNvSpPr txBox="1"/>
          <p:nvPr/>
        </p:nvSpPr>
        <p:spPr>
          <a:xfrm>
            <a:off x="1028700" y="1700263"/>
            <a:ext cx="12701206"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2.2. Một số phương pháp xây dựng chatbot</a:t>
            </a:r>
          </a:p>
        </p:txBody>
      </p:sp>
      <p:sp>
        <p:nvSpPr>
          <p:cNvPr id="13" name="TextBox 13"/>
          <p:cNvSpPr txBox="1"/>
          <p:nvPr/>
        </p:nvSpPr>
        <p:spPr>
          <a:xfrm>
            <a:off x="1028700" y="2464952"/>
            <a:ext cx="10081819" cy="685800"/>
          </a:xfrm>
          <a:prstGeom prst="rect">
            <a:avLst/>
          </a:prstGeom>
        </p:spPr>
        <p:txBody>
          <a:bodyPr lIns="0" tIns="0" rIns="0" bIns="0" rtlCol="0" anchor="t">
            <a:spAutoFit/>
          </a:bodyPr>
          <a:lstStyle/>
          <a:p>
            <a:pPr algn="just">
              <a:lnSpc>
                <a:spcPts val="6000"/>
              </a:lnSpc>
            </a:pPr>
            <a:r>
              <a:rPr lang="en-US" sz="3000" b="1" dirty="0">
                <a:solidFill>
                  <a:srgbClr val="0C1D4B"/>
                </a:solidFill>
                <a:latin typeface="Montserrat Bold"/>
                <a:ea typeface="Montserrat Bold"/>
                <a:cs typeface="Montserrat Bold"/>
                <a:sym typeface="Montserrat Bold"/>
              </a:rPr>
              <a:t>Chatbot </a:t>
            </a:r>
            <a:r>
              <a:rPr lang="en-US" sz="3000" b="1" dirty="0" err="1">
                <a:solidFill>
                  <a:srgbClr val="0C1D4B"/>
                </a:solidFill>
                <a:latin typeface="Montserrat Bold"/>
                <a:ea typeface="Montserrat Bold"/>
                <a:cs typeface="Montserrat Bold"/>
                <a:sym typeface="Montserrat Bold"/>
              </a:rPr>
              <a:t>dựa</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trên</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tập</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luật</a:t>
            </a:r>
            <a:endParaRPr lang="en-US" sz="3000" b="1" dirty="0">
              <a:solidFill>
                <a:srgbClr val="0C1D4B"/>
              </a:solidFill>
              <a:latin typeface="Montserrat Bold"/>
              <a:ea typeface="Montserrat Bold"/>
              <a:cs typeface="Montserrat Bold"/>
              <a:sym typeface="Montserrat Bold"/>
            </a:endParaRPr>
          </a:p>
        </p:txBody>
      </p:sp>
      <p:sp>
        <p:nvSpPr>
          <p:cNvPr id="14" name="TextBox 14"/>
          <p:cNvSpPr txBox="1"/>
          <p:nvPr/>
        </p:nvSpPr>
        <p:spPr>
          <a:xfrm>
            <a:off x="1028700" y="3232215"/>
            <a:ext cx="9201208" cy="3009900"/>
          </a:xfrm>
          <a:prstGeom prst="rect">
            <a:avLst/>
          </a:prstGeom>
        </p:spPr>
        <p:txBody>
          <a:bodyPr lIns="0" tIns="0" rIns="0" bIns="0" rtlCol="0" anchor="t">
            <a:spAutoFit/>
          </a:bodyPr>
          <a:lstStyle/>
          <a:p>
            <a:pPr marL="647700" lvl="1" indent="-323850" algn="just">
              <a:lnSpc>
                <a:spcPts val="4800"/>
              </a:lnSpc>
              <a:buFont typeface="Arial"/>
              <a:buChar char="•"/>
            </a:pPr>
            <a:r>
              <a:rPr lang="en-US" sz="3000" dirty="0">
                <a:solidFill>
                  <a:srgbClr val="0C1D4B"/>
                </a:solidFill>
                <a:latin typeface="Montserrat"/>
                <a:ea typeface="Montserrat"/>
                <a:cs typeface="Montserrat"/>
                <a:sym typeface="Montserrat"/>
              </a:rPr>
              <a:t>Chatbot </a:t>
            </a:r>
            <a:r>
              <a:rPr lang="en-US" sz="3000" dirty="0" err="1">
                <a:solidFill>
                  <a:srgbClr val="0C1D4B"/>
                </a:solidFill>
                <a:latin typeface="Montserrat"/>
                <a:ea typeface="Montserrat"/>
                <a:cs typeface="Montserrat"/>
                <a:sym typeface="Montserrat"/>
              </a:rPr>
              <a:t>nhận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đầu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vào</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kiểm</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kịch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bản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tập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luật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được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chuẩn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bị</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sẵn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và</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trả</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lời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tương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ứng</a:t>
            </a:r>
            <a:endParaRPr lang="en-US" sz="3000" dirty="0">
              <a:solidFill>
                <a:srgbClr val="0C1D4B"/>
              </a:solidFill>
              <a:latin typeface="Montserrat"/>
              <a:ea typeface="Montserrat"/>
              <a:cs typeface="Montserrat"/>
              <a:sym typeface="Montserrat"/>
            </a:endParaRPr>
          </a:p>
          <a:p>
            <a:pPr marL="647700" lvl="1" indent="-323850" algn="just">
              <a:lnSpc>
                <a:spcPts val="4800"/>
              </a:lnSpc>
              <a:buFont typeface="Arial"/>
              <a:buChar char="•"/>
            </a:pPr>
            <a:r>
              <a:rPr lang="en-US" sz="3000" dirty="0" err="1">
                <a:solidFill>
                  <a:srgbClr val="0C1D4B"/>
                </a:solidFill>
                <a:latin typeface="Montserrat"/>
                <a:ea typeface="Montserrat"/>
                <a:cs typeface="Montserrat"/>
                <a:sym typeface="Montserrat"/>
              </a:rPr>
              <a:t>Thiếu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linh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hoạt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phục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thuộc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vào</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kịch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bản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được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chuẩn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bị</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sẵn</a:t>
            </a:r>
            <a:r>
              <a:rPr lang="en-US" sz="3000" dirty="0">
                <a:solidFill>
                  <a:srgbClr val="0C1D4B"/>
                </a:solidFill>
                <a:latin typeface="Montserrat"/>
                <a:ea typeface="Montserrat"/>
                <a:cs typeface="Montserrat"/>
                <a:sym typeface="Montserrat"/>
              </a:rPr>
              <a:t>.</a:t>
            </a:r>
          </a:p>
        </p:txBody>
      </p:sp>
      <p:grpSp>
        <p:nvGrpSpPr>
          <p:cNvPr id="15" name="Group 15"/>
          <p:cNvGrpSpPr/>
          <p:nvPr/>
        </p:nvGrpSpPr>
        <p:grpSpPr>
          <a:xfrm>
            <a:off x="11388829" y="2693552"/>
            <a:ext cx="5870471" cy="5510582"/>
            <a:chOff x="0" y="0"/>
            <a:chExt cx="7827295" cy="7347442"/>
          </a:xfrm>
        </p:grpSpPr>
        <p:sp>
          <p:nvSpPr>
            <p:cNvPr id="16" name="Freeform 16"/>
            <p:cNvSpPr/>
            <p:nvPr/>
          </p:nvSpPr>
          <p:spPr>
            <a:xfrm>
              <a:off x="4754122" y="2639313"/>
              <a:ext cx="2762171" cy="2409994"/>
            </a:xfrm>
            <a:custGeom>
              <a:avLst/>
              <a:gdLst/>
              <a:ahLst/>
              <a:cxnLst/>
              <a:rect l="l" t="t" r="r" b="b"/>
              <a:pathLst>
                <a:path w="2762171" h="2409994">
                  <a:moveTo>
                    <a:pt x="0" y="0"/>
                  </a:moveTo>
                  <a:lnTo>
                    <a:pt x="2762171" y="0"/>
                  </a:lnTo>
                  <a:lnTo>
                    <a:pt x="2762171" y="2409994"/>
                  </a:lnTo>
                  <a:lnTo>
                    <a:pt x="0" y="24099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7" name="Group 17"/>
            <p:cNvGrpSpPr/>
            <p:nvPr/>
          </p:nvGrpSpPr>
          <p:grpSpPr>
            <a:xfrm>
              <a:off x="0" y="2852509"/>
              <a:ext cx="4094042" cy="1983602"/>
              <a:chOff x="0" y="0"/>
              <a:chExt cx="1026043" cy="497128"/>
            </a:xfrm>
          </p:grpSpPr>
          <p:sp>
            <p:nvSpPr>
              <p:cNvPr id="18" name="Freeform 18"/>
              <p:cNvSpPr/>
              <p:nvPr/>
            </p:nvSpPr>
            <p:spPr>
              <a:xfrm>
                <a:off x="0" y="0"/>
                <a:ext cx="1026043" cy="497128"/>
              </a:xfrm>
              <a:custGeom>
                <a:avLst/>
                <a:gdLst/>
                <a:ahLst/>
                <a:cxnLst/>
                <a:rect l="l" t="t" r="r" b="b"/>
                <a:pathLst>
                  <a:path w="1026043" h="497128">
                    <a:moveTo>
                      <a:pt x="55644" y="0"/>
                    </a:moveTo>
                    <a:lnTo>
                      <a:pt x="970400" y="0"/>
                    </a:lnTo>
                    <a:cubicBezTo>
                      <a:pt x="1001131" y="0"/>
                      <a:pt x="1026043" y="24912"/>
                      <a:pt x="1026043" y="55644"/>
                    </a:cubicBezTo>
                    <a:lnTo>
                      <a:pt x="1026043" y="441484"/>
                    </a:lnTo>
                    <a:cubicBezTo>
                      <a:pt x="1026043" y="472215"/>
                      <a:pt x="1001131" y="497128"/>
                      <a:pt x="970400" y="497128"/>
                    </a:cubicBezTo>
                    <a:lnTo>
                      <a:pt x="55644" y="497128"/>
                    </a:lnTo>
                    <a:cubicBezTo>
                      <a:pt x="40886" y="497128"/>
                      <a:pt x="26733" y="491265"/>
                      <a:pt x="16298" y="480830"/>
                    </a:cubicBezTo>
                    <a:cubicBezTo>
                      <a:pt x="5862" y="470395"/>
                      <a:pt x="0" y="456242"/>
                      <a:pt x="0" y="441484"/>
                    </a:cubicBezTo>
                    <a:lnTo>
                      <a:pt x="0" y="55644"/>
                    </a:lnTo>
                    <a:cubicBezTo>
                      <a:pt x="0" y="24912"/>
                      <a:pt x="24912" y="0"/>
                      <a:pt x="55644" y="0"/>
                    </a:cubicBezTo>
                    <a:close/>
                  </a:path>
                </a:pathLst>
              </a:custGeom>
              <a:solidFill>
                <a:srgbClr val="000000">
                  <a:alpha val="0"/>
                </a:srgbClr>
              </a:solidFill>
              <a:ln w="38100" cap="rnd">
                <a:solidFill>
                  <a:srgbClr val="0D1D4B"/>
                </a:solidFill>
                <a:prstDash val="solid"/>
                <a:round/>
              </a:ln>
            </p:spPr>
          </p:sp>
          <p:sp>
            <p:nvSpPr>
              <p:cNvPr id="19" name="TextBox 19"/>
              <p:cNvSpPr txBox="1"/>
              <p:nvPr/>
            </p:nvSpPr>
            <p:spPr>
              <a:xfrm>
                <a:off x="0" y="-47625"/>
                <a:ext cx="1026043" cy="544753"/>
              </a:xfrm>
              <a:prstGeom prst="rect">
                <a:avLst/>
              </a:prstGeom>
            </p:spPr>
            <p:txBody>
              <a:bodyPr lIns="50800" tIns="50800" rIns="50800" bIns="50800" rtlCol="0" anchor="ctr"/>
              <a:lstStyle/>
              <a:p>
                <a:pPr algn="ctr">
                  <a:lnSpc>
                    <a:spcPts val="2940"/>
                  </a:lnSpc>
                </a:pPr>
                <a:endParaRPr/>
              </a:p>
            </p:txBody>
          </p:sp>
        </p:grpSp>
        <p:sp>
          <p:nvSpPr>
            <p:cNvPr id="20" name="TextBox 20"/>
            <p:cNvSpPr txBox="1"/>
            <p:nvPr/>
          </p:nvSpPr>
          <p:spPr>
            <a:xfrm>
              <a:off x="324800" y="2865270"/>
              <a:ext cx="3308647" cy="1791332"/>
            </a:xfrm>
            <a:prstGeom prst="rect">
              <a:avLst/>
            </a:prstGeom>
          </p:spPr>
          <p:txBody>
            <a:bodyPr lIns="0" tIns="0" rIns="0" bIns="0" rtlCol="0" anchor="t">
              <a:spAutoFit/>
            </a:bodyPr>
            <a:lstStyle/>
            <a:p>
              <a:pPr marL="561544" lvl="1" indent="-280772" algn="ctr">
                <a:lnSpc>
                  <a:spcPts val="3641"/>
                </a:lnSpc>
                <a:buFont typeface="Arial"/>
                <a:buChar char="•"/>
              </a:pPr>
              <a:r>
                <a:rPr lang="en-US" sz="2600" b="1" spc="62" dirty="0" err="1">
                  <a:solidFill>
                    <a:srgbClr val="0D1D4B"/>
                  </a:solidFill>
                  <a:latin typeface="Montserrat Bold"/>
                  <a:ea typeface="Montserrat Bold"/>
                  <a:cs typeface="Montserrat Bold"/>
                  <a:sym typeface="Montserrat Bold"/>
                </a:rPr>
                <a:t>Kịch</a:t>
              </a:r>
              <a:r>
                <a:rPr lang="en-US" sz="2600" b="1" spc="62" dirty="0">
                  <a:solidFill>
                    <a:srgbClr val="0D1D4B"/>
                  </a:solidFill>
                  <a:latin typeface="Montserrat Bold"/>
                  <a:ea typeface="Montserrat Bold"/>
                  <a:cs typeface="Montserrat Bold"/>
                  <a:sym typeface="Montserrat Bold"/>
                </a:rPr>
                <a:t> </a:t>
              </a:r>
              <a:r>
                <a:rPr lang="en-US" sz="2600" b="1" spc="62" dirty="0" err="1">
                  <a:solidFill>
                    <a:srgbClr val="0D1D4B"/>
                  </a:solidFill>
                  <a:latin typeface="Montserrat Bold"/>
                  <a:ea typeface="Montserrat Bold"/>
                  <a:cs typeface="Montserrat Bold"/>
                  <a:sym typeface="Montserrat Bold"/>
                </a:rPr>
                <a:t>bản</a:t>
              </a:r>
              <a:r>
                <a:rPr lang="en-US" sz="2600" b="1" spc="62" dirty="0">
                  <a:solidFill>
                    <a:srgbClr val="0D1D4B"/>
                  </a:solidFill>
                  <a:latin typeface="Montserrat Bold"/>
                  <a:ea typeface="Montserrat Bold"/>
                  <a:cs typeface="Montserrat Bold"/>
                  <a:sym typeface="Montserrat Bold"/>
                </a:rPr>
                <a:t> 1</a:t>
              </a:r>
            </a:p>
            <a:p>
              <a:pPr marL="561544" lvl="1" indent="-280772" algn="ctr">
                <a:lnSpc>
                  <a:spcPts val="3641"/>
                </a:lnSpc>
                <a:buFont typeface="Arial"/>
                <a:buChar char="•"/>
              </a:pPr>
              <a:r>
                <a:rPr lang="en-US" sz="2600" b="1" spc="62" dirty="0" err="1">
                  <a:solidFill>
                    <a:srgbClr val="0D1D4B"/>
                  </a:solidFill>
                  <a:latin typeface="Montserrat Bold"/>
                  <a:ea typeface="Montserrat Bold"/>
                  <a:cs typeface="Montserrat Bold"/>
                  <a:sym typeface="Montserrat Bold"/>
                </a:rPr>
                <a:t>Kịch</a:t>
              </a:r>
              <a:r>
                <a:rPr lang="en-US" sz="2600" b="1" spc="62" dirty="0">
                  <a:solidFill>
                    <a:srgbClr val="0D1D4B"/>
                  </a:solidFill>
                  <a:latin typeface="Montserrat Bold"/>
                  <a:ea typeface="Montserrat Bold"/>
                  <a:cs typeface="Montserrat Bold"/>
                  <a:sym typeface="Montserrat Bold"/>
                </a:rPr>
                <a:t> </a:t>
              </a:r>
              <a:r>
                <a:rPr lang="en-US" sz="2600" b="1" spc="62" dirty="0" err="1">
                  <a:solidFill>
                    <a:srgbClr val="0D1D4B"/>
                  </a:solidFill>
                  <a:latin typeface="Montserrat Bold"/>
                  <a:ea typeface="Montserrat Bold"/>
                  <a:cs typeface="Montserrat Bold"/>
                  <a:sym typeface="Montserrat Bold"/>
                </a:rPr>
                <a:t>bản</a:t>
              </a:r>
              <a:r>
                <a:rPr lang="en-US" sz="2600" b="1" spc="62" dirty="0">
                  <a:solidFill>
                    <a:srgbClr val="0D1D4B"/>
                  </a:solidFill>
                  <a:latin typeface="Montserrat Bold"/>
                  <a:ea typeface="Montserrat Bold"/>
                  <a:cs typeface="Montserrat Bold"/>
                  <a:sym typeface="Montserrat Bold"/>
                </a:rPr>
                <a:t> 2</a:t>
              </a:r>
            </a:p>
            <a:p>
              <a:pPr algn="ctr">
                <a:lnSpc>
                  <a:spcPts val="3641"/>
                </a:lnSpc>
              </a:pPr>
              <a:r>
                <a:rPr lang="en-US" sz="2600" b="1" spc="62" dirty="0">
                  <a:solidFill>
                    <a:srgbClr val="0D1D4B"/>
                  </a:solidFill>
                  <a:latin typeface="Montserrat Bold"/>
                  <a:ea typeface="Montserrat Bold"/>
                  <a:cs typeface="Montserrat Bold"/>
                  <a:sym typeface="Montserrat Bold"/>
                </a:rPr>
                <a:t>...</a:t>
              </a:r>
            </a:p>
          </p:txBody>
        </p:sp>
        <p:sp>
          <p:nvSpPr>
            <p:cNvPr id="21" name="AutoShape 21"/>
            <p:cNvSpPr/>
            <p:nvPr/>
          </p:nvSpPr>
          <p:spPr>
            <a:xfrm flipH="1" flipV="1">
              <a:off x="4094042" y="3844310"/>
              <a:ext cx="660080" cy="0"/>
            </a:xfrm>
            <a:prstGeom prst="line">
              <a:avLst/>
            </a:prstGeom>
            <a:ln w="50049" cap="flat">
              <a:solidFill>
                <a:srgbClr val="0D1D4B"/>
              </a:solidFill>
              <a:prstDash val="solid"/>
              <a:headEnd type="arrow" w="med" len="sm"/>
              <a:tailEnd type="none" w="sm" len="sm"/>
            </a:ln>
          </p:spPr>
        </p:sp>
        <p:grpSp>
          <p:nvGrpSpPr>
            <p:cNvPr id="22" name="Group 22"/>
            <p:cNvGrpSpPr/>
            <p:nvPr/>
          </p:nvGrpSpPr>
          <p:grpSpPr>
            <a:xfrm>
              <a:off x="4542519" y="0"/>
              <a:ext cx="3284776" cy="1070584"/>
              <a:chOff x="0" y="0"/>
              <a:chExt cx="823226" cy="268308"/>
            </a:xfrm>
          </p:grpSpPr>
          <p:sp>
            <p:nvSpPr>
              <p:cNvPr id="23" name="Freeform 23"/>
              <p:cNvSpPr/>
              <p:nvPr/>
            </p:nvSpPr>
            <p:spPr>
              <a:xfrm>
                <a:off x="0" y="0"/>
                <a:ext cx="823226" cy="268308"/>
              </a:xfrm>
              <a:custGeom>
                <a:avLst/>
                <a:gdLst/>
                <a:ahLst/>
                <a:cxnLst/>
                <a:rect l="l" t="t" r="r" b="b"/>
                <a:pathLst>
                  <a:path w="823226" h="268308">
                    <a:moveTo>
                      <a:pt x="69352" y="0"/>
                    </a:moveTo>
                    <a:lnTo>
                      <a:pt x="753874" y="0"/>
                    </a:lnTo>
                    <a:cubicBezTo>
                      <a:pt x="772267" y="0"/>
                      <a:pt x="789907" y="7307"/>
                      <a:pt x="802913" y="20313"/>
                    </a:cubicBezTo>
                    <a:cubicBezTo>
                      <a:pt x="815919" y="33319"/>
                      <a:pt x="823226" y="50959"/>
                      <a:pt x="823226" y="69352"/>
                    </a:cubicBezTo>
                    <a:lnTo>
                      <a:pt x="823226" y="198956"/>
                    </a:lnTo>
                    <a:cubicBezTo>
                      <a:pt x="823226" y="237258"/>
                      <a:pt x="792176" y="268308"/>
                      <a:pt x="753874" y="268308"/>
                    </a:cubicBezTo>
                    <a:lnTo>
                      <a:pt x="69352" y="268308"/>
                    </a:lnTo>
                    <a:cubicBezTo>
                      <a:pt x="50959" y="268308"/>
                      <a:pt x="33319" y="261002"/>
                      <a:pt x="20313" y="247996"/>
                    </a:cubicBezTo>
                    <a:cubicBezTo>
                      <a:pt x="7307" y="234990"/>
                      <a:pt x="0" y="217349"/>
                      <a:pt x="0" y="198956"/>
                    </a:cubicBezTo>
                    <a:lnTo>
                      <a:pt x="0" y="69352"/>
                    </a:lnTo>
                    <a:cubicBezTo>
                      <a:pt x="0" y="50959"/>
                      <a:pt x="7307" y="33319"/>
                      <a:pt x="20313" y="20313"/>
                    </a:cubicBezTo>
                    <a:cubicBezTo>
                      <a:pt x="33319" y="7307"/>
                      <a:pt x="50959" y="0"/>
                      <a:pt x="69352" y="0"/>
                    </a:cubicBezTo>
                    <a:close/>
                  </a:path>
                </a:pathLst>
              </a:custGeom>
              <a:solidFill>
                <a:srgbClr val="000000">
                  <a:alpha val="0"/>
                </a:srgbClr>
              </a:solidFill>
              <a:ln w="38100" cap="rnd">
                <a:solidFill>
                  <a:srgbClr val="0D1D4B"/>
                </a:solidFill>
                <a:prstDash val="solid"/>
                <a:round/>
              </a:ln>
            </p:spPr>
          </p:sp>
          <p:sp>
            <p:nvSpPr>
              <p:cNvPr id="24" name="TextBox 24"/>
              <p:cNvSpPr txBox="1"/>
              <p:nvPr/>
            </p:nvSpPr>
            <p:spPr>
              <a:xfrm>
                <a:off x="0" y="-47625"/>
                <a:ext cx="823226" cy="315933"/>
              </a:xfrm>
              <a:prstGeom prst="rect">
                <a:avLst/>
              </a:prstGeom>
            </p:spPr>
            <p:txBody>
              <a:bodyPr lIns="50800" tIns="50800" rIns="50800" bIns="50800" rtlCol="0" anchor="ctr"/>
              <a:lstStyle/>
              <a:p>
                <a:pPr algn="ctr">
                  <a:lnSpc>
                    <a:spcPts val="2940"/>
                  </a:lnSpc>
                </a:pPr>
                <a:endParaRPr/>
              </a:p>
            </p:txBody>
          </p:sp>
        </p:grpSp>
        <p:sp>
          <p:nvSpPr>
            <p:cNvPr id="25" name="TextBox 25"/>
            <p:cNvSpPr txBox="1"/>
            <p:nvPr/>
          </p:nvSpPr>
          <p:spPr>
            <a:xfrm>
              <a:off x="4604520" y="193570"/>
              <a:ext cx="3160774" cy="635820"/>
            </a:xfrm>
            <a:prstGeom prst="rect">
              <a:avLst/>
            </a:prstGeom>
          </p:spPr>
          <p:txBody>
            <a:bodyPr lIns="0" tIns="0" rIns="0" bIns="0" rtlCol="0" anchor="t">
              <a:spAutoFit/>
            </a:bodyPr>
            <a:lstStyle/>
            <a:p>
              <a:pPr algn="ctr">
                <a:lnSpc>
                  <a:spcPts val="4099"/>
                </a:lnSpc>
              </a:pPr>
              <a:r>
                <a:rPr lang="en-US" sz="2927" b="1" spc="70" dirty="0" err="1">
                  <a:solidFill>
                    <a:srgbClr val="0D1D4B"/>
                  </a:solidFill>
                  <a:latin typeface="Montserrat Bold"/>
                  <a:ea typeface="Montserrat Bold"/>
                  <a:cs typeface="Montserrat Bold"/>
                  <a:sym typeface="Montserrat Bold"/>
                </a:rPr>
                <a:t>Câu</a:t>
              </a:r>
              <a:r>
                <a:rPr lang="en-US" sz="2927" b="1" spc="70" dirty="0">
                  <a:solidFill>
                    <a:srgbClr val="0D1D4B"/>
                  </a:solidFill>
                  <a:latin typeface="Montserrat Bold"/>
                  <a:ea typeface="Montserrat Bold"/>
                  <a:cs typeface="Montserrat Bold"/>
                  <a:sym typeface="Montserrat Bold"/>
                </a:rPr>
                <a:t> </a:t>
              </a:r>
              <a:r>
                <a:rPr lang="en-US" sz="2927" b="1" spc="70" dirty="0" err="1">
                  <a:solidFill>
                    <a:srgbClr val="0D1D4B"/>
                  </a:solidFill>
                  <a:latin typeface="Montserrat Bold"/>
                  <a:ea typeface="Montserrat Bold"/>
                  <a:cs typeface="Montserrat Bold"/>
                  <a:sym typeface="Montserrat Bold"/>
                </a:rPr>
                <a:t>hỏi</a:t>
              </a:r>
              <a:endParaRPr lang="en-US" sz="2927" b="1" spc="70" dirty="0">
                <a:solidFill>
                  <a:srgbClr val="0D1D4B"/>
                </a:solidFill>
                <a:latin typeface="Montserrat Bold"/>
                <a:ea typeface="Montserrat Bold"/>
                <a:cs typeface="Montserrat Bold"/>
                <a:sym typeface="Montserrat Bold"/>
              </a:endParaRPr>
            </a:p>
          </p:txBody>
        </p:sp>
        <p:grpSp>
          <p:nvGrpSpPr>
            <p:cNvPr id="26" name="Group 26"/>
            <p:cNvGrpSpPr/>
            <p:nvPr/>
          </p:nvGrpSpPr>
          <p:grpSpPr>
            <a:xfrm>
              <a:off x="4492820" y="6278411"/>
              <a:ext cx="3284776" cy="1069031"/>
              <a:chOff x="0" y="0"/>
              <a:chExt cx="823226" cy="267919"/>
            </a:xfrm>
          </p:grpSpPr>
          <p:sp>
            <p:nvSpPr>
              <p:cNvPr id="27" name="Freeform 27"/>
              <p:cNvSpPr/>
              <p:nvPr/>
            </p:nvSpPr>
            <p:spPr>
              <a:xfrm>
                <a:off x="0" y="0"/>
                <a:ext cx="823226" cy="267919"/>
              </a:xfrm>
              <a:custGeom>
                <a:avLst/>
                <a:gdLst/>
                <a:ahLst/>
                <a:cxnLst/>
                <a:rect l="l" t="t" r="r" b="b"/>
                <a:pathLst>
                  <a:path w="823226" h="267919">
                    <a:moveTo>
                      <a:pt x="69352" y="0"/>
                    </a:moveTo>
                    <a:lnTo>
                      <a:pt x="753874" y="0"/>
                    </a:lnTo>
                    <a:cubicBezTo>
                      <a:pt x="772267" y="0"/>
                      <a:pt x="789907" y="7307"/>
                      <a:pt x="802913" y="20313"/>
                    </a:cubicBezTo>
                    <a:cubicBezTo>
                      <a:pt x="815919" y="33319"/>
                      <a:pt x="823226" y="50959"/>
                      <a:pt x="823226" y="69352"/>
                    </a:cubicBezTo>
                    <a:lnTo>
                      <a:pt x="823226" y="198567"/>
                    </a:lnTo>
                    <a:cubicBezTo>
                      <a:pt x="823226" y="216960"/>
                      <a:pt x="815919" y="234600"/>
                      <a:pt x="802913" y="247606"/>
                    </a:cubicBezTo>
                    <a:cubicBezTo>
                      <a:pt x="789907" y="260612"/>
                      <a:pt x="772267" y="267919"/>
                      <a:pt x="753874" y="267919"/>
                    </a:cubicBezTo>
                    <a:lnTo>
                      <a:pt x="69352" y="267919"/>
                    </a:lnTo>
                    <a:cubicBezTo>
                      <a:pt x="31050" y="267919"/>
                      <a:pt x="0" y="236869"/>
                      <a:pt x="0" y="198567"/>
                    </a:cubicBezTo>
                    <a:lnTo>
                      <a:pt x="0" y="69352"/>
                    </a:lnTo>
                    <a:cubicBezTo>
                      <a:pt x="0" y="50959"/>
                      <a:pt x="7307" y="33319"/>
                      <a:pt x="20313" y="20313"/>
                    </a:cubicBezTo>
                    <a:cubicBezTo>
                      <a:pt x="33319" y="7307"/>
                      <a:pt x="50959" y="0"/>
                      <a:pt x="69352" y="0"/>
                    </a:cubicBezTo>
                    <a:close/>
                  </a:path>
                </a:pathLst>
              </a:custGeom>
              <a:solidFill>
                <a:srgbClr val="000000">
                  <a:alpha val="0"/>
                </a:srgbClr>
              </a:solidFill>
              <a:ln w="38100" cap="rnd">
                <a:solidFill>
                  <a:srgbClr val="0D1D4B"/>
                </a:solidFill>
                <a:prstDash val="solid"/>
                <a:round/>
              </a:ln>
            </p:spPr>
          </p:sp>
          <p:sp>
            <p:nvSpPr>
              <p:cNvPr id="28" name="TextBox 28"/>
              <p:cNvSpPr txBox="1"/>
              <p:nvPr/>
            </p:nvSpPr>
            <p:spPr>
              <a:xfrm>
                <a:off x="0" y="-47625"/>
                <a:ext cx="823226" cy="315544"/>
              </a:xfrm>
              <a:prstGeom prst="rect">
                <a:avLst/>
              </a:prstGeom>
            </p:spPr>
            <p:txBody>
              <a:bodyPr lIns="50800" tIns="50800" rIns="50800" bIns="50800" rtlCol="0" anchor="ctr"/>
              <a:lstStyle/>
              <a:p>
                <a:pPr algn="ctr">
                  <a:lnSpc>
                    <a:spcPts val="2940"/>
                  </a:lnSpc>
                </a:pPr>
                <a:endParaRPr/>
              </a:p>
            </p:txBody>
          </p:sp>
        </p:grpSp>
        <p:sp>
          <p:nvSpPr>
            <p:cNvPr id="29" name="TextBox 29"/>
            <p:cNvSpPr txBox="1"/>
            <p:nvPr/>
          </p:nvSpPr>
          <p:spPr>
            <a:xfrm>
              <a:off x="4554820" y="6471981"/>
              <a:ext cx="3160774" cy="634267"/>
            </a:xfrm>
            <a:prstGeom prst="rect">
              <a:avLst/>
            </a:prstGeom>
          </p:spPr>
          <p:txBody>
            <a:bodyPr lIns="0" tIns="0" rIns="0" bIns="0" rtlCol="0" anchor="t">
              <a:spAutoFit/>
            </a:bodyPr>
            <a:lstStyle/>
            <a:p>
              <a:pPr algn="ctr">
                <a:lnSpc>
                  <a:spcPts val="4099"/>
                </a:lnSpc>
              </a:pPr>
              <a:r>
                <a:rPr lang="en-US" sz="2927" b="1" spc="70" dirty="0" err="1">
                  <a:solidFill>
                    <a:srgbClr val="0D1D4B"/>
                  </a:solidFill>
                  <a:latin typeface="Montserrat Bold"/>
                  <a:ea typeface="Montserrat Bold"/>
                  <a:cs typeface="Montserrat Bold"/>
                  <a:sym typeface="Montserrat Bold"/>
                </a:rPr>
                <a:t>Trả</a:t>
              </a:r>
              <a:r>
                <a:rPr lang="en-US" sz="2927" b="1" spc="70" dirty="0">
                  <a:solidFill>
                    <a:srgbClr val="0D1D4B"/>
                  </a:solidFill>
                  <a:latin typeface="Montserrat Bold"/>
                  <a:ea typeface="Montserrat Bold"/>
                  <a:cs typeface="Montserrat Bold"/>
                  <a:sym typeface="Montserrat Bold"/>
                </a:rPr>
                <a:t> </a:t>
              </a:r>
              <a:r>
                <a:rPr lang="en-US" sz="2927" b="1" spc="70" dirty="0" err="1">
                  <a:solidFill>
                    <a:srgbClr val="0D1D4B"/>
                  </a:solidFill>
                  <a:latin typeface="Montserrat Bold"/>
                  <a:ea typeface="Montserrat Bold"/>
                  <a:cs typeface="Montserrat Bold"/>
                  <a:sym typeface="Montserrat Bold"/>
                </a:rPr>
                <a:t>lời</a:t>
              </a:r>
              <a:endParaRPr lang="en-US" sz="2927" b="1" spc="70" dirty="0">
                <a:solidFill>
                  <a:srgbClr val="0D1D4B"/>
                </a:solidFill>
                <a:latin typeface="Montserrat Bold"/>
                <a:ea typeface="Montserrat Bold"/>
                <a:cs typeface="Montserrat Bold"/>
                <a:sym typeface="Montserrat Bold"/>
              </a:endParaRPr>
            </a:p>
          </p:txBody>
        </p:sp>
        <p:sp>
          <p:nvSpPr>
            <p:cNvPr id="30" name="AutoShape 30"/>
            <p:cNvSpPr/>
            <p:nvPr/>
          </p:nvSpPr>
          <p:spPr>
            <a:xfrm flipH="1">
              <a:off x="6135207" y="1070584"/>
              <a:ext cx="49700" cy="1568728"/>
            </a:xfrm>
            <a:prstGeom prst="line">
              <a:avLst/>
            </a:prstGeom>
            <a:ln w="50049" cap="flat">
              <a:solidFill>
                <a:srgbClr val="0D1D4B"/>
              </a:solidFill>
              <a:prstDash val="solid"/>
              <a:headEnd type="none" w="sm" len="sm"/>
              <a:tailEnd type="arrow" w="med" len="sm"/>
            </a:ln>
          </p:spPr>
        </p:sp>
        <p:sp>
          <p:nvSpPr>
            <p:cNvPr id="31" name="AutoShape 31"/>
            <p:cNvSpPr/>
            <p:nvPr/>
          </p:nvSpPr>
          <p:spPr>
            <a:xfrm>
              <a:off x="6135207" y="5049307"/>
              <a:ext cx="0" cy="1229104"/>
            </a:xfrm>
            <a:prstGeom prst="line">
              <a:avLst/>
            </a:prstGeom>
            <a:ln w="50049" cap="flat">
              <a:solidFill>
                <a:srgbClr val="0D1D4B"/>
              </a:solidFill>
              <a:prstDash val="solid"/>
              <a:headEnd type="none" w="sm" len="sm"/>
              <a:tailEnd type="arrow" w="med" len="sm"/>
            </a:ln>
          </p:spPr>
        </p:sp>
      </p:grpSp>
      <p:sp>
        <p:nvSpPr>
          <p:cNvPr id="32" name="TextBox 3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dirty="0">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27839" y="9429370"/>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grpSp>
        <p:nvGrpSpPr>
          <p:cNvPr id="12" name="Group 12"/>
          <p:cNvGrpSpPr/>
          <p:nvPr/>
        </p:nvGrpSpPr>
        <p:grpSpPr>
          <a:xfrm>
            <a:off x="10737364" y="2535522"/>
            <a:ext cx="6710102" cy="5843606"/>
            <a:chOff x="0" y="0"/>
            <a:chExt cx="8946803" cy="7791474"/>
          </a:xfrm>
        </p:grpSpPr>
        <p:sp>
          <p:nvSpPr>
            <p:cNvPr id="13" name="Freeform 13"/>
            <p:cNvSpPr/>
            <p:nvPr/>
          </p:nvSpPr>
          <p:spPr>
            <a:xfrm>
              <a:off x="3513695" y="0"/>
              <a:ext cx="1398739" cy="1404004"/>
            </a:xfrm>
            <a:custGeom>
              <a:avLst/>
              <a:gdLst/>
              <a:ahLst/>
              <a:cxnLst/>
              <a:rect l="l" t="t" r="r" b="b"/>
              <a:pathLst>
                <a:path w="1398739" h="1404004">
                  <a:moveTo>
                    <a:pt x="0" y="0"/>
                  </a:moveTo>
                  <a:lnTo>
                    <a:pt x="1398739" y="0"/>
                  </a:lnTo>
                  <a:lnTo>
                    <a:pt x="1398739" y="1404004"/>
                  </a:lnTo>
                  <a:lnTo>
                    <a:pt x="0" y="14040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2994546" y="1551581"/>
              <a:ext cx="2573276" cy="1075341"/>
            </a:xfrm>
            <a:prstGeom prst="rect">
              <a:avLst/>
            </a:prstGeom>
          </p:spPr>
          <p:txBody>
            <a:bodyPr lIns="0" tIns="0" rIns="0" bIns="0" rtlCol="0" anchor="t">
              <a:spAutoFit/>
            </a:bodyPr>
            <a:lstStyle/>
            <a:p>
              <a:pPr algn="ctr">
                <a:lnSpc>
                  <a:spcPts val="3398"/>
                </a:lnSpc>
              </a:pPr>
              <a:r>
                <a:rPr lang="en-US" sz="2123" b="1">
                  <a:solidFill>
                    <a:srgbClr val="0C1D4B"/>
                  </a:solidFill>
                  <a:latin typeface="Montserrat Bold"/>
                  <a:ea typeface="Montserrat Bold"/>
                  <a:cs typeface="Montserrat Bold"/>
                  <a:sym typeface="Montserrat Bold"/>
                </a:rPr>
                <a:t>LLMs sinh câu trả lời</a:t>
              </a:r>
            </a:p>
          </p:txBody>
        </p:sp>
        <p:sp>
          <p:nvSpPr>
            <p:cNvPr id="15" name="Freeform 15"/>
            <p:cNvSpPr/>
            <p:nvPr/>
          </p:nvSpPr>
          <p:spPr>
            <a:xfrm>
              <a:off x="3139985" y="5896621"/>
              <a:ext cx="1398739" cy="1404004"/>
            </a:xfrm>
            <a:custGeom>
              <a:avLst/>
              <a:gdLst/>
              <a:ahLst/>
              <a:cxnLst/>
              <a:rect l="l" t="t" r="r" b="b"/>
              <a:pathLst>
                <a:path w="1398739" h="1404004">
                  <a:moveTo>
                    <a:pt x="0" y="0"/>
                  </a:moveTo>
                  <a:lnTo>
                    <a:pt x="1398740" y="0"/>
                  </a:lnTo>
                  <a:lnTo>
                    <a:pt x="1398740" y="1404005"/>
                  </a:lnTo>
                  <a:lnTo>
                    <a:pt x="0" y="1404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3341233" y="7283697"/>
              <a:ext cx="996245" cy="507777"/>
            </a:xfrm>
            <a:prstGeom prst="rect">
              <a:avLst/>
            </a:prstGeom>
          </p:spPr>
          <p:txBody>
            <a:bodyPr lIns="0" tIns="0" rIns="0" bIns="0" rtlCol="0" anchor="t">
              <a:spAutoFit/>
            </a:bodyPr>
            <a:lstStyle/>
            <a:p>
              <a:pPr algn="just">
                <a:lnSpc>
                  <a:spcPts val="3398"/>
                </a:lnSpc>
              </a:pPr>
              <a:r>
                <a:rPr lang="en-US" sz="2123" b="1">
                  <a:solidFill>
                    <a:srgbClr val="0C1D4B"/>
                  </a:solidFill>
                  <a:latin typeface="Montserrat Bold"/>
                  <a:ea typeface="Montserrat Bold"/>
                  <a:cs typeface="Montserrat Bold"/>
                  <a:sym typeface="Montserrat Bold"/>
                </a:rPr>
                <a:t>LLMs</a:t>
              </a:r>
            </a:p>
          </p:txBody>
        </p:sp>
        <p:grpSp>
          <p:nvGrpSpPr>
            <p:cNvPr id="17" name="Group 17"/>
            <p:cNvGrpSpPr/>
            <p:nvPr/>
          </p:nvGrpSpPr>
          <p:grpSpPr>
            <a:xfrm>
              <a:off x="145455" y="966192"/>
              <a:ext cx="2143143" cy="698500"/>
              <a:chOff x="0" y="0"/>
              <a:chExt cx="823226" cy="268308"/>
            </a:xfrm>
          </p:grpSpPr>
          <p:sp>
            <p:nvSpPr>
              <p:cNvPr id="18" name="Freeform 18"/>
              <p:cNvSpPr/>
              <p:nvPr/>
            </p:nvSpPr>
            <p:spPr>
              <a:xfrm>
                <a:off x="0" y="0"/>
                <a:ext cx="823226" cy="268308"/>
              </a:xfrm>
              <a:custGeom>
                <a:avLst/>
                <a:gdLst/>
                <a:ahLst/>
                <a:cxnLst/>
                <a:rect l="l" t="t" r="r" b="b"/>
                <a:pathLst>
                  <a:path w="823226" h="268308">
                    <a:moveTo>
                      <a:pt x="134154" y="0"/>
                    </a:moveTo>
                    <a:lnTo>
                      <a:pt x="689072" y="0"/>
                    </a:lnTo>
                    <a:cubicBezTo>
                      <a:pt x="724652" y="0"/>
                      <a:pt x="758775" y="14134"/>
                      <a:pt x="783933" y="39293"/>
                    </a:cubicBezTo>
                    <a:cubicBezTo>
                      <a:pt x="809092" y="64452"/>
                      <a:pt x="823226" y="98574"/>
                      <a:pt x="823226" y="134154"/>
                    </a:cubicBezTo>
                    <a:lnTo>
                      <a:pt x="823226" y="134154"/>
                    </a:lnTo>
                    <a:cubicBezTo>
                      <a:pt x="823226" y="208246"/>
                      <a:pt x="763163" y="268308"/>
                      <a:pt x="689072" y="268308"/>
                    </a:cubicBezTo>
                    <a:lnTo>
                      <a:pt x="134154" y="268308"/>
                    </a:lnTo>
                    <a:cubicBezTo>
                      <a:pt x="98574" y="268308"/>
                      <a:pt x="64452" y="254174"/>
                      <a:pt x="39293" y="229016"/>
                    </a:cubicBezTo>
                    <a:cubicBezTo>
                      <a:pt x="14134" y="203857"/>
                      <a:pt x="0" y="169734"/>
                      <a:pt x="0" y="134154"/>
                    </a:cubicBezTo>
                    <a:lnTo>
                      <a:pt x="0" y="134154"/>
                    </a:lnTo>
                    <a:cubicBezTo>
                      <a:pt x="0" y="98574"/>
                      <a:pt x="14134" y="64452"/>
                      <a:pt x="39293" y="39293"/>
                    </a:cubicBezTo>
                    <a:cubicBezTo>
                      <a:pt x="64452" y="14134"/>
                      <a:pt x="98574" y="0"/>
                      <a:pt x="134154" y="0"/>
                    </a:cubicBezTo>
                    <a:close/>
                  </a:path>
                </a:pathLst>
              </a:custGeom>
              <a:solidFill>
                <a:srgbClr val="000000">
                  <a:alpha val="0"/>
                </a:srgbClr>
              </a:solidFill>
              <a:ln w="38100" cap="rnd">
                <a:solidFill>
                  <a:srgbClr val="0D1D4B"/>
                </a:solidFill>
                <a:prstDash val="solid"/>
                <a:round/>
              </a:ln>
            </p:spPr>
          </p:sp>
          <p:sp>
            <p:nvSpPr>
              <p:cNvPr id="19" name="TextBox 19"/>
              <p:cNvSpPr txBox="1"/>
              <p:nvPr/>
            </p:nvSpPr>
            <p:spPr>
              <a:xfrm>
                <a:off x="0" y="-47625"/>
                <a:ext cx="823226" cy="315933"/>
              </a:xfrm>
              <a:prstGeom prst="rect">
                <a:avLst/>
              </a:prstGeom>
            </p:spPr>
            <p:txBody>
              <a:bodyPr lIns="26123" tIns="26123" rIns="26123" bIns="26123" rtlCol="0" anchor="ctr"/>
              <a:lstStyle/>
              <a:p>
                <a:pPr algn="ctr">
                  <a:lnSpc>
                    <a:spcPts val="2940"/>
                  </a:lnSpc>
                </a:pPr>
                <a:endParaRPr/>
              </a:p>
            </p:txBody>
          </p:sp>
        </p:grpSp>
        <p:sp>
          <p:nvSpPr>
            <p:cNvPr id="20" name="TextBox 20"/>
            <p:cNvSpPr txBox="1"/>
            <p:nvPr/>
          </p:nvSpPr>
          <p:spPr>
            <a:xfrm>
              <a:off x="185907" y="1085459"/>
              <a:ext cx="2062239" cy="421866"/>
            </a:xfrm>
            <a:prstGeom prst="rect">
              <a:avLst/>
            </a:prstGeom>
          </p:spPr>
          <p:txBody>
            <a:bodyPr lIns="0" tIns="0" rIns="0" bIns="0" rtlCol="0" anchor="t">
              <a:spAutoFit/>
            </a:bodyPr>
            <a:lstStyle/>
            <a:p>
              <a:pPr algn="ctr">
                <a:lnSpc>
                  <a:spcPts val="2674"/>
                </a:lnSpc>
              </a:pPr>
              <a:r>
                <a:rPr lang="en-US" sz="1910" b="1" spc="45">
                  <a:solidFill>
                    <a:srgbClr val="0D1D4B"/>
                  </a:solidFill>
                  <a:latin typeface="Montserrat Bold"/>
                  <a:ea typeface="Montserrat Bold"/>
                  <a:cs typeface="Montserrat Bold"/>
                  <a:sym typeface="Montserrat Bold"/>
                </a:rPr>
                <a:t>Câu hỏi</a:t>
              </a:r>
            </a:p>
          </p:txBody>
        </p:sp>
        <p:grpSp>
          <p:nvGrpSpPr>
            <p:cNvPr id="21" name="Group 21"/>
            <p:cNvGrpSpPr/>
            <p:nvPr/>
          </p:nvGrpSpPr>
          <p:grpSpPr>
            <a:xfrm>
              <a:off x="0" y="6265573"/>
              <a:ext cx="2143143" cy="1139038"/>
              <a:chOff x="0" y="0"/>
              <a:chExt cx="823226" cy="437528"/>
            </a:xfrm>
          </p:grpSpPr>
          <p:sp>
            <p:nvSpPr>
              <p:cNvPr id="22" name="Freeform 22"/>
              <p:cNvSpPr/>
              <p:nvPr/>
            </p:nvSpPr>
            <p:spPr>
              <a:xfrm>
                <a:off x="0" y="0"/>
                <a:ext cx="823226" cy="437528"/>
              </a:xfrm>
              <a:custGeom>
                <a:avLst/>
                <a:gdLst/>
                <a:ahLst/>
                <a:cxnLst/>
                <a:rect l="l" t="t" r="r" b="b"/>
                <a:pathLst>
                  <a:path w="823226" h="437528">
                    <a:moveTo>
                      <a:pt x="134863" y="0"/>
                    </a:moveTo>
                    <a:lnTo>
                      <a:pt x="688363" y="0"/>
                    </a:lnTo>
                    <a:cubicBezTo>
                      <a:pt x="724131" y="0"/>
                      <a:pt x="758434" y="14209"/>
                      <a:pt x="783726" y="39501"/>
                    </a:cubicBezTo>
                    <a:cubicBezTo>
                      <a:pt x="809017" y="64792"/>
                      <a:pt x="823226" y="99095"/>
                      <a:pt x="823226" y="134863"/>
                    </a:cubicBezTo>
                    <a:lnTo>
                      <a:pt x="823226" y="302665"/>
                    </a:lnTo>
                    <a:cubicBezTo>
                      <a:pt x="823226" y="377148"/>
                      <a:pt x="762846" y="437528"/>
                      <a:pt x="688363" y="437528"/>
                    </a:cubicBezTo>
                    <a:lnTo>
                      <a:pt x="134863" y="437528"/>
                    </a:lnTo>
                    <a:cubicBezTo>
                      <a:pt x="99095" y="437528"/>
                      <a:pt x="64792" y="423320"/>
                      <a:pt x="39501" y="398028"/>
                    </a:cubicBezTo>
                    <a:cubicBezTo>
                      <a:pt x="14209" y="372736"/>
                      <a:pt x="0" y="338433"/>
                      <a:pt x="0" y="302665"/>
                    </a:cubicBezTo>
                    <a:lnTo>
                      <a:pt x="0" y="134863"/>
                    </a:lnTo>
                    <a:cubicBezTo>
                      <a:pt x="0" y="99095"/>
                      <a:pt x="14209" y="64792"/>
                      <a:pt x="39501" y="39501"/>
                    </a:cubicBezTo>
                    <a:cubicBezTo>
                      <a:pt x="64792" y="14209"/>
                      <a:pt x="99095" y="0"/>
                      <a:pt x="134863" y="0"/>
                    </a:cubicBezTo>
                    <a:close/>
                  </a:path>
                </a:pathLst>
              </a:custGeom>
              <a:solidFill>
                <a:srgbClr val="000000">
                  <a:alpha val="0"/>
                </a:srgbClr>
              </a:solidFill>
              <a:ln w="38100" cap="rnd">
                <a:solidFill>
                  <a:srgbClr val="0D1D4B"/>
                </a:solidFill>
                <a:prstDash val="solid"/>
                <a:round/>
              </a:ln>
            </p:spPr>
          </p:sp>
          <p:sp>
            <p:nvSpPr>
              <p:cNvPr id="23" name="TextBox 23"/>
              <p:cNvSpPr txBox="1"/>
              <p:nvPr/>
            </p:nvSpPr>
            <p:spPr>
              <a:xfrm>
                <a:off x="0" y="-47625"/>
                <a:ext cx="823226" cy="485153"/>
              </a:xfrm>
              <a:prstGeom prst="rect">
                <a:avLst/>
              </a:prstGeom>
            </p:spPr>
            <p:txBody>
              <a:bodyPr lIns="26123" tIns="26123" rIns="26123" bIns="26123" rtlCol="0" anchor="ctr"/>
              <a:lstStyle/>
              <a:p>
                <a:pPr algn="ctr">
                  <a:lnSpc>
                    <a:spcPts val="2940"/>
                  </a:lnSpc>
                </a:pPr>
                <a:endParaRPr/>
              </a:p>
            </p:txBody>
          </p:sp>
        </p:grpSp>
        <p:sp>
          <p:nvSpPr>
            <p:cNvPr id="24" name="TextBox 24"/>
            <p:cNvSpPr txBox="1"/>
            <p:nvPr/>
          </p:nvSpPr>
          <p:spPr>
            <a:xfrm>
              <a:off x="40452" y="6384839"/>
              <a:ext cx="2062239" cy="862404"/>
            </a:xfrm>
            <a:prstGeom prst="rect">
              <a:avLst/>
            </a:prstGeom>
          </p:spPr>
          <p:txBody>
            <a:bodyPr lIns="0" tIns="0" rIns="0" bIns="0" rtlCol="0" anchor="t">
              <a:spAutoFit/>
            </a:bodyPr>
            <a:lstStyle/>
            <a:p>
              <a:pPr algn="ctr">
                <a:lnSpc>
                  <a:spcPts val="2674"/>
                </a:lnSpc>
              </a:pPr>
              <a:r>
                <a:rPr lang="en-US" sz="1910" b="1" spc="45">
                  <a:solidFill>
                    <a:srgbClr val="0D1D4B"/>
                  </a:solidFill>
                  <a:latin typeface="Montserrat Bold"/>
                  <a:ea typeface="Montserrat Bold"/>
                  <a:cs typeface="Montserrat Bold"/>
                  <a:sym typeface="Montserrat Bold"/>
                </a:rPr>
                <a:t>Điểm số của tôi?</a:t>
              </a:r>
            </a:p>
          </p:txBody>
        </p:sp>
        <p:grpSp>
          <p:nvGrpSpPr>
            <p:cNvPr id="25" name="Group 25"/>
            <p:cNvGrpSpPr/>
            <p:nvPr/>
          </p:nvGrpSpPr>
          <p:grpSpPr>
            <a:xfrm>
              <a:off x="5339567" y="4261227"/>
              <a:ext cx="2143143" cy="1146962"/>
              <a:chOff x="0" y="0"/>
              <a:chExt cx="823226" cy="440572"/>
            </a:xfrm>
          </p:grpSpPr>
          <p:sp>
            <p:nvSpPr>
              <p:cNvPr id="26" name="Freeform 26"/>
              <p:cNvSpPr/>
              <p:nvPr/>
            </p:nvSpPr>
            <p:spPr>
              <a:xfrm>
                <a:off x="0" y="0"/>
                <a:ext cx="823226" cy="440572"/>
              </a:xfrm>
              <a:custGeom>
                <a:avLst/>
                <a:gdLst/>
                <a:ahLst/>
                <a:cxnLst/>
                <a:rect l="l" t="t" r="r" b="b"/>
                <a:pathLst>
                  <a:path w="823226" h="440572">
                    <a:moveTo>
                      <a:pt x="134863" y="0"/>
                    </a:moveTo>
                    <a:lnTo>
                      <a:pt x="688363" y="0"/>
                    </a:lnTo>
                    <a:cubicBezTo>
                      <a:pt x="724131" y="0"/>
                      <a:pt x="758434" y="14209"/>
                      <a:pt x="783726" y="39501"/>
                    </a:cubicBezTo>
                    <a:cubicBezTo>
                      <a:pt x="809017" y="64792"/>
                      <a:pt x="823226" y="99095"/>
                      <a:pt x="823226" y="134863"/>
                    </a:cubicBezTo>
                    <a:lnTo>
                      <a:pt x="823226" y="305709"/>
                    </a:lnTo>
                    <a:cubicBezTo>
                      <a:pt x="823226" y="341477"/>
                      <a:pt x="809017" y="375780"/>
                      <a:pt x="783726" y="401071"/>
                    </a:cubicBezTo>
                    <a:cubicBezTo>
                      <a:pt x="758434" y="426363"/>
                      <a:pt x="724131" y="440572"/>
                      <a:pt x="688363" y="440572"/>
                    </a:cubicBezTo>
                    <a:lnTo>
                      <a:pt x="134863" y="440572"/>
                    </a:lnTo>
                    <a:cubicBezTo>
                      <a:pt x="99095" y="440572"/>
                      <a:pt x="64792" y="426363"/>
                      <a:pt x="39501" y="401071"/>
                    </a:cubicBezTo>
                    <a:cubicBezTo>
                      <a:pt x="14209" y="375780"/>
                      <a:pt x="0" y="341477"/>
                      <a:pt x="0" y="305709"/>
                    </a:cubicBezTo>
                    <a:lnTo>
                      <a:pt x="0" y="134863"/>
                    </a:lnTo>
                    <a:cubicBezTo>
                      <a:pt x="0" y="99095"/>
                      <a:pt x="14209" y="64792"/>
                      <a:pt x="39501" y="39501"/>
                    </a:cubicBezTo>
                    <a:cubicBezTo>
                      <a:pt x="64792" y="14209"/>
                      <a:pt x="99095" y="0"/>
                      <a:pt x="134863" y="0"/>
                    </a:cubicBezTo>
                    <a:close/>
                  </a:path>
                </a:pathLst>
              </a:custGeom>
              <a:solidFill>
                <a:srgbClr val="000000">
                  <a:alpha val="0"/>
                </a:srgbClr>
              </a:solidFill>
              <a:ln w="38100" cap="rnd">
                <a:solidFill>
                  <a:srgbClr val="0D1D4B"/>
                </a:solidFill>
                <a:prstDash val="solid"/>
                <a:round/>
              </a:ln>
            </p:spPr>
          </p:sp>
          <p:sp>
            <p:nvSpPr>
              <p:cNvPr id="27" name="TextBox 27"/>
              <p:cNvSpPr txBox="1"/>
              <p:nvPr/>
            </p:nvSpPr>
            <p:spPr>
              <a:xfrm>
                <a:off x="0" y="-47625"/>
                <a:ext cx="823226" cy="488197"/>
              </a:xfrm>
              <a:prstGeom prst="rect">
                <a:avLst/>
              </a:prstGeom>
            </p:spPr>
            <p:txBody>
              <a:bodyPr lIns="26123" tIns="26123" rIns="26123" bIns="26123" rtlCol="0" anchor="ctr"/>
              <a:lstStyle/>
              <a:p>
                <a:pPr algn="ctr">
                  <a:lnSpc>
                    <a:spcPts val="2940"/>
                  </a:lnSpc>
                </a:pPr>
                <a:endParaRPr/>
              </a:p>
            </p:txBody>
          </p:sp>
        </p:grpSp>
        <p:sp>
          <p:nvSpPr>
            <p:cNvPr id="28" name="TextBox 28"/>
            <p:cNvSpPr txBox="1"/>
            <p:nvPr/>
          </p:nvSpPr>
          <p:spPr>
            <a:xfrm>
              <a:off x="5380020" y="4380494"/>
              <a:ext cx="2062239" cy="870328"/>
            </a:xfrm>
            <a:prstGeom prst="rect">
              <a:avLst/>
            </a:prstGeom>
          </p:spPr>
          <p:txBody>
            <a:bodyPr lIns="0" tIns="0" rIns="0" bIns="0" rtlCol="0" anchor="t">
              <a:spAutoFit/>
            </a:bodyPr>
            <a:lstStyle/>
            <a:p>
              <a:pPr algn="ctr">
                <a:lnSpc>
                  <a:spcPts val="2674"/>
                </a:lnSpc>
              </a:pPr>
              <a:r>
                <a:rPr lang="en-US" sz="1910" spc="45">
                  <a:solidFill>
                    <a:srgbClr val="0D1D4B"/>
                  </a:solidFill>
                  <a:latin typeface="Montserrat"/>
                  <a:ea typeface="Montserrat"/>
                  <a:cs typeface="Montserrat"/>
                  <a:sym typeface="Montserrat"/>
                </a:rPr>
                <a:t>Điểm số của tôi?</a:t>
              </a:r>
            </a:p>
          </p:txBody>
        </p:sp>
        <p:grpSp>
          <p:nvGrpSpPr>
            <p:cNvPr id="29" name="Group 29"/>
            <p:cNvGrpSpPr/>
            <p:nvPr/>
          </p:nvGrpSpPr>
          <p:grpSpPr>
            <a:xfrm>
              <a:off x="6279022" y="983514"/>
              <a:ext cx="2143143" cy="694538"/>
              <a:chOff x="0" y="0"/>
              <a:chExt cx="823226" cy="266787"/>
            </a:xfrm>
          </p:grpSpPr>
          <p:sp>
            <p:nvSpPr>
              <p:cNvPr id="30" name="Freeform 30"/>
              <p:cNvSpPr/>
              <p:nvPr/>
            </p:nvSpPr>
            <p:spPr>
              <a:xfrm>
                <a:off x="0" y="0"/>
                <a:ext cx="823226" cy="266787"/>
              </a:xfrm>
              <a:custGeom>
                <a:avLst/>
                <a:gdLst/>
                <a:ahLst/>
                <a:cxnLst/>
                <a:rect l="l" t="t" r="r" b="b"/>
                <a:pathLst>
                  <a:path w="823226" h="266787">
                    <a:moveTo>
                      <a:pt x="133393" y="0"/>
                    </a:moveTo>
                    <a:lnTo>
                      <a:pt x="689833" y="0"/>
                    </a:lnTo>
                    <a:cubicBezTo>
                      <a:pt x="725211" y="0"/>
                      <a:pt x="759140" y="14054"/>
                      <a:pt x="784156" y="39070"/>
                    </a:cubicBezTo>
                    <a:cubicBezTo>
                      <a:pt x="809172" y="64086"/>
                      <a:pt x="823226" y="98015"/>
                      <a:pt x="823226" y="133393"/>
                    </a:cubicBezTo>
                    <a:lnTo>
                      <a:pt x="823226" y="133393"/>
                    </a:lnTo>
                    <a:cubicBezTo>
                      <a:pt x="823226" y="207064"/>
                      <a:pt x="763504" y="266787"/>
                      <a:pt x="689833" y="266787"/>
                    </a:cubicBezTo>
                    <a:lnTo>
                      <a:pt x="133393" y="266787"/>
                    </a:lnTo>
                    <a:cubicBezTo>
                      <a:pt x="59722" y="266787"/>
                      <a:pt x="0" y="207064"/>
                      <a:pt x="0" y="133393"/>
                    </a:cubicBezTo>
                    <a:lnTo>
                      <a:pt x="0" y="133393"/>
                    </a:lnTo>
                    <a:cubicBezTo>
                      <a:pt x="0" y="59722"/>
                      <a:pt x="59722" y="0"/>
                      <a:pt x="133393" y="0"/>
                    </a:cubicBezTo>
                    <a:close/>
                  </a:path>
                </a:pathLst>
              </a:custGeom>
              <a:solidFill>
                <a:srgbClr val="000000">
                  <a:alpha val="0"/>
                </a:srgbClr>
              </a:solidFill>
              <a:ln w="38100" cap="rnd">
                <a:solidFill>
                  <a:srgbClr val="0D1D4B"/>
                </a:solidFill>
                <a:prstDash val="solid"/>
                <a:round/>
              </a:ln>
            </p:spPr>
          </p:sp>
          <p:sp>
            <p:nvSpPr>
              <p:cNvPr id="31" name="TextBox 31"/>
              <p:cNvSpPr txBox="1"/>
              <p:nvPr/>
            </p:nvSpPr>
            <p:spPr>
              <a:xfrm>
                <a:off x="0" y="-47625"/>
                <a:ext cx="823226" cy="314412"/>
              </a:xfrm>
              <a:prstGeom prst="rect">
                <a:avLst/>
              </a:prstGeom>
            </p:spPr>
            <p:txBody>
              <a:bodyPr lIns="26123" tIns="26123" rIns="26123" bIns="26123" rtlCol="0" anchor="ctr"/>
              <a:lstStyle/>
              <a:p>
                <a:pPr algn="ctr">
                  <a:lnSpc>
                    <a:spcPts val="2940"/>
                  </a:lnSpc>
                </a:pPr>
                <a:endParaRPr/>
              </a:p>
            </p:txBody>
          </p:sp>
        </p:grpSp>
        <p:sp>
          <p:nvSpPr>
            <p:cNvPr id="32" name="TextBox 32"/>
            <p:cNvSpPr txBox="1"/>
            <p:nvPr/>
          </p:nvSpPr>
          <p:spPr>
            <a:xfrm>
              <a:off x="6319474" y="1102780"/>
              <a:ext cx="2062239" cy="417904"/>
            </a:xfrm>
            <a:prstGeom prst="rect">
              <a:avLst/>
            </a:prstGeom>
          </p:spPr>
          <p:txBody>
            <a:bodyPr lIns="0" tIns="0" rIns="0" bIns="0" rtlCol="0" anchor="t">
              <a:spAutoFit/>
            </a:bodyPr>
            <a:lstStyle/>
            <a:p>
              <a:pPr algn="ctr">
                <a:lnSpc>
                  <a:spcPts val="2674"/>
                </a:lnSpc>
              </a:pPr>
              <a:r>
                <a:rPr lang="en-US" sz="1910" b="1" spc="45">
                  <a:solidFill>
                    <a:srgbClr val="0D1D4B"/>
                  </a:solidFill>
                  <a:latin typeface="Montserrat Bold"/>
                  <a:ea typeface="Montserrat Bold"/>
                  <a:cs typeface="Montserrat Bold"/>
                  <a:sym typeface="Montserrat Bold"/>
                </a:rPr>
                <a:t>Trả lời</a:t>
              </a:r>
            </a:p>
          </p:txBody>
        </p:sp>
        <p:grpSp>
          <p:nvGrpSpPr>
            <p:cNvPr id="33" name="Group 33"/>
            <p:cNvGrpSpPr/>
            <p:nvPr/>
          </p:nvGrpSpPr>
          <p:grpSpPr>
            <a:xfrm>
              <a:off x="5727113" y="6265573"/>
              <a:ext cx="2143143" cy="1139038"/>
              <a:chOff x="0" y="0"/>
              <a:chExt cx="823226" cy="437528"/>
            </a:xfrm>
          </p:grpSpPr>
          <p:sp>
            <p:nvSpPr>
              <p:cNvPr id="34" name="Freeform 34"/>
              <p:cNvSpPr/>
              <p:nvPr/>
            </p:nvSpPr>
            <p:spPr>
              <a:xfrm>
                <a:off x="0" y="0"/>
                <a:ext cx="823226" cy="437528"/>
              </a:xfrm>
              <a:custGeom>
                <a:avLst/>
                <a:gdLst/>
                <a:ahLst/>
                <a:cxnLst/>
                <a:rect l="l" t="t" r="r" b="b"/>
                <a:pathLst>
                  <a:path w="823226" h="437528">
                    <a:moveTo>
                      <a:pt x="134863" y="0"/>
                    </a:moveTo>
                    <a:lnTo>
                      <a:pt x="688363" y="0"/>
                    </a:lnTo>
                    <a:cubicBezTo>
                      <a:pt x="724131" y="0"/>
                      <a:pt x="758434" y="14209"/>
                      <a:pt x="783726" y="39501"/>
                    </a:cubicBezTo>
                    <a:cubicBezTo>
                      <a:pt x="809017" y="64792"/>
                      <a:pt x="823226" y="99095"/>
                      <a:pt x="823226" y="134863"/>
                    </a:cubicBezTo>
                    <a:lnTo>
                      <a:pt x="823226" y="302665"/>
                    </a:lnTo>
                    <a:cubicBezTo>
                      <a:pt x="823226" y="377148"/>
                      <a:pt x="762846" y="437528"/>
                      <a:pt x="688363" y="437528"/>
                    </a:cubicBezTo>
                    <a:lnTo>
                      <a:pt x="134863" y="437528"/>
                    </a:lnTo>
                    <a:cubicBezTo>
                      <a:pt x="99095" y="437528"/>
                      <a:pt x="64792" y="423320"/>
                      <a:pt x="39501" y="398028"/>
                    </a:cubicBezTo>
                    <a:cubicBezTo>
                      <a:pt x="14209" y="372736"/>
                      <a:pt x="0" y="338433"/>
                      <a:pt x="0" y="302665"/>
                    </a:cubicBezTo>
                    <a:lnTo>
                      <a:pt x="0" y="134863"/>
                    </a:lnTo>
                    <a:cubicBezTo>
                      <a:pt x="0" y="99095"/>
                      <a:pt x="14209" y="64792"/>
                      <a:pt x="39501" y="39501"/>
                    </a:cubicBezTo>
                    <a:cubicBezTo>
                      <a:pt x="64792" y="14209"/>
                      <a:pt x="99095" y="0"/>
                      <a:pt x="134863" y="0"/>
                    </a:cubicBezTo>
                    <a:close/>
                  </a:path>
                </a:pathLst>
              </a:custGeom>
              <a:solidFill>
                <a:srgbClr val="000000">
                  <a:alpha val="0"/>
                </a:srgbClr>
              </a:solidFill>
              <a:ln w="38100" cap="rnd">
                <a:solidFill>
                  <a:srgbClr val="0D1D4B"/>
                </a:solidFill>
                <a:prstDash val="solid"/>
                <a:round/>
              </a:ln>
            </p:spPr>
          </p:sp>
          <p:sp>
            <p:nvSpPr>
              <p:cNvPr id="35" name="TextBox 35"/>
              <p:cNvSpPr txBox="1"/>
              <p:nvPr/>
            </p:nvSpPr>
            <p:spPr>
              <a:xfrm>
                <a:off x="0" y="-47625"/>
                <a:ext cx="823226" cy="485153"/>
              </a:xfrm>
              <a:prstGeom prst="rect">
                <a:avLst/>
              </a:prstGeom>
            </p:spPr>
            <p:txBody>
              <a:bodyPr lIns="26123" tIns="26123" rIns="26123" bIns="26123" rtlCol="0" anchor="ctr"/>
              <a:lstStyle/>
              <a:p>
                <a:pPr algn="ctr">
                  <a:lnSpc>
                    <a:spcPts val="2940"/>
                  </a:lnSpc>
                </a:pPr>
                <a:endParaRPr/>
              </a:p>
            </p:txBody>
          </p:sp>
        </p:grpSp>
        <p:sp>
          <p:nvSpPr>
            <p:cNvPr id="36" name="TextBox 36"/>
            <p:cNvSpPr txBox="1"/>
            <p:nvPr/>
          </p:nvSpPr>
          <p:spPr>
            <a:xfrm>
              <a:off x="5767565" y="6384839"/>
              <a:ext cx="2062239" cy="862404"/>
            </a:xfrm>
            <a:prstGeom prst="rect">
              <a:avLst/>
            </a:prstGeom>
          </p:spPr>
          <p:txBody>
            <a:bodyPr lIns="0" tIns="0" rIns="0" bIns="0" rtlCol="0" anchor="t">
              <a:spAutoFit/>
            </a:bodyPr>
            <a:lstStyle/>
            <a:p>
              <a:pPr algn="ctr">
                <a:lnSpc>
                  <a:spcPts val="2674"/>
                </a:lnSpc>
              </a:pPr>
              <a:r>
                <a:rPr lang="en-US" sz="1910" b="1" spc="45">
                  <a:solidFill>
                    <a:srgbClr val="0D1D4B"/>
                  </a:solidFill>
                  <a:latin typeface="Montserrat Bold"/>
                  <a:ea typeface="Montserrat Bold"/>
                  <a:cs typeface="Montserrat Bold"/>
                  <a:sym typeface="Montserrat Bold"/>
                </a:rPr>
                <a:t>Điểm của bạn là ....</a:t>
              </a:r>
            </a:p>
          </p:txBody>
        </p:sp>
        <p:sp>
          <p:nvSpPr>
            <p:cNvPr id="37" name="AutoShape 37"/>
            <p:cNvSpPr/>
            <p:nvPr/>
          </p:nvSpPr>
          <p:spPr>
            <a:xfrm flipV="1">
              <a:off x="2288598" y="1313461"/>
              <a:ext cx="705948" cy="1981"/>
            </a:xfrm>
            <a:prstGeom prst="line">
              <a:avLst/>
            </a:prstGeom>
            <a:ln w="50800" cap="flat">
              <a:solidFill>
                <a:srgbClr val="0D1D4B"/>
              </a:solidFill>
              <a:prstDash val="solid"/>
              <a:headEnd type="none" w="sm" len="sm"/>
              <a:tailEnd type="arrow" w="med" len="sm"/>
            </a:ln>
          </p:spPr>
        </p:sp>
        <p:sp>
          <p:nvSpPr>
            <p:cNvPr id="38" name="AutoShape 38"/>
            <p:cNvSpPr/>
            <p:nvPr/>
          </p:nvSpPr>
          <p:spPr>
            <a:xfrm>
              <a:off x="2143143" y="6835092"/>
              <a:ext cx="996842" cy="8956"/>
            </a:xfrm>
            <a:prstGeom prst="line">
              <a:avLst/>
            </a:prstGeom>
            <a:ln w="50800" cap="flat">
              <a:solidFill>
                <a:srgbClr val="0D1D4B"/>
              </a:solidFill>
              <a:prstDash val="solid"/>
              <a:headEnd type="none" w="sm" len="sm"/>
              <a:tailEnd type="arrow" w="med" len="sm"/>
            </a:ln>
          </p:spPr>
        </p:sp>
        <p:sp>
          <p:nvSpPr>
            <p:cNvPr id="39" name="AutoShape 39"/>
            <p:cNvSpPr/>
            <p:nvPr/>
          </p:nvSpPr>
          <p:spPr>
            <a:xfrm>
              <a:off x="5567822" y="1313461"/>
              <a:ext cx="711200" cy="17322"/>
            </a:xfrm>
            <a:prstGeom prst="line">
              <a:avLst/>
            </a:prstGeom>
            <a:ln w="50800" cap="flat">
              <a:solidFill>
                <a:srgbClr val="0D1D4B"/>
              </a:solidFill>
              <a:prstDash val="solid"/>
              <a:headEnd type="none" w="sm" len="sm"/>
              <a:tailEnd type="arrow" w="med" len="sm"/>
            </a:ln>
          </p:spPr>
        </p:sp>
        <p:sp>
          <p:nvSpPr>
            <p:cNvPr id="40" name="AutoShape 40"/>
            <p:cNvSpPr/>
            <p:nvPr/>
          </p:nvSpPr>
          <p:spPr>
            <a:xfrm flipV="1">
              <a:off x="4538725" y="6835092"/>
              <a:ext cx="1188388" cy="8956"/>
            </a:xfrm>
            <a:prstGeom prst="line">
              <a:avLst/>
            </a:prstGeom>
            <a:ln w="50800" cap="flat">
              <a:solidFill>
                <a:srgbClr val="0D1D4B"/>
              </a:solidFill>
              <a:prstDash val="solid"/>
              <a:headEnd type="none" w="sm" len="sm"/>
              <a:tailEnd type="arrow" w="med" len="sm"/>
            </a:ln>
          </p:spPr>
        </p:sp>
        <p:sp>
          <p:nvSpPr>
            <p:cNvPr id="41" name="Freeform 41"/>
            <p:cNvSpPr/>
            <p:nvPr/>
          </p:nvSpPr>
          <p:spPr>
            <a:xfrm>
              <a:off x="4538725" y="3218714"/>
              <a:ext cx="4408078" cy="2677908"/>
            </a:xfrm>
            <a:custGeom>
              <a:avLst/>
              <a:gdLst/>
              <a:ahLst/>
              <a:cxnLst/>
              <a:rect l="l" t="t" r="r" b="b"/>
              <a:pathLst>
                <a:path w="4408078" h="2677908">
                  <a:moveTo>
                    <a:pt x="0" y="0"/>
                  </a:moveTo>
                  <a:lnTo>
                    <a:pt x="4408078" y="0"/>
                  </a:lnTo>
                  <a:lnTo>
                    <a:pt x="4408078" y="2677907"/>
                  </a:lnTo>
                  <a:lnTo>
                    <a:pt x="0" y="26779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42" name="TextBox 42"/>
            <p:cNvSpPr txBox="1"/>
            <p:nvPr/>
          </p:nvSpPr>
          <p:spPr>
            <a:xfrm>
              <a:off x="5084496" y="3776182"/>
              <a:ext cx="2848213" cy="1152102"/>
            </a:xfrm>
            <a:prstGeom prst="rect">
              <a:avLst/>
            </a:prstGeom>
          </p:spPr>
          <p:txBody>
            <a:bodyPr lIns="0" tIns="0" rIns="0" bIns="0" rtlCol="0" anchor="t">
              <a:spAutoFit/>
            </a:bodyPr>
            <a:lstStyle/>
            <a:p>
              <a:pPr algn="ctr">
                <a:lnSpc>
                  <a:spcPts val="2379"/>
                </a:lnSpc>
              </a:pPr>
              <a:r>
                <a:rPr lang="en-US" sz="1699" b="1" spc="40" dirty="0" err="1">
                  <a:solidFill>
                    <a:srgbClr val="0D1D4B"/>
                  </a:solidFill>
                  <a:latin typeface="Montserrat Bold"/>
                  <a:ea typeface="Montserrat Bold"/>
                  <a:cs typeface="Montserrat Bold"/>
                  <a:sym typeface="Montserrat Bold"/>
                </a:rPr>
                <a:t>Chưa</a:t>
              </a:r>
              <a:r>
                <a:rPr lang="en-US" sz="1699" b="1" spc="40" dirty="0">
                  <a:solidFill>
                    <a:srgbClr val="0D1D4B"/>
                  </a:solidFill>
                  <a:latin typeface="Montserrat Bold"/>
                  <a:ea typeface="Montserrat Bold"/>
                  <a:cs typeface="Montserrat Bold"/>
                  <a:sym typeface="Montserrat Bold"/>
                </a:rPr>
                <a:t> </a:t>
              </a:r>
              <a:r>
                <a:rPr lang="en-US" sz="1699" b="1" spc="40" dirty="0" err="1">
                  <a:solidFill>
                    <a:srgbClr val="0D1D4B"/>
                  </a:solidFill>
                  <a:latin typeface="Montserrat Bold"/>
                  <a:ea typeface="Montserrat Bold"/>
                  <a:cs typeface="Montserrat Bold"/>
                  <a:sym typeface="Montserrat Bold"/>
                </a:rPr>
                <a:t>được</a:t>
              </a:r>
              <a:r>
                <a:rPr lang="en-US" sz="1699" b="1" spc="40" dirty="0">
                  <a:solidFill>
                    <a:srgbClr val="0D1D4B"/>
                  </a:solidFill>
                  <a:latin typeface="Montserrat Bold"/>
                  <a:ea typeface="Montserrat Bold"/>
                  <a:cs typeface="Montserrat Bold"/>
                  <a:sym typeface="Montserrat Bold"/>
                </a:rPr>
                <a:t> </a:t>
              </a:r>
              <a:r>
                <a:rPr lang="en-US" sz="1699" b="1" spc="40" dirty="0" err="1">
                  <a:solidFill>
                    <a:srgbClr val="0D1D4B"/>
                  </a:solidFill>
                  <a:latin typeface="Montserrat Bold"/>
                  <a:ea typeface="Montserrat Bold"/>
                  <a:cs typeface="Montserrat Bold"/>
                  <a:sym typeface="Montserrat Bold"/>
                </a:rPr>
                <a:t>huấn</a:t>
              </a:r>
              <a:r>
                <a:rPr lang="en-US" sz="1699" b="1" spc="40" dirty="0">
                  <a:solidFill>
                    <a:srgbClr val="0D1D4B"/>
                  </a:solidFill>
                  <a:latin typeface="Montserrat Bold"/>
                  <a:ea typeface="Montserrat Bold"/>
                  <a:cs typeface="Montserrat Bold"/>
                  <a:sym typeface="Montserrat Bold"/>
                </a:rPr>
                <a:t> </a:t>
              </a:r>
              <a:r>
                <a:rPr lang="en-US" sz="1699" b="1" spc="40" dirty="0" err="1">
                  <a:solidFill>
                    <a:srgbClr val="0D1D4B"/>
                  </a:solidFill>
                  <a:latin typeface="Montserrat Bold"/>
                  <a:ea typeface="Montserrat Bold"/>
                  <a:cs typeface="Montserrat Bold"/>
                  <a:sym typeface="Montserrat Bold"/>
                </a:rPr>
                <a:t>luyện</a:t>
              </a:r>
              <a:r>
                <a:rPr lang="en-US" sz="1699" b="1" spc="40" dirty="0">
                  <a:solidFill>
                    <a:srgbClr val="0D1D4B"/>
                  </a:solidFill>
                  <a:latin typeface="Montserrat Bold"/>
                  <a:ea typeface="Montserrat Bold"/>
                  <a:cs typeface="Montserrat Bold"/>
                  <a:sym typeface="Montserrat Bold"/>
                </a:rPr>
                <a:t> </a:t>
              </a:r>
              <a:r>
                <a:rPr lang="en-US" sz="1699" b="1" spc="40" dirty="0" err="1">
                  <a:solidFill>
                    <a:srgbClr val="0D1D4B"/>
                  </a:solidFill>
                  <a:latin typeface="Montserrat Bold"/>
                  <a:ea typeface="Montserrat Bold"/>
                  <a:cs typeface="Montserrat Bold"/>
                  <a:sym typeface="Montserrat Bold"/>
                </a:rPr>
                <a:t>dữ</a:t>
              </a:r>
              <a:r>
                <a:rPr lang="en-US" sz="1699" b="1" spc="40" dirty="0">
                  <a:solidFill>
                    <a:srgbClr val="0D1D4B"/>
                  </a:solidFill>
                  <a:latin typeface="Montserrat Bold"/>
                  <a:ea typeface="Montserrat Bold"/>
                  <a:cs typeface="Montserrat Bold"/>
                  <a:sym typeface="Montserrat Bold"/>
                </a:rPr>
                <a:t> </a:t>
              </a:r>
              <a:r>
                <a:rPr lang="en-US" sz="1699" b="1" spc="40" dirty="0" err="1">
                  <a:solidFill>
                    <a:srgbClr val="0D1D4B"/>
                  </a:solidFill>
                  <a:latin typeface="Montserrat Bold"/>
                  <a:ea typeface="Montserrat Bold"/>
                  <a:cs typeface="Montserrat Bold"/>
                  <a:sym typeface="Montserrat Bold"/>
                </a:rPr>
                <a:t>liệu</a:t>
              </a:r>
              <a:r>
                <a:rPr lang="en-US" sz="1699" b="1" spc="40" dirty="0">
                  <a:solidFill>
                    <a:srgbClr val="0D1D4B"/>
                  </a:solidFill>
                  <a:latin typeface="Montserrat Bold"/>
                  <a:ea typeface="Montserrat Bold"/>
                  <a:cs typeface="Montserrat Bold"/>
                  <a:sym typeface="Montserrat Bold"/>
                </a:rPr>
                <a:t> </a:t>
              </a:r>
              <a:r>
                <a:rPr lang="en-US" sz="1699" b="1" spc="40" dirty="0" err="1">
                  <a:solidFill>
                    <a:srgbClr val="0D1D4B"/>
                  </a:solidFill>
                  <a:latin typeface="Montserrat Bold"/>
                  <a:ea typeface="Montserrat Bold"/>
                  <a:cs typeface="Montserrat Bold"/>
                  <a:sym typeface="Montserrat Bold"/>
                </a:rPr>
                <a:t>này</a:t>
              </a:r>
              <a:r>
                <a:rPr lang="en-US" sz="1699" b="1" spc="40" dirty="0">
                  <a:solidFill>
                    <a:srgbClr val="0D1D4B"/>
                  </a:solidFill>
                  <a:latin typeface="Montserrat Bold"/>
                  <a:ea typeface="Montserrat Bold"/>
                  <a:cs typeface="Montserrat Bold"/>
                  <a:sym typeface="Montserrat Bold"/>
                </a:rPr>
                <a:t> =&gt; “</a:t>
              </a:r>
              <a:r>
                <a:rPr lang="en-US" sz="1699" b="1" spc="40" dirty="0" err="1">
                  <a:solidFill>
                    <a:srgbClr val="0D1D4B"/>
                  </a:solidFill>
                  <a:latin typeface="Montserrat Bold"/>
                  <a:ea typeface="Montserrat Bold"/>
                  <a:cs typeface="Montserrat Bold"/>
                  <a:sym typeface="Montserrat Bold"/>
                </a:rPr>
                <a:t>bịa</a:t>
              </a:r>
              <a:r>
                <a:rPr lang="en-US" sz="1699" b="1" spc="40" dirty="0">
                  <a:solidFill>
                    <a:srgbClr val="0D1D4B"/>
                  </a:solidFill>
                  <a:latin typeface="Montserrat Bold"/>
                  <a:ea typeface="Montserrat Bold"/>
                  <a:cs typeface="Montserrat Bold"/>
                  <a:sym typeface="Montserrat Bold"/>
                </a:rPr>
                <a:t>” </a:t>
              </a:r>
              <a:r>
                <a:rPr lang="en-US" sz="1699" b="1" spc="40" dirty="0" err="1">
                  <a:solidFill>
                    <a:srgbClr val="0D1D4B"/>
                  </a:solidFill>
                  <a:latin typeface="Montserrat Bold"/>
                  <a:ea typeface="Montserrat Bold"/>
                  <a:cs typeface="Montserrat Bold"/>
                  <a:sym typeface="Montserrat Bold"/>
                </a:rPr>
                <a:t>ra</a:t>
              </a:r>
              <a:r>
                <a:rPr lang="en-US" sz="1699" b="1" spc="40" dirty="0">
                  <a:solidFill>
                    <a:srgbClr val="0D1D4B"/>
                  </a:solidFill>
                  <a:latin typeface="Montserrat Bold"/>
                  <a:ea typeface="Montserrat Bold"/>
                  <a:cs typeface="Montserrat Bold"/>
                  <a:sym typeface="Montserrat Bold"/>
                </a:rPr>
                <a:t> </a:t>
              </a:r>
              <a:r>
                <a:rPr lang="en-US" sz="1699" b="1" spc="40" dirty="0" err="1">
                  <a:solidFill>
                    <a:srgbClr val="0D1D4B"/>
                  </a:solidFill>
                  <a:latin typeface="Montserrat Bold"/>
                  <a:ea typeface="Montserrat Bold"/>
                  <a:cs typeface="Montserrat Bold"/>
                  <a:sym typeface="Montserrat Bold"/>
                </a:rPr>
                <a:t>dữ</a:t>
              </a:r>
              <a:r>
                <a:rPr lang="en-US" sz="1699" b="1" spc="40" dirty="0">
                  <a:solidFill>
                    <a:srgbClr val="0D1D4B"/>
                  </a:solidFill>
                  <a:latin typeface="Montserrat Bold"/>
                  <a:ea typeface="Montserrat Bold"/>
                  <a:cs typeface="Montserrat Bold"/>
                  <a:sym typeface="Montserrat Bold"/>
                </a:rPr>
                <a:t> </a:t>
              </a:r>
              <a:r>
                <a:rPr lang="en-US" sz="1699" b="1" spc="40" dirty="0" err="1">
                  <a:solidFill>
                    <a:srgbClr val="0D1D4B"/>
                  </a:solidFill>
                  <a:latin typeface="Montserrat Bold"/>
                  <a:ea typeface="Montserrat Bold"/>
                  <a:cs typeface="Montserrat Bold"/>
                  <a:sym typeface="Montserrat Bold"/>
                </a:rPr>
                <a:t>liệu</a:t>
              </a:r>
              <a:endParaRPr lang="en-US" sz="1699" b="1" spc="40" dirty="0">
                <a:solidFill>
                  <a:srgbClr val="0D1D4B"/>
                </a:solidFill>
                <a:latin typeface="Montserrat Bold"/>
                <a:ea typeface="Montserrat Bold"/>
                <a:cs typeface="Montserrat Bold"/>
                <a:sym typeface="Montserrat Bold"/>
              </a:endParaRPr>
            </a:p>
          </p:txBody>
        </p:sp>
      </p:grpSp>
      <p:sp>
        <p:nvSpPr>
          <p:cNvPr id="43" name="TextBox 43"/>
          <p:cNvSpPr txBox="1"/>
          <p:nvPr/>
        </p:nvSpPr>
        <p:spPr>
          <a:xfrm>
            <a:off x="1028700" y="2444483"/>
            <a:ext cx="10081819" cy="685800"/>
          </a:xfrm>
          <a:prstGeom prst="rect">
            <a:avLst/>
          </a:prstGeom>
        </p:spPr>
        <p:txBody>
          <a:bodyPr lIns="0" tIns="0" rIns="0" bIns="0" rtlCol="0" anchor="t">
            <a:spAutoFit/>
          </a:bodyPr>
          <a:lstStyle/>
          <a:p>
            <a:pPr algn="just">
              <a:lnSpc>
                <a:spcPts val="6000"/>
              </a:lnSpc>
            </a:pPr>
            <a:r>
              <a:rPr lang="en-US" sz="3000" b="1" dirty="0">
                <a:solidFill>
                  <a:srgbClr val="0C1D4B"/>
                </a:solidFill>
                <a:latin typeface="Montserrat Bold"/>
                <a:ea typeface="Montserrat Bold"/>
                <a:cs typeface="Montserrat Bold"/>
                <a:sym typeface="Montserrat Bold"/>
              </a:rPr>
              <a:t>Chatbot </a:t>
            </a:r>
            <a:r>
              <a:rPr lang="en-US" sz="3000" b="1" dirty="0" err="1">
                <a:solidFill>
                  <a:srgbClr val="0C1D4B"/>
                </a:solidFill>
                <a:latin typeface="Montserrat Bold"/>
                <a:ea typeface="Montserrat Bold"/>
                <a:cs typeface="Montserrat Bold"/>
                <a:sym typeface="Montserrat Bold"/>
              </a:rPr>
              <a:t>dựa</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trên</a:t>
            </a:r>
            <a:r>
              <a:rPr lang="en-US" sz="3000" b="1" dirty="0">
                <a:solidFill>
                  <a:srgbClr val="0C1D4B"/>
                </a:solidFill>
                <a:latin typeface="Montserrat Bold"/>
                <a:ea typeface="Montserrat Bold"/>
                <a:cs typeface="Montserrat Bold"/>
                <a:sym typeface="Montserrat Bold"/>
              </a:rPr>
              <a:t> LLMs</a:t>
            </a:r>
          </a:p>
        </p:txBody>
      </p:sp>
      <p:sp>
        <p:nvSpPr>
          <p:cNvPr id="44" name="TextBox 44"/>
          <p:cNvSpPr txBox="1"/>
          <p:nvPr/>
        </p:nvSpPr>
        <p:spPr>
          <a:xfrm>
            <a:off x="974395" y="5353213"/>
            <a:ext cx="10081819" cy="685800"/>
          </a:xfrm>
          <a:prstGeom prst="rect">
            <a:avLst/>
          </a:prstGeom>
        </p:spPr>
        <p:txBody>
          <a:bodyPr lIns="0" tIns="0" rIns="0" bIns="0" rtlCol="0" anchor="t">
            <a:spAutoFit/>
          </a:bodyPr>
          <a:lstStyle/>
          <a:p>
            <a:pPr algn="just">
              <a:lnSpc>
                <a:spcPts val="6000"/>
              </a:lnSpc>
            </a:pPr>
            <a:r>
              <a:rPr lang="en-US" sz="3000" b="1" dirty="0" err="1">
                <a:solidFill>
                  <a:srgbClr val="0C1D4B"/>
                </a:solidFill>
                <a:latin typeface="Montserrat Bold"/>
                <a:ea typeface="Montserrat Bold"/>
                <a:cs typeface="Montserrat Bold"/>
                <a:sym typeface="Montserrat Bold"/>
              </a:rPr>
              <a:t>Những</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hạn</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chế</a:t>
            </a:r>
            <a:endParaRPr lang="en-US" sz="3000" b="1" dirty="0">
              <a:solidFill>
                <a:srgbClr val="0C1D4B"/>
              </a:solidFill>
              <a:latin typeface="Montserrat Bold"/>
              <a:ea typeface="Montserrat Bold"/>
              <a:cs typeface="Montserrat Bold"/>
              <a:sym typeface="Montserrat Bold"/>
            </a:endParaRPr>
          </a:p>
        </p:txBody>
      </p:sp>
      <p:sp>
        <p:nvSpPr>
          <p:cNvPr id="45" name="TextBox 45"/>
          <p:cNvSpPr txBox="1"/>
          <p:nvPr/>
        </p:nvSpPr>
        <p:spPr>
          <a:xfrm>
            <a:off x="1028700" y="1705577"/>
            <a:ext cx="13915105"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2.2. Một số phương pháp xây dựng chatbot</a:t>
            </a:r>
          </a:p>
        </p:txBody>
      </p:sp>
      <p:sp>
        <p:nvSpPr>
          <p:cNvPr id="46" name="TextBox 46"/>
          <p:cNvSpPr txBox="1"/>
          <p:nvPr/>
        </p:nvSpPr>
        <p:spPr>
          <a:xfrm>
            <a:off x="1028700" y="3282683"/>
            <a:ext cx="8183157" cy="1790700"/>
          </a:xfrm>
          <a:prstGeom prst="rect">
            <a:avLst/>
          </a:prstGeom>
        </p:spPr>
        <p:txBody>
          <a:bodyPr lIns="0" tIns="0" rIns="0" bIns="0" rtlCol="0" anchor="t">
            <a:spAutoFit/>
          </a:bodyPr>
          <a:lstStyle/>
          <a:p>
            <a:pPr marL="647700" lvl="1" indent="-323850" algn="just">
              <a:lnSpc>
                <a:spcPts val="4800"/>
              </a:lnSpc>
              <a:buFont typeface="Arial"/>
              <a:buChar char="•"/>
            </a:pPr>
            <a:r>
              <a:rPr lang="en-US" sz="3000" dirty="0">
                <a:solidFill>
                  <a:srgbClr val="0C1D4B"/>
                </a:solidFill>
                <a:latin typeface="Montserrat"/>
                <a:ea typeface="Montserrat"/>
                <a:cs typeface="Montserrat"/>
                <a:sym typeface="Montserrat"/>
              </a:rPr>
              <a:t>Chatbot </a:t>
            </a:r>
            <a:r>
              <a:rPr lang="en-US" sz="3000" dirty="0" err="1">
                <a:solidFill>
                  <a:srgbClr val="0C1D4B"/>
                </a:solidFill>
                <a:latin typeface="Montserrat"/>
                <a:ea typeface="Montserrat"/>
                <a:cs typeface="Montserrat"/>
                <a:sym typeface="Montserrat"/>
              </a:rPr>
              <a:t>nhận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đầu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vào</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sử</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dụng</a:t>
            </a:r>
            <a:r>
              <a:rPr lang="en-US" sz="3000" dirty="0">
                <a:solidFill>
                  <a:srgbClr val="0C1D4B"/>
                </a:solidFill>
                <a:latin typeface="Montserrat"/>
                <a:ea typeface="Montserrat"/>
                <a:cs typeface="Montserrat"/>
                <a:sym typeface="Montserrat"/>
              </a:rPr>
              <a:t> LLMs </a:t>
            </a:r>
            <a:r>
              <a:rPr lang="en-US" sz="3000" dirty="0" err="1">
                <a:solidFill>
                  <a:srgbClr val="0C1D4B"/>
                </a:solidFill>
                <a:latin typeface="Montserrat"/>
                <a:ea typeface="Montserrat"/>
                <a:cs typeface="Montserrat"/>
                <a:sym typeface="Montserrat"/>
              </a:rPr>
              <a:t>để</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tạo</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sinh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đầu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ra</a:t>
            </a:r>
            <a:endParaRPr lang="en-US" sz="3000" dirty="0">
              <a:solidFill>
                <a:srgbClr val="0C1D4B"/>
              </a:solidFill>
              <a:latin typeface="Montserrat"/>
              <a:ea typeface="Montserrat"/>
              <a:cs typeface="Montserrat"/>
              <a:sym typeface="Montserrat"/>
            </a:endParaRPr>
          </a:p>
          <a:p>
            <a:pPr marL="647700" lvl="1" indent="-323850" algn="just">
              <a:lnSpc>
                <a:spcPts val="4800"/>
              </a:lnSpc>
              <a:buFont typeface="Arial"/>
              <a:buChar char="•"/>
            </a:pPr>
            <a:r>
              <a:rPr lang="en-US" sz="3000" dirty="0" err="1">
                <a:solidFill>
                  <a:srgbClr val="0C1D4B"/>
                </a:solidFill>
                <a:latin typeface="Montserrat"/>
                <a:ea typeface="Montserrat"/>
                <a:cs typeface="Montserrat"/>
                <a:sym typeface="Montserrat"/>
              </a:rPr>
              <a:t>Trả</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lời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linh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hoạt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thấu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hiểu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ngữ</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cảnh</a:t>
            </a:r>
            <a:endParaRPr lang="en-US" sz="3000" dirty="0">
              <a:solidFill>
                <a:srgbClr val="0C1D4B"/>
              </a:solidFill>
              <a:latin typeface="Montserrat"/>
              <a:ea typeface="Montserrat"/>
              <a:cs typeface="Montserrat"/>
              <a:sym typeface="Montserrat"/>
            </a:endParaRPr>
          </a:p>
        </p:txBody>
      </p:sp>
      <p:sp>
        <p:nvSpPr>
          <p:cNvPr id="47" name="TextBox 47"/>
          <p:cNvSpPr txBox="1"/>
          <p:nvPr/>
        </p:nvSpPr>
        <p:spPr>
          <a:xfrm>
            <a:off x="1028700" y="6189190"/>
            <a:ext cx="8183157" cy="3009900"/>
          </a:xfrm>
          <a:prstGeom prst="rect">
            <a:avLst/>
          </a:prstGeom>
        </p:spPr>
        <p:txBody>
          <a:bodyPr lIns="0" tIns="0" rIns="0" bIns="0" rtlCol="0" anchor="t">
            <a:spAutoFit/>
          </a:bodyPr>
          <a:lstStyle/>
          <a:p>
            <a:pPr marL="647700" lvl="1" indent="-323850" algn="just">
              <a:lnSpc>
                <a:spcPts val="4800"/>
              </a:lnSpc>
              <a:buFont typeface="Arial"/>
              <a:buChar char="•"/>
            </a:pPr>
            <a:r>
              <a:rPr lang="en-US" sz="3000" dirty="0" err="1">
                <a:solidFill>
                  <a:srgbClr val="0C1D4B"/>
                </a:solidFill>
                <a:latin typeface="Montserrat"/>
                <a:ea typeface="Montserrat"/>
                <a:cs typeface="Montserrat"/>
                <a:sym typeface="Montserrat"/>
              </a:rPr>
              <a:t>Không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tận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dụng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được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những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nguồn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dữ</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liệu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nội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bộ</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điểm</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số</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sinh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viên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quy</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định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học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viện</a:t>
            </a:r>
            <a:r>
              <a:rPr lang="en-US" sz="3000" dirty="0">
                <a:solidFill>
                  <a:srgbClr val="0C1D4B"/>
                </a:solidFill>
                <a:latin typeface="Montserrat"/>
                <a:ea typeface="Montserrat"/>
                <a:cs typeface="Montserrat"/>
                <a:sym typeface="Montserrat"/>
              </a:rPr>
              <a:t>,...)</a:t>
            </a:r>
          </a:p>
          <a:p>
            <a:pPr marL="647700" lvl="1" indent="-323850" algn="just">
              <a:lnSpc>
                <a:spcPts val="4800"/>
              </a:lnSpc>
              <a:buFont typeface="Arial"/>
              <a:buChar char="•"/>
            </a:pPr>
            <a:r>
              <a:rPr lang="en-US" sz="3000" dirty="0" err="1">
                <a:solidFill>
                  <a:srgbClr val="0C1D4B"/>
                </a:solidFill>
                <a:latin typeface="Montserrat"/>
                <a:ea typeface="Montserrat"/>
                <a:cs typeface="Montserrat"/>
                <a:sym typeface="Montserrat"/>
              </a:rPr>
              <a:t>Hiện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tượng</a:t>
            </a:r>
            <a:r>
              <a:rPr lang="en-US" sz="3000" dirty="0">
                <a:solidFill>
                  <a:srgbClr val="0C1D4B"/>
                </a:solidFill>
                <a:latin typeface="Montserrat"/>
                <a:ea typeface="Montserrat"/>
                <a:cs typeface="Montserrat"/>
                <a:sym typeface="Montserrat"/>
              </a:rPr>
              <a:t> </a:t>
            </a:r>
            <a:r>
              <a:rPr lang="en-US" sz="3000" b="1" dirty="0" err="1">
                <a:solidFill>
                  <a:srgbClr val="0C1D4B"/>
                </a:solidFill>
                <a:latin typeface="Montserrat Bold"/>
                <a:ea typeface="Montserrat Bold"/>
                <a:cs typeface="Montserrat Bold"/>
                <a:sym typeface="Montserrat Bold"/>
              </a:rPr>
              <a:t>ảo</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giác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của</a:t>
            </a:r>
            <a:r>
              <a:rPr lang="en-US" sz="3000" dirty="0">
                <a:solidFill>
                  <a:srgbClr val="0C1D4B"/>
                </a:solidFill>
                <a:latin typeface="Montserrat"/>
                <a:ea typeface="Montserrat"/>
                <a:cs typeface="Montserrat"/>
                <a:sym typeface="Montserrat"/>
              </a:rPr>
              <a:t> LLMs </a:t>
            </a:r>
            <a:r>
              <a:rPr lang="en-US" sz="3000" dirty="0" err="1">
                <a:solidFill>
                  <a:srgbClr val="0C1D4B"/>
                </a:solidFill>
                <a:latin typeface="Montserrat"/>
                <a:ea typeface="Montserrat"/>
                <a:cs typeface="Montserrat"/>
                <a:sym typeface="Montserrat"/>
              </a:rPr>
              <a:t>tạo</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ra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nội</a:t>
            </a:r>
            <a:r>
              <a:rPr lang="en-US" sz="3000" dirty="0">
                <a:solidFill>
                  <a:srgbClr val="0C1D4B"/>
                </a:solidFill>
                <a:latin typeface="Montserrat"/>
                <a:ea typeface="Montserrat"/>
                <a:cs typeface="Montserrat"/>
                <a:sym typeface="Montserrat"/>
              </a:rPr>
              <a:t> dung </a:t>
            </a:r>
            <a:r>
              <a:rPr lang="en-US" sz="3000" dirty="0" err="1">
                <a:solidFill>
                  <a:srgbClr val="0C1D4B"/>
                </a:solidFill>
                <a:latin typeface="Montserrat"/>
                <a:ea typeface="Montserrat"/>
                <a:cs typeface="Montserrat"/>
                <a:sym typeface="Montserrat"/>
              </a:rPr>
              <a:t>sai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sự</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thật</a:t>
            </a:r>
            <a:endParaRPr lang="en-US" sz="3000" dirty="0">
              <a:solidFill>
                <a:srgbClr val="0C1D4B"/>
              </a:solidFill>
              <a:latin typeface="Montserrat"/>
              <a:ea typeface="Montserrat"/>
              <a:cs typeface="Montserrat"/>
              <a:sym typeface="Montserrat"/>
            </a:endParaRPr>
          </a:p>
        </p:txBody>
      </p:sp>
      <p:sp>
        <p:nvSpPr>
          <p:cNvPr id="48" name="TextBox 48"/>
          <p:cNvSpPr txBox="1"/>
          <p:nvPr/>
        </p:nvSpPr>
        <p:spPr>
          <a:xfrm>
            <a:off x="10504767" y="8702319"/>
            <a:ext cx="6942699" cy="337185"/>
          </a:xfrm>
          <a:prstGeom prst="rect">
            <a:avLst/>
          </a:prstGeom>
        </p:spPr>
        <p:txBody>
          <a:bodyPr lIns="0" tIns="0" rIns="0" bIns="0" rtlCol="0" anchor="t">
            <a:spAutoFit/>
          </a:bodyPr>
          <a:lstStyle/>
          <a:p>
            <a:pPr algn="just">
              <a:lnSpc>
                <a:spcPts val="2880"/>
              </a:lnSpc>
            </a:pPr>
            <a:r>
              <a:rPr lang="en-US" sz="1800" i="1">
                <a:solidFill>
                  <a:srgbClr val="0C1D4B"/>
                </a:solidFill>
                <a:latin typeface="Montserrat Italics"/>
                <a:ea typeface="Montserrat Italics"/>
                <a:cs typeface="Montserrat Italics"/>
                <a:sym typeface="Montserrat Italics"/>
              </a:rPr>
              <a:t>** “Bịa” là từ thể hiện việc tự nghĩ ra nội dung không có thật</a:t>
            </a:r>
          </a:p>
        </p:txBody>
      </p:sp>
      <p:sp>
        <p:nvSpPr>
          <p:cNvPr id="49" name="TextBox 49"/>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Freeform 5"/>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6" name="Group 6"/>
          <p:cNvGrpSpPr/>
          <p:nvPr/>
        </p:nvGrpSpPr>
        <p:grpSpPr>
          <a:xfrm>
            <a:off x="-3127839" y="9429370"/>
            <a:ext cx="22035035" cy="3394679"/>
            <a:chOff x="0" y="0"/>
            <a:chExt cx="29380046" cy="4526239"/>
          </a:xfrm>
        </p:grpSpPr>
        <p:grpSp>
          <p:nvGrpSpPr>
            <p:cNvPr id="7" name="Group 7"/>
            <p:cNvGrpSpPr/>
            <p:nvPr/>
          </p:nvGrpSpPr>
          <p:grpSpPr>
            <a:xfrm>
              <a:off x="0" y="954681"/>
              <a:ext cx="29380046" cy="3571558"/>
              <a:chOff x="0" y="0"/>
              <a:chExt cx="5803466" cy="705493"/>
            </a:xfrm>
          </p:grpSpPr>
          <p:sp>
            <p:nvSpPr>
              <p:cNvPr id="8" name="Freeform 8"/>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9" name="TextBox 9"/>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0" name="Freeform 10"/>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1" name="TextBox 11"/>
          <p:cNvSpPr txBox="1"/>
          <p:nvPr/>
        </p:nvSpPr>
        <p:spPr>
          <a:xfrm>
            <a:off x="1076915" y="1658053"/>
            <a:ext cx="13915105"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2.2. </a:t>
            </a:r>
            <a:r>
              <a:rPr lang="en-US" sz="3999" b="1" dirty="0" err="1">
                <a:solidFill>
                  <a:srgbClr val="0C1D4B"/>
                </a:solidFill>
                <a:latin typeface="Montserrat Heavy"/>
                <a:ea typeface="Montserrat Heavy"/>
                <a:cs typeface="Montserrat Heavy"/>
                <a:sym typeface="Montserrat Heavy"/>
              </a:rPr>
              <a:t>Một</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số</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phương</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pháp</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xây</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dựng</a:t>
            </a:r>
            <a:r>
              <a:rPr lang="en-US" sz="3999" b="1" dirty="0">
                <a:solidFill>
                  <a:srgbClr val="0C1D4B"/>
                </a:solidFill>
                <a:latin typeface="Montserrat Heavy"/>
                <a:ea typeface="Montserrat Heavy"/>
                <a:cs typeface="Montserrat Heavy"/>
                <a:sym typeface="Montserrat Heavy"/>
              </a:rPr>
              <a:t> chatbot</a:t>
            </a:r>
          </a:p>
        </p:txBody>
      </p:sp>
      <p:sp>
        <p:nvSpPr>
          <p:cNvPr id="12" name="TextBox 12"/>
          <p:cNvSpPr txBox="1"/>
          <p:nvPr/>
        </p:nvSpPr>
        <p:spPr>
          <a:xfrm>
            <a:off x="14606018" y="2005502"/>
            <a:ext cx="1546679" cy="325925"/>
          </a:xfrm>
          <a:prstGeom prst="rect">
            <a:avLst/>
          </a:prstGeom>
        </p:spPr>
        <p:txBody>
          <a:bodyPr lIns="0" tIns="0" rIns="0" bIns="0" rtlCol="0" anchor="t">
            <a:spAutoFit/>
          </a:bodyPr>
          <a:lstStyle/>
          <a:p>
            <a:pPr algn="ctr">
              <a:lnSpc>
                <a:spcPts val="2674"/>
              </a:lnSpc>
            </a:pPr>
            <a:r>
              <a:rPr lang="en-US" sz="1910" b="1" spc="45">
                <a:solidFill>
                  <a:srgbClr val="0D1D4B"/>
                </a:solidFill>
                <a:latin typeface="Montserrat Bold"/>
                <a:ea typeface="Montserrat Bold"/>
                <a:cs typeface="Montserrat Bold"/>
                <a:sym typeface="Montserrat Bold"/>
              </a:rPr>
              <a:t>Câu hỏi</a:t>
            </a:r>
          </a:p>
        </p:txBody>
      </p:sp>
      <p:grpSp>
        <p:nvGrpSpPr>
          <p:cNvPr id="13" name="Group 13"/>
          <p:cNvGrpSpPr/>
          <p:nvPr/>
        </p:nvGrpSpPr>
        <p:grpSpPr>
          <a:xfrm>
            <a:off x="11772162" y="1925577"/>
            <a:ext cx="5943949" cy="7989003"/>
            <a:chOff x="0" y="0"/>
            <a:chExt cx="7925266" cy="10652004"/>
          </a:xfrm>
        </p:grpSpPr>
        <p:sp>
          <p:nvSpPr>
            <p:cNvPr id="14" name="TextBox 14"/>
            <p:cNvSpPr txBox="1"/>
            <p:nvPr/>
          </p:nvSpPr>
          <p:spPr>
            <a:xfrm>
              <a:off x="1105746" y="10148872"/>
              <a:ext cx="6210438" cy="503132"/>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grpSp>
          <p:nvGrpSpPr>
            <p:cNvPr id="15" name="Group 15"/>
            <p:cNvGrpSpPr/>
            <p:nvPr/>
          </p:nvGrpSpPr>
          <p:grpSpPr>
            <a:xfrm>
              <a:off x="1693924" y="1677932"/>
              <a:ext cx="6231342" cy="6169090"/>
              <a:chOff x="0" y="0"/>
              <a:chExt cx="1230882" cy="1218586"/>
            </a:xfrm>
          </p:grpSpPr>
          <p:sp>
            <p:nvSpPr>
              <p:cNvPr id="16" name="Freeform 16"/>
              <p:cNvSpPr/>
              <p:nvPr/>
            </p:nvSpPr>
            <p:spPr>
              <a:xfrm>
                <a:off x="0" y="0"/>
                <a:ext cx="1230882" cy="1218586"/>
              </a:xfrm>
              <a:custGeom>
                <a:avLst/>
                <a:gdLst/>
                <a:ahLst/>
                <a:cxnLst/>
                <a:rect l="l" t="t" r="r" b="b"/>
                <a:pathLst>
                  <a:path w="1230882" h="1218586">
                    <a:moveTo>
                      <a:pt x="84484" y="0"/>
                    </a:moveTo>
                    <a:lnTo>
                      <a:pt x="1146398" y="0"/>
                    </a:lnTo>
                    <a:cubicBezTo>
                      <a:pt x="1168805" y="0"/>
                      <a:pt x="1190294" y="8901"/>
                      <a:pt x="1206137" y="24745"/>
                    </a:cubicBezTo>
                    <a:cubicBezTo>
                      <a:pt x="1221981" y="40589"/>
                      <a:pt x="1230882" y="62078"/>
                      <a:pt x="1230882" y="84484"/>
                    </a:cubicBezTo>
                    <a:lnTo>
                      <a:pt x="1230882" y="1134102"/>
                    </a:lnTo>
                    <a:cubicBezTo>
                      <a:pt x="1230882" y="1156508"/>
                      <a:pt x="1221981" y="1177997"/>
                      <a:pt x="1206137" y="1193841"/>
                    </a:cubicBezTo>
                    <a:cubicBezTo>
                      <a:pt x="1190294" y="1209685"/>
                      <a:pt x="1168805" y="1218586"/>
                      <a:pt x="1146398" y="1218586"/>
                    </a:cubicBezTo>
                    <a:lnTo>
                      <a:pt x="84484" y="1218586"/>
                    </a:lnTo>
                    <a:cubicBezTo>
                      <a:pt x="62078" y="1218586"/>
                      <a:pt x="40589" y="1209685"/>
                      <a:pt x="24745" y="1193841"/>
                    </a:cubicBezTo>
                    <a:cubicBezTo>
                      <a:pt x="8901" y="1177997"/>
                      <a:pt x="0" y="1156508"/>
                      <a:pt x="0" y="1134102"/>
                    </a:cubicBezTo>
                    <a:lnTo>
                      <a:pt x="0" y="84484"/>
                    </a:lnTo>
                    <a:cubicBezTo>
                      <a:pt x="0" y="62078"/>
                      <a:pt x="8901" y="40589"/>
                      <a:pt x="24745" y="24745"/>
                    </a:cubicBezTo>
                    <a:cubicBezTo>
                      <a:pt x="40589" y="8901"/>
                      <a:pt x="62078" y="0"/>
                      <a:pt x="84484" y="0"/>
                    </a:cubicBezTo>
                    <a:close/>
                  </a:path>
                </a:pathLst>
              </a:custGeom>
              <a:solidFill>
                <a:srgbClr val="000000">
                  <a:alpha val="0"/>
                </a:srgbClr>
              </a:solidFill>
              <a:ln w="38100" cap="rnd">
                <a:solidFill>
                  <a:srgbClr val="000000"/>
                </a:solidFill>
                <a:prstDash val="solid"/>
                <a:round/>
              </a:ln>
            </p:spPr>
          </p:sp>
          <p:sp>
            <p:nvSpPr>
              <p:cNvPr id="17" name="TextBox 17"/>
              <p:cNvSpPr txBox="1"/>
              <p:nvPr/>
            </p:nvSpPr>
            <p:spPr>
              <a:xfrm>
                <a:off x="0" y="-47625"/>
                <a:ext cx="1230882" cy="1266211"/>
              </a:xfrm>
              <a:prstGeom prst="rect">
                <a:avLst/>
              </a:prstGeom>
            </p:spPr>
            <p:txBody>
              <a:bodyPr lIns="50800" tIns="50800" rIns="50800" bIns="50800" rtlCol="0" anchor="ctr"/>
              <a:lstStyle/>
              <a:p>
                <a:pPr algn="ctr">
                  <a:lnSpc>
                    <a:spcPts val="2940"/>
                  </a:lnSpc>
                </a:pPr>
                <a:endParaRPr/>
              </a:p>
            </p:txBody>
          </p:sp>
        </p:grpSp>
        <p:sp>
          <p:nvSpPr>
            <p:cNvPr id="18" name="Freeform 18"/>
            <p:cNvSpPr/>
            <p:nvPr/>
          </p:nvSpPr>
          <p:spPr>
            <a:xfrm>
              <a:off x="3048835" y="2614924"/>
              <a:ext cx="1200300" cy="1204818"/>
            </a:xfrm>
            <a:custGeom>
              <a:avLst/>
              <a:gdLst/>
              <a:ahLst/>
              <a:cxnLst/>
              <a:rect l="l" t="t" r="r" b="b"/>
              <a:pathLst>
                <a:path w="1200300" h="1204818">
                  <a:moveTo>
                    <a:pt x="0" y="0"/>
                  </a:moveTo>
                  <a:lnTo>
                    <a:pt x="1200300" y="0"/>
                  </a:lnTo>
                  <a:lnTo>
                    <a:pt x="1200300" y="1204818"/>
                  </a:lnTo>
                  <a:lnTo>
                    <a:pt x="0" y="12048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TextBox 19"/>
            <p:cNvSpPr txBox="1"/>
            <p:nvPr/>
          </p:nvSpPr>
          <p:spPr>
            <a:xfrm>
              <a:off x="3221532" y="3794404"/>
              <a:ext cx="854907" cy="446549"/>
            </a:xfrm>
            <a:prstGeom prst="rect">
              <a:avLst/>
            </a:prstGeom>
          </p:spPr>
          <p:txBody>
            <a:bodyPr lIns="0" tIns="0" rIns="0" bIns="0" rtlCol="0" anchor="t">
              <a:spAutoFit/>
            </a:bodyPr>
            <a:lstStyle/>
            <a:p>
              <a:pPr algn="just">
                <a:lnSpc>
                  <a:spcPts val="2916"/>
                </a:lnSpc>
              </a:pPr>
              <a:r>
                <a:rPr lang="en-US" sz="1822" b="1">
                  <a:solidFill>
                    <a:srgbClr val="0C1D4B"/>
                  </a:solidFill>
                  <a:latin typeface="Montserrat Bold"/>
                  <a:ea typeface="Montserrat Bold"/>
                  <a:cs typeface="Montserrat Bold"/>
                  <a:sym typeface="Montserrat Bold"/>
                </a:rPr>
                <a:t>LLMs</a:t>
              </a:r>
            </a:p>
          </p:txBody>
        </p:sp>
        <p:grpSp>
          <p:nvGrpSpPr>
            <p:cNvPr id="20" name="Group 20"/>
            <p:cNvGrpSpPr/>
            <p:nvPr/>
          </p:nvGrpSpPr>
          <p:grpSpPr>
            <a:xfrm>
              <a:off x="3738023" y="0"/>
              <a:ext cx="2143143" cy="698500"/>
              <a:chOff x="0" y="0"/>
              <a:chExt cx="823226" cy="268308"/>
            </a:xfrm>
          </p:grpSpPr>
          <p:sp>
            <p:nvSpPr>
              <p:cNvPr id="21" name="Freeform 21"/>
              <p:cNvSpPr/>
              <p:nvPr/>
            </p:nvSpPr>
            <p:spPr>
              <a:xfrm>
                <a:off x="0" y="0"/>
                <a:ext cx="823226" cy="268308"/>
              </a:xfrm>
              <a:custGeom>
                <a:avLst/>
                <a:gdLst/>
                <a:ahLst/>
                <a:cxnLst/>
                <a:rect l="l" t="t" r="r" b="b"/>
                <a:pathLst>
                  <a:path w="823226" h="268308">
                    <a:moveTo>
                      <a:pt x="134154" y="0"/>
                    </a:moveTo>
                    <a:lnTo>
                      <a:pt x="689072" y="0"/>
                    </a:lnTo>
                    <a:cubicBezTo>
                      <a:pt x="724652" y="0"/>
                      <a:pt x="758775" y="14134"/>
                      <a:pt x="783933" y="39293"/>
                    </a:cubicBezTo>
                    <a:cubicBezTo>
                      <a:pt x="809092" y="64452"/>
                      <a:pt x="823226" y="98574"/>
                      <a:pt x="823226" y="134154"/>
                    </a:cubicBezTo>
                    <a:lnTo>
                      <a:pt x="823226" y="134154"/>
                    </a:lnTo>
                    <a:cubicBezTo>
                      <a:pt x="823226" y="208246"/>
                      <a:pt x="763163" y="268308"/>
                      <a:pt x="689072" y="268308"/>
                    </a:cubicBezTo>
                    <a:lnTo>
                      <a:pt x="134154" y="268308"/>
                    </a:lnTo>
                    <a:cubicBezTo>
                      <a:pt x="98574" y="268308"/>
                      <a:pt x="64452" y="254174"/>
                      <a:pt x="39293" y="229016"/>
                    </a:cubicBezTo>
                    <a:cubicBezTo>
                      <a:pt x="14134" y="203857"/>
                      <a:pt x="0" y="169734"/>
                      <a:pt x="0" y="134154"/>
                    </a:cubicBezTo>
                    <a:lnTo>
                      <a:pt x="0" y="134154"/>
                    </a:lnTo>
                    <a:cubicBezTo>
                      <a:pt x="0" y="98574"/>
                      <a:pt x="14134" y="64452"/>
                      <a:pt x="39293" y="39293"/>
                    </a:cubicBezTo>
                    <a:cubicBezTo>
                      <a:pt x="64452" y="14134"/>
                      <a:pt x="98574" y="0"/>
                      <a:pt x="134154" y="0"/>
                    </a:cubicBezTo>
                    <a:close/>
                  </a:path>
                </a:pathLst>
              </a:custGeom>
              <a:solidFill>
                <a:srgbClr val="000000">
                  <a:alpha val="0"/>
                </a:srgbClr>
              </a:solidFill>
              <a:ln w="38100" cap="rnd">
                <a:solidFill>
                  <a:srgbClr val="0D1D4B"/>
                </a:solidFill>
                <a:prstDash val="solid"/>
                <a:round/>
              </a:ln>
            </p:spPr>
          </p:sp>
          <p:sp>
            <p:nvSpPr>
              <p:cNvPr id="22" name="TextBox 22"/>
              <p:cNvSpPr txBox="1"/>
              <p:nvPr/>
            </p:nvSpPr>
            <p:spPr>
              <a:xfrm>
                <a:off x="0" y="-47625"/>
                <a:ext cx="823226" cy="315933"/>
              </a:xfrm>
              <a:prstGeom prst="rect">
                <a:avLst/>
              </a:prstGeom>
            </p:spPr>
            <p:txBody>
              <a:bodyPr lIns="26123" tIns="26123" rIns="26123" bIns="26123" rtlCol="0" anchor="ctr"/>
              <a:lstStyle/>
              <a:p>
                <a:pPr algn="ctr">
                  <a:lnSpc>
                    <a:spcPts val="2940"/>
                  </a:lnSpc>
                </a:pPr>
                <a:endParaRPr/>
              </a:p>
            </p:txBody>
          </p:sp>
        </p:grpSp>
        <p:grpSp>
          <p:nvGrpSpPr>
            <p:cNvPr id="23" name="Group 23"/>
            <p:cNvGrpSpPr/>
            <p:nvPr/>
          </p:nvGrpSpPr>
          <p:grpSpPr>
            <a:xfrm>
              <a:off x="3738023" y="8824923"/>
              <a:ext cx="2143143" cy="694538"/>
              <a:chOff x="0" y="0"/>
              <a:chExt cx="823226" cy="266787"/>
            </a:xfrm>
          </p:grpSpPr>
          <p:sp>
            <p:nvSpPr>
              <p:cNvPr id="24" name="Freeform 24"/>
              <p:cNvSpPr/>
              <p:nvPr/>
            </p:nvSpPr>
            <p:spPr>
              <a:xfrm>
                <a:off x="0" y="0"/>
                <a:ext cx="823226" cy="266787"/>
              </a:xfrm>
              <a:custGeom>
                <a:avLst/>
                <a:gdLst/>
                <a:ahLst/>
                <a:cxnLst/>
                <a:rect l="l" t="t" r="r" b="b"/>
                <a:pathLst>
                  <a:path w="823226" h="266787">
                    <a:moveTo>
                      <a:pt x="133393" y="0"/>
                    </a:moveTo>
                    <a:lnTo>
                      <a:pt x="689833" y="0"/>
                    </a:lnTo>
                    <a:cubicBezTo>
                      <a:pt x="725211" y="0"/>
                      <a:pt x="759140" y="14054"/>
                      <a:pt x="784156" y="39070"/>
                    </a:cubicBezTo>
                    <a:cubicBezTo>
                      <a:pt x="809172" y="64086"/>
                      <a:pt x="823226" y="98015"/>
                      <a:pt x="823226" y="133393"/>
                    </a:cubicBezTo>
                    <a:lnTo>
                      <a:pt x="823226" y="133393"/>
                    </a:lnTo>
                    <a:cubicBezTo>
                      <a:pt x="823226" y="207064"/>
                      <a:pt x="763504" y="266787"/>
                      <a:pt x="689833" y="266787"/>
                    </a:cubicBezTo>
                    <a:lnTo>
                      <a:pt x="133393" y="266787"/>
                    </a:lnTo>
                    <a:cubicBezTo>
                      <a:pt x="59722" y="266787"/>
                      <a:pt x="0" y="207064"/>
                      <a:pt x="0" y="133393"/>
                    </a:cubicBezTo>
                    <a:lnTo>
                      <a:pt x="0" y="133393"/>
                    </a:lnTo>
                    <a:cubicBezTo>
                      <a:pt x="0" y="59722"/>
                      <a:pt x="59722" y="0"/>
                      <a:pt x="133393" y="0"/>
                    </a:cubicBezTo>
                    <a:close/>
                  </a:path>
                </a:pathLst>
              </a:custGeom>
              <a:solidFill>
                <a:srgbClr val="000000">
                  <a:alpha val="0"/>
                </a:srgbClr>
              </a:solidFill>
              <a:ln w="38100" cap="rnd">
                <a:solidFill>
                  <a:srgbClr val="0D1D4B"/>
                </a:solidFill>
                <a:prstDash val="solid"/>
                <a:round/>
              </a:ln>
            </p:spPr>
          </p:sp>
          <p:sp>
            <p:nvSpPr>
              <p:cNvPr id="25" name="TextBox 25"/>
              <p:cNvSpPr txBox="1"/>
              <p:nvPr/>
            </p:nvSpPr>
            <p:spPr>
              <a:xfrm>
                <a:off x="0" y="-47625"/>
                <a:ext cx="823226" cy="314412"/>
              </a:xfrm>
              <a:prstGeom prst="rect">
                <a:avLst/>
              </a:prstGeom>
            </p:spPr>
            <p:txBody>
              <a:bodyPr lIns="26123" tIns="26123" rIns="26123" bIns="26123" rtlCol="0" anchor="ctr"/>
              <a:lstStyle/>
              <a:p>
                <a:pPr algn="ctr">
                  <a:lnSpc>
                    <a:spcPts val="2940"/>
                  </a:lnSpc>
                </a:pPr>
                <a:endParaRPr/>
              </a:p>
            </p:txBody>
          </p:sp>
        </p:grpSp>
        <p:sp>
          <p:nvSpPr>
            <p:cNvPr id="26" name="TextBox 26"/>
            <p:cNvSpPr txBox="1"/>
            <p:nvPr/>
          </p:nvSpPr>
          <p:spPr>
            <a:xfrm>
              <a:off x="3778476" y="8944190"/>
              <a:ext cx="2062239" cy="417904"/>
            </a:xfrm>
            <a:prstGeom prst="rect">
              <a:avLst/>
            </a:prstGeom>
          </p:spPr>
          <p:txBody>
            <a:bodyPr lIns="0" tIns="0" rIns="0" bIns="0" rtlCol="0" anchor="t">
              <a:spAutoFit/>
            </a:bodyPr>
            <a:lstStyle/>
            <a:p>
              <a:pPr algn="ctr">
                <a:lnSpc>
                  <a:spcPts val="2674"/>
                </a:lnSpc>
              </a:pPr>
              <a:r>
                <a:rPr lang="en-US" sz="1910" b="1" spc="45">
                  <a:solidFill>
                    <a:srgbClr val="0D1D4B"/>
                  </a:solidFill>
                  <a:latin typeface="Montserrat Bold"/>
                  <a:ea typeface="Montserrat Bold"/>
                  <a:cs typeface="Montserrat Bold"/>
                  <a:sym typeface="Montserrat Bold"/>
                </a:rPr>
                <a:t>Trả lời</a:t>
              </a:r>
            </a:p>
          </p:txBody>
        </p:sp>
        <p:sp>
          <p:nvSpPr>
            <p:cNvPr id="27" name="AutoShape 27"/>
            <p:cNvSpPr/>
            <p:nvPr/>
          </p:nvSpPr>
          <p:spPr>
            <a:xfrm>
              <a:off x="4809595" y="698500"/>
              <a:ext cx="0" cy="979432"/>
            </a:xfrm>
            <a:prstGeom prst="line">
              <a:avLst/>
            </a:prstGeom>
            <a:ln w="50800" cap="flat">
              <a:solidFill>
                <a:srgbClr val="0D1D4B"/>
              </a:solidFill>
              <a:prstDash val="solid"/>
              <a:headEnd type="none" w="sm" len="sm"/>
              <a:tailEnd type="arrow" w="med" len="sm"/>
            </a:ln>
          </p:spPr>
        </p:sp>
        <p:sp>
          <p:nvSpPr>
            <p:cNvPr id="28" name="TextBox 28"/>
            <p:cNvSpPr txBox="1"/>
            <p:nvPr/>
          </p:nvSpPr>
          <p:spPr>
            <a:xfrm>
              <a:off x="5322639" y="3660400"/>
              <a:ext cx="1444468" cy="917950"/>
            </a:xfrm>
            <a:prstGeom prst="rect">
              <a:avLst/>
            </a:prstGeom>
          </p:spPr>
          <p:txBody>
            <a:bodyPr lIns="0" tIns="0" rIns="0" bIns="0" rtlCol="0" anchor="t">
              <a:spAutoFit/>
            </a:bodyPr>
            <a:lstStyle/>
            <a:p>
              <a:pPr algn="ctr">
                <a:lnSpc>
                  <a:spcPts val="2916"/>
                </a:lnSpc>
              </a:pPr>
              <a:r>
                <a:rPr lang="en-US" sz="1822" b="1">
                  <a:solidFill>
                    <a:srgbClr val="0C1D4B"/>
                  </a:solidFill>
                  <a:latin typeface="Montserrat Bold"/>
                  <a:ea typeface="Montserrat Bold"/>
                  <a:cs typeface="Montserrat Bold"/>
                  <a:sym typeface="Montserrat Bold"/>
                </a:rPr>
                <a:t>Truy vấn CSDL</a:t>
              </a:r>
            </a:p>
          </p:txBody>
        </p:sp>
        <p:sp>
          <p:nvSpPr>
            <p:cNvPr id="29" name="Freeform 29"/>
            <p:cNvSpPr/>
            <p:nvPr/>
          </p:nvSpPr>
          <p:spPr>
            <a:xfrm>
              <a:off x="5524581" y="2277528"/>
              <a:ext cx="1040584" cy="1217058"/>
            </a:xfrm>
            <a:custGeom>
              <a:avLst/>
              <a:gdLst/>
              <a:ahLst/>
              <a:cxnLst/>
              <a:rect l="l" t="t" r="r" b="b"/>
              <a:pathLst>
                <a:path w="1040584" h="1217058">
                  <a:moveTo>
                    <a:pt x="0" y="0"/>
                  </a:moveTo>
                  <a:lnTo>
                    <a:pt x="1040584" y="0"/>
                  </a:lnTo>
                  <a:lnTo>
                    <a:pt x="1040584" y="1217057"/>
                  </a:lnTo>
                  <a:lnTo>
                    <a:pt x="0" y="121705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0" name="TextBox 30"/>
            <p:cNvSpPr txBox="1"/>
            <p:nvPr/>
          </p:nvSpPr>
          <p:spPr>
            <a:xfrm>
              <a:off x="4120407" y="6451829"/>
              <a:ext cx="1631221" cy="435350"/>
            </a:xfrm>
            <a:prstGeom prst="rect">
              <a:avLst/>
            </a:prstGeom>
          </p:spPr>
          <p:txBody>
            <a:bodyPr lIns="0" tIns="0" rIns="0" bIns="0" rtlCol="0" anchor="t">
              <a:spAutoFit/>
            </a:bodyPr>
            <a:lstStyle/>
            <a:p>
              <a:pPr algn="ctr">
                <a:lnSpc>
                  <a:spcPts val="2916"/>
                </a:lnSpc>
              </a:pPr>
              <a:r>
                <a:rPr lang="en-US" sz="1822" b="1">
                  <a:solidFill>
                    <a:srgbClr val="0C1D4B"/>
                  </a:solidFill>
                  <a:latin typeface="Montserrat Bold"/>
                  <a:ea typeface="Montserrat Bold"/>
                  <a:cs typeface="Montserrat Bold"/>
                  <a:sym typeface="Montserrat Bold"/>
                </a:rPr>
                <a:t>Tính toán</a:t>
              </a:r>
            </a:p>
          </p:txBody>
        </p:sp>
        <p:sp>
          <p:nvSpPr>
            <p:cNvPr id="31" name="Freeform 31"/>
            <p:cNvSpPr/>
            <p:nvPr/>
          </p:nvSpPr>
          <p:spPr>
            <a:xfrm>
              <a:off x="4293145" y="4918868"/>
              <a:ext cx="1432483" cy="1416368"/>
            </a:xfrm>
            <a:custGeom>
              <a:avLst/>
              <a:gdLst/>
              <a:ahLst/>
              <a:cxnLst/>
              <a:rect l="l" t="t" r="r" b="b"/>
              <a:pathLst>
                <a:path w="1432483" h="1416368">
                  <a:moveTo>
                    <a:pt x="0" y="0"/>
                  </a:moveTo>
                  <a:lnTo>
                    <a:pt x="1432483" y="0"/>
                  </a:lnTo>
                  <a:lnTo>
                    <a:pt x="1432483" y="1416368"/>
                  </a:lnTo>
                  <a:lnTo>
                    <a:pt x="0" y="141636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2" name="TextBox 32"/>
            <p:cNvSpPr txBox="1"/>
            <p:nvPr/>
          </p:nvSpPr>
          <p:spPr>
            <a:xfrm>
              <a:off x="6089513" y="6208015"/>
              <a:ext cx="1444468" cy="917950"/>
            </a:xfrm>
            <a:prstGeom prst="rect">
              <a:avLst/>
            </a:prstGeom>
          </p:spPr>
          <p:txBody>
            <a:bodyPr lIns="0" tIns="0" rIns="0" bIns="0" rtlCol="0" anchor="t">
              <a:spAutoFit/>
            </a:bodyPr>
            <a:lstStyle/>
            <a:p>
              <a:pPr algn="ctr">
                <a:lnSpc>
                  <a:spcPts val="2916"/>
                </a:lnSpc>
              </a:pPr>
              <a:r>
                <a:rPr lang="en-US" sz="1822" b="1">
                  <a:solidFill>
                    <a:srgbClr val="0C1D4B"/>
                  </a:solidFill>
                  <a:latin typeface="Montserrat Bold"/>
                  <a:ea typeface="Montserrat Bold"/>
                  <a:cs typeface="Montserrat Bold"/>
                  <a:sym typeface="Montserrat Bold"/>
                </a:rPr>
                <a:t>Lập kế hoạch</a:t>
              </a:r>
            </a:p>
          </p:txBody>
        </p:sp>
        <p:sp>
          <p:nvSpPr>
            <p:cNvPr id="33" name="Freeform 33"/>
            <p:cNvSpPr/>
            <p:nvPr/>
          </p:nvSpPr>
          <p:spPr>
            <a:xfrm>
              <a:off x="6243851" y="4707537"/>
              <a:ext cx="1135792" cy="1385112"/>
            </a:xfrm>
            <a:custGeom>
              <a:avLst/>
              <a:gdLst/>
              <a:ahLst/>
              <a:cxnLst/>
              <a:rect l="l" t="t" r="r" b="b"/>
              <a:pathLst>
                <a:path w="1135792" h="1385112">
                  <a:moveTo>
                    <a:pt x="0" y="0"/>
                  </a:moveTo>
                  <a:lnTo>
                    <a:pt x="1135792" y="0"/>
                  </a:lnTo>
                  <a:lnTo>
                    <a:pt x="1135792" y="1385112"/>
                  </a:lnTo>
                  <a:lnTo>
                    <a:pt x="0" y="138511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4" name="TextBox 34"/>
            <p:cNvSpPr txBox="1"/>
            <p:nvPr/>
          </p:nvSpPr>
          <p:spPr>
            <a:xfrm>
              <a:off x="2116542" y="6235470"/>
              <a:ext cx="1477419" cy="917950"/>
            </a:xfrm>
            <a:prstGeom prst="rect">
              <a:avLst/>
            </a:prstGeom>
          </p:spPr>
          <p:txBody>
            <a:bodyPr lIns="0" tIns="0" rIns="0" bIns="0" rtlCol="0" anchor="t">
              <a:spAutoFit/>
            </a:bodyPr>
            <a:lstStyle/>
            <a:p>
              <a:pPr algn="just">
                <a:lnSpc>
                  <a:spcPts val="2916"/>
                </a:lnSpc>
              </a:pPr>
              <a:r>
                <a:rPr lang="en-US" sz="1822" b="1">
                  <a:solidFill>
                    <a:srgbClr val="0C1D4B"/>
                  </a:solidFill>
                  <a:latin typeface="Montserrat Bold"/>
                  <a:ea typeface="Montserrat Bold"/>
                  <a:cs typeface="Montserrat Bold"/>
                  <a:sym typeface="Montserrat Bold"/>
                </a:rPr>
                <a:t>Đánh giá kết quả</a:t>
              </a:r>
            </a:p>
          </p:txBody>
        </p:sp>
        <p:sp>
          <p:nvSpPr>
            <p:cNvPr id="35" name="TextBox 35"/>
            <p:cNvSpPr txBox="1"/>
            <p:nvPr/>
          </p:nvSpPr>
          <p:spPr>
            <a:xfrm>
              <a:off x="0" y="4421793"/>
              <a:ext cx="1539670" cy="917950"/>
            </a:xfrm>
            <a:prstGeom prst="rect">
              <a:avLst/>
            </a:prstGeom>
          </p:spPr>
          <p:txBody>
            <a:bodyPr lIns="0" tIns="0" rIns="0" bIns="0" rtlCol="0" anchor="t">
              <a:spAutoFit/>
            </a:bodyPr>
            <a:lstStyle/>
            <a:p>
              <a:pPr algn="just">
                <a:lnSpc>
                  <a:spcPts val="2916"/>
                </a:lnSpc>
              </a:pPr>
              <a:r>
                <a:rPr lang="en-US" sz="1822" b="1">
                  <a:solidFill>
                    <a:srgbClr val="0C1D4B"/>
                  </a:solidFill>
                  <a:latin typeface="Montserrat Bold"/>
                  <a:ea typeface="Montserrat Bold"/>
                  <a:cs typeface="Montserrat Bold"/>
                  <a:sym typeface="Montserrat Bold"/>
                </a:rPr>
                <a:t>Hệ thống AI Agent</a:t>
              </a:r>
            </a:p>
          </p:txBody>
        </p:sp>
        <p:sp>
          <p:nvSpPr>
            <p:cNvPr id="36" name="Freeform 36"/>
            <p:cNvSpPr/>
            <p:nvPr/>
          </p:nvSpPr>
          <p:spPr>
            <a:xfrm>
              <a:off x="2207362" y="4707537"/>
              <a:ext cx="1295779" cy="1425892"/>
            </a:xfrm>
            <a:custGeom>
              <a:avLst/>
              <a:gdLst/>
              <a:ahLst/>
              <a:cxnLst/>
              <a:rect l="l" t="t" r="r" b="b"/>
              <a:pathLst>
                <a:path w="1295779" h="1425892">
                  <a:moveTo>
                    <a:pt x="0" y="0"/>
                  </a:moveTo>
                  <a:lnTo>
                    <a:pt x="1295779" y="0"/>
                  </a:lnTo>
                  <a:lnTo>
                    <a:pt x="1295779" y="1425892"/>
                  </a:lnTo>
                  <a:lnTo>
                    <a:pt x="0" y="14258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7" name="AutoShape 37"/>
            <p:cNvSpPr/>
            <p:nvPr/>
          </p:nvSpPr>
          <p:spPr>
            <a:xfrm flipH="1">
              <a:off x="4809595" y="7847023"/>
              <a:ext cx="0" cy="977900"/>
            </a:xfrm>
            <a:prstGeom prst="line">
              <a:avLst/>
            </a:prstGeom>
            <a:ln w="50800" cap="flat">
              <a:solidFill>
                <a:srgbClr val="0D1D4B"/>
              </a:solidFill>
              <a:prstDash val="solid"/>
              <a:headEnd type="none" w="sm" len="sm"/>
              <a:tailEnd type="arrow" w="med" len="sm"/>
            </a:ln>
          </p:spPr>
        </p:sp>
      </p:grpSp>
      <p:sp>
        <p:nvSpPr>
          <p:cNvPr id="38" name="TextBox 38"/>
          <p:cNvSpPr txBox="1"/>
          <p:nvPr/>
        </p:nvSpPr>
        <p:spPr>
          <a:xfrm>
            <a:off x="1076915" y="2498226"/>
            <a:ext cx="11140454" cy="685800"/>
          </a:xfrm>
          <a:prstGeom prst="rect">
            <a:avLst/>
          </a:prstGeom>
        </p:spPr>
        <p:txBody>
          <a:bodyPr lIns="0" tIns="0" rIns="0" bIns="0" rtlCol="0" anchor="t">
            <a:spAutoFit/>
          </a:bodyPr>
          <a:lstStyle/>
          <a:p>
            <a:pPr algn="just">
              <a:lnSpc>
                <a:spcPts val="6000"/>
              </a:lnSpc>
            </a:pPr>
            <a:r>
              <a:rPr lang="en-US" sz="3000" b="1" dirty="0" err="1">
                <a:solidFill>
                  <a:srgbClr val="0C1D4B"/>
                </a:solidFill>
                <a:latin typeface="Montserrat Bold"/>
                <a:ea typeface="Montserrat Bold"/>
                <a:cs typeface="Montserrat Bold"/>
                <a:sym typeface="Montserrat Bold"/>
              </a:rPr>
              <a:t>Hệ</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thống</a:t>
            </a:r>
            <a:r>
              <a:rPr lang="en-US" sz="3000" b="1" dirty="0">
                <a:solidFill>
                  <a:srgbClr val="0C1D4B"/>
                </a:solidFill>
                <a:latin typeface="Montserrat Bold"/>
                <a:ea typeface="Montserrat Bold"/>
                <a:cs typeface="Montserrat Bold"/>
                <a:sym typeface="Montserrat Bold"/>
              </a:rPr>
              <a:t> Chatbot </a:t>
            </a:r>
            <a:r>
              <a:rPr lang="en-US" sz="3000" b="1" dirty="0" err="1">
                <a:solidFill>
                  <a:srgbClr val="0C1D4B"/>
                </a:solidFill>
                <a:latin typeface="Montserrat Bold"/>
                <a:ea typeface="Montserrat Bold"/>
                <a:cs typeface="Montserrat Bold"/>
                <a:sym typeface="Montserrat Bold"/>
              </a:rPr>
              <a:t>dựa</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trên</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mô</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hình</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kiến</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trúc</a:t>
            </a:r>
            <a:r>
              <a:rPr lang="en-US" sz="3000" b="1" dirty="0">
                <a:solidFill>
                  <a:srgbClr val="0C1D4B"/>
                </a:solidFill>
                <a:latin typeface="Montserrat Bold"/>
                <a:ea typeface="Montserrat Bold"/>
                <a:cs typeface="Montserrat Bold"/>
                <a:sym typeface="Montserrat Bold"/>
              </a:rPr>
              <a:t> AI Agent</a:t>
            </a:r>
          </a:p>
        </p:txBody>
      </p:sp>
      <p:sp>
        <p:nvSpPr>
          <p:cNvPr id="39" name="TextBox 39"/>
          <p:cNvSpPr txBox="1"/>
          <p:nvPr/>
        </p:nvSpPr>
        <p:spPr>
          <a:xfrm>
            <a:off x="1076915" y="3547997"/>
            <a:ext cx="9303679" cy="4543425"/>
          </a:xfrm>
          <a:prstGeom prst="rect">
            <a:avLst/>
          </a:prstGeom>
        </p:spPr>
        <p:txBody>
          <a:bodyPr lIns="0" tIns="0" rIns="0" bIns="0" rtlCol="0" anchor="t">
            <a:spAutoFit/>
          </a:bodyPr>
          <a:lstStyle/>
          <a:p>
            <a:pPr marL="647700" lvl="1" indent="-323850" algn="just">
              <a:lnSpc>
                <a:spcPts val="4500"/>
              </a:lnSpc>
              <a:buFont typeface="Arial"/>
              <a:buChar char="•"/>
            </a:pPr>
            <a:r>
              <a:rPr lang="en-US" sz="3000" dirty="0" err="1">
                <a:solidFill>
                  <a:srgbClr val="0C1D4B"/>
                </a:solidFill>
                <a:latin typeface="Montserrat"/>
                <a:ea typeface="Montserrat"/>
                <a:cs typeface="Montserrat"/>
                <a:sym typeface="Montserrat"/>
              </a:rPr>
              <a:t>Xây</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dựng</a:t>
            </a:r>
            <a:r>
              <a:rPr lang="en-US" sz="3000" dirty="0">
                <a:solidFill>
                  <a:srgbClr val="0C1D4B"/>
                </a:solidFill>
                <a:latin typeface="Montserrat"/>
                <a:ea typeface="Montserrat"/>
                <a:cs typeface="Montserrat"/>
                <a:sym typeface="Montserrat"/>
              </a:rPr>
              <a:t> chatbot </a:t>
            </a:r>
            <a:r>
              <a:rPr lang="en-US" sz="3000" dirty="0" err="1">
                <a:solidFill>
                  <a:srgbClr val="0C1D4B"/>
                </a:solidFill>
                <a:latin typeface="Montserrat"/>
                <a:ea typeface="Montserrat"/>
                <a:cs typeface="Montserrat"/>
                <a:sym typeface="Montserrat"/>
              </a:rPr>
              <a:t>dựa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trên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mô</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hình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kiến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trúc</a:t>
            </a:r>
            <a:r>
              <a:rPr lang="en-US" sz="3000" dirty="0">
                <a:solidFill>
                  <a:srgbClr val="0C1D4B"/>
                </a:solidFill>
                <a:latin typeface="Montserrat"/>
                <a:ea typeface="Montserrat"/>
                <a:cs typeface="Montserrat"/>
                <a:sym typeface="Montserrat"/>
              </a:rPr>
              <a:t> AI Agent (</a:t>
            </a:r>
            <a:r>
              <a:rPr lang="en-US" sz="3000" dirty="0" err="1">
                <a:solidFill>
                  <a:srgbClr val="0C1D4B"/>
                </a:solidFill>
                <a:latin typeface="Montserrat"/>
                <a:ea typeface="Montserrat"/>
                <a:cs typeface="Montserrat"/>
                <a:sym typeface="Montserrat"/>
              </a:rPr>
              <a:t>tác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tử</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thông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minh</a:t>
            </a:r>
            <a:r>
              <a:rPr lang="en-US" sz="3000" dirty="0">
                <a:solidFill>
                  <a:srgbClr val="0C1D4B"/>
                </a:solidFill>
                <a:latin typeface="Montserrat"/>
                <a:ea typeface="Montserrat"/>
                <a:cs typeface="Montserrat"/>
                <a:sym typeface="Montserrat"/>
              </a:rPr>
              <a:t>)</a:t>
            </a:r>
          </a:p>
          <a:p>
            <a:pPr marL="647700" lvl="1" indent="-323850" algn="just">
              <a:lnSpc>
                <a:spcPts val="4500"/>
              </a:lnSpc>
              <a:buFont typeface="Arial"/>
              <a:buChar char="•"/>
            </a:pPr>
            <a:r>
              <a:rPr lang="en-US" sz="3000" dirty="0" err="1">
                <a:solidFill>
                  <a:srgbClr val="0C1D4B"/>
                </a:solidFill>
                <a:latin typeface="Montserrat"/>
                <a:ea typeface="Montserrat"/>
                <a:cs typeface="Montserrat"/>
                <a:sym typeface="Montserrat"/>
              </a:rPr>
              <a:t>Hệ</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thống</a:t>
            </a:r>
            <a:r>
              <a:rPr lang="en-US" sz="3000" dirty="0">
                <a:solidFill>
                  <a:srgbClr val="0C1D4B"/>
                </a:solidFill>
                <a:latin typeface="Montserrat"/>
                <a:ea typeface="Montserrat"/>
                <a:cs typeface="Montserrat"/>
                <a:sym typeface="Montserrat"/>
              </a:rPr>
              <a:t> chatbot </a:t>
            </a:r>
            <a:r>
              <a:rPr lang="en-US" sz="3000" dirty="0" err="1">
                <a:solidFill>
                  <a:srgbClr val="0C1D4B"/>
                </a:solidFill>
                <a:latin typeface="Montserrat"/>
                <a:ea typeface="Montserrat"/>
                <a:cs typeface="Montserrat"/>
                <a:sym typeface="Montserrat"/>
              </a:rPr>
              <a:t>có</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khả</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năng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sử</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dụng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công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cụ</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truy</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vấn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công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cụ</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tính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toán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lập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kế</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hoạch</a:t>
            </a:r>
            <a:r>
              <a:rPr lang="en-US" sz="3000" dirty="0">
                <a:solidFill>
                  <a:srgbClr val="0C1D4B"/>
                </a:solidFill>
                <a:latin typeface="Montserrat"/>
                <a:ea typeface="Montserrat"/>
                <a:cs typeface="Montserrat"/>
                <a:sym typeface="Montserrat"/>
              </a:rPr>
              <a:t>,...</a:t>
            </a:r>
          </a:p>
          <a:p>
            <a:pPr marL="647700" lvl="1" indent="-323850" algn="just">
              <a:lnSpc>
                <a:spcPts val="4500"/>
              </a:lnSpc>
              <a:buFont typeface="Arial"/>
              <a:buChar char="•"/>
            </a:pPr>
            <a:r>
              <a:rPr lang="en-US" sz="3000" dirty="0">
                <a:solidFill>
                  <a:srgbClr val="0C1D4B"/>
                </a:solidFill>
                <a:latin typeface="Montserrat"/>
                <a:ea typeface="Montserrat"/>
                <a:cs typeface="Montserrat"/>
                <a:sym typeface="Montserrat"/>
              </a:rPr>
              <a:t>Khai </a:t>
            </a:r>
            <a:r>
              <a:rPr lang="en-US" sz="3000" dirty="0" err="1">
                <a:solidFill>
                  <a:srgbClr val="0C1D4B"/>
                </a:solidFill>
                <a:latin typeface="Montserrat"/>
                <a:ea typeface="Montserrat"/>
                <a:cs typeface="Montserrat"/>
                <a:sym typeface="Montserrat"/>
              </a:rPr>
              <a:t>thác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được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dữ</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liệu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có</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sẵn</a:t>
            </a:r>
            <a:endParaRPr lang="en-US" sz="3000" dirty="0">
              <a:solidFill>
                <a:srgbClr val="0C1D4B"/>
              </a:solidFill>
              <a:latin typeface="Montserrat"/>
              <a:ea typeface="Montserrat"/>
              <a:cs typeface="Montserrat"/>
              <a:sym typeface="Montserrat"/>
            </a:endParaRPr>
          </a:p>
          <a:p>
            <a:pPr marL="647700" lvl="1" indent="-323850" algn="just">
              <a:lnSpc>
                <a:spcPts val="4500"/>
              </a:lnSpc>
              <a:buFont typeface="Arial"/>
              <a:buChar char="•"/>
            </a:pPr>
            <a:r>
              <a:rPr lang="en-US" sz="3000" dirty="0" err="1">
                <a:solidFill>
                  <a:srgbClr val="0C1D4B"/>
                </a:solidFill>
                <a:latin typeface="Montserrat"/>
                <a:ea typeface="Montserrat"/>
                <a:cs typeface="Montserrat"/>
                <a:sym typeface="Montserrat"/>
              </a:rPr>
              <a:t>Đa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năng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linh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hoạt</a:t>
            </a:r>
            <a:r>
              <a:rPr lang="en-US" sz="3000" dirty="0">
                <a:solidFill>
                  <a:srgbClr val="0C1D4B"/>
                </a:solidFill>
                <a:latin typeface="Montserrat"/>
                <a:ea typeface="Montserrat"/>
                <a:cs typeface="Montserrat"/>
                <a:sym typeface="Montserrat"/>
              </a:rPr>
              <a:t> do </a:t>
            </a:r>
            <a:r>
              <a:rPr lang="en-US" sz="3000" dirty="0" err="1">
                <a:solidFill>
                  <a:srgbClr val="0C1D4B"/>
                </a:solidFill>
                <a:latin typeface="Montserrat"/>
                <a:ea typeface="Montserrat"/>
                <a:cs typeface="Montserrat"/>
                <a:sym typeface="Montserrat"/>
              </a:rPr>
              <a:t>được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tích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hợp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nhiều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công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cụ</a:t>
            </a:r>
            <a:endParaRPr lang="en-US" sz="3000" dirty="0">
              <a:solidFill>
                <a:srgbClr val="0C1D4B"/>
              </a:solidFill>
              <a:latin typeface="Montserrat"/>
              <a:ea typeface="Montserrat"/>
              <a:cs typeface="Montserrat"/>
              <a:sym typeface="Montserrat"/>
            </a:endParaRPr>
          </a:p>
        </p:txBody>
      </p:sp>
      <p:sp>
        <p:nvSpPr>
          <p:cNvPr id="40" name="TextBox 40"/>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4"/>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5"/>
            <a:stretch>
              <a:fillRect/>
            </a:stretch>
          </a:blipFill>
        </p:spPr>
      </p:sp>
      <p:grpSp>
        <p:nvGrpSpPr>
          <p:cNvPr id="7" name="Group 7"/>
          <p:cNvGrpSpPr/>
          <p:nvPr/>
        </p:nvGrpSpPr>
        <p:grpSpPr>
          <a:xfrm>
            <a:off x="-3127839" y="9429370"/>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5"/>
              <a:stretch>
                <a:fillRect/>
              </a:stretch>
            </a:blipFill>
          </p:spPr>
        </p:sp>
      </p:grpSp>
      <p:pic>
        <p:nvPicPr>
          <p:cNvPr id="12" name="Picture 1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a:stretch>
            <a:fillRect/>
          </a:stretch>
        </p:blipFill>
        <p:spPr>
          <a:xfrm>
            <a:off x="10794034" y="5875965"/>
            <a:ext cx="6317164" cy="3553405"/>
          </a:xfrm>
          <a:prstGeom prst="rect">
            <a:avLst/>
          </a:prstGeom>
        </p:spPr>
      </p:pic>
      <p:sp>
        <p:nvSpPr>
          <p:cNvPr id="13" name="Freeform 13"/>
          <p:cNvSpPr/>
          <p:nvPr/>
        </p:nvSpPr>
        <p:spPr>
          <a:xfrm>
            <a:off x="10645932" y="1028700"/>
            <a:ext cx="6613368" cy="4439297"/>
          </a:xfrm>
          <a:custGeom>
            <a:avLst/>
            <a:gdLst/>
            <a:ahLst/>
            <a:cxnLst/>
            <a:rect l="l" t="t" r="r" b="b"/>
            <a:pathLst>
              <a:path w="6613368" h="4439297">
                <a:moveTo>
                  <a:pt x="0" y="0"/>
                </a:moveTo>
                <a:lnTo>
                  <a:pt x="6613368" y="0"/>
                </a:lnTo>
                <a:lnTo>
                  <a:pt x="6613368" y="4439297"/>
                </a:lnTo>
                <a:lnTo>
                  <a:pt x="0" y="4439297"/>
                </a:lnTo>
                <a:lnTo>
                  <a:pt x="0" y="0"/>
                </a:lnTo>
                <a:close/>
              </a:path>
            </a:pathLst>
          </a:custGeom>
          <a:blipFill>
            <a:blip r:embed="rId7"/>
            <a:stretch>
              <a:fillRect l="-14406" r="-16120" b="-1843"/>
            </a:stretch>
          </a:blipFill>
        </p:spPr>
      </p:sp>
      <p:sp>
        <p:nvSpPr>
          <p:cNvPr id="14" name="TextBox 14"/>
          <p:cNvSpPr txBox="1"/>
          <p:nvPr/>
        </p:nvSpPr>
        <p:spPr>
          <a:xfrm>
            <a:off x="1028700" y="1658834"/>
            <a:ext cx="13915105"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2.2. AI Agent</a:t>
            </a:r>
          </a:p>
        </p:txBody>
      </p:sp>
      <p:sp>
        <p:nvSpPr>
          <p:cNvPr id="15" name="TextBox 15"/>
          <p:cNvSpPr txBox="1"/>
          <p:nvPr/>
        </p:nvSpPr>
        <p:spPr>
          <a:xfrm>
            <a:off x="1028700" y="2642662"/>
            <a:ext cx="8634478" cy="3971925"/>
          </a:xfrm>
          <a:prstGeom prst="rect">
            <a:avLst/>
          </a:prstGeom>
        </p:spPr>
        <p:txBody>
          <a:bodyPr lIns="0" tIns="0" rIns="0" bIns="0" rtlCol="0" anchor="t">
            <a:spAutoFit/>
          </a:bodyPr>
          <a:lstStyle/>
          <a:p>
            <a:pPr marL="647700" lvl="1" indent="-323850" algn="just">
              <a:lnSpc>
                <a:spcPts val="4500"/>
              </a:lnSpc>
              <a:buFont typeface="Arial"/>
              <a:buChar char="•"/>
            </a:pPr>
            <a:r>
              <a:rPr lang="en-US" sz="3000" b="1" dirty="0">
                <a:solidFill>
                  <a:srgbClr val="0C1D4B"/>
                </a:solidFill>
                <a:latin typeface="Montserrat Bold"/>
                <a:ea typeface="Montserrat Bold"/>
                <a:cs typeface="Montserrat Bold"/>
                <a:sym typeface="Montserrat Bold"/>
              </a:rPr>
              <a:t>Agent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là</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bất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kỳ</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thực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thể</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nào</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có</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khả</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năng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nhận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thức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môi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trường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xung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quanh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và</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hành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động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theo</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môi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trường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đó</a:t>
            </a:r>
            <a:r>
              <a:rPr lang="en-US" sz="3000" dirty="0">
                <a:solidFill>
                  <a:srgbClr val="0C1D4B"/>
                </a:solidFill>
                <a:latin typeface="Montserrat"/>
                <a:ea typeface="Montserrat"/>
                <a:cs typeface="Montserrat"/>
                <a:sym typeface="Montserrat"/>
              </a:rPr>
              <a:t>.</a:t>
            </a:r>
          </a:p>
          <a:p>
            <a:pPr marL="647700" lvl="1" indent="-323850" algn="just">
              <a:lnSpc>
                <a:spcPts val="4500"/>
              </a:lnSpc>
              <a:buFont typeface="Arial"/>
              <a:buChar char="•"/>
            </a:pPr>
            <a:r>
              <a:rPr lang="en-US" sz="3000" b="1" dirty="0">
                <a:solidFill>
                  <a:srgbClr val="0C1D4B"/>
                </a:solidFill>
                <a:latin typeface="Montserrat Bold"/>
                <a:ea typeface="Montserrat Bold"/>
                <a:cs typeface="Montserrat Bold"/>
                <a:sym typeface="Montserrat Bold"/>
              </a:rPr>
              <a:t>AI Agent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là</a:t>
            </a:r>
            <a:r>
              <a:rPr lang="en-US" sz="3000" dirty="0">
                <a:solidFill>
                  <a:srgbClr val="0C1D4B"/>
                </a:solidFill>
                <a:latin typeface="Montserrat"/>
                <a:ea typeface="Montserrat"/>
                <a:cs typeface="Montserrat"/>
                <a:sym typeface="Montserrat"/>
              </a:rPr>
              <a:t> </a:t>
            </a:r>
            <a:r>
              <a:rPr lang="en-US" sz="3000" b="1" dirty="0">
                <a:solidFill>
                  <a:srgbClr val="0C1D4B"/>
                </a:solidFill>
                <a:latin typeface="Montserrat Bold"/>
                <a:ea typeface="Montserrat Bold"/>
                <a:cs typeface="Montserrat Bold"/>
                <a:sym typeface="Montserrat Bold"/>
              </a:rPr>
              <a:t>Agent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được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xây</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dựng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với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nền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tảng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kỹ</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thuật</a:t>
            </a:r>
            <a:r>
              <a:rPr lang="en-US" sz="3000" dirty="0">
                <a:solidFill>
                  <a:srgbClr val="0C1D4B"/>
                </a:solidFill>
                <a:latin typeface="Montserrat"/>
                <a:ea typeface="Montserrat"/>
                <a:cs typeface="Montserrat"/>
                <a:sym typeface="Montserrat"/>
              </a:rPr>
              <a:t> AI, </a:t>
            </a:r>
            <a:r>
              <a:rPr lang="en-US" sz="3000" dirty="0" err="1">
                <a:solidFill>
                  <a:srgbClr val="0C1D4B"/>
                </a:solidFill>
                <a:latin typeface="Montserrat"/>
                <a:ea typeface="Montserrat"/>
                <a:cs typeface="Montserrat"/>
                <a:sym typeface="Montserrat"/>
              </a:rPr>
              <a:t>đặc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biệt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là</a:t>
            </a:r>
            <a:r>
              <a:rPr lang="en-US" sz="3000" dirty="0">
                <a:solidFill>
                  <a:srgbClr val="0C1D4B"/>
                </a:solidFill>
                <a:latin typeface="Montserrat"/>
                <a:ea typeface="Montserrat"/>
                <a:cs typeface="Montserrat"/>
                <a:sym typeface="Montserrat"/>
              </a:rPr>
              <a:t> LLMs</a:t>
            </a:r>
          </a:p>
          <a:p>
            <a:pPr marL="647700" lvl="1" indent="-323850" algn="just">
              <a:lnSpc>
                <a:spcPts val="4500"/>
              </a:lnSpc>
              <a:buFont typeface="Arial"/>
              <a:buChar char="•"/>
            </a:pPr>
            <a:r>
              <a:rPr lang="en-US" sz="3000" dirty="0">
                <a:solidFill>
                  <a:srgbClr val="0C1D4B"/>
                </a:solidFill>
                <a:latin typeface="Montserrat"/>
                <a:ea typeface="Montserrat"/>
                <a:cs typeface="Montserrat"/>
                <a:sym typeface="Montserrat"/>
              </a:rPr>
              <a:t>LLMs </a:t>
            </a:r>
            <a:r>
              <a:rPr lang="en-US" sz="3000" dirty="0" err="1">
                <a:solidFill>
                  <a:srgbClr val="0C1D4B"/>
                </a:solidFill>
                <a:latin typeface="Montserrat"/>
                <a:ea typeface="Montserrat"/>
                <a:cs typeface="Montserrat"/>
                <a:sym typeface="Montserrat"/>
              </a:rPr>
              <a:t>thường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được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ứng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dụng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như</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khối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não</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của</a:t>
            </a:r>
            <a:r>
              <a:rPr lang="en-US" sz="3000" dirty="0">
                <a:solidFill>
                  <a:srgbClr val="0C1D4B"/>
                </a:solidFill>
                <a:latin typeface="Montserrat"/>
                <a:ea typeface="Montserrat"/>
                <a:cs typeface="Montserrat"/>
                <a:sym typeface="Montserrat"/>
              </a:rPr>
              <a:t> AI Agent.</a:t>
            </a:r>
          </a:p>
        </p:txBody>
      </p:sp>
      <p:sp>
        <p:nvSpPr>
          <p:cNvPr id="16" name="TextBox 16"/>
          <p:cNvSpPr txBox="1"/>
          <p:nvPr/>
        </p:nvSpPr>
        <p:spPr>
          <a:xfrm>
            <a:off x="1028700" y="7000875"/>
            <a:ext cx="8634478" cy="2257425"/>
          </a:xfrm>
          <a:prstGeom prst="rect">
            <a:avLst/>
          </a:prstGeom>
        </p:spPr>
        <p:txBody>
          <a:bodyPr lIns="0" tIns="0" rIns="0" bIns="0" rtlCol="0" anchor="t">
            <a:spAutoFit/>
          </a:bodyPr>
          <a:lstStyle/>
          <a:p>
            <a:pPr marL="647700" lvl="1" indent="-323850" algn="just">
              <a:lnSpc>
                <a:spcPts val="4500"/>
              </a:lnSpc>
              <a:buFont typeface="Arial"/>
              <a:buChar char="•"/>
            </a:pPr>
            <a:r>
              <a:rPr lang="en-US" sz="3000" dirty="0" err="1">
                <a:solidFill>
                  <a:srgbClr val="0C1D4B"/>
                </a:solidFill>
                <a:latin typeface="Montserrat"/>
                <a:ea typeface="Montserrat"/>
                <a:cs typeface="Montserrat"/>
                <a:sym typeface="Montserrat"/>
              </a:rPr>
              <a:t>Ví</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dụ</a:t>
            </a:r>
            <a:r>
              <a:rPr lang="en-US" sz="3000" dirty="0">
                <a:solidFill>
                  <a:srgbClr val="0C1D4B"/>
                </a:solidFill>
                <a:latin typeface="Montserrat"/>
                <a:ea typeface="Montserrat"/>
                <a:cs typeface="Montserrat"/>
                <a:sym typeface="Montserrat"/>
              </a:rPr>
              <a:t> AI Agent </a:t>
            </a:r>
            <a:r>
              <a:rPr lang="en-US" sz="3000" dirty="0" err="1">
                <a:solidFill>
                  <a:srgbClr val="0C1D4B"/>
                </a:solidFill>
                <a:latin typeface="Montserrat"/>
                <a:ea typeface="Montserrat"/>
                <a:cs typeface="Montserrat"/>
                <a:sym typeface="Montserrat"/>
              </a:rPr>
              <a:t>trong</a:t>
            </a:r>
            <a:r>
              <a:rPr lang="en-US" sz="3000" dirty="0">
                <a:solidFill>
                  <a:srgbClr val="0C1D4B"/>
                </a:solidFill>
                <a:latin typeface="Montserrat"/>
                <a:ea typeface="Montserrat"/>
                <a:cs typeface="Montserrat"/>
                <a:sym typeface="Montserrat"/>
              </a:rPr>
              <a:t> </a:t>
            </a:r>
            <a:r>
              <a:rPr lang="en-US" sz="3000" b="1" dirty="0">
                <a:solidFill>
                  <a:srgbClr val="0C1D4B"/>
                </a:solidFill>
                <a:latin typeface="Montserrat Bold"/>
                <a:ea typeface="Montserrat Bold"/>
                <a:cs typeface="Montserrat Bold"/>
                <a:sym typeface="Montserrat Bold"/>
              </a:rPr>
              <a:t>Humanoid robot</a:t>
            </a:r>
            <a:r>
              <a:rPr lang="en-US" sz="3000" dirty="0">
                <a:solidFill>
                  <a:srgbClr val="0C1D4B"/>
                </a:solidFill>
                <a:latin typeface="Montserrat"/>
                <a:ea typeface="Montserrat"/>
                <a:cs typeface="Montserrat"/>
                <a:sym typeface="Montserrat"/>
              </a:rPr>
              <a:t>:</a:t>
            </a:r>
          </a:p>
          <a:p>
            <a:pPr marL="1295400" lvl="2" indent="-431800" algn="just">
              <a:lnSpc>
                <a:spcPts val="4500"/>
              </a:lnSpc>
              <a:buFont typeface="Arial"/>
              <a:buChar char="⚬"/>
            </a:pPr>
            <a:r>
              <a:rPr lang="en-US" sz="3000" dirty="0" err="1">
                <a:solidFill>
                  <a:srgbClr val="0C1D4B"/>
                </a:solidFill>
                <a:latin typeface="Montserrat"/>
                <a:ea typeface="Montserrat"/>
                <a:cs typeface="Montserrat"/>
                <a:sym typeface="Montserrat"/>
              </a:rPr>
              <a:t>Môi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trường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là</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đường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vật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cản</a:t>
            </a:r>
            <a:endParaRPr lang="en-US" sz="3000" dirty="0">
              <a:solidFill>
                <a:srgbClr val="0C1D4B"/>
              </a:solidFill>
              <a:latin typeface="Montserrat"/>
              <a:ea typeface="Montserrat"/>
              <a:cs typeface="Montserrat"/>
              <a:sym typeface="Montserrat"/>
            </a:endParaRPr>
          </a:p>
          <a:p>
            <a:pPr marL="1295400" lvl="2" indent="-431800" algn="just">
              <a:lnSpc>
                <a:spcPts val="4500"/>
              </a:lnSpc>
              <a:buFont typeface="Arial"/>
              <a:buChar char="⚬"/>
            </a:pPr>
            <a:r>
              <a:rPr lang="en-US" sz="3000" dirty="0" err="1">
                <a:solidFill>
                  <a:srgbClr val="0C1D4B"/>
                </a:solidFill>
                <a:latin typeface="Montserrat"/>
                <a:ea typeface="Montserrat"/>
                <a:cs typeface="Montserrat"/>
                <a:sym typeface="Montserrat"/>
              </a:rPr>
              <a:t>Tác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động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lên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môi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trường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Điều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khiển</a:t>
            </a:r>
            <a:r>
              <a:rPr lang="en-US" sz="3000" dirty="0">
                <a:solidFill>
                  <a:srgbClr val="0C1D4B"/>
                </a:solidFill>
                <a:latin typeface="Montserrat"/>
                <a:ea typeface="Montserrat"/>
                <a:cs typeface="Montserrat"/>
                <a:sym typeface="Montserrat"/>
              </a:rPr>
              <a:t> robot </a:t>
            </a:r>
            <a:r>
              <a:rPr lang="en-US" sz="3000" dirty="0" err="1">
                <a:solidFill>
                  <a:srgbClr val="0C1D4B"/>
                </a:solidFill>
                <a:latin typeface="Montserrat"/>
                <a:ea typeface="Montserrat"/>
                <a:cs typeface="Montserrat"/>
                <a:sym typeface="Montserrat"/>
              </a:rPr>
              <a:t>tránh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vật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cản</a:t>
            </a:r>
            <a:endParaRPr lang="en-US" sz="3000" dirty="0">
              <a:solidFill>
                <a:srgbClr val="0C1D4B"/>
              </a:solidFill>
              <a:latin typeface="Montserrat"/>
              <a:ea typeface="Montserrat"/>
              <a:cs typeface="Montserrat"/>
              <a:sym typeface="Montserrat"/>
            </a:endParaRPr>
          </a:p>
        </p:txBody>
      </p:sp>
      <p:sp>
        <p:nvSpPr>
          <p:cNvPr id="17" name="TextBox 17"/>
          <p:cNvSpPr txBox="1"/>
          <p:nvPr/>
        </p:nvSpPr>
        <p:spPr>
          <a:xfrm>
            <a:off x="10725801" y="9506275"/>
            <a:ext cx="6533499" cy="337185"/>
          </a:xfrm>
          <a:prstGeom prst="rect">
            <a:avLst/>
          </a:prstGeom>
        </p:spPr>
        <p:txBody>
          <a:bodyPr lIns="0" tIns="0" rIns="0" bIns="0" rtlCol="0" anchor="t">
            <a:spAutoFit/>
          </a:bodyPr>
          <a:lstStyle/>
          <a:p>
            <a:pPr algn="just">
              <a:lnSpc>
                <a:spcPts val="2880"/>
              </a:lnSpc>
            </a:pPr>
            <a:r>
              <a:rPr lang="en-US" sz="1800" b="1" i="1">
                <a:solidFill>
                  <a:srgbClr val="0C1D4B"/>
                </a:solidFill>
                <a:latin typeface="Montserrat Bold Italics"/>
                <a:ea typeface="Montserrat Bold Italics"/>
                <a:cs typeface="Montserrat Bold Italics"/>
                <a:sym typeface="Montserrat Bold Italics"/>
              </a:rPr>
              <a:t>Video ví dụ về AI Agent sử dụng cho humanoid robot</a:t>
            </a:r>
          </a:p>
        </p:txBody>
      </p:sp>
      <p:sp>
        <p:nvSpPr>
          <p:cNvPr id="18" name="TextBox 18"/>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11</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12"/>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27839" y="9429370"/>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Freeform 12"/>
          <p:cNvSpPr/>
          <p:nvPr/>
        </p:nvSpPr>
        <p:spPr>
          <a:xfrm>
            <a:off x="11657515" y="2121928"/>
            <a:ext cx="5098741" cy="5085994"/>
          </a:xfrm>
          <a:custGeom>
            <a:avLst/>
            <a:gdLst/>
            <a:ahLst/>
            <a:cxnLst/>
            <a:rect l="l" t="t" r="r" b="b"/>
            <a:pathLst>
              <a:path w="5098741" h="5085994">
                <a:moveTo>
                  <a:pt x="0" y="0"/>
                </a:moveTo>
                <a:lnTo>
                  <a:pt x="5098741" y="0"/>
                </a:lnTo>
                <a:lnTo>
                  <a:pt x="5098741" y="5085994"/>
                </a:lnTo>
                <a:lnTo>
                  <a:pt x="0" y="50859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1015281" y="1596783"/>
            <a:ext cx="13915105"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2.2. LLMs</a:t>
            </a:r>
          </a:p>
        </p:txBody>
      </p:sp>
      <p:sp>
        <p:nvSpPr>
          <p:cNvPr id="14" name="TextBox 14"/>
          <p:cNvSpPr txBox="1"/>
          <p:nvPr/>
        </p:nvSpPr>
        <p:spPr>
          <a:xfrm>
            <a:off x="1015281" y="2521978"/>
            <a:ext cx="9272553" cy="3400425"/>
          </a:xfrm>
          <a:prstGeom prst="rect">
            <a:avLst/>
          </a:prstGeom>
        </p:spPr>
        <p:txBody>
          <a:bodyPr lIns="0" tIns="0" rIns="0" bIns="0" rtlCol="0" anchor="t">
            <a:spAutoFit/>
          </a:bodyPr>
          <a:lstStyle/>
          <a:p>
            <a:pPr marL="647700" lvl="1" indent="-323850" algn="just">
              <a:lnSpc>
                <a:spcPts val="4500"/>
              </a:lnSpc>
              <a:buFont typeface="Arial"/>
              <a:buChar char="•"/>
            </a:pPr>
            <a:r>
              <a:rPr lang="en-US" sz="3000" dirty="0" err="1">
                <a:solidFill>
                  <a:srgbClr val="0C1D4B"/>
                </a:solidFill>
                <a:latin typeface="Montserrat"/>
                <a:ea typeface="Montserrat"/>
                <a:cs typeface="Montserrat"/>
                <a:sym typeface="Montserrat"/>
              </a:rPr>
              <a:t>Mô</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hình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ngôn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ngữ</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lớn</a:t>
            </a:r>
            <a:r>
              <a:rPr lang="en-US" sz="3000" dirty="0">
                <a:solidFill>
                  <a:srgbClr val="0C1D4B"/>
                </a:solidFill>
                <a:latin typeface="Montserrat"/>
                <a:ea typeface="Montserrat"/>
                <a:cs typeface="Montserrat"/>
                <a:sym typeface="Montserrat"/>
              </a:rPr>
              <a:t> hay LLMs </a:t>
            </a:r>
            <a:r>
              <a:rPr lang="en-US" sz="3000" dirty="0" err="1">
                <a:solidFill>
                  <a:srgbClr val="0C1D4B"/>
                </a:solidFill>
                <a:latin typeface="Montserrat"/>
                <a:ea typeface="Montserrat"/>
                <a:cs typeface="Montserrat"/>
                <a:sym typeface="Montserrat"/>
              </a:rPr>
              <a:t>là</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những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mô</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hình</a:t>
            </a:r>
            <a:r>
              <a:rPr lang="en-US" sz="3000" dirty="0">
                <a:solidFill>
                  <a:srgbClr val="0C1D4B"/>
                </a:solidFill>
                <a:latin typeface="Montserrat"/>
                <a:ea typeface="Montserrat"/>
                <a:cs typeface="Montserrat"/>
                <a:sym typeface="Montserrat"/>
              </a:rPr>
              <a:t> AI </a:t>
            </a:r>
            <a:r>
              <a:rPr lang="en-US" sz="3000" dirty="0" err="1">
                <a:solidFill>
                  <a:srgbClr val="0C1D4B"/>
                </a:solidFill>
                <a:latin typeface="Montserrat"/>
                <a:ea typeface="Montserrat"/>
                <a:cs typeface="Montserrat"/>
                <a:sym typeface="Montserrat"/>
              </a:rPr>
              <a:t>được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thiết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kế</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để</a:t>
            </a:r>
            <a:r>
              <a:rPr lang="en-US" sz="3000" dirty="0">
                <a:solidFill>
                  <a:srgbClr val="0C1D4B"/>
                </a:solidFill>
                <a:latin typeface="Montserrat"/>
                <a:ea typeface="Montserrat"/>
                <a:cs typeface="Montserrat"/>
                <a:sym typeface="Montserrat"/>
              </a:rPr>
              <a:t> </a:t>
            </a:r>
            <a:r>
              <a:rPr lang="en-US" sz="3000" b="1" dirty="0" err="1">
                <a:solidFill>
                  <a:srgbClr val="0C1D4B"/>
                </a:solidFill>
                <a:latin typeface="Montserrat Bold"/>
                <a:ea typeface="Montserrat Bold"/>
                <a:cs typeface="Montserrat Bold"/>
                <a:sym typeface="Montserrat Bold"/>
              </a:rPr>
              <a:t>xử</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lý</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và</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tạo</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sinh</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ngôn</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ngữ</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tự</a:t>
            </a:r>
            <a:r>
              <a:rPr lang="en-US" sz="3000" b="1" dirty="0">
                <a:solidFill>
                  <a:srgbClr val="0C1D4B"/>
                </a:solidFill>
                <a:latin typeface="Montserrat Bold"/>
                <a:ea typeface="Montserrat Bold"/>
                <a:cs typeface="Montserrat Bold"/>
                <a:sym typeface="Montserrat Bold"/>
              </a:rPr>
              <a:t> </a:t>
            </a:r>
            <a:r>
              <a:rPr lang="en-US" sz="3000" b="1" dirty="0" err="1">
                <a:solidFill>
                  <a:srgbClr val="0C1D4B"/>
                </a:solidFill>
                <a:latin typeface="Montserrat Bold"/>
                <a:ea typeface="Montserrat Bold"/>
                <a:cs typeface="Montserrat Bold"/>
                <a:sym typeface="Montserrat Bold"/>
              </a:rPr>
              <a:t>nhiên</a:t>
            </a:r>
            <a:r>
              <a:rPr lang="en-US" sz="3000" dirty="0">
                <a:solidFill>
                  <a:srgbClr val="0C1D4B"/>
                </a:solidFill>
                <a:latin typeface="Montserrat"/>
                <a:ea typeface="Montserrat"/>
                <a:cs typeface="Montserrat"/>
                <a:sym typeface="Montserrat"/>
              </a:rPr>
              <a:t>.</a:t>
            </a:r>
          </a:p>
          <a:p>
            <a:pPr marL="647700" lvl="1" indent="-323850" algn="just">
              <a:lnSpc>
                <a:spcPts val="4500"/>
              </a:lnSpc>
              <a:buFont typeface="Arial"/>
              <a:buChar char="•"/>
            </a:pPr>
            <a:r>
              <a:rPr lang="en-US" sz="3000" dirty="0">
                <a:solidFill>
                  <a:srgbClr val="0C1D4B"/>
                </a:solidFill>
                <a:latin typeface="Montserrat"/>
                <a:ea typeface="Montserrat"/>
                <a:cs typeface="Montserrat"/>
                <a:sym typeface="Montserrat"/>
              </a:rPr>
              <a:t>LLMs </a:t>
            </a:r>
            <a:r>
              <a:rPr lang="en-US" sz="3000" dirty="0" err="1">
                <a:solidFill>
                  <a:srgbClr val="0C1D4B"/>
                </a:solidFill>
                <a:latin typeface="Montserrat"/>
                <a:ea typeface="Montserrat"/>
                <a:cs typeface="Montserrat"/>
                <a:sym typeface="Montserrat"/>
              </a:rPr>
              <a:t>là</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trọng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tâm</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của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các</a:t>
            </a:r>
            <a:r>
              <a:rPr lang="en-US" sz="3000" dirty="0">
                <a:solidFill>
                  <a:srgbClr val="0C1D4B"/>
                </a:solidFill>
                <a:latin typeface="Montserrat"/>
                <a:ea typeface="Montserrat"/>
                <a:cs typeface="Montserrat"/>
                <a:sym typeface="Montserrat"/>
              </a:rPr>
              <a:t> AI Agent </a:t>
            </a:r>
            <a:r>
              <a:rPr lang="en-US" sz="3000" dirty="0" err="1">
                <a:solidFill>
                  <a:srgbClr val="0C1D4B"/>
                </a:solidFill>
                <a:latin typeface="Montserrat"/>
                <a:ea typeface="Montserrat"/>
                <a:cs typeface="Montserrat"/>
                <a:sym typeface="Montserrat"/>
              </a:rPr>
              <a:t>hiện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đại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vì</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chúng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cung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cấp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khả</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năng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lập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luận</a:t>
            </a:r>
            <a:r>
              <a:rPr lang="en-US" sz="3000" dirty="0">
                <a:solidFill>
                  <a:srgbClr val="0C1D4B"/>
                </a:solidFill>
                <a:latin typeface="Montserrat"/>
                <a:ea typeface="Montserrat"/>
                <a:cs typeface="Montserrat"/>
                <a:sym typeface="Montserrat"/>
              </a:rPr>
              <a:t> (</a:t>
            </a:r>
            <a:r>
              <a:rPr lang="en-US" sz="3000" b="1" dirty="0">
                <a:solidFill>
                  <a:srgbClr val="0C1D4B"/>
                </a:solidFill>
                <a:latin typeface="Montserrat Bold"/>
                <a:ea typeface="Montserrat Bold"/>
                <a:cs typeface="Montserrat Bold"/>
                <a:sym typeface="Montserrat Bold"/>
              </a:rPr>
              <a:t>reasoning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và</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đưa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ra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kết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quả</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nhanh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chóng</a:t>
            </a:r>
            <a:r>
              <a:rPr lang="en-US" sz="3000" dirty="0">
                <a:solidFill>
                  <a:srgbClr val="0C1D4B"/>
                </a:solidFill>
                <a:latin typeface="Montserrat"/>
                <a:ea typeface="Montserrat"/>
                <a:cs typeface="Montserrat"/>
                <a:sym typeface="Montserrat"/>
              </a:rPr>
              <a:t>.</a:t>
            </a:r>
          </a:p>
        </p:txBody>
      </p:sp>
      <p:sp>
        <p:nvSpPr>
          <p:cNvPr id="15" name="TextBox 15"/>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67118"/>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p:cNvSpPr txBox="1"/>
          <p:nvPr/>
        </p:nvSpPr>
        <p:spPr>
          <a:xfrm>
            <a:off x="1028700" y="1635979"/>
            <a:ext cx="13915105"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2.3. </a:t>
            </a:r>
            <a:r>
              <a:rPr lang="en-US" sz="3999" b="1" dirty="0" err="1">
                <a:solidFill>
                  <a:srgbClr val="0C1D4B"/>
                </a:solidFill>
                <a:latin typeface="Montserrat Heavy"/>
                <a:ea typeface="Montserrat Heavy"/>
                <a:cs typeface="Montserrat Heavy"/>
                <a:sym typeface="Montserrat Heavy"/>
              </a:rPr>
              <a:t>LangGraph</a:t>
            </a:r>
            <a:endParaRPr lang="en-US" sz="3999" b="1" dirty="0">
              <a:solidFill>
                <a:srgbClr val="0C1D4B"/>
              </a:solidFill>
              <a:latin typeface="Montserrat Heavy"/>
              <a:ea typeface="Montserrat Heavy"/>
              <a:cs typeface="Montserrat Heavy"/>
              <a:sym typeface="Montserrat Heavy"/>
            </a:endParaRPr>
          </a:p>
        </p:txBody>
      </p:sp>
      <p:sp>
        <p:nvSpPr>
          <p:cNvPr id="13" name="TextBox 13"/>
          <p:cNvSpPr txBox="1"/>
          <p:nvPr/>
        </p:nvSpPr>
        <p:spPr>
          <a:xfrm>
            <a:off x="1028700" y="2648293"/>
            <a:ext cx="16230600" cy="1685925"/>
          </a:xfrm>
          <a:prstGeom prst="rect">
            <a:avLst/>
          </a:prstGeom>
        </p:spPr>
        <p:txBody>
          <a:bodyPr lIns="0" tIns="0" rIns="0" bIns="0" rtlCol="0" anchor="t">
            <a:spAutoFit/>
          </a:bodyPr>
          <a:lstStyle/>
          <a:p>
            <a:pPr marL="647700" lvl="1" indent="-323850" algn="just">
              <a:lnSpc>
                <a:spcPts val="4500"/>
              </a:lnSpc>
              <a:buFont typeface="Arial"/>
              <a:buChar char="•"/>
            </a:pPr>
            <a:r>
              <a:rPr lang="en-US" sz="3000" dirty="0" err="1">
                <a:solidFill>
                  <a:srgbClr val="0C1D4B"/>
                </a:solidFill>
                <a:latin typeface="Montserrat"/>
                <a:ea typeface="Montserrat"/>
                <a:cs typeface="Montserrat"/>
                <a:sym typeface="Montserrat"/>
              </a:rPr>
              <a:t>Là</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hệ</a:t>
            </a:r>
            <a:r>
              <a:rPr lang="en-US" sz="3000" dirty="0">
                <a:solidFill>
                  <a:srgbClr val="0C1D4B"/>
                </a:solidFill>
                <a:latin typeface="Montserrat"/>
                <a:ea typeface="Montserrat"/>
                <a:cs typeface="Montserrat"/>
                <a:sym typeface="Montserrat"/>
              </a:rPr>
              <a:t> framework </a:t>
            </a:r>
            <a:r>
              <a:rPr lang="en-US" sz="3000" dirty="0" err="1">
                <a:solidFill>
                  <a:srgbClr val="0C1D4B"/>
                </a:solidFill>
                <a:latin typeface="Montserrat"/>
                <a:ea typeface="Montserrat"/>
                <a:cs typeface="Montserrat"/>
                <a:sym typeface="Montserrat"/>
              </a:rPr>
              <a:t>cho</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phép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xây</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dựng</a:t>
            </a:r>
            <a:r>
              <a:rPr lang="en-US" sz="3000" dirty="0">
                <a:solidFill>
                  <a:srgbClr val="0C1D4B"/>
                </a:solidFill>
                <a:latin typeface="Montserrat"/>
                <a:ea typeface="Montserrat"/>
                <a:cs typeface="Montserrat"/>
                <a:sym typeface="Montserrat"/>
              </a:rPr>
              <a:t> AI Agent </a:t>
            </a:r>
            <a:r>
              <a:rPr lang="en-US" sz="3000" dirty="0" err="1">
                <a:solidFill>
                  <a:srgbClr val="0C1D4B"/>
                </a:solidFill>
                <a:latin typeface="Montserrat"/>
                <a:ea typeface="Montserrat"/>
                <a:cs typeface="Montserrat"/>
                <a:sym typeface="Montserrat"/>
              </a:rPr>
              <a:t>dưới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dạng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đồ</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thị</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có</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hướng</a:t>
            </a:r>
            <a:r>
              <a:rPr lang="en-US" sz="3000" dirty="0">
                <a:solidFill>
                  <a:srgbClr val="0C1D4B"/>
                </a:solidFill>
                <a:latin typeface="Montserrat"/>
                <a:ea typeface="Montserrat"/>
                <a:cs typeface="Montserrat"/>
                <a:sym typeface="Montserrat"/>
              </a:rPr>
              <a:t>:</a:t>
            </a:r>
          </a:p>
          <a:p>
            <a:pPr marL="1295400" lvl="2" indent="-431800" algn="just">
              <a:lnSpc>
                <a:spcPts val="4500"/>
              </a:lnSpc>
              <a:buFont typeface="Arial"/>
              <a:buChar char="⚬"/>
            </a:pPr>
            <a:r>
              <a:rPr lang="en-US" sz="3000" dirty="0">
                <a:solidFill>
                  <a:srgbClr val="0C1D4B"/>
                </a:solidFill>
                <a:latin typeface="Montserrat"/>
                <a:ea typeface="Montserrat"/>
                <a:cs typeface="Montserrat"/>
                <a:sym typeface="Montserrat"/>
              </a:rPr>
              <a:t>Các </a:t>
            </a:r>
            <a:r>
              <a:rPr lang="en-US" sz="3000" dirty="0" err="1">
                <a:solidFill>
                  <a:srgbClr val="0C1D4B"/>
                </a:solidFill>
                <a:latin typeface="Montserrat"/>
                <a:ea typeface="Montserrat"/>
                <a:cs typeface="Montserrat"/>
                <a:sym typeface="Montserrat"/>
              </a:rPr>
              <a:t>nút</a:t>
            </a:r>
            <a:r>
              <a:rPr lang="en-US" sz="3000" dirty="0">
                <a:solidFill>
                  <a:srgbClr val="0C1D4B"/>
                </a:solidFill>
                <a:latin typeface="Montserrat"/>
                <a:ea typeface="Montserrat"/>
                <a:cs typeface="Montserrat"/>
                <a:sym typeface="Montserrat"/>
              </a:rPr>
              <a:t> (node): </a:t>
            </a:r>
            <a:r>
              <a:rPr lang="en-US" sz="3000" dirty="0" err="1">
                <a:solidFill>
                  <a:srgbClr val="0C1D4B"/>
                </a:solidFill>
                <a:latin typeface="Montserrat"/>
                <a:ea typeface="Montserrat"/>
                <a:cs typeface="Montserrat"/>
                <a:sym typeface="Montserrat"/>
              </a:rPr>
              <a:t>tương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ứng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bước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xử</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lý</a:t>
            </a:r>
            <a:endParaRPr lang="en-US" sz="3000" dirty="0">
              <a:solidFill>
                <a:srgbClr val="0C1D4B"/>
              </a:solidFill>
              <a:latin typeface="Montserrat"/>
              <a:ea typeface="Montserrat"/>
              <a:cs typeface="Montserrat"/>
              <a:sym typeface="Montserrat"/>
            </a:endParaRPr>
          </a:p>
          <a:p>
            <a:pPr marL="1295400" lvl="2" indent="-431800" algn="just">
              <a:lnSpc>
                <a:spcPts val="4500"/>
              </a:lnSpc>
              <a:buFont typeface="Arial"/>
              <a:buChar char="⚬"/>
            </a:pPr>
            <a:r>
              <a:rPr lang="en-US" sz="3000" dirty="0">
                <a:solidFill>
                  <a:srgbClr val="0C1D4B"/>
                </a:solidFill>
                <a:latin typeface="Montserrat"/>
                <a:ea typeface="Montserrat"/>
                <a:cs typeface="Montserrat"/>
                <a:sym typeface="Montserrat"/>
              </a:rPr>
              <a:t>Các </a:t>
            </a:r>
            <a:r>
              <a:rPr lang="en-US" sz="3000" dirty="0" err="1">
                <a:solidFill>
                  <a:srgbClr val="0C1D4B"/>
                </a:solidFill>
                <a:latin typeface="Montserrat"/>
                <a:ea typeface="Montserrat"/>
                <a:cs typeface="Montserrat"/>
                <a:sym typeface="Montserrat"/>
              </a:rPr>
              <a:t>cạnh</a:t>
            </a:r>
            <a:r>
              <a:rPr lang="en-US" sz="3000" dirty="0">
                <a:solidFill>
                  <a:srgbClr val="0C1D4B"/>
                </a:solidFill>
                <a:latin typeface="Montserrat"/>
                <a:ea typeface="Montserrat"/>
                <a:cs typeface="Montserrat"/>
                <a:sym typeface="Montserrat"/>
              </a:rPr>
              <a:t> (edge): </a:t>
            </a:r>
            <a:r>
              <a:rPr lang="en-US" sz="3000" dirty="0" err="1">
                <a:solidFill>
                  <a:srgbClr val="0C1D4B"/>
                </a:solidFill>
                <a:latin typeface="Montserrat"/>
                <a:ea typeface="Montserrat"/>
                <a:cs typeface="Montserrat"/>
                <a:sym typeface="Montserrat"/>
              </a:rPr>
              <a:t>tương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ứng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hướng</a:t>
            </a:r>
            <a:r>
              <a:rPr lang="en-US" sz="3000" dirty="0">
                <a:solidFill>
                  <a:srgbClr val="0C1D4B"/>
                </a:solidFill>
                <a:latin typeface="Montserrat"/>
                <a:ea typeface="Montserrat"/>
                <a:cs typeface="Montserrat"/>
                <a:sym typeface="Montserrat"/>
              </a:rPr>
              <a:t> di </a:t>
            </a:r>
            <a:r>
              <a:rPr lang="en-US" sz="3000" dirty="0" err="1">
                <a:solidFill>
                  <a:srgbClr val="0C1D4B"/>
                </a:solidFill>
                <a:latin typeface="Montserrat"/>
                <a:ea typeface="Montserrat"/>
                <a:cs typeface="Montserrat"/>
                <a:sym typeface="Montserrat"/>
              </a:rPr>
              <a:t>chuyển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của</a:t>
            </a:r>
            <a:r>
              <a:rPr lang="en-US" sz="3000" dirty="0">
                <a:solidFill>
                  <a:srgbClr val="0C1D4B"/>
                </a:solidFill>
                <a:latin typeface="Montserrat"/>
                <a:ea typeface="Montserrat"/>
                <a:cs typeface="Montserrat"/>
                <a:sym typeface="Montserrat"/>
              </a:rPr>
              <a:t> agent </a:t>
            </a:r>
            <a:r>
              <a:rPr lang="en-US" sz="3000" dirty="0" err="1">
                <a:solidFill>
                  <a:srgbClr val="0C1D4B"/>
                </a:solidFill>
                <a:latin typeface="Montserrat"/>
                <a:ea typeface="Montserrat"/>
                <a:cs typeface="Montserrat"/>
                <a:sym typeface="Montserrat"/>
              </a:rPr>
              <a:t>giữa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các</a:t>
            </a:r>
            <a:r>
              <a:rPr lang="en-US" sz="3000" dirty="0">
                <a:solidFill>
                  <a:srgbClr val="0C1D4B"/>
                </a:solidFill>
                <a:latin typeface="Montserrat"/>
                <a:ea typeface="Montserrat"/>
                <a:cs typeface="Montserrat"/>
                <a:sym typeface="Montserrat"/>
              </a:rPr>
              <a:t> node.</a:t>
            </a:r>
          </a:p>
        </p:txBody>
      </p:sp>
      <p:sp>
        <p:nvSpPr>
          <p:cNvPr id="14" name="Freeform 14"/>
          <p:cNvSpPr/>
          <p:nvPr/>
        </p:nvSpPr>
        <p:spPr>
          <a:xfrm>
            <a:off x="3227165" y="4905718"/>
            <a:ext cx="11963209" cy="4246939"/>
          </a:xfrm>
          <a:custGeom>
            <a:avLst/>
            <a:gdLst/>
            <a:ahLst/>
            <a:cxnLst/>
            <a:rect l="l" t="t" r="r" b="b"/>
            <a:pathLst>
              <a:path w="11963209" h="4246939">
                <a:moveTo>
                  <a:pt x="0" y="0"/>
                </a:moveTo>
                <a:lnTo>
                  <a:pt x="11963209" y="0"/>
                </a:lnTo>
                <a:lnTo>
                  <a:pt x="11963209" y="4246940"/>
                </a:lnTo>
                <a:lnTo>
                  <a:pt x="0" y="4246940"/>
                </a:lnTo>
                <a:lnTo>
                  <a:pt x="0" y="0"/>
                </a:lnTo>
                <a:close/>
              </a:path>
            </a:pathLst>
          </a:custGeom>
          <a:blipFill>
            <a:blip r:embed="rId4"/>
            <a:stretch>
              <a:fillRect/>
            </a:stretch>
          </a:blipFill>
        </p:spPr>
      </p:sp>
      <p:sp>
        <p:nvSpPr>
          <p:cNvPr id="15" name="TextBox 15"/>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67118"/>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Freeform 12"/>
          <p:cNvSpPr/>
          <p:nvPr/>
        </p:nvSpPr>
        <p:spPr>
          <a:xfrm>
            <a:off x="3417067" y="4902595"/>
            <a:ext cx="11526738" cy="4091992"/>
          </a:xfrm>
          <a:custGeom>
            <a:avLst/>
            <a:gdLst/>
            <a:ahLst/>
            <a:cxnLst/>
            <a:rect l="l" t="t" r="r" b="b"/>
            <a:pathLst>
              <a:path w="11526738" h="4091992">
                <a:moveTo>
                  <a:pt x="0" y="0"/>
                </a:moveTo>
                <a:lnTo>
                  <a:pt x="11526738" y="0"/>
                </a:lnTo>
                <a:lnTo>
                  <a:pt x="11526738" y="4091992"/>
                </a:lnTo>
                <a:lnTo>
                  <a:pt x="0" y="4091992"/>
                </a:lnTo>
                <a:lnTo>
                  <a:pt x="0" y="0"/>
                </a:lnTo>
                <a:close/>
              </a:path>
            </a:pathLst>
          </a:custGeom>
          <a:blipFill>
            <a:blip r:embed="rId4"/>
            <a:stretch>
              <a:fillRect/>
            </a:stretch>
          </a:blipFill>
        </p:spPr>
      </p:sp>
      <p:sp>
        <p:nvSpPr>
          <p:cNvPr id="13" name="TextBox 13"/>
          <p:cNvSpPr txBox="1"/>
          <p:nvPr/>
        </p:nvSpPr>
        <p:spPr>
          <a:xfrm>
            <a:off x="1028700" y="2731074"/>
            <a:ext cx="16230600" cy="1114425"/>
          </a:xfrm>
          <a:prstGeom prst="rect">
            <a:avLst/>
          </a:prstGeom>
        </p:spPr>
        <p:txBody>
          <a:bodyPr lIns="0" tIns="0" rIns="0" bIns="0" rtlCol="0" anchor="t">
            <a:spAutoFit/>
          </a:bodyPr>
          <a:lstStyle/>
          <a:p>
            <a:pPr marL="647700" lvl="1" indent="-323850" algn="just">
              <a:lnSpc>
                <a:spcPts val="4500"/>
              </a:lnSpc>
              <a:buFont typeface="Arial"/>
              <a:buChar char="•"/>
            </a:pPr>
            <a:r>
              <a:rPr lang="en-US" sz="3000" dirty="0" err="1">
                <a:solidFill>
                  <a:srgbClr val="0C1D4B"/>
                </a:solidFill>
                <a:latin typeface="Montserrat"/>
                <a:ea typeface="Montserrat"/>
                <a:cs typeface="Montserrat"/>
                <a:sym typeface="Montserrat"/>
              </a:rPr>
              <a:t>Từ</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một</a:t>
            </a:r>
            <a:r>
              <a:rPr lang="en-US" sz="3000" dirty="0">
                <a:solidFill>
                  <a:srgbClr val="0C1D4B"/>
                </a:solidFill>
                <a:latin typeface="Montserrat"/>
                <a:ea typeface="Montserrat"/>
                <a:cs typeface="Montserrat"/>
                <a:sym typeface="Montserrat"/>
              </a:rPr>
              <a:t> node </a:t>
            </a:r>
            <a:r>
              <a:rPr lang="en-US" sz="3000" dirty="0" err="1">
                <a:solidFill>
                  <a:srgbClr val="0C1D4B"/>
                </a:solidFill>
                <a:latin typeface="Montserrat"/>
                <a:ea typeface="Montserrat"/>
                <a:cs typeface="Montserrat"/>
                <a:sym typeface="Montserrat"/>
              </a:rPr>
              <a:t>có</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thể</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kết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nối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đến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nhiều</a:t>
            </a:r>
            <a:r>
              <a:rPr lang="en-US" sz="3000" dirty="0">
                <a:solidFill>
                  <a:srgbClr val="0C1D4B"/>
                </a:solidFill>
                <a:latin typeface="Montserrat"/>
                <a:ea typeface="Montserrat"/>
                <a:cs typeface="Montserrat"/>
                <a:sym typeface="Montserrat"/>
              </a:rPr>
              <a:t> node </a:t>
            </a:r>
            <a:r>
              <a:rPr lang="en-US" sz="3000" dirty="0" err="1">
                <a:solidFill>
                  <a:srgbClr val="0C1D4B"/>
                </a:solidFill>
                <a:latin typeface="Montserrat"/>
                <a:ea typeface="Montserrat"/>
                <a:cs typeface="Montserrat"/>
                <a:sym typeface="Montserrat"/>
              </a:rPr>
              <a:t>khác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cạnh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kết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nối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này</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được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gọi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là</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cạnh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có</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điều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kiện</a:t>
            </a:r>
            <a:r>
              <a:rPr lang="en-US" sz="3000" dirty="0">
                <a:solidFill>
                  <a:srgbClr val="0C1D4B"/>
                </a:solidFill>
                <a:latin typeface="Montserrat"/>
                <a:ea typeface="Montserrat"/>
                <a:cs typeface="Montserrat"/>
                <a:sym typeface="Montserrat"/>
              </a:rPr>
              <a:t> (conditional edge)</a:t>
            </a:r>
          </a:p>
        </p:txBody>
      </p:sp>
      <p:sp>
        <p:nvSpPr>
          <p:cNvPr id="14" name="TextBox 14"/>
          <p:cNvSpPr txBox="1"/>
          <p:nvPr/>
        </p:nvSpPr>
        <p:spPr>
          <a:xfrm>
            <a:off x="1028700" y="1635979"/>
            <a:ext cx="13915105"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2.3. </a:t>
            </a:r>
            <a:r>
              <a:rPr lang="en-US" sz="3999" b="1" dirty="0" err="1">
                <a:solidFill>
                  <a:srgbClr val="0C1D4B"/>
                </a:solidFill>
                <a:latin typeface="Montserrat Heavy"/>
                <a:ea typeface="Montserrat Heavy"/>
                <a:cs typeface="Montserrat Heavy"/>
                <a:sym typeface="Montserrat Heavy"/>
              </a:rPr>
              <a:t>LangGraph</a:t>
            </a:r>
            <a:endParaRPr lang="en-US" sz="3999" b="1" dirty="0">
              <a:solidFill>
                <a:srgbClr val="0C1D4B"/>
              </a:solidFill>
              <a:latin typeface="Montserrat Heavy"/>
              <a:ea typeface="Montserrat Heavy"/>
              <a:cs typeface="Montserrat Heavy"/>
              <a:sym typeface="Montserrat Heavy"/>
            </a:endParaRPr>
          </a:p>
        </p:txBody>
      </p:sp>
      <p:sp>
        <p:nvSpPr>
          <p:cNvPr id="15" name="TextBox 15"/>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67118"/>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Freeform 12"/>
          <p:cNvSpPr/>
          <p:nvPr/>
        </p:nvSpPr>
        <p:spPr>
          <a:xfrm>
            <a:off x="9345827" y="2816799"/>
            <a:ext cx="7913473" cy="5666438"/>
          </a:xfrm>
          <a:custGeom>
            <a:avLst/>
            <a:gdLst/>
            <a:ahLst/>
            <a:cxnLst/>
            <a:rect l="l" t="t" r="r" b="b"/>
            <a:pathLst>
              <a:path w="7913473" h="5666438">
                <a:moveTo>
                  <a:pt x="0" y="0"/>
                </a:moveTo>
                <a:lnTo>
                  <a:pt x="7913473" y="0"/>
                </a:lnTo>
                <a:lnTo>
                  <a:pt x="7913473" y="5666438"/>
                </a:lnTo>
                <a:lnTo>
                  <a:pt x="0" y="5666438"/>
                </a:lnTo>
                <a:lnTo>
                  <a:pt x="0" y="0"/>
                </a:lnTo>
                <a:close/>
              </a:path>
            </a:pathLst>
          </a:custGeom>
          <a:blipFill>
            <a:blip r:embed="rId4"/>
            <a:stretch>
              <a:fillRect/>
            </a:stretch>
          </a:blipFill>
        </p:spPr>
      </p:sp>
      <p:sp>
        <p:nvSpPr>
          <p:cNvPr id="13" name="TextBox 13"/>
          <p:cNvSpPr txBox="1"/>
          <p:nvPr/>
        </p:nvSpPr>
        <p:spPr>
          <a:xfrm>
            <a:off x="1028700" y="2731074"/>
            <a:ext cx="7359800" cy="2828925"/>
          </a:xfrm>
          <a:prstGeom prst="rect">
            <a:avLst/>
          </a:prstGeom>
        </p:spPr>
        <p:txBody>
          <a:bodyPr lIns="0" tIns="0" rIns="0" bIns="0" rtlCol="0" anchor="t">
            <a:spAutoFit/>
          </a:bodyPr>
          <a:lstStyle/>
          <a:p>
            <a:pPr marL="647700" lvl="1" indent="-323850" algn="just">
              <a:lnSpc>
                <a:spcPts val="4500"/>
              </a:lnSpc>
              <a:buFont typeface="Arial"/>
              <a:buChar char="•"/>
            </a:pPr>
            <a:r>
              <a:rPr lang="en-US" sz="3000" b="1" dirty="0">
                <a:solidFill>
                  <a:srgbClr val="0C1D4B"/>
                </a:solidFill>
                <a:latin typeface="Montserrat Bold"/>
                <a:ea typeface="Montserrat Bold"/>
                <a:cs typeface="Montserrat Bold"/>
                <a:sym typeface="Montserrat Bold"/>
              </a:rPr>
              <a:t>State</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của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LangGraph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là</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thành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phần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cho</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phép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lưu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trữ</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trạng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thái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của</a:t>
            </a:r>
            <a:r>
              <a:rPr lang="en-US" sz="3000" dirty="0">
                <a:solidFill>
                  <a:srgbClr val="0C1D4B"/>
                </a:solidFill>
                <a:latin typeface="Montserrat"/>
                <a:ea typeface="Montserrat"/>
                <a:cs typeface="Montserrat"/>
                <a:sym typeface="Montserrat"/>
              </a:rPr>
              <a:t> AI Agent </a:t>
            </a:r>
            <a:r>
              <a:rPr lang="en-US" sz="3000" dirty="0" err="1">
                <a:solidFill>
                  <a:srgbClr val="0C1D4B"/>
                </a:solidFill>
                <a:latin typeface="Montserrat"/>
                <a:ea typeface="Montserrat"/>
                <a:cs typeface="Montserrat"/>
                <a:sym typeface="Montserrat"/>
              </a:rPr>
              <a:t>xuyên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suốt</a:t>
            </a:r>
            <a:r>
              <a:rPr lang="en-US" sz="3000" dirty="0">
                <a:solidFill>
                  <a:srgbClr val="0C1D4B"/>
                </a:solidFill>
                <a:latin typeface="Montserrat"/>
                <a:ea typeface="Montserrat"/>
                <a:cs typeface="Montserrat"/>
                <a:sym typeface="Montserrat"/>
              </a:rPr>
              <a:t> graph</a:t>
            </a:r>
          </a:p>
          <a:p>
            <a:pPr marL="647700" lvl="1" indent="-323850" algn="just">
              <a:lnSpc>
                <a:spcPts val="4500"/>
              </a:lnSpc>
              <a:buFont typeface="Arial"/>
              <a:buChar char="•"/>
            </a:pPr>
            <a:r>
              <a:rPr lang="en-US" sz="3000" b="1" dirty="0">
                <a:solidFill>
                  <a:srgbClr val="0C1D4B"/>
                </a:solidFill>
                <a:latin typeface="Montserrat Bold"/>
                <a:ea typeface="Montserrat Bold"/>
                <a:cs typeface="Montserrat Bold"/>
                <a:sym typeface="Montserrat Bold"/>
              </a:rPr>
              <a:t>State</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lưu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trữ</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luồng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tư</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duy</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kế</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hoạch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kết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quả</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của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hệ</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thống</a:t>
            </a:r>
            <a:endParaRPr lang="en-US" sz="3000" dirty="0">
              <a:solidFill>
                <a:srgbClr val="0C1D4B"/>
              </a:solidFill>
              <a:latin typeface="Montserrat"/>
              <a:ea typeface="Montserrat"/>
              <a:cs typeface="Montserrat"/>
              <a:sym typeface="Montserrat"/>
            </a:endParaRPr>
          </a:p>
        </p:txBody>
      </p:sp>
      <p:sp>
        <p:nvSpPr>
          <p:cNvPr id="14" name="TextBox 14"/>
          <p:cNvSpPr txBox="1"/>
          <p:nvPr/>
        </p:nvSpPr>
        <p:spPr>
          <a:xfrm>
            <a:off x="1028700" y="1635979"/>
            <a:ext cx="13915105"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2.3. </a:t>
            </a:r>
            <a:r>
              <a:rPr lang="en-US" sz="3999" b="1" dirty="0" err="1">
                <a:solidFill>
                  <a:srgbClr val="0C1D4B"/>
                </a:solidFill>
                <a:latin typeface="Montserrat Heavy"/>
                <a:ea typeface="Montserrat Heavy"/>
                <a:cs typeface="Montserrat Heavy"/>
                <a:sym typeface="Montserrat Heavy"/>
              </a:rPr>
              <a:t>LangGraph</a:t>
            </a:r>
            <a:endParaRPr lang="en-US" sz="3999" b="1" dirty="0">
              <a:solidFill>
                <a:srgbClr val="0C1D4B"/>
              </a:solidFill>
              <a:latin typeface="Montserrat Heavy"/>
              <a:ea typeface="Montserrat Heavy"/>
              <a:cs typeface="Montserrat Heavy"/>
              <a:sym typeface="Montserrat Heavy"/>
            </a:endParaRPr>
          </a:p>
        </p:txBody>
      </p:sp>
      <p:sp>
        <p:nvSpPr>
          <p:cNvPr id="15" name="TextBox 15"/>
          <p:cNvSpPr txBox="1"/>
          <p:nvPr/>
        </p:nvSpPr>
        <p:spPr>
          <a:xfrm>
            <a:off x="10852861" y="8723248"/>
            <a:ext cx="4899405" cy="337185"/>
          </a:xfrm>
          <a:prstGeom prst="rect">
            <a:avLst/>
          </a:prstGeom>
        </p:spPr>
        <p:txBody>
          <a:bodyPr lIns="0" tIns="0" rIns="0" bIns="0" rtlCol="0" anchor="t">
            <a:spAutoFit/>
          </a:bodyPr>
          <a:lstStyle/>
          <a:p>
            <a:pPr algn="just">
              <a:lnSpc>
                <a:spcPts val="2880"/>
              </a:lnSpc>
            </a:pPr>
            <a:r>
              <a:rPr lang="en-US" sz="1800" b="1" i="1">
                <a:solidFill>
                  <a:srgbClr val="0C1D4B"/>
                </a:solidFill>
                <a:latin typeface="Montserrat Bold Italics"/>
                <a:ea typeface="Montserrat Bold Italics"/>
                <a:cs typeface="Montserrat Bold Italics"/>
                <a:sym typeface="Montserrat Bold Italics"/>
              </a:rPr>
              <a:t>Ví dụ về State trong AI Agent về thời tiết</a:t>
            </a:r>
          </a:p>
        </p:txBody>
      </p:sp>
      <p:sp>
        <p:nvSpPr>
          <p:cNvPr id="16" name="TextBox 16"/>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grpSp>
        <p:nvGrpSpPr>
          <p:cNvPr id="5" name="Group 5"/>
          <p:cNvGrpSpPr/>
          <p:nvPr/>
        </p:nvGrpSpPr>
        <p:grpSpPr>
          <a:xfrm>
            <a:off x="4934556" y="4425482"/>
            <a:ext cx="8418889" cy="1436035"/>
            <a:chOff x="0" y="0"/>
            <a:chExt cx="2217321" cy="378215"/>
          </a:xfrm>
        </p:grpSpPr>
        <p:sp>
          <p:nvSpPr>
            <p:cNvPr id="6" name="Freeform 6"/>
            <p:cNvSpPr/>
            <p:nvPr/>
          </p:nvSpPr>
          <p:spPr>
            <a:xfrm>
              <a:off x="0" y="0"/>
              <a:ext cx="2217320" cy="378215"/>
            </a:xfrm>
            <a:custGeom>
              <a:avLst/>
              <a:gdLst/>
              <a:ahLst/>
              <a:cxnLst/>
              <a:rect l="l" t="t" r="r" b="b"/>
              <a:pathLst>
                <a:path w="2217320" h="378215">
                  <a:moveTo>
                    <a:pt x="25749" y="0"/>
                  </a:moveTo>
                  <a:lnTo>
                    <a:pt x="2191572" y="0"/>
                  </a:lnTo>
                  <a:cubicBezTo>
                    <a:pt x="2198401" y="0"/>
                    <a:pt x="2204950" y="2713"/>
                    <a:pt x="2209779" y="7542"/>
                  </a:cubicBezTo>
                  <a:cubicBezTo>
                    <a:pt x="2214608" y="12370"/>
                    <a:pt x="2217320" y="18920"/>
                    <a:pt x="2217320" y="25749"/>
                  </a:cubicBezTo>
                  <a:lnTo>
                    <a:pt x="2217320" y="352466"/>
                  </a:lnTo>
                  <a:cubicBezTo>
                    <a:pt x="2217320" y="359295"/>
                    <a:pt x="2214608" y="365845"/>
                    <a:pt x="2209779" y="370673"/>
                  </a:cubicBezTo>
                  <a:cubicBezTo>
                    <a:pt x="2204950" y="375502"/>
                    <a:pt x="2198401" y="378215"/>
                    <a:pt x="2191572" y="378215"/>
                  </a:cubicBezTo>
                  <a:lnTo>
                    <a:pt x="25749" y="378215"/>
                  </a:lnTo>
                  <a:cubicBezTo>
                    <a:pt x="18920" y="378215"/>
                    <a:pt x="12370" y="375502"/>
                    <a:pt x="7542" y="370673"/>
                  </a:cubicBezTo>
                  <a:cubicBezTo>
                    <a:pt x="2713" y="365845"/>
                    <a:pt x="0" y="359295"/>
                    <a:pt x="0" y="352466"/>
                  </a:cubicBezTo>
                  <a:lnTo>
                    <a:pt x="0" y="25749"/>
                  </a:lnTo>
                  <a:cubicBezTo>
                    <a:pt x="0" y="18920"/>
                    <a:pt x="2713" y="12370"/>
                    <a:pt x="7542" y="7542"/>
                  </a:cubicBezTo>
                  <a:cubicBezTo>
                    <a:pt x="12370" y="2713"/>
                    <a:pt x="18920" y="0"/>
                    <a:pt x="25749" y="0"/>
                  </a:cubicBezTo>
                  <a:close/>
                </a:path>
              </a:pathLst>
            </a:custGeom>
            <a:solidFill>
              <a:srgbClr val="000000">
                <a:alpha val="0"/>
              </a:srgbClr>
            </a:solidFill>
            <a:ln w="38100" cap="rnd">
              <a:solidFill>
                <a:srgbClr val="0D1D4B"/>
              </a:solidFill>
              <a:prstDash val="solid"/>
              <a:round/>
            </a:ln>
          </p:spPr>
        </p:sp>
        <p:sp>
          <p:nvSpPr>
            <p:cNvPr id="7" name="TextBox 7"/>
            <p:cNvSpPr txBox="1"/>
            <p:nvPr/>
          </p:nvSpPr>
          <p:spPr>
            <a:xfrm>
              <a:off x="0" y="-47625"/>
              <a:ext cx="2217321" cy="425840"/>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8598061" y="3599413"/>
            <a:ext cx="1091879" cy="1091879"/>
            <a:chOff x="0" y="0"/>
            <a:chExt cx="1455838" cy="1455838"/>
          </a:xfrm>
        </p:grpSpPr>
        <p:grpSp>
          <p:nvGrpSpPr>
            <p:cNvPr id="9" name="Group 9"/>
            <p:cNvGrpSpPr/>
            <p:nvPr/>
          </p:nvGrpSpPr>
          <p:grpSpPr>
            <a:xfrm>
              <a:off x="0" y="0"/>
              <a:ext cx="1455838" cy="145583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1D4B"/>
              </a:solidFill>
              <a:ln w="38100" cap="sq">
                <a:solidFill>
                  <a:srgbClr val="0C1D4B"/>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940"/>
                  </a:lnSpc>
                </a:pPr>
                <a:endParaRPr/>
              </a:p>
            </p:txBody>
          </p:sp>
        </p:grpSp>
        <p:sp>
          <p:nvSpPr>
            <p:cNvPr id="12" name="TextBox 12"/>
            <p:cNvSpPr txBox="1"/>
            <p:nvPr/>
          </p:nvSpPr>
          <p:spPr>
            <a:xfrm>
              <a:off x="192932" y="227539"/>
              <a:ext cx="1069975" cy="924560"/>
            </a:xfrm>
            <a:prstGeom prst="rect">
              <a:avLst/>
            </a:prstGeom>
          </p:spPr>
          <p:txBody>
            <a:bodyPr lIns="0" tIns="0" rIns="0" bIns="0" rtlCol="0" anchor="t">
              <a:spAutoFit/>
            </a:bodyPr>
            <a:lstStyle/>
            <a:p>
              <a:pPr algn="ctr">
                <a:lnSpc>
                  <a:spcPts val="5880"/>
                </a:lnSpc>
              </a:pPr>
              <a:r>
                <a:rPr lang="en-US" sz="4200" b="1" spc="100">
                  <a:solidFill>
                    <a:srgbClr val="FFFFFF"/>
                  </a:solidFill>
                  <a:latin typeface="Montserrat Bold"/>
                  <a:ea typeface="Montserrat Bold"/>
                  <a:cs typeface="Montserrat Bold"/>
                  <a:sym typeface="Montserrat Bold"/>
                </a:rPr>
                <a:t>3</a:t>
              </a:r>
            </a:p>
          </p:txBody>
        </p:sp>
      </p:grpSp>
      <p:sp>
        <p:nvSpPr>
          <p:cNvPr id="13" name="TextBox 13"/>
          <p:cNvSpPr txBox="1"/>
          <p:nvPr/>
        </p:nvSpPr>
        <p:spPr>
          <a:xfrm>
            <a:off x="5330134" y="4876038"/>
            <a:ext cx="7627731" cy="630174"/>
          </a:xfrm>
          <a:prstGeom prst="rect">
            <a:avLst/>
          </a:prstGeom>
        </p:spPr>
        <p:txBody>
          <a:bodyPr lIns="0" tIns="0" rIns="0" bIns="0" rtlCol="0" anchor="t">
            <a:spAutoFit/>
          </a:bodyPr>
          <a:lstStyle/>
          <a:p>
            <a:pPr algn="ctr">
              <a:lnSpc>
                <a:spcPts val="4848"/>
              </a:lnSpc>
            </a:pPr>
            <a:r>
              <a:rPr lang="en-US" sz="4800" b="1">
                <a:solidFill>
                  <a:srgbClr val="0C1D4B"/>
                </a:solidFill>
                <a:latin typeface="Montserrat Heavy"/>
                <a:ea typeface="Montserrat Heavy"/>
                <a:cs typeface="Montserrat Heavy"/>
                <a:sym typeface="Montserrat Heavy"/>
              </a:rPr>
              <a:t>XÂY DỰNG HỆ THỐNG</a:t>
            </a:r>
          </a:p>
        </p:txBody>
      </p:sp>
      <p:sp>
        <p:nvSpPr>
          <p:cNvPr id="14" name="Freeform 14"/>
          <p:cNvSpPr/>
          <p:nvPr/>
        </p:nvSpPr>
        <p:spPr>
          <a:xfrm>
            <a:off x="15569234" y="8449152"/>
            <a:ext cx="1052409" cy="263102"/>
          </a:xfrm>
          <a:custGeom>
            <a:avLst/>
            <a:gdLst/>
            <a:ahLst/>
            <a:cxnLst/>
            <a:rect l="l" t="t" r="r" b="b"/>
            <a:pathLst>
              <a:path w="1052409" h="263102">
                <a:moveTo>
                  <a:pt x="0" y="0"/>
                </a:moveTo>
                <a:lnTo>
                  <a:pt x="1052409" y="0"/>
                </a:lnTo>
                <a:lnTo>
                  <a:pt x="1052409" y="263102"/>
                </a:lnTo>
                <a:lnTo>
                  <a:pt x="0" y="2631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5"/>
            <a:stretch>
              <a:fillRect/>
            </a:stretch>
          </a:blipFill>
        </p:spPr>
      </p:sp>
      <p:grpSp>
        <p:nvGrpSpPr>
          <p:cNvPr id="16" name="Group 16"/>
          <p:cNvGrpSpPr/>
          <p:nvPr/>
        </p:nvGrpSpPr>
        <p:grpSpPr>
          <a:xfrm>
            <a:off x="-3127839" y="9429370"/>
            <a:ext cx="22035035" cy="3394679"/>
            <a:chOff x="0" y="0"/>
            <a:chExt cx="29380046" cy="4526239"/>
          </a:xfrm>
        </p:grpSpPr>
        <p:grpSp>
          <p:nvGrpSpPr>
            <p:cNvPr id="17" name="Group 17"/>
            <p:cNvGrpSpPr/>
            <p:nvPr/>
          </p:nvGrpSpPr>
          <p:grpSpPr>
            <a:xfrm>
              <a:off x="0" y="954681"/>
              <a:ext cx="29380046" cy="3571558"/>
              <a:chOff x="0" y="0"/>
              <a:chExt cx="5803466" cy="705493"/>
            </a:xfrm>
          </p:grpSpPr>
          <p:sp>
            <p:nvSpPr>
              <p:cNvPr id="18" name="Freeform 18"/>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9" name="TextBox 19"/>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20" name="Freeform 20"/>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5"/>
              <a:stretch>
                <a:fillRect/>
              </a:stretch>
            </a:blipFill>
          </p:spPr>
        </p:sp>
      </p:grpSp>
      <p:sp>
        <p:nvSpPr>
          <p:cNvPr id="21" name="TextBox 21"/>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67118"/>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p:cNvSpPr txBox="1"/>
          <p:nvPr/>
        </p:nvSpPr>
        <p:spPr>
          <a:xfrm>
            <a:off x="1028700" y="1593214"/>
            <a:ext cx="13915105"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3.1. </a:t>
            </a:r>
            <a:r>
              <a:rPr lang="en-US" sz="3999" b="1" dirty="0" err="1">
                <a:solidFill>
                  <a:srgbClr val="0C1D4B"/>
                </a:solidFill>
                <a:latin typeface="Montserrat Heavy"/>
                <a:ea typeface="Montserrat Heavy"/>
                <a:cs typeface="Montserrat Heavy"/>
                <a:sym typeface="Montserrat Heavy"/>
              </a:rPr>
              <a:t>Xác</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định</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môi</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trường</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của</a:t>
            </a:r>
            <a:r>
              <a:rPr lang="en-US" sz="3999" b="1" dirty="0">
                <a:solidFill>
                  <a:srgbClr val="0C1D4B"/>
                </a:solidFill>
                <a:latin typeface="Montserrat Heavy"/>
                <a:ea typeface="Montserrat Heavy"/>
                <a:cs typeface="Montserrat Heavy"/>
                <a:sym typeface="Montserrat Heavy"/>
              </a:rPr>
              <a:t> agent</a:t>
            </a:r>
          </a:p>
        </p:txBody>
      </p:sp>
      <p:sp>
        <p:nvSpPr>
          <p:cNvPr id="13" name="AutoShape 13"/>
          <p:cNvSpPr/>
          <p:nvPr/>
        </p:nvSpPr>
        <p:spPr>
          <a:xfrm flipV="1">
            <a:off x="10900462" y="3857257"/>
            <a:ext cx="48531" cy="3963046"/>
          </a:xfrm>
          <a:prstGeom prst="line">
            <a:avLst/>
          </a:prstGeom>
          <a:ln w="38100" cap="flat">
            <a:solidFill>
              <a:srgbClr val="0D1D4B"/>
            </a:solidFill>
            <a:prstDash val="lgDash"/>
            <a:headEnd type="none" w="sm" len="sm"/>
            <a:tailEnd type="none" w="sm" len="sm"/>
          </a:ln>
        </p:spPr>
      </p:sp>
      <p:grpSp>
        <p:nvGrpSpPr>
          <p:cNvPr id="14" name="Group 14"/>
          <p:cNvGrpSpPr/>
          <p:nvPr/>
        </p:nvGrpSpPr>
        <p:grpSpPr>
          <a:xfrm>
            <a:off x="1028700" y="2907932"/>
            <a:ext cx="7869442" cy="4912370"/>
            <a:chOff x="0" y="-247650"/>
            <a:chExt cx="10492590" cy="6549828"/>
          </a:xfrm>
        </p:grpSpPr>
        <p:sp>
          <p:nvSpPr>
            <p:cNvPr id="15" name="TextBox 15"/>
            <p:cNvSpPr txBox="1"/>
            <p:nvPr/>
          </p:nvSpPr>
          <p:spPr>
            <a:xfrm>
              <a:off x="4327112" y="805422"/>
              <a:ext cx="5003456" cy="917575"/>
            </a:xfrm>
            <a:prstGeom prst="rect">
              <a:avLst/>
            </a:prstGeom>
          </p:spPr>
          <p:txBody>
            <a:bodyPr lIns="0" tIns="0" rIns="0" bIns="0" rtlCol="0" anchor="t">
              <a:spAutoFit/>
            </a:bodyPr>
            <a:lstStyle/>
            <a:p>
              <a:pPr algn="just">
                <a:lnSpc>
                  <a:spcPts val="2879"/>
                </a:lnSpc>
              </a:pPr>
              <a:r>
                <a:rPr lang="en-US" sz="2400" b="1" dirty="0">
                  <a:solidFill>
                    <a:srgbClr val="0C1D4B"/>
                  </a:solidFill>
                  <a:latin typeface="Montserrat Bold"/>
                  <a:ea typeface="Montserrat Bold"/>
                  <a:cs typeface="Montserrat Bold"/>
                  <a:sym typeface="Montserrat Bold"/>
                </a:rPr>
                <a:t>CSDL điểm số sinh viên</a:t>
              </a:r>
            </a:p>
            <a:p>
              <a:pPr algn="just">
                <a:lnSpc>
                  <a:spcPts val="2640"/>
                </a:lnSpc>
              </a:pPr>
              <a:r>
                <a:rPr lang="en-US" sz="2200" i="1" dirty="0">
                  <a:solidFill>
                    <a:srgbClr val="0C1D4B"/>
                  </a:solidFill>
                  <a:latin typeface="Montserrat Italics"/>
                  <a:ea typeface="Montserrat Italics"/>
                  <a:cs typeface="Montserrat Italics"/>
                  <a:sym typeface="Montserrat Italics"/>
                </a:rPr>
                <a:t>Website khảo thí</a:t>
              </a:r>
            </a:p>
          </p:txBody>
        </p:sp>
        <p:sp>
          <p:nvSpPr>
            <p:cNvPr id="16" name="TextBox 16"/>
            <p:cNvSpPr txBox="1"/>
            <p:nvPr/>
          </p:nvSpPr>
          <p:spPr>
            <a:xfrm>
              <a:off x="4327112" y="2281024"/>
              <a:ext cx="5003456" cy="940428"/>
            </a:xfrm>
            <a:prstGeom prst="rect">
              <a:avLst/>
            </a:prstGeom>
          </p:spPr>
          <p:txBody>
            <a:bodyPr lIns="0" tIns="0" rIns="0" bIns="0" rtlCol="0" anchor="t">
              <a:spAutoFit/>
            </a:bodyPr>
            <a:lstStyle/>
            <a:p>
              <a:pPr algn="just">
                <a:lnSpc>
                  <a:spcPts val="2879"/>
                </a:lnSpc>
              </a:pPr>
              <a:r>
                <a:rPr lang="en-US" sz="2400" b="1" dirty="0">
                  <a:solidFill>
                    <a:srgbClr val="0C1D4B"/>
                  </a:solidFill>
                  <a:latin typeface="Montserrat"/>
                  <a:ea typeface="Montserrat"/>
                  <a:cs typeface="Montserrat"/>
                  <a:sym typeface="Montserrat"/>
                </a:rPr>
                <a:t>C</a:t>
              </a:r>
              <a:r>
                <a:rPr lang="en-US" sz="2400" b="1" dirty="0">
                  <a:solidFill>
                    <a:srgbClr val="0C1D4B"/>
                  </a:solidFill>
                  <a:latin typeface="Montserrat Bold"/>
                  <a:ea typeface="Montserrat Bold"/>
                  <a:cs typeface="Montserrat Bold"/>
                  <a:sym typeface="Montserrat Bold"/>
                </a:rPr>
                <a:t>SDL quy định học tập</a:t>
              </a:r>
            </a:p>
            <a:p>
              <a:pPr algn="just">
                <a:lnSpc>
                  <a:spcPts val="2640"/>
                </a:lnSpc>
              </a:pPr>
              <a:r>
                <a:rPr lang="en-US" sz="2200" i="1" dirty="0">
                  <a:solidFill>
                    <a:srgbClr val="0C1D4B"/>
                  </a:solidFill>
                  <a:latin typeface="Montserrat Italics"/>
                  <a:ea typeface="Montserrat Italics"/>
                  <a:cs typeface="Montserrat Italics"/>
                  <a:sym typeface="Montserrat Italics"/>
                </a:rPr>
                <a:t>Sổ tay sinh viên</a:t>
              </a:r>
            </a:p>
          </p:txBody>
        </p:sp>
        <p:sp>
          <p:nvSpPr>
            <p:cNvPr id="17" name="AutoShape 17"/>
            <p:cNvSpPr/>
            <p:nvPr/>
          </p:nvSpPr>
          <p:spPr>
            <a:xfrm flipV="1">
              <a:off x="1951842" y="646006"/>
              <a:ext cx="0" cy="5656172"/>
            </a:xfrm>
            <a:prstGeom prst="line">
              <a:avLst/>
            </a:prstGeom>
            <a:ln w="50800" cap="flat">
              <a:solidFill>
                <a:srgbClr val="0D1D4B"/>
              </a:solidFill>
              <a:prstDash val="lgDash"/>
              <a:headEnd type="none" w="sm" len="sm"/>
              <a:tailEnd type="none" w="sm" len="sm"/>
            </a:ln>
          </p:spPr>
        </p:sp>
        <p:sp>
          <p:nvSpPr>
            <p:cNvPr id="18" name="AutoShape 18"/>
            <p:cNvSpPr/>
            <p:nvPr/>
          </p:nvSpPr>
          <p:spPr>
            <a:xfrm flipH="1">
              <a:off x="1951842" y="1264210"/>
              <a:ext cx="2084764" cy="0"/>
            </a:xfrm>
            <a:prstGeom prst="line">
              <a:avLst/>
            </a:prstGeom>
            <a:ln w="50800" cap="flat">
              <a:solidFill>
                <a:srgbClr val="0D1D4B"/>
              </a:solidFill>
              <a:prstDash val="lgDash"/>
              <a:headEnd type="oval" w="lg" len="lg"/>
              <a:tailEnd type="none" w="sm" len="sm"/>
            </a:ln>
          </p:spPr>
        </p:sp>
        <p:sp>
          <p:nvSpPr>
            <p:cNvPr id="19" name="AutoShape 19"/>
            <p:cNvSpPr/>
            <p:nvPr/>
          </p:nvSpPr>
          <p:spPr>
            <a:xfrm flipH="1">
              <a:off x="1951842" y="2733108"/>
              <a:ext cx="2084764" cy="0"/>
            </a:xfrm>
            <a:prstGeom prst="line">
              <a:avLst/>
            </a:prstGeom>
            <a:ln w="50800" cap="flat">
              <a:solidFill>
                <a:srgbClr val="0D1D4B"/>
              </a:solidFill>
              <a:prstDash val="lgDash"/>
              <a:headEnd type="oval" w="lg" len="lg"/>
              <a:tailEnd type="none" w="sm" len="sm"/>
            </a:ln>
          </p:spPr>
        </p:sp>
        <p:sp>
          <p:nvSpPr>
            <p:cNvPr id="20" name="TextBox 20"/>
            <p:cNvSpPr txBox="1"/>
            <p:nvPr/>
          </p:nvSpPr>
          <p:spPr>
            <a:xfrm>
              <a:off x="0" y="-247650"/>
              <a:ext cx="3903685" cy="893656"/>
            </a:xfrm>
            <a:prstGeom prst="rect">
              <a:avLst/>
            </a:prstGeom>
          </p:spPr>
          <p:txBody>
            <a:bodyPr lIns="0" tIns="0" rIns="0" bIns="0" rtlCol="0" anchor="t">
              <a:spAutoFit/>
            </a:bodyPr>
            <a:lstStyle/>
            <a:p>
              <a:pPr algn="ctr">
                <a:lnSpc>
                  <a:spcPts val="6400"/>
                </a:lnSpc>
              </a:pPr>
              <a:r>
                <a:rPr lang="en-US" sz="3200" b="1">
                  <a:solidFill>
                    <a:srgbClr val="0C1D4B"/>
                  </a:solidFill>
                  <a:latin typeface="Montserrat Bold"/>
                  <a:ea typeface="Montserrat Bold"/>
                  <a:cs typeface="Montserrat Bold"/>
                  <a:sym typeface="Montserrat Bold"/>
                </a:rPr>
                <a:t>Môi trường</a:t>
              </a:r>
            </a:p>
          </p:txBody>
        </p:sp>
        <p:sp>
          <p:nvSpPr>
            <p:cNvPr id="21" name="TextBox 21"/>
            <p:cNvSpPr txBox="1"/>
            <p:nvPr/>
          </p:nvSpPr>
          <p:spPr>
            <a:xfrm>
              <a:off x="4327111" y="3605108"/>
              <a:ext cx="5584468" cy="917575"/>
            </a:xfrm>
            <a:prstGeom prst="rect">
              <a:avLst/>
            </a:prstGeom>
          </p:spPr>
          <p:txBody>
            <a:bodyPr lIns="0" tIns="0" rIns="0" bIns="0" rtlCol="0" anchor="t">
              <a:spAutoFit/>
            </a:bodyPr>
            <a:lstStyle/>
            <a:p>
              <a:pPr algn="just">
                <a:lnSpc>
                  <a:spcPts val="2879"/>
                </a:lnSpc>
              </a:pPr>
              <a:r>
                <a:rPr lang="en-US" sz="2400" b="1" dirty="0">
                  <a:solidFill>
                    <a:srgbClr val="0C1D4B"/>
                  </a:solidFill>
                  <a:latin typeface="Montserrat Bold"/>
                  <a:ea typeface="Montserrat Bold"/>
                  <a:cs typeface="Montserrat Bold"/>
                  <a:sym typeface="Montserrat Bold"/>
                </a:rPr>
                <a:t>CSDL quy trình, biểu mẫu</a:t>
              </a:r>
            </a:p>
            <a:p>
              <a:pPr algn="just">
                <a:lnSpc>
                  <a:spcPts val="2640"/>
                </a:lnSpc>
              </a:pPr>
              <a:r>
                <a:rPr lang="en-US" sz="2200" dirty="0">
                  <a:solidFill>
                    <a:srgbClr val="0C1D4B"/>
                  </a:solidFill>
                  <a:latin typeface="Montserrat"/>
                  <a:ea typeface="Montserrat"/>
                  <a:cs typeface="Montserrat"/>
                  <a:sym typeface="Montserrat"/>
                </a:rPr>
                <a:t>Thông tin từ Hệ QLSV</a:t>
              </a:r>
            </a:p>
          </p:txBody>
        </p:sp>
        <p:sp>
          <p:nvSpPr>
            <p:cNvPr id="22" name="AutoShape 22"/>
            <p:cNvSpPr/>
            <p:nvPr/>
          </p:nvSpPr>
          <p:spPr>
            <a:xfrm flipH="1">
              <a:off x="1951842" y="4117355"/>
              <a:ext cx="2084764" cy="0"/>
            </a:xfrm>
            <a:prstGeom prst="line">
              <a:avLst/>
            </a:prstGeom>
            <a:ln w="50800" cap="flat">
              <a:solidFill>
                <a:srgbClr val="0D1D4B"/>
              </a:solidFill>
              <a:prstDash val="lgDash"/>
              <a:headEnd type="oval" w="lg" len="lg"/>
              <a:tailEnd type="none" w="sm" len="sm"/>
            </a:ln>
          </p:spPr>
        </p:sp>
        <p:sp>
          <p:nvSpPr>
            <p:cNvPr id="23" name="TextBox 23"/>
            <p:cNvSpPr txBox="1"/>
            <p:nvPr/>
          </p:nvSpPr>
          <p:spPr>
            <a:xfrm>
              <a:off x="4327111" y="5050223"/>
              <a:ext cx="6165479" cy="917575"/>
            </a:xfrm>
            <a:prstGeom prst="rect">
              <a:avLst/>
            </a:prstGeom>
          </p:spPr>
          <p:txBody>
            <a:bodyPr lIns="0" tIns="0" rIns="0" bIns="0" rtlCol="0" anchor="t">
              <a:spAutoFit/>
            </a:bodyPr>
            <a:lstStyle/>
            <a:p>
              <a:pPr algn="just">
                <a:lnSpc>
                  <a:spcPts val="2879"/>
                </a:lnSpc>
              </a:pPr>
              <a:r>
                <a:rPr lang="en-US" sz="2400" b="1" dirty="0">
                  <a:solidFill>
                    <a:srgbClr val="0C1D4B"/>
                  </a:solidFill>
                  <a:latin typeface="Montserrat Bold"/>
                  <a:ea typeface="Montserrat Bold"/>
                  <a:cs typeface="Montserrat Bold"/>
                  <a:sym typeface="Montserrat Bold"/>
                </a:rPr>
                <a:t>Câu hỏi thường gặp</a:t>
              </a:r>
            </a:p>
            <a:p>
              <a:pPr algn="just">
                <a:lnSpc>
                  <a:spcPts val="2640"/>
                </a:lnSpc>
              </a:pPr>
              <a:r>
                <a:rPr lang="en-US" sz="2200" dirty="0">
                  <a:solidFill>
                    <a:srgbClr val="0C1D4B"/>
                  </a:solidFill>
                  <a:latin typeface="Montserrat"/>
                  <a:ea typeface="Montserrat"/>
                  <a:cs typeface="Montserrat"/>
                  <a:sym typeface="Montserrat"/>
                </a:rPr>
                <a:t>Thông tin từ sinh viên học viện</a:t>
              </a:r>
            </a:p>
          </p:txBody>
        </p:sp>
        <p:sp>
          <p:nvSpPr>
            <p:cNvPr id="24" name="AutoShape 24"/>
            <p:cNvSpPr/>
            <p:nvPr/>
          </p:nvSpPr>
          <p:spPr>
            <a:xfrm flipH="1">
              <a:off x="1951842" y="5476807"/>
              <a:ext cx="2084764" cy="0"/>
            </a:xfrm>
            <a:prstGeom prst="line">
              <a:avLst/>
            </a:prstGeom>
            <a:ln w="50800" cap="flat">
              <a:solidFill>
                <a:srgbClr val="0D1D4B"/>
              </a:solidFill>
              <a:prstDash val="lgDash"/>
              <a:headEnd type="oval" w="lg" len="lg"/>
              <a:tailEnd type="none" w="sm" len="sm"/>
            </a:ln>
          </p:spPr>
        </p:sp>
      </p:grpSp>
      <p:grpSp>
        <p:nvGrpSpPr>
          <p:cNvPr id="25" name="Group 25"/>
          <p:cNvGrpSpPr/>
          <p:nvPr/>
        </p:nvGrpSpPr>
        <p:grpSpPr>
          <a:xfrm>
            <a:off x="9467670" y="3050806"/>
            <a:ext cx="8107752" cy="4625089"/>
            <a:chOff x="0" y="-57150"/>
            <a:chExt cx="10810336" cy="6166785"/>
          </a:xfrm>
        </p:grpSpPr>
        <p:sp>
          <p:nvSpPr>
            <p:cNvPr id="26" name="TextBox 26"/>
            <p:cNvSpPr txBox="1"/>
            <p:nvPr/>
          </p:nvSpPr>
          <p:spPr>
            <a:xfrm>
              <a:off x="4644857" y="1399783"/>
              <a:ext cx="5003456" cy="473075"/>
            </a:xfrm>
            <a:prstGeom prst="rect">
              <a:avLst/>
            </a:prstGeom>
          </p:spPr>
          <p:txBody>
            <a:bodyPr lIns="0" tIns="0" rIns="0" bIns="0" rtlCol="0" anchor="t">
              <a:spAutoFit/>
            </a:bodyPr>
            <a:lstStyle/>
            <a:p>
              <a:pPr algn="just">
                <a:lnSpc>
                  <a:spcPts val="2879"/>
                </a:lnSpc>
              </a:pPr>
              <a:r>
                <a:rPr lang="en-US" sz="2400" b="1" dirty="0">
                  <a:solidFill>
                    <a:srgbClr val="0C1D4B"/>
                  </a:solidFill>
                  <a:latin typeface="Montserrat Bold"/>
                  <a:ea typeface="Montserrat Bold"/>
                  <a:cs typeface="Montserrat Bold"/>
                  <a:sym typeface="Montserrat Bold"/>
                </a:rPr>
                <a:t>Trả lời câu hỏi</a:t>
              </a:r>
            </a:p>
          </p:txBody>
        </p:sp>
        <p:sp>
          <p:nvSpPr>
            <p:cNvPr id="27" name="TextBox 27"/>
            <p:cNvSpPr txBox="1"/>
            <p:nvPr/>
          </p:nvSpPr>
          <p:spPr>
            <a:xfrm>
              <a:off x="4644857" y="2851460"/>
              <a:ext cx="5424954" cy="473292"/>
            </a:xfrm>
            <a:prstGeom prst="rect">
              <a:avLst/>
            </a:prstGeom>
          </p:spPr>
          <p:txBody>
            <a:bodyPr wrap="square" lIns="0" tIns="0" rIns="0" bIns="0" rtlCol="0" anchor="t">
              <a:spAutoFit/>
            </a:bodyPr>
            <a:lstStyle/>
            <a:p>
              <a:pPr algn="just">
                <a:lnSpc>
                  <a:spcPts val="2879"/>
                </a:lnSpc>
              </a:pPr>
              <a:r>
                <a:rPr lang="en-US" sz="2400" b="1" dirty="0">
                  <a:solidFill>
                    <a:srgbClr val="0C1D4B"/>
                  </a:solidFill>
                  <a:latin typeface="Montserrat"/>
                  <a:ea typeface="Montserrat"/>
                  <a:cs typeface="Montserrat"/>
                  <a:sym typeface="Montserrat"/>
                </a:rPr>
                <a:t>Tra cứu điểm số học tập</a:t>
              </a:r>
            </a:p>
          </p:txBody>
        </p:sp>
        <p:sp>
          <p:nvSpPr>
            <p:cNvPr id="28" name="AutoShape 28"/>
            <p:cNvSpPr/>
            <p:nvPr/>
          </p:nvSpPr>
          <p:spPr>
            <a:xfrm flipH="1" flipV="1">
              <a:off x="2138596" y="1636320"/>
              <a:ext cx="2084764" cy="19050"/>
            </a:xfrm>
            <a:prstGeom prst="line">
              <a:avLst/>
            </a:prstGeom>
            <a:ln w="50800" cap="flat">
              <a:solidFill>
                <a:srgbClr val="0D1D4B"/>
              </a:solidFill>
              <a:prstDash val="lgDash"/>
              <a:headEnd type="oval" w="lg" len="lg"/>
              <a:tailEnd type="none" w="sm" len="sm"/>
            </a:ln>
          </p:spPr>
        </p:sp>
        <p:sp>
          <p:nvSpPr>
            <p:cNvPr id="29" name="AutoShape 29"/>
            <p:cNvSpPr/>
            <p:nvPr/>
          </p:nvSpPr>
          <p:spPr>
            <a:xfrm flipH="1">
              <a:off x="2138596" y="3105218"/>
              <a:ext cx="2084764" cy="0"/>
            </a:xfrm>
            <a:prstGeom prst="line">
              <a:avLst/>
            </a:prstGeom>
            <a:ln w="50800" cap="flat">
              <a:solidFill>
                <a:srgbClr val="0D1D4B"/>
              </a:solidFill>
              <a:prstDash val="lgDash"/>
              <a:headEnd type="oval" w="lg" len="lg"/>
              <a:tailEnd type="none" w="sm" len="sm"/>
            </a:ln>
          </p:spPr>
        </p:sp>
        <p:sp>
          <p:nvSpPr>
            <p:cNvPr id="30" name="TextBox 30"/>
            <p:cNvSpPr txBox="1"/>
            <p:nvPr/>
          </p:nvSpPr>
          <p:spPr>
            <a:xfrm>
              <a:off x="0" y="-57150"/>
              <a:ext cx="8232811" cy="698077"/>
            </a:xfrm>
            <a:prstGeom prst="rect">
              <a:avLst/>
            </a:prstGeom>
          </p:spPr>
          <p:txBody>
            <a:bodyPr lIns="0" tIns="0" rIns="0" bIns="0" rtlCol="0" anchor="t">
              <a:spAutoFit/>
            </a:bodyPr>
            <a:lstStyle/>
            <a:p>
              <a:pPr algn="ctr">
                <a:lnSpc>
                  <a:spcPts val="4480"/>
                </a:lnSpc>
              </a:pPr>
              <a:r>
                <a:rPr lang="en-US" sz="3200" b="1">
                  <a:solidFill>
                    <a:srgbClr val="0C1D4B"/>
                  </a:solidFill>
                  <a:latin typeface="Montserrat Bold"/>
                  <a:ea typeface="Montserrat Bold"/>
                  <a:cs typeface="Montserrat Bold"/>
                  <a:sym typeface="Montserrat Bold"/>
                </a:rPr>
                <a:t>Tập hành động của AI Agent</a:t>
              </a:r>
            </a:p>
          </p:txBody>
        </p:sp>
        <p:sp>
          <p:nvSpPr>
            <p:cNvPr id="31" name="TextBox 31"/>
            <p:cNvSpPr txBox="1"/>
            <p:nvPr/>
          </p:nvSpPr>
          <p:spPr>
            <a:xfrm>
              <a:off x="4644857" y="4246534"/>
              <a:ext cx="5584468" cy="473075"/>
            </a:xfrm>
            <a:prstGeom prst="rect">
              <a:avLst/>
            </a:prstGeom>
          </p:spPr>
          <p:txBody>
            <a:bodyPr lIns="0" tIns="0" rIns="0" bIns="0" rtlCol="0" anchor="t">
              <a:spAutoFit/>
            </a:bodyPr>
            <a:lstStyle/>
            <a:p>
              <a:pPr algn="just">
                <a:lnSpc>
                  <a:spcPts val="2879"/>
                </a:lnSpc>
              </a:pPr>
              <a:r>
                <a:rPr lang="en-US" sz="2400" b="1" dirty="0">
                  <a:solidFill>
                    <a:srgbClr val="0C1D4B"/>
                  </a:solidFill>
                  <a:latin typeface="Montserrat Bold"/>
                  <a:ea typeface="Montserrat Bold"/>
                  <a:cs typeface="Montserrat Bold"/>
                  <a:sym typeface="Montserrat Bold"/>
                </a:rPr>
                <a:t>Tra cứu quy định học tập</a:t>
              </a:r>
            </a:p>
          </p:txBody>
        </p:sp>
        <p:sp>
          <p:nvSpPr>
            <p:cNvPr id="32" name="AutoShape 32"/>
            <p:cNvSpPr/>
            <p:nvPr/>
          </p:nvSpPr>
          <p:spPr>
            <a:xfrm flipH="1" flipV="1">
              <a:off x="2138596" y="4489465"/>
              <a:ext cx="2084764" cy="63553"/>
            </a:xfrm>
            <a:prstGeom prst="line">
              <a:avLst/>
            </a:prstGeom>
            <a:ln w="50800" cap="flat">
              <a:solidFill>
                <a:srgbClr val="0D1D4B"/>
              </a:solidFill>
              <a:prstDash val="lgDash"/>
              <a:headEnd type="oval" w="lg" len="lg"/>
              <a:tailEnd type="none" w="sm" len="sm"/>
            </a:ln>
          </p:spPr>
        </p:sp>
        <p:sp>
          <p:nvSpPr>
            <p:cNvPr id="33" name="TextBox 33"/>
            <p:cNvSpPr txBox="1"/>
            <p:nvPr/>
          </p:nvSpPr>
          <p:spPr>
            <a:xfrm>
              <a:off x="4644857" y="5636560"/>
              <a:ext cx="6165479" cy="473075"/>
            </a:xfrm>
            <a:prstGeom prst="rect">
              <a:avLst/>
            </a:prstGeom>
          </p:spPr>
          <p:txBody>
            <a:bodyPr lIns="0" tIns="0" rIns="0" bIns="0" rtlCol="0" anchor="t">
              <a:spAutoFit/>
            </a:bodyPr>
            <a:lstStyle/>
            <a:p>
              <a:pPr algn="just">
                <a:lnSpc>
                  <a:spcPts val="2879"/>
                </a:lnSpc>
              </a:pPr>
              <a:r>
                <a:rPr lang="en-US" sz="2400" b="1" dirty="0">
                  <a:solidFill>
                    <a:srgbClr val="0C1D4B"/>
                  </a:solidFill>
                  <a:latin typeface="Montserrat Bold"/>
                  <a:ea typeface="Montserrat Bold"/>
                  <a:cs typeface="Montserrat Bold"/>
                  <a:sym typeface="Montserrat Bold"/>
                </a:rPr>
                <a:t>Tra cứu kinh nghiệm học tập</a:t>
              </a:r>
            </a:p>
          </p:txBody>
        </p:sp>
        <p:sp>
          <p:nvSpPr>
            <p:cNvPr id="34" name="AutoShape 34"/>
            <p:cNvSpPr/>
            <p:nvPr/>
          </p:nvSpPr>
          <p:spPr>
            <a:xfrm flipH="1" flipV="1">
              <a:off x="2138596" y="5848918"/>
              <a:ext cx="2084764" cy="19050"/>
            </a:xfrm>
            <a:prstGeom prst="line">
              <a:avLst/>
            </a:prstGeom>
            <a:ln w="50800" cap="flat">
              <a:solidFill>
                <a:srgbClr val="0D1D4B"/>
              </a:solidFill>
              <a:prstDash val="lgDash"/>
              <a:headEnd type="oval" w="lg" len="lg"/>
              <a:tailEnd type="none" w="sm" len="sm"/>
            </a:ln>
          </p:spPr>
        </p:sp>
      </p:grpSp>
      <p:sp>
        <p:nvSpPr>
          <p:cNvPr id="35" name="TextBox 35"/>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67118"/>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grpSp>
        <p:nvGrpSpPr>
          <p:cNvPr id="12" name="Group 12"/>
          <p:cNvGrpSpPr/>
          <p:nvPr/>
        </p:nvGrpSpPr>
        <p:grpSpPr>
          <a:xfrm>
            <a:off x="1632886" y="2630485"/>
            <a:ext cx="15277105" cy="6627815"/>
            <a:chOff x="0" y="0"/>
            <a:chExt cx="20369472" cy="8837087"/>
          </a:xfrm>
        </p:grpSpPr>
        <p:sp>
          <p:nvSpPr>
            <p:cNvPr id="13" name="Freeform 13"/>
            <p:cNvSpPr/>
            <p:nvPr/>
          </p:nvSpPr>
          <p:spPr>
            <a:xfrm>
              <a:off x="8474181" y="1678510"/>
              <a:ext cx="1154526" cy="1194853"/>
            </a:xfrm>
            <a:custGeom>
              <a:avLst/>
              <a:gdLst/>
              <a:ahLst/>
              <a:cxnLst/>
              <a:rect l="l" t="t" r="r" b="b"/>
              <a:pathLst>
                <a:path w="1154526" h="1194853">
                  <a:moveTo>
                    <a:pt x="0" y="0"/>
                  </a:moveTo>
                  <a:lnTo>
                    <a:pt x="1154526" y="0"/>
                  </a:lnTo>
                  <a:lnTo>
                    <a:pt x="1154526" y="1194853"/>
                  </a:lnTo>
                  <a:lnTo>
                    <a:pt x="0" y="11948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4" name="Group 14"/>
            <p:cNvGrpSpPr/>
            <p:nvPr/>
          </p:nvGrpSpPr>
          <p:grpSpPr>
            <a:xfrm>
              <a:off x="18043757" y="1933798"/>
              <a:ext cx="2325715" cy="737353"/>
              <a:chOff x="0" y="0"/>
              <a:chExt cx="547728" cy="173654"/>
            </a:xfrm>
          </p:grpSpPr>
          <p:sp>
            <p:nvSpPr>
              <p:cNvPr id="15" name="Freeform 15"/>
              <p:cNvSpPr/>
              <p:nvPr/>
            </p:nvSpPr>
            <p:spPr>
              <a:xfrm>
                <a:off x="0" y="0"/>
                <a:ext cx="547728" cy="173654"/>
              </a:xfrm>
              <a:custGeom>
                <a:avLst/>
                <a:gdLst/>
                <a:ahLst/>
                <a:cxnLst/>
                <a:rect l="l" t="t" r="r" b="b"/>
                <a:pathLst>
                  <a:path w="547728" h="173654">
                    <a:moveTo>
                      <a:pt x="86827" y="0"/>
                    </a:moveTo>
                    <a:lnTo>
                      <a:pt x="460901" y="0"/>
                    </a:lnTo>
                    <a:cubicBezTo>
                      <a:pt x="483929" y="0"/>
                      <a:pt x="506014" y="9148"/>
                      <a:pt x="522297" y="25431"/>
                    </a:cubicBezTo>
                    <a:cubicBezTo>
                      <a:pt x="538580" y="41714"/>
                      <a:pt x="547728" y="63799"/>
                      <a:pt x="547728" y="86827"/>
                    </a:cubicBezTo>
                    <a:lnTo>
                      <a:pt x="547728" y="86827"/>
                    </a:lnTo>
                    <a:cubicBezTo>
                      <a:pt x="547728" y="134780"/>
                      <a:pt x="508854" y="173654"/>
                      <a:pt x="460901" y="173654"/>
                    </a:cubicBezTo>
                    <a:lnTo>
                      <a:pt x="86827" y="173654"/>
                    </a:lnTo>
                    <a:cubicBezTo>
                      <a:pt x="63799" y="173654"/>
                      <a:pt x="41714" y="164506"/>
                      <a:pt x="25431" y="148223"/>
                    </a:cubicBezTo>
                    <a:cubicBezTo>
                      <a:pt x="9148" y="131940"/>
                      <a:pt x="0" y="109855"/>
                      <a:pt x="0" y="86827"/>
                    </a:cubicBezTo>
                    <a:lnTo>
                      <a:pt x="0" y="86827"/>
                    </a:lnTo>
                    <a:cubicBezTo>
                      <a:pt x="0" y="63799"/>
                      <a:pt x="9148" y="41714"/>
                      <a:pt x="25431" y="25431"/>
                    </a:cubicBezTo>
                    <a:cubicBezTo>
                      <a:pt x="41714" y="9148"/>
                      <a:pt x="63799" y="0"/>
                      <a:pt x="86827" y="0"/>
                    </a:cubicBezTo>
                    <a:close/>
                  </a:path>
                </a:pathLst>
              </a:custGeom>
              <a:solidFill>
                <a:srgbClr val="000000">
                  <a:alpha val="0"/>
                </a:srgbClr>
              </a:solidFill>
              <a:ln w="19050" cap="rnd">
                <a:solidFill>
                  <a:srgbClr val="000000"/>
                </a:solidFill>
                <a:prstDash val="solid"/>
                <a:round/>
              </a:ln>
            </p:spPr>
          </p:sp>
          <p:sp>
            <p:nvSpPr>
              <p:cNvPr id="16" name="TextBox 16"/>
              <p:cNvSpPr txBox="1"/>
              <p:nvPr/>
            </p:nvSpPr>
            <p:spPr>
              <a:xfrm>
                <a:off x="0" y="-38100"/>
                <a:ext cx="547728" cy="211754"/>
              </a:xfrm>
              <a:prstGeom prst="rect">
                <a:avLst/>
              </a:prstGeom>
            </p:spPr>
            <p:txBody>
              <a:bodyPr lIns="35892" tIns="35892" rIns="35892" bIns="35892" rtlCol="0" anchor="ctr"/>
              <a:lstStyle/>
              <a:p>
                <a:pPr algn="ctr">
                  <a:lnSpc>
                    <a:spcPts val="2519"/>
                  </a:lnSpc>
                </a:pPr>
                <a:r>
                  <a:rPr lang="en-US" sz="1799" b="1">
                    <a:solidFill>
                      <a:srgbClr val="000000"/>
                    </a:solidFill>
                    <a:latin typeface="Montserrat Bold"/>
                    <a:ea typeface="Montserrat Bold"/>
                    <a:cs typeface="Montserrat Bold"/>
                    <a:sym typeface="Montserrat Bold"/>
                  </a:rPr>
                  <a:t>Trả lời</a:t>
                </a:r>
              </a:p>
            </p:txBody>
          </p:sp>
        </p:grpSp>
        <p:grpSp>
          <p:nvGrpSpPr>
            <p:cNvPr id="17" name="Group 17"/>
            <p:cNvGrpSpPr/>
            <p:nvPr/>
          </p:nvGrpSpPr>
          <p:grpSpPr>
            <a:xfrm>
              <a:off x="2029026" y="0"/>
              <a:ext cx="15446306" cy="8837087"/>
              <a:chOff x="0" y="0"/>
              <a:chExt cx="3637752" cy="2081218"/>
            </a:xfrm>
          </p:grpSpPr>
          <p:sp>
            <p:nvSpPr>
              <p:cNvPr id="18" name="Freeform 18"/>
              <p:cNvSpPr/>
              <p:nvPr/>
            </p:nvSpPr>
            <p:spPr>
              <a:xfrm>
                <a:off x="0" y="0"/>
                <a:ext cx="3637752" cy="2081218"/>
              </a:xfrm>
              <a:custGeom>
                <a:avLst/>
                <a:gdLst/>
                <a:ahLst/>
                <a:cxnLst/>
                <a:rect l="l" t="t" r="r" b="b"/>
                <a:pathLst>
                  <a:path w="3637752" h="2081218">
                    <a:moveTo>
                      <a:pt x="0" y="0"/>
                    </a:moveTo>
                    <a:lnTo>
                      <a:pt x="3637752" y="0"/>
                    </a:lnTo>
                    <a:lnTo>
                      <a:pt x="3637752" y="2081218"/>
                    </a:lnTo>
                    <a:lnTo>
                      <a:pt x="0" y="2081218"/>
                    </a:lnTo>
                    <a:close/>
                  </a:path>
                </a:pathLst>
              </a:custGeom>
              <a:solidFill>
                <a:srgbClr val="000000">
                  <a:alpha val="0"/>
                </a:srgbClr>
              </a:solidFill>
              <a:ln w="19050" cap="sq">
                <a:solidFill>
                  <a:srgbClr val="000000"/>
                </a:solidFill>
                <a:prstDash val="sysDot"/>
                <a:miter/>
              </a:ln>
            </p:spPr>
          </p:sp>
          <p:sp>
            <p:nvSpPr>
              <p:cNvPr id="19" name="TextBox 19"/>
              <p:cNvSpPr txBox="1"/>
              <p:nvPr/>
            </p:nvSpPr>
            <p:spPr>
              <a:xfrm>
                <a:off x="0" y="-28575"/>
                <a:ext cx="3637752" cy="2109793"/>
              </a:xfrm>
              <a:prstGeom prst="rect">
                <a:avLst/>
              </a:prstGeom>
            </p:spPr>
            <p:txBody>
              <a:bodyPr lIns="35892" tIns="35892" rIns="35892" bIns="35892" rtlCol="0" anchor="ctr"/>
              <a:lstStyle/>
              <a:p>
                <a:pPr algn="ctr">
                  <a:lnSpc>
                    <a:spcPts val="1959"/>
                  </a:lnSpc>
                </a:pPr>
                <a:endParaRPr/>
              </a:p>
            </p:txBody>
          </p:sp>
        </p:grpSp>
        <p:sp>
          <p:nvSpPr>
            <p:cNvPr id="20" name="Freeform 20"/>
            <p:cNvSpPr/>
            <p:nvPr/>
          </p:nvSpPr>
          <p:spPr>
            <a:xfrm>
              <a:off x="249411" y="1619164"/>
              <a:ext cx="1092265" cy="1188029"/>
            </a:xfrm>
            <a:custGeom>
              <a:avLst/>
              <a:gdLst/>
              <a:ahLst/>
              <a:cxnLst/>
              <a:rect l="l" t="t" r="r" b="b"/>
              <a:pathLst>
                <a:path w="1092265" h="1188029">
                  <a:moveTo>
                    <a:pt x="0" y="0"/>
                  </a:moveTo>
                  <a:lnTo>
                    <a:pt x="1092265" y="0"/>
                  </a:lnTo>
                  <a:lnTo>
                    <a:pt x="1092265" y="1188029"/>
                  </a:lnTo>
                  <a:lnTo>
                    <a:pt x="0" y="118802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1" name="TextBox 21"/>
            <p:cNvSpPr txBox="1"/>
            <p:nvPr/>
          </p:nvSpPr>
          <p:spPr>
            <a:xfrm>
              <a:off x="0" y="3009232"/>
              <a:ext cx="1591087" cy="438551"/>
            </a:xfrm>
            <a:prstGeom prst="rect">
              <a:avLst/>
            </a:prstGeom>
          </p:spPr>
          <p:txBody>
            <a:bodyPr lIns="0" tIns="0" rIns="0" bIns="0" rtlCol="0" anchor="t">
              <a:spAutoFit/>
            </a:bodyPr>
            <a:lstStyle/>
            <a:p>
              <a:pPr algn="ctr">
                <a:lnSpc>
                  <a:spcPts val="2739"/>
                </a:lnSpc>
                <a:spcBef>
                  <a:spcPct val="0"/>
                </a:spcBef>
              </a:pPr>
              <a:r>
                <a:rPr lang="en-US" sz="1956" b="1">
                  <a:solidFill>
                    <a:srgbClr val="000000"/>
                  </a:solidFill>
                  <a:latin typeface="Montserrat Bold"/>
                  <a:ea typeface="Montserrat Bold"/>
                  <a:cs typeface="Montserrat Bold"/>
                  <a:sym typeface="Montserrat Bold"/>
                </a:rPr>
                <a:t>Câu hỏi</a:t>
              </a:r>
            </a:p>
          </p:txBody>
        </p:sp>
        <p:sp>
          <p:nvSpPr>
            <p:cNvPr id="22" name="AutoShape 22"/>
            <p:cNvSpPr/>
            <p:nvPr/>
          </p:nvSpPr>
          <p:spPr>
            <a:xfrm>
              <a:off x="1591087" y="2202330"/>
              <a:ext cx="6569141" cy="73607"/>
            </a:xfrm>
            <a:prstGeom prst="line">
              <a:avLst/>
            </a:prstGeom>
            <a:ln w="71901" cap="flat">
              <a:solidFill>
                <a:srgbClr val="000000"/>
              </a:solidFill>
              <a:prstDash val="solid"/>
              <a:headEnd type="none" w="sm" len="sm"/>
              <a:tailEnd type="arrow" w="med" len="sm"/>
            </a:ln>
          </p:spPr>
        </p:sp>
        <p:sp>
          <p:nvSpPr>
            <p:cNvPr id="23" name="Freeform 23"/>
            <p:cNvSpPr/>
            <p:nvPr/>
          </p:nvSpPr>
          <p:spPr>
            <a:xfrm>
              <a:off x="10091446" y="4258746"/>
              <a:ext cx="1078071" cy="1041686"/>
            </a:xfrm>
            <a:custGeom>
              <a:avLst/>
              <a:gdLst/>
              <a:ahLst/>
              <a:cxnLst/>
              <a:rect l="l" t="t" r="r" b="b"/>
              <a:pathLst>
                <a:path w="1078071" h="1041686">
                  <a:moveTo>
                    <a:pt x="0" y="0"/>
                  </a:moveTo>
                  <a:lnTo>
                    <a:pt x="1078071" y="0"/>
                  </a:lnTo>
                  <a:lnTo>
                    <a:pt x="1078071" y="1041686"/>
                  </a:lnTo>
                  <a:lnTo>
                    <a:pt x="0" y="104168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TextBox 24"/>
            <p:cNvSpPr txBox="1"/>
            <p:nvPr/>
          </p:nvSpPr>
          <p:spPr>
            <a:xfrm>
              <a:off x="6451770" y="779851"/>
              <a:ext cx="5493448" cy="822276"/>
            </a:xfrm>
            <a:prstGeom prst="rect">
              <a:avLst/>
            </a:prstGeom>
          </p:spPr>
          <p:txBody>
            <a:bodyPr wrap="square" lIns="0" tIns="0" rIns="0" bIns="0" rtlCol="0" anchor="t">
              <a:spAutoFit/>
            </a:bodyPr>
            <a:lstStyle/>
            <a:p>
              <a:pPr algn="ctr">
                <a:lnSpc>
                  <a:spcPts val="2459"/>
                </a:lnSpc>
              </a:pPr>
              <a:r>
                <a:rPr lang="en-US" sz="1756" b="1" dirty="0">
                  <a:solidFill>
                    <a:srgbClr val="000000"/>
                  </a:solidFill>
                  <a:latin typeface="Montserrat Bold"/>
                  <a:ea typeface="Montserrat Bold"/>
                  <a:cs typeface="Montserrat Bold"/>
                  <a:sym typeface="Montserrat Bold"/>
                </a:rPr>
                <a:t>LLM suy luận, tổng hợp thông tin</a:t>
              </a:r>
            </a:p>
            <a:p>
              <a:pPr algn="ctr">
                <a:lnSpc>
                  <a:spcPts val="2459"/>
                </a:lnSpc>
                <a:spcBef>
                  <a:spcPct val="0"/>
                </a:spcBef>
              </a:pPr>
              <a:r>
                <a:rPr lang="en-US" sz="1756" b="1" dirty="0">
                  <a:solidFill>
                    <a:srgbClr val="000000"/>
                  </a:solidFill>
                  <a:latin typeface="Montserrat Bold"/>
                  <a:ea typeface="Montserrat Bold"/>
                  <a:cs typeface="Montserrat Bold"/>
                  <a:sym typeface="Montserrat Bold"/>
                </a:rPr>
                <a:t>và đưa ra quyết định</a:t>
              </a:r>
            </a:p>
          </p:txBody>
        </p:sp>
        <p:sp>
          <p:nvSpPr>
            <p:cNvPr id="25" name="TextBox 25"/>
            <p:cNvSpPr txBox="1"/>
            <p:nvPr/>
          </p:nvSpPr>
          <p:spPr>
            <a:xfrm>
              <a:off x="2326739" y="316213"/>
              <a:ext cx="1763818" cy="492212"/>
            </a:xfrm>
            <a:prstGeom prst="rect">
              <a:avLst/>
            </a:prstGeom>
          </p:spPr>
          <p:txBody>
            <a:bodyPr lIns="0" tIns="0" rIns="0" bIns="0" rtlCol="0" anchor="t">
              <a:spAutoFit/>
            </a:bodyPr>
            <a:lstStyle/>
            <a:p>
              <a:pPr algn="ctr">
                <a:lnSpc>
                  <a:spcPts val="3170"/>
                </a:lnSpc>
                <a:spcBef>
                  <a:spcPct val="0"/>
                </a:spcBef>
              </a:pPr>
              <a:r>
                <a:rPr lang="en-US" sz="2264" b="1">
                  <a:solidFill>
                    <a:srgbClr val="000000"/>
                  </a:solidFill>
                  <a:latin typeface="Montserrat Bold"/>
                  <a:ea typeface="Montserrat Bold"/>
                  <a:cs typeface="Montserrat Bold"/>
                  <a:sym typeface="Montserrat Bold"/>
                </a:rPr>
                <a:t>AI Agent</a:t>
              </a:r>
            </a:p>
          </p:txBody>
        </p:sp>
        <p:sp>
          <p:nvSpPr>
            <p:cNvPr id="26" name="TextBox 26"/>
            <p:cNvSpPr txBox="1"/>
            <p:nvPr/>
          </p:nvSpPr>
          <p:spPr>
            <a:xfrm>
              <a:off x="4244763" y="4597626"/>
              <a:ext cx="1805781" cy="344148"/>
            </a:xfrm>
            <a:prstGeom prst="rect">
              <a:avLst/>
            </a:prstGeom>
          </p:spPr>
          <p:txBody>
            <a:bodyPr lIns="0" tIns="0" rIns="0" bIns="0" rtlCol="0" anchor="t">
              <a:spAutoFit/>
            </a:bodyPr>
            <a:lstStyle/>
            <a:p>
              <a:pPr algn="ctr">
                <a:lnSpc>
                  <a:spcPts val="2179"/>
                </a:lnSpc>
                <a:spcBef>
                  <a:spcPct val="0"/>
                </a:spcBef>
              </a:pPr>
              <a:r>
                <a:rPr lang="en-US" sz="1556" b="1">
                  <a:solidFill>
                    <a:srgbClr val="000000"/>
                  </a:solidFill>
                  <a:latin typeface="Montserrat Bold"/>
                  <a:ea typeface="Montserrat Bold"/>
                  <a:cs typeface="Montserrat Bold"/>
                  <a:sym typeface="Montserrat Bold"/>
                </a:rPr>
                <a:t>Tool truy vấn</a:t>
              </a:r>
            </a:p>
          </p:txBody>
        </p:sp>
        <p:sp>
          <p:nvSpPr>
            <p:cNvPr id="27" name="TextBox 27"/>
            <p:cNvSpPr txBox="1"/>
            <p:nvPr/>
          </p:nvSpPr>
          <p:spPr>
            <a:xfrm>
              <a:off x="11281337" y="4597626"/>
              <a:ext cx="2618383" cy="344148"/>
            </a:xfrm>
            <a:prstGeom prst="rect">
              <a:avLst/>
            </a:prstGeom>
          </p:spPr>
          <p:txBody>
            <a:bodyPr lIns="0" tIns="0" rIns="0" bIns="0" rtlCol="0" anchor="t">
              <a:spAutoFit/>
            </a:bodyPr>
            <a:lstStyle/>
            <a:p>
              <a:pPr algn="ctr">
                <a:lnSpc>
                  <a:spcPts val="2179"/>
                </a:lnSpc>
                <a:spcBef>
                  <a:spcPct val="0"/>
                </a:spcBef>
              </a:pPr>
              <a:r>
                <a:rPr lang="en-US" sz="1556" b="1" dirty="0">
                  <a:solidFill>
                    <a:srgbClr val="000000"/>
                  </a:solidFill>
                  <a:latin typeface="Montserrat Bold"/>
                  <a:ea typeface="Montserrat Bold"/>
                  <a:cs typeface="Montserrat Bold"/>
                  <a:sym typeface="Montserrat Bold"/>
                </a:rPr>
                <a:t>Tool </a:t>
              </a:r>
              <a:r>
                <a:rPr lang="en-US" sz="1556" b="1" dirty="0" err="1">
                  <a:solidFill>
                    <a:srgbClr val="000000"/>
                  </a:solidFill>
                  <a:latin typeface="Montserrat Bold"/>
                  <a:ea typeface="Montserrat Bold"/>
                  <a:cs typeface="Montserrat Bold"/>
                  <a:sym typeface="Montserrat Bold"/>
                </a:rPr>
                <a:t>truy</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vấn</a:t>
              </a:r>
              <a:r>
                <a:rPr lang="en-US" sz="1556" b="1" dirty="0">
                  <a:solidFill>
                    <a:srgbClr val="000000"/>
                  </a:solidFill>
                  <a:latin typeface="Montserrat Bold"/>
                  <a:ea typeface="Montserrat Bold"/>
                  <a:cs typeface="Montserrat Bold"/>
                  <a:sym typeface="Montserrat Bold"/>
                </a:rPr>
                <a:t> CSDL</a:t>
              </a:r>
            </a:p>
          </p:txBody>
        </p:sp>
        <p:sp>
          <p:nvSpPr>
            <p:cNvPr id="28" name="AutoShape 28"/>
            <p:cNvSpPr/>
            <p:nvPr/>
          </p:nvSpPr>
          <p:spPr>
            <a:xfrm>
              <a:off x="9078863" y="3108864"/>
              <a:ext cx="1551619" cy="1149882"/>
            </a:xfrm>
            <a:prstGeom prst="line">
              <a:avLst/>
            </a:prstGeom>
            <a:ln w="71901" cap="flat">
              <a:solidFill>
                <a:srgbClr val="000000"/>
              </a:solidFill>
              <a:prstDash val="solid"/>
              <a:headEnd type="arrow" w="med" len="sm"/>
              <a:tailEnd type="none" w="sm" len="sm"/>
            </a:ln>
          </p:spPr>
        </p:sp>
        <p:sp>
          <p:nvSpPr>
            <p:cNvPr id="29" name="TextBox 29"/>
            <p:cNvSpPr txBox="1"/>
            <p:nvPr/>
          </p:nvSpPr>
          <p:spPr>
            <a:xfrm>
              <a:off x="2397493" y="6530716"/>
              <a:ext cx="2722991" cy="712448"/>
            </a:xfrm>
            <a:prstGeom prst="rect">
              <a:avLst/>
            </a:prstGeom>
          </p:spPr>
          <p:txBody>
            <a:bodyPr lIns="0" tIns="0" rIns="0" bIns="0" rtlCol="0" anchor="t">
              <a:spAutoFit/>
            </a:bodyPr>
            <a:lstStyle/>
            <a:p>
              <a:pPr algn="ctr">
                <a:lnSpc>
                  <a:spcPts val="2179"/>
                </a:lnSpc>
              </a:pPr>
              <a:r>
                <a:rPr lang="en-US" sz="1556" b="1">
                  <a:solidFill>
                    <a:srgbClr val="000000"/>
                  </a:solidFill>
                  <a:latin typeface="Montserrat Bold"/>
                  <a:ea typeface="Montserrat Bold"/>
                  <a:cs typeface="Montserrat Bold"/>
                  <a:sym typeface="Montserrat Bold"/>
                </a:rPr>
                <a:t>Dữ liệu về quy đinh của học viện </a:t>
              </a:r>
            </a:p>
          </p:txBody>
        </p:sp>
        <p:sp>
          <p:nvSpPr>
            <p:cNvPr id="30" name="Freeform 30"/>
            <p:cNvSpPr/>
            <p:nvPr/>
          </p:nvSpPr>
          <p:spPr>
            <a:xfrm>
              <a:off x="10193787" y="6430144"/>
              <a:ext cx="873390" cy="1065110"/>
            </a:xfrm>
            <a:custGeom>
              <a:avLst/>
              <a:gdLst/>
              <a:ahLst/>
              <a:cxnLst/>
              <a:rect l="l" t="t" r="r" b="b"/>
              <a:pathLst>
                <a:path w="873390" h="1065110">
                  <a:moveTo>
                    <a:pt x="0" y="0"/>
                  </a:moveTo>
                  <a:lnTo>
                    <a:pt x="873390" y="0"/>
                  </a:lnTo>
                  <a:lnTo>
                    <a:pt x="873390" y="1065110"/>
                  </a:lnTo>
                  <a:lnTo>
                    <a:pt x="0" y="106511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1" name="TextBox 31"/>
            <p:cNvSpPr txBox="1"/>
            <p:nvPr/>
          </p:nvSpPr>
          <p:spPr>
            <a:xfrm>
              <a:off x="9885748" y="7759443"/>
              <a:ext cx="1489467" cy="712448"/>
            </a:xfrm>
            <a:prstGeom prst="rect">
              <a:avLst/>
            </a:prstGeom>
          </p:spPr>
          <p:txBody>
            <a:bodyPr lIns="0" tIns="0" rIns="0" bIns="0" rtlCol="0" anchor="t">
              <a:spAutoFit/>
            </a:bodyPr>
            <a:lstStyle/>
            <a:p>
              <a:pPr algn="ctr">
                <a:lnSpc>
                  <a:spcPts val="2179"/>
                </a:lnSpc>
              </a:pPr>
              <a:r>
                <a:rPr lang="en-US" sz="1556" b="1">
                  <a:solidFill>
                    <a:srgbClr val="000000"/>
                  </a:solidFill>
                  <a:latin typeface="Montserrat Bold"/>
                  <a:ea typeface="Montserrat Bold"/>
                  <a:cs typeface="Montserrat Bold"/>
                  <a:sym typeface="Montserrat Bold"/>
                </a:rPr>
                <a:t>CSDL</a:t>
              </a:r>
            </a:p>
            <a:p>
              <a:pPr algn="ctr">
                <a:lnSpc>
                  <a:spcPts val="2179"/>
                </a:lnSpc>
                <a:spcBef>
                  <a:spcPct val="0"/>
                </a:spcBef>
              </a:pPr>
              <a:r>
                <a:rPr lang="en-US" sz="1556" b="1">
                  <a:solidFill>
                    <a:srgbClr val="000000"/>
                  </a:solidFill>
                  <a:latin typeface="Montserrat Bold"/>
                  <a:ea typeface="Montserrat Bold"/>
                  <a:cs typeface="Montserrat Bold"/>
                  <a:sym typeface="Montserrat Bold"/>
                </a:rPr>
                <a:t>Postgresql</a:t>
              </a:r>
            </a:p>
          </p:txBody>
        </p:sp>
        <p:sp>
          <p:nvSpPr>
            <p:cNvPr id="32" name="TextBox 32"/>
            <p:cNvSpPr txBox="1"/>
            <p:nvPr/>
          </p:nvSpPr>
          <p:spPr>
            <a:xfrm>
              <a:off x="6291186" y="7759443"/>
              <a:ext cx="1358533" cy="712448"/>
            </a:xfrm>
            <a:prstGeom prst="rect">
              <a:avLst/>
            </a:prstGeom>
          </p:spPr>
          <p:txBody>
            <a:bodyPr lIns="0" tIns="0" rIns="0" bIns="0" rtlCol="0" anchor="t">
              <a:spAutoFit/>
            </a:bodyPr>
            <a:lstStyle/>
            <a:p>
              <a:pPr algn="ctr">
                <a:lnSpc>
                  <a:spcPts val="2179"/>
                </a:lnSpc>
              </a:pPr>
              <a:r>
                <a:rPr lang="en-US" sz="1556" b="1">
                  <a:solidFill>
                    <a:srgbClr val="000000"/>
                  </a:solidFill>
                  <a:latin typeface="Montserrat Bold"/>
                  <a:ea typeface="Montserrat Bold"/>
                  <a:cs typeface="Montserrat Bold"/>
                  <a:sym typeface="Montserrat Bold"/>
                </a:rPr>
                <a:t>CSDL</a:t>
              </a:r>
            </a:p>
            <a:p>
              <a:pPr algn="ctr">
                <a:lnSpc>
                  <a:spcPts val="2179"/>
                </a:lnSpc>
                <a:spcBef>
                  <a:spcPct val="0"/>
                </a:spcBef>
              </a:pPr>
              <a:r>
                <a:rPr lang="en-US" sz="1556" b="1">
                  <a:solidFill>
                    <a:srgbClr val="000000"/>
                  </a:solidFill>
                  <a:latin typeface="Montserrat Bold"/>
                  <a:ea typeface="Montserrat Bold"/>
                  <a:cs typeface="Montserrat Bold"/>
                  <a:sym typeface="Montserrat Bold"/>
                </a:rPr>
                <a:t>vector</a:t>
              </a:r>
            </a:p>
          </p:txBody>
        </p:sp>
        <p:sp>
          <p:nvSpPr>
            <p:cNvPr id="33" name="TextBox 33"/>
            <p:cNvSpPr txBox="1"/>
            <p:nvPr/>
          </p:nvSpPr>
          <p:spPr>
            <a:xfrm>
              <a:off x="12583364" y="6327495"/>
              <a:ext cx="4891968" cy="344148"/>
            </a:xfrm>
            <a:prstGeom prst="rect">
              <a:avLst/>
            </a:prstGeom>
          </p:spPr>
          <p:txBody>
            <a:bodyPr lIns="0" tIns="0" rIns="0" bIns="0" rtlCol="0" anchor="t">
              <a:spAutoFit/>
            </a:bodyPr>
            <a:lstStyle/>
            <a:p>
              <a:pPr marL="336137" lvl="1" indent="-168068" algn="l">
                <a:lnSpc>
                  <a:spcPts val="2179"/>
                </a:lnSpc>
                <a:buFont typeface="Arial"/>
                <a:buChar char="•"/>
              </a:pPr>
              <a:r>
                <a:rPr lang="en-US" sz="1556" b="1" dirty="0" err="1">
                  <a:solidFill>
                    <a:srgbClr val="000000"/>
                  </a:solidFill>
                  <a:latin typeface="Montserrat Bold"/>
                  <a:ea typeface="Montserrat Bold"/>
                  <a:cs typeface="Montserrat Bold"/>
                  <a:sym typeface="Montserrat Bold"/>
                </a:rPr>
                <a:t>Dữ</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liệu</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điểm</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sinh</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viên</a:t>
              </a:r>
              <a:endParaRPr lang="en-US" sz="1556" b="1" dirty="0">
                <a:solidFill>
                  <a:srgbClr val="000000"/>
                </a:solidFill>
                <a:latin typeface="Montserrat Bold"/>
                <a:ea typeface="Montserrat Bold"/>
                <a:cs typeface="Montserrat Bold"/>
                <a:sym typeface="Montserrat Bold"/>
              </a:endParaRPr>
            </a:p>
          </p:txBody>
        </p:sp>
        <p:sp>
          <p:nvSpPr>
            <p:cNvPr id="34" name="TextBox 34"/>
            <p:cNvSpPr txBox="1"/>
            <p:nvPr/>
          </p:nvSpPr>
          <p:spPr>
            <a:xfrm>
              <a:off x="12583364" y="6860050"/>
              <a:ext cx="4891968" cy="344148"/>
            </a:xfrm>
            <a:prstGeom prst="rect">
              <a:avLst/>
            </a:prstGeom>
          </p:spPr>
          <p:txBody>
            <a:bodyPr lIns="0" tIns="0" rIns="0" bIns="0" rtlCol="0" anchor="t">
              <a:spAutoFit/>
            </a:bodyPr>
            <a:lstStyle/>
            <a:p>
              <a:pPr marL="336137" lvl="1" indent="-168068" algn="ctr">
                <a:lnSpc>
                  <a:spcPts val="2179"/>
                </a:lnSpc>
                <a:buFont typeface="Arial"/>
                <a:buChar char="•"/>
              </a:pPr>
              <a:r>
                <a:rPr lang="en-US" sz="1556" b="1" dirty="0" err="1">
                  <a:solidFill>
                    <a:srgbClr val="000000"/>
                  </a:solidFill>
                  <a:latin typeface="Montserrat Bold"/>
                  <a:ea typeface="Montserrat Bold"/>
                  <a:cs typeface="Montserrat Bold"/>
                  <a:sym typeface="Montserrat Bold"/>
                </a:rPr>
                <a:t>Dữ</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liệu</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xếp</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hạng</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điểm</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sinh</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viên</a:t>
              </a:r>
              <a:endParaRPr lang="en-US" sz="1556" b="1" dirty="0">
                <a:solidFill>
                  <a:srgbClr val="000000"/>
                </a:solidFill>
                <a:latin typeface="Montserrat Bold"/>
                <a:ea typeface="Montserrat Bold"/>
                <a:cs typeface="Montserrat Bold"/>
                <a:sym typeface="Montserrat Bold"/>
              </a:endParaRPr>
            </a:p>
          </p:txBody>
        </p:sp>
        <p:sp>
          <p:nvSpPr>
            <p:cNvPr id="35" name="TextBox 35"/>
            <p:cNvSpPr txBox="1"/>
            <p:nvPr/>
          </p:nvSpPr>
          <p:spPr>
            <a:xfrm>
              <a:off x="12583364" y="7385922"/>
              <a:ext cx="4503273" cy="344148"/>
            </a:xfrm>
            <a:prstGeom prst="rect">
              <a:avLst/>
            </a:prstGeom>
          </p:spPr>
          <p:txBody>
            <a:bodyPr lIns="0" tIns="0" rIns="0" bIns="0" rtlCol="0" anchor="t">
              <a:spAutoFit/>
            </a:bodyPr>
            <a:lstStyle/>
            <a:p>
              <a:pPr marL="336137" lvl="1" indent="-168068" algn="l">
                <a:lnSpc>
                  <a:spcPts val="2179"/>
                </a:lnSpc>
                <a:buFont typeface="Arial"/>
                <a:buChar char="•"/>
              </a:pPr>
              <a:r>
                <a:rPr lang="en-US" sz="1556" b="1" dirty="0" err="1">
                  <a:solidFill>
                    <a:srgbClr val="000000"/>
                  </a:solidFill>
                  <a:latin typeface="Montserrat Bold"/>
                  <a:ea typeface="Montserrat Bold"/>
                  <a:cs typeface="Montserrat Bold"/>
                  <a:sym typeface="Montserrat Bold"/>
                </a:rPr>
                <a:t>Dữ</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liệu</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thông</a:t>
              </a:r>
              <a:r>
                <a:rPr lang="en-US" sz="1556" b="1" dirty="0">
                  <a:solidFill>
                    <a:srgbClr val="000000"/>
                  </a:solidFill>
                  <a:latin typeface="Montserrat Bold"/>
                  <a:ea typeface="Montserrat Bold"/>
                  <a:cs typeface="Montserrat Bold"/>
                  <a:sym typeface="Montserrat Bold"/>
                </a:rPr>
                <a:t> tin </a:t>
              </a:r>
              <a:r>
                <a:rPr lang="en-US" sz="1556" b="1" dirty="0" err="1">
                  <a:solidFill>
                    <a:srgbClr val="000000"/>
                  </a:solidFill>
                  <a:latin typeface="Montserrat Bold"/>
                  <a:ea typeface="Montserrat Bold"/>
                  <a:cs typeface="Montserrat Bold"/>
                  <a:sym typeface="Montserrat Bold"/>
                </a:rPr>
                <a:t>sinh</a:t>
              </a:r>
              <a:r>
                <a:rPr lang="en-US" sz="1556" b="1" dirty="0">
                  <a:solidFill>
                    <a:srgbClr val="000000"/>
                  </a:solidFill>
                  <a:latin typeface="Montserrat Bold"/>
                  <a:ea typeface="Montserrat Bold"/>
                  <a:cs typeface="Montserrat Bold"/>
                  <a:sym typeface="Montserrat Bold"/>
                </a:rPr>
                <a:t> </a:t>
              </a:r>
              <a:r>
                <a:rPr lang="en-US" sz="1556" b="1" dirty="0" err="1">
                  <a:solidFill>
                    <a:srgbClr val="000000"/>
                  </a:solidFill>
                  <a:latin typeface="Montserrat Bold"/>
                  <a:ea typeface="Montserrat Bold"/>
                  <a:cs typeface="Montserrat Bold"/>
                  <a:sym typeface="Montserrat Bold"/>
                </a:rPr>
                <a:t>viên</a:t>
              </a:r>
              <a:endParaRPr lang="en-US" sz="1556" b="1" dirty="0">
                <a:solidFill>
                  <a:srgbClr val="000000"/>
                </a:solidFill>
                <a:latin typeface="Montserrat Bold"/>
                <a:ea typeface="Montserrat Bold"/>
                <a:cs typeface="Montserrat Bold"/>
                <a:sym typeface="Montserrat Bold"/>
              </a:endParaRPr>
            </a:p>
          </p:txBody>
        </p:sp>
        <p:sp>
          <p:nvSpPr>
            <p:cNvPr id="36" name="AutoShape 36"/>
            <p:cNvSpPr/>
            <p:nvPr/>
          </p:nvSpPr>
          <p:spPr>
            <a:xfrm flipV="1">
              <a:off x="11067177" y="6513856"/>
              <a:ext cx="1516187" cy="448843"/>
            </a:xfrm>
            <a:prstGeom prst="line">
              <a:avLst/>
            </a:prstGeom>
            <a:ln w="17975" cap="flat">
              <a:solidFill>
                <a:srgbClr val="000000"/>
              </a:solidFill>
              <a:prstDash val="solid"/>
              <a:headEnd type="none" w="sm" len="sm"/>
              <a:tailEnd type="arrow" w="med" len="sm"/>
            </a:ln>
          </p:spPr>
        </p:sp>
        <p:sp>
          <p:nvSpPr>
            <p:cNvPr id="37" name="AutoShape 37"/>
            <p:cNvSpPr/>
            <p:nvPr/>
          </p:nvSpPr>
          <p:spPr>
            <a:xfrm>
              <a:off x="11067177" y="6962699"/>
              <a:ext cx="1516187" cy="83712"/>
            </a:xfrm>
            <a:prstGeom prst="line">
              <a:avLst/>
            </a:prstGeom>
            <a:ln w="17975" cap="flat">
              <a:solidFill>
                <a:srgbClr val="000000"/>
              </a:solidFill>
              <a:prstDash val="solid"/>
              <a:headEnd type="none" w="sm" len="sm"/>
              <a:tailEnd type="arrow" w="med" len="sm"/>
            </a:ln>
          </p:spPr>
        </p:sp>
        <p:sp>
          <p:nvSpPr>
            <p:cNvPr id="38" name="AutoShape 38"/>
            <p:cNvSpPr/>
            <p:nvPr/>
          </p:nvSpPr>
          <p:spPr>
            <a:xfrm>
              <a:off x="11067177" y="6962699"/>
              <a:ext cx="1516187" cy="609585"/>
            </a:xfrm>
            <a:prstGeom prst="line">
              <a:avLst/>
            </a:prstGeom>
            <a:ln w="17975" cap="flat">
              <a:solidFill>
                <a:srgbClr val="000000"/>
              </a:solidFill>
              <a:prstDash val="solid"/>
              <a:headEnd type="none" w="sm" len="sm"/>
              <a:tailEnd type="arrow" w="med" len="sm"/>
            </a:ln>
          </p:spPr>
        </p:sp>
        <p:sp>
          <p:nvSpPr>
            <p:cNvPr id="39" name="AutoShape 39"/>
            <p:cNvSpPr/>
            <p:nvPr/>
          </p:nvSpPr>
          <p:spPr>
            <a:xfrm flipH="1" flipV="1">
              <a:off x="10630482" y="5300432"/>
              <a:ext cx="0" cy="1129711"/>
            </a:xfrm>
            <a:prstGeom prst="line">
              <a:avLst/>
            </a:prstGeom>
            <a:ln w="71901" cap="flat">
              <a:solidFill>
                <a:srgbClr val="000000"/>
              </a:solidFill>
              <a:prstDash val="solid"/>
              <a:headEnd type="none" w="sm" len="sm"/>
              <a:tailEnd type="arrow" w="med" len="sm"/>
            </a:ln>
          </p:spPr>
        </p:sp>
        <p:sp>
          <p:nvSpPr>
            <p:cNvPr id="40" name="Freeform 40"/>
            <p:cNvSpPr/>
            <p:nvPr/>
          </p:nvSpPr>
          <p:spPr>
            <a:xfrm>
              <a:off x="6528062" y="4258746"/>
              <a:ext cx="1078071" cy="1041686"/>
            </a:xfrm>
            <a:custGeom>
              <a:avLst/>
              <a:gdLst/>
              <a:ahLst/>
              <a:cxnLst/>
              <a:rect l="l" t="t" r="r" b="b"/>
              <a:pathLst>
                <a:path w="1078071" h="1041686">
                  <a:moveTo>
                    <a:pt x="0" y="0"/>
                  </a:moveTo>
                  <a:lnTo>
                    <a:pt x="1078071" y="0"/>
                  </a:lnTo>
                  <a:lnTo>
                    <a:pt x="1078071" y="1041686"/>
                  </a:lnTo>
                  <a:lnTo>
                    <a:pt x="0" y="104168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41" name="AutoShape 41"/>
            <p:cNvSpPr/>
            <p:nvPr/>
          </p:nvSpPr>
          <p:spPr>
            <a:xfrm flipH="1">
              <a:off x="7067098" y="3108864"/>
              <a:ext cx="1965153" cy="1149882"/>
            </a:xfrm>
            <a:prstGeom prst="line">
              <a:avLst/>
            </a:prstGeom>
            <a:ln w="71901" cap="flat">
              <a:solidFill>
                <a:srgbClr val="000000"/>
              </a:solidFill>
              <a:prstDash val="solid"/>
              <a:headEnd type="arrow" w="med" len="sm"/>
              <a:tailEnd type="none" w="sm" len="sm"/>
            </a:ln>
          </p:spPr>
        </p:sp>
        <p:sp>
          <p:nvSpPr>
            <p:cNvPr id="42" name="Freeform 42"/>
            <p:cNvSpPr/>
            <p:nvPr/>
          </p:nvSpPr>
          <p:spPr>
            <a:xfrm>
              <a:off x="6630402" y="6359876"/>
              <a:ext cx="873390" cy="1065110"/>
            </a:xfrm>
            <a:custGeom>
              <a:avLst/>
              <a:gdLst/>
              <a:ahLst/>
              <a:cxnLst/>
              <a:rect l="l" t="t" r="r" b="b"/>
              <a:pathLst>
                <a:path w="873390" h="1065110">
                  <a:moveTo>
                    <a:pt x="0" y="0"/>
                  </a:moveTo>
                  <a:lnTo>
                    <a:pt x="873391" y="0"/>
                  </a:lnTo>
                  <a:lnTo>
                    <a:pt x="873391" y="1065110"/>
                  </a:lnTo>
                  <a:lnTo>
                    <a:pt x="0" y="106511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43" name="AutoShape 43"/>
            <p:cNvSpPr/>
            <p:nvPr/>
          </p:nvSpPr>
          <p:spPr>
            <a:xfrm flipH="1">
              <a:off x="5120485" y="6892431"/>
              <a:ext cx="1509918" cy="8796"/>
            </a:xfrm>
            <a:prstGeom prst="line">
              <a:avLst/>
            </a:prstGeom>
            <a:ln w="17975" cap="flat">
              <a:solidFill>
                <a:srgbClr val="000000"/>
              </a:solidFill>
              <a:prstDash val="solid"/>
              <a:headEnd type="none" w="sm" len="sm"/>
              <a:tailEnd type="arrow" w="med" len="sm"/>
            </a:ln>
          </p:spPr>
        </p:sp>
        <p:sp>
          <p:nvSpPr>
            <p:cNvPr id="44" name="AutoShape 44"/>
            <p:cNvSpPr/>
            <p:nvPr/>
          </p:nvSpPr>
          <p:spPr>
            <a:xfrm flipV="1">
              <a:off x="10002192" y="2302474"/>
              <a:ext cx="8041565" cy="0"/>
            </a:xfrm>
            <a:prstGeom prst="line">
              <a:avLst/>
            </a:prstGeom>
            <a:ln w="71901" cap="flat">
              <a:solidFill>
                <a:srgbClr val="000000"/>
              </a:solidFill>
              <a:prstDash val="solid"/>
              <a:headEnd type="none" w="sm" len="sm"/>
              <a:tailEnd type="arrow" w="med" len="sm"/>
            </a:ln>
          </p:spPr>
        </p:sp>
        <p:sp>
          <p:nvSpPr>
            <p:cNvPr id="45" name="AutoShape 45"/>
            <p:cNvSpPr/>
            <p:nvPr/>
          </p:nvSpPr>
          <p:spPr>
            <a:xfrm flipH="1" flipV="1">
              <a:off x="7067098" y="5300432"/>
              <a:ext cx="0" cy="1059444"/>
            </a:xfrm>
            <a:prstGeom prst="line">
              <a:avLst/>
            </a:prstGeom>
            <a:ln w="71901" cap="flat">
              <a:solidFill>
                <a:srgbClr val="000000"/>
              </a:solidFill>
              <a:prstDash val="solid"/>
              <a:headEnd type="none" w="sm" len="sm"/>
              <a:tailEnd type="arrow" w="med" len="sm"/>
            </a:ln>
          </p:spPr>
        </p:sp>
        <p:sp>
          <p:nvSpPr>
            <p:cNvPr id="46" name="AutoShape 46"/>
            <p:cNvSpPr/>
            <p:nvPr/>
          </p:nvSpPr>
          <p:spPr>
            <a:xfrm>
              <a:off x="11067177" y="6962699"/>
              <a:ext cx="1516187" cy="1121747"/>
            </a:xfrm>
            <a:prstGeom prst="line">
              <a:avLst/>
            </a:prstGeom>
            <a:ln w="17975" cap="flat">
              <a:solidFill>
                <a:srgbClr val="000000"/>
              </a:solidFill>
              <a:prstDash val="solid"/>
              <a:headEnd type="none" w="sm" len="sm"/>
              <a:tailEnd type="arrow" w="med" len="sm"/>
            </a:ln>
          </p:spPr>
        </p:sp>
      </p:grpSp>
      <p:sp>
        <p:nvSpPr>
          <p:cNvPr id="47" name="TextBox 47"/>
          <p:cNvSpPr txBox="1"/>
          <p:nvPr/>
        </p:nvSpPr>
        <p:spPr>
          <a:xfrm>
            <a:off x="11070410" y="8546904"/>
            <a:ext cx="3377454" cy="265254"/>
          </a:xfrm>
          <a:prstGeom prst="rect">
            <a:avLst/>
          </a:prstGeom>
        </p:spPr>
        <p:txBody>
          <a:bodyPr lIns="0" tIns="0" rIns="0" bIns="0" rtlCol="0" anchor="t">
            <a:spAutoFit/>
          </a:bodyPr>
          <a:lstStyle/>
          <a:p>
            <a:pPr marL="336137" lvl="1" indent="-168068" algn="l">
              <a:lnSpc>
                <a:spcPts val="2179"/>
              </a:lnSpc>
              <a:buFont typeface="Arial"/>
              <a:buChar char="•"/>
            </a:pPr>
            <a:r>
              <a:rPr lang="en-US" sz="1556" b="1">
                <a:solidFill>
                  <a:srgbClr val="000000"/>
                </a:solidFill>
                <a:latin typeface="Montserrat Bold"/>
                <a:ea typeface="Montserrat Bold"/>
                <a:cs typeface="Montserrat Bold"/>
                <a:sym typeface="Montserrat Bold"/>
              </a:rPr>
              <a:t>Lịch sử trò chuyện</a:t>
            </a:r>
          </a:p>
        </p:txBody>
      </p:sp>
      <p:sp>
        <p:nvSpPr>
          <p:cNvPr id="48" name="TextBox 48"/>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18</a:t>
            </a:r>
          </a:p>
        </p:txBody>
      </p:sp>
      <p:sp>
        <p:nvSpPr>
          <p:cNvPr id="49" name="TextBox 49"/>
          <p:cNvSpPr txBox="1"/>
          <p:nvPr/>
        </p:nvSpPr>
        <p:spPr>
          <a:xfrm>
            <a:off x="1028700" y="1593214"/>
            <a:ext cx="13915105"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3.2. Mô hình tổng quan của hệ thống chatbot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sp>
        <p:nvSpPr>
          <p:cNvPr id="7" name="Freeform 7"/>
          <p:cNvSpPr/>
          <p:nvPr/>
        </p:nvSpPr>
        <p:spPr>
          <a:xfrm>
            <a:off x="-943267" y="9367118"/>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sp>
        <p:nvSpPr>
          <p:cNvPr id="8" name="TextBox 8"/>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19</a:t>
            </a:r>
          </a:p>
        </p:txBody>
      </p:sp>
      <p:grpSp>
        <p:nvGrpSpPr>
          <p:cNvPr id="9" name="Group 9"/>
          <p:cNvGrpSpPr/>
          <p:nvPr/>
        </p:nvGrpSpPr>
        <p:grpSpPr>
          <a:xfrm>
            <a:off x="2172734" y="2480631"/>
            <a:ext cx="13942532" cy="6229634"/>
            <a:chOff x="0" y="0"/>
            <a:chExt cx="18590043" cy="8306178"/>
          </a:xfrm>
        </p:grpSpPr>
        <p:sp>
          <p:nvSpPr>
            <p:cNvPr id="10" name="Freeform 10"/>
            <p:cNvSpPr/>
            <p:nvPr/>
          </p:nvSpPr>
          <p:spPr>
            <a:xfrm>
              <a:off x="5085796" y="0"/>
              <a:ext cx="1133753" cy="1382625"/>
            </a:xfrm>
            <a:custGeom>
              <a:avLst/>
              <a:gdLst/>
              <a:ahLst/>
              <a:cxnLst/>
              <a:rect l="l" t="t" r="r" b="b"/>
              <a:pathLst>
                <a:path w="1133753" h="1382625">
                  <a:moveTo>
                    <a:pt x="0" y="0"/>
                  </a:moveTo>
                  <a:lnTo>
                    <a:pt x="1133753" y="0"/>
                  </a:lnTo>
                  <a:lnTo>
                    <a:pt x="1133753" y="1382625"/>
                  </a:lnTo>
                  <a:lnTo>
                    <a:pt x="0" y="13826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9236103" y="2849823"/>
              <a:ext cx="1209770" cy="1252026"/>
            </a:xfrm>
            <a:custGeom>
              <a:avLst/>
              <a:gdLst/>
              <a:ahLst/>
              <a:cxnLst/>
              <a:rect l="l" t="t" r="r" b="b"/>
              <a:pathLst>
                <a:path w="1209770" h="1252026">
                  <a:moveTo>
                    <a:pt x="0" y="0"/>
                  </a:moveTo>
                  <a:lnTo>
                    <a:pt x="1209770" y="0"/>
                  </a:lnTo>
                  <a:lnTo>
                    <a:pt x="1209770" y="1252026"/>
                  </a:lnTo>
                  <a:lnTo>
                    <a:pt x="0" y="12520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2496760" y="2849823"/>
              <a:ext cx="1209770" cy="1252026"/>
            </a:xfrm>
            <a:custGeom>
              <a:avLst/>
              <a:gdLst/>
              <a:ahLst/>
              <a:cxnLst/>
              <a:rect l="l" t="t" r="r" b="b"/>
              <a:pathLst>
                <a:path w="1209770" h="1252026">
                  <a:moveTo>
                    <a:pt x="0" y="0"/>
                  </a:moveTo>
                  <a:lnTo>
                    <a:pt x="1209770" y="0"/>
                  </a:lnTo>
                  <a:lnTo>
                    <a:pt x="1209770" y="1252026"/>
                  </a:lnTo>
                  <a:lnTo>
                    <a:pt x="0" y="12520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2496760" y="5332618"/>
              <a:ext cx="1209770" cy="1252026"/>
            </a:xfrm>
            <a:custGeom>
              <a:avLst/>
              <a:gdLst/>
              <a:ahLst/>
              <a:cxnLst/>
              <a:rect l="l" t="t" r="r" b="b"/>
              <a:pathLst>
                <a:path w="1209770" h="1252026">
                  <a:moveTo>
                    <a:pt x="0" y="0"/>
                  </a:moveTo>
                  <a:lnTo>
                    <a:pt x="1209770" y="0"/>
                  </a:lnTo>
                  <a:lnTo>
                    <a:pt x="1209770" y="1252026"/>
                  </a:lnTo>
                  <a:lnTo>
                    <a:pt x="0" y="12520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a:off x="488513" y="2770976"/>
              <a:ext cx="1182558" cy="1286238"/>
            </a:xfrm>
            <a:custGeom>
              <a:avLst/>
              <a:gdLst/>
              <a:ahLst/>
              <a:cxnLst/>
              <a:rect l="l" t="t" r="r" b="b"/>
              <a:pathLst>
                <a:path w="1182558" h="1286238">
                  <a:moveTo>
                    <a:pt x="0" y="0"/>
                  </a:moveTo>
                  <a:lnTo>
                    <a:pt x="1182558" y="0"/>
                  </a:lnTo>
                  <a:lnTo>
                    <a:pt x="1182558" y="1286238"/>
                  </a:lnTo>
                  <a:lnTo>
                    <a:pt x="0" y="128623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TextBox 15"/>
            <p:cNvSpPr txBox="1"/>
            <p:nvPr/>
          </p:nvSpPr>
          <p:spPr>
            <a:xfrm>
              <a:off x="0" y="4260220"/>
              <a:ext cx="2159583" cy="722922"/>
            </a:xfrm>
            <a:prstGeom prst="rect">
              <a:avLst/>
            </a:prstGeom>
          </p:spPr>
          <p:txBody>
            <a:bodyPr lIns="0" tIns="0" rIns="0" bIns="0" rtlCol="0" anchor="t">
              <a:spAutoFit/>
            </a:bodyPr>
            <a:lstStyle/>
            <a:p>
              <a:pPr algn="ctr">
                <a:lnSpc>
                  <a:spcPts val="2239"/>
                </a:lnSpc>
                <a:spcBef>
                  <a:spcPct val="0"/>
                </a:spcBef>
              </a:pPr>
              <a:r>
                <a:rPr lang="en-US" sz="1599" b="1" dirty="0">
                  <a:solidFill>
                    <a:srgbClr val="000000"/>
                  </a:solidFill>
                  <a:latin typeface=""/>
                  <a:ea typeface="Canva Sans Bold"/>
                  <a:cs typeface="Canva Sans Bold"/>
                  <a:sym typeface="Canva Sans Bold"/>
                </a:rPr>
                <a:t>Tin </a:t>
              </a:r>
              <a:r>
                <a:rPr lang="en-US" sz="1599" b="1" dirty="0" err="1">
                  <a:solidFill>
                    <a:srgbClr val="000000"/>
                  </a:solidFill>
                  <a:latin typeface=""/>
                  <a:ea typeface="Canva Sans Bold"/>
                  <a:cs typeface="Canva Sans Bold"/>
                  <a:sym typeface="Canva Sans Bold"/>
                </a:rPr>
                <a:t>nhắn</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mới</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từ</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người</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dùng</a:t>
              </a:r>
              <a:endParaRPr lang="en-US" sz="1599" b="1" dirty="0">
                <a:solidFill>
                  <a:srgbClr val="000000"/>
                </a:solidFill>
                <a:latin typeface=""/>
                <a:ea typeface="Canva Sans Bold"/>
                <a:cs typeface="Canva Sans Bold"/>
                <a:sym typeface="Canva Sans Bold"/>
              </a:endParaRPr>
            </a:p>
          </p:txBody>
        </p:sp>
        <p:sp>
          <p:nvSpPr>
            <p:cNvPr id="16" name="TextBox 16"/>
            <p:cNvSpPr txBox="1"/>
            <p:nvPr/>
          </p:nvSpPr>
          <p:spPr>
            <a:xfrm>
              <a:off x="8761196" y="4260220"/>
              <a:ext cx="2159583" cy="348660"/>
            </a:xfrm>
            <a:prstGeom prst="rect">
              <a:avLst/>
            </a:prstGeom>
          </p:spPr>
          <p:txBody>
            <a:bodyPr lIns="0" tIns="0" rIns="0" bIns="0" rtlCol="0" anchor="t">
              <a:spAutoFit/>
            </a:bodyPr>
            <a:lstStyle/>
            <a:p>
              <a:pPr algn="ctr">
                <a:lnSpc>
                  <a:spcPts val="2239"/>
                </a:lnSpc>
                <a:spcBef>
                  <a:spcPct val="0"/>
                </a:spcBef>
              </a:pPr>
              <a:r>
                <a:rPr lang="en-US" sz="1599" b="1">
                  <a:solidFill>
                    <a:srgbClr val="000000"/>
                  </a:solidFill>
                  <a:latin typeface="Canva Sans Bold"/>
                  <a:ea typeface="Canva Sans Bold"/>
                  <a:cs typeface="Canva Sans Bold"/>
                  <a:sym typeface="Canva Sans Bold"/>
                </a:rPr>
                <a:t>LLMs</a:t>
              </a:r>
            </a:p>
          </p:txBody>
        </p:sp>
        <p:sp>
          <p:nvSpPr>
            <p:cNvPr id="17" name="AutoShape 17"/>
            <p:cNvSpPr/>
            <p:nvPr/>
          </p:nvSpPr>
          <p:spPr>
            <a:xfrm>
              <a:off x="5652673" y="1382625"/>
              <a:ext cx="0" cy="1511832"/>
            </a:xfrm>
            <a:prstGeom prst="line">
              <a:avLst/>
            </a:prstGeom>
            <a:ln w="56858" cap="flat">
              <a:solidFill>
                <a:srgbClr val="000000"/>
              </a:solidFill>
              <a:prstDash val="solid"/>
              <a:headEnd type="none" w="sm" len="sm"/>
              <a:tailEnd type="arrow" w="med" len="sm"/>
            </a:ln>
          </p:spPr>
        </p:sp>
        <p:grpSp>
          <p:nvGrpSpPr>
            <p:cNvPr id="18" name="Group 18"/>
            <p:cNvGrpSpPr/>
            <p:nvPr/>
          </p:nvGrpSpPr>
          <p:grpSpPr>
            <a:xfrm>
              <a:off x="15701058" y="2974975"/>
              <a:ext cx="2888985" cy="1001721"/>
              <a:chOff x="0" y="0"/>
              <a:chExt cx="882300" cy="305927"/>
            </a:xfrm>
          </p:grpSpPr>
          <p:sp>
            <p:nvSpPr>
              <p:cNvPr id="19" name="Freeform 19"/>
              <p:cNvSpPr/>
              <p:nvPr/>
            </p:nvSpPr>
            <p:spPr>
              <a:xfrm>
                <a:off x="0" y="0"/>
                <a:ext cx="882300" cy="305927"/>
              </a:xfrm>
              <a:custGeom>
                <a:avLst/>
                <a:gdLst/>
                <a:ahLst/>
                <a:cxnLst/>
                <a:rect l="l" t="t" r="r" b="b"/>
                <a:pathLst>
                  <a:path w="882300" h="305927">
                    <a:moveTo>
                      <a:pt x="73585" y="0"/>
                    </a:moveTo>
                    <a:lnTo>
                      <a:pt x="808715" y="0"/>
                    </a:lnTo>
                    <a:cubicBezTo>
                      <a:pt x="828231" y="0"/>
                      <a:pt x="846947" y="7753"/>
                      <a:pt x="860747" y="21553"/>
                    </a:cubicBezTo>
                    <a:cubicBezTo>
                      <a:pt x="874547" y="35352"/>
                      <a:pt x="882300" y="54069"/>
                      <a:pt x="882300" y="73585"/>
                    </a:cubicBezTo>
                    <a:lnTo>
                      <a:pt x="882300" y="232342"/>
                    </a:lnTo>
                    <a:cubicBezTo>
                      <a:pt x="882300" y="272982"/>
                      <a:pt x="849355" y="305927"/>
                      <a:pt x="808715" y="305927"/>
                    </a:cubicBezTo>
                    <a:lnTo>
                      <a:pt x="73585" y="305927"/>
                    </a:lnTo>
                    <a:cubicBezTo>
                      <a:pt x="54069" y="305927"/>
                      <a:pt x="35352" y="298174"/>
                      <a:pt x="21553" y="284374"/>
                    </a:cubicBezTo>
                    <a:cubicBezTo>
                      <a:pt x="7753" y="270574"/>
                      <a:pt x="0" y="251858"/>
                      <a:pt x="0" y="232342"/>
                    </a:cubicBezTo>
                    <a:lnTo>
                      <a:pt x="0" y="73585"/>
                    </a:lnTo>
                    <a:cubicBezTo>
                      <a:pt x="0" y="32945"/>
                      <a:pt x="32945" y="0"/>
                      <a:pt x="73585" y="0"/>
                    </a:cubicBezTo>
                    <a:close/>
                  </a:path>
                </a:pathLst>
              </a:custGeom>
              <a:solidFill>
                <a:srgbClr val="000000">
                  <a:alpha val="0"/>
                </a:srgbClr>
              </a:solidFill>
              <a:ln w="28575" cap="rnd">
                <a:solidFill>
                  <a:srgbClr val="000000"/>
                </a:solidFill>
                <a:prstDash val="solid"/>
                <a:round/>
              </a:ln>
            </p:spPr>
          </p:sp>
          <p:sp>
            <p:nvSpPr>
              <p:cNvPr id="20" name="TextBox 20"/>
              <p:cNvSpPr txBox="1"/>
              <p:nvPr/>
            </p:nvSpPr>
            <p:spPr>
              <a:xfrm>
                <a:off x="0" y="-38100"/>
                <a:ext cx="882300" cy="344027"/>
              </a:xfrm>
              <a:prstGeom prst="rect">
                <a:avLst/>
              </a:prstGeom>
            </p:spPr>
            <p:txBody>
              <a:bodyPr lIns="50800" tIns="50800" rIns="50800" bIns="50800" rtlCol="0" anchor="ctr"/>
              <a:lstStyle/>
              <a:p>
                <a:pPr algn="ctr">
                  <a:lnSpc>
                    <a:spcPts val="3360"/>
                  </a:lnSpc>
                </a:pPr>
                <a:r>
                  <a:rPr lang="en-US" sz="2400" dirty="0">
                    <a:solidFill>
                      <a:srgbClr val="000000"/>
                    </a:solidFill>
                    <a:latin typeface=""/>
                    <a:ea typeface="Canva Sans"/>
                    <a:cs typeface="Canva Sans"/>
                    <a:sym typeface="Canva Sans"/>
                  </a:rPr>
                  <a:t>Response</a:t>
                </a:r>
              </a:p>
            </p:txBody>
          </p:sp>
        </p:grpSp>
        <p:grpSp>
          <p:nvGrpSpPr>
            <p:cNvPr id="21" name="Group 21"/>
            <p:cNvGrpSpPr/>
            <p:nvPr/>
          </p:nvGrpSpPr>
          <p:grpSpPr>
            <a:xfrm>
              <a:off x="3712063" y="2894458"/>
              <a:ext cx="3881219" cy="1162756"/>
              <a:chOff x="0" y="0"/>
              <a:chExt cx="1185329" cy="355107"/>
            </a:xfrm>
          </p:grpSpPr>
          <p:sp>
            <p:nvSpPr>
              <p:cNvPr id="22" name="Freeform 22"/>
              <p:cNvSpPr/>
              <p:nvPr/>
            </p:nvSpPr>
            <p:spPr>
              <a:xfrm>
                <a:off x="0" y="0"/>
                <a:ext cx="1185329" cy="355107"/>
              </a:xfrm>
              <a:custGeom>
                <a:avLst/>
                <a:gdLst/>
                <a:ahLst/>
                <a:cxnLst/>
                <a:rect l="l" t="t" r="r" b="b"/>
                <a:pathLst>
                  <a:path w="1185329" h="355107">
                    <a:moveTo>
                      <a:pt x="54773" y="0"/>
                    </a:moveTo>
                    <a:lnTo>
                      <a:pt x="1130556" y="0"/>
                    </a:lnTo>
                    <a:cubicBezTo>
                      <a:pt x="1160807" y="0"/>
                      <a:pt x="1185329" y="24523"/>
                      <a:pt x="1185329" y="54773"/>
                    </a:cubicBezTo>
                    <a:lnTo>
                      <a:pt x="1185329" y="300334"/>
                    </a:lnTo>
                    <a:cubicBezTo>
                      <a:pt x="1185329" y="330585"/>
                      <a:pt x="1160807" y="355107"/>
                      <a:pt x="1130556" y="355107"/>
                    </a:cubicBezTo>
                    <a:lnTo>
                      <a:pt x="54773" y="355107"/>
                    </a:lnTo>
                    <a:cubicBezTo>
                      <a:pt x="24523" y="355107"/>
                      <a:pt x="0" y="330585"/>
                      <a:pt x="0" y="300334"/>
                    </a:cubicBezTo>
                    <a:lnTo>
                      <a:pt x="0" y="54773"/>
                    </a:lnTo>
                    <a:cubicBezTo>
                      <a:pt x="0" y="24523"/>
                      <a:pt x="24523" y="0"/>
                      <a:pt x="54773" y="0"/>
                    </a:cubicBezTo>
                    <a:close/>
                  </a:path>
                </a:pathLst>
              </a:custGeom>
              <a:solidFill>
                <a:srgbClr val="000000">
                  <a:alpha val="0"/>
                </a:srgbClr>
              </a:solidFill>
              <a:ln w="28575" cap="rnd">
                <a:solidFill>
                  <a:srgbClr val="000000"/>
                </a:solidFill>
                <a:prstDash val="solid"/>
                <a:round/>
              </a:ln>
            </p:spPr>
          </p:sp>
          <p:sp>
            <p:nvSpPr>
              <p:cNvPr id="23" name="TextBox 23"/>
              <p:cNvSpPr txBox="1"/>
              <p:nvPr/>
            </p:nvSpPr>
            <p:spPr>
              <a:xfrm>
                <a:off x="0" y="-28575"/>
                <a:ext cx="1185329" cy="383682"/>
              </a:xfrm>
              <a:prstGeom prst="rect">
                <a:avLst/>
              </a:prstGeom>
            </p:spPr>
            <p:txBody>
              <a:bodyPr lIns="50800" tIns="50800" rIns="50800" bIns="50800" rtlCol="0" anchor="ctr"/>
              <a:lstStyle/>
              <a:p>
                <a:pPr algn="ctr">
                  <a:lnSpc>
                    <a:spcPts val="2520"/>
                  </a:lnSpc>
                </a:pPr>
                <a:r>
                  <a:rPr lang="en-US" sz="1800" dirty="0" err="1">
                    <a:solidFill>
                      <a:srgbClr val="000000"/>
                    </a:solidFill>
                    <a:latin typeface=""/>
                    <a:ea typeface="Canva Sans"/>
                    <a:cs typeface="Canva Sans"/>
                    <a:sym typeface="Canva Sans"/>
                  </a:rPr>
                  <a:t>Tổng</a:t>
                </a:r>
                <a:r>
                  <a:rPr lang="en-US" sz="1800" dirty="0">
                    <a:solidFill>
                      <a:srgbClr val="000000"/>
                    </a:solidFill>
                    <a:latin typeface=""/>
                    <a:ea typeface="Canva Sans"/>
                    <a:cs typeface="Canva Sans"/>
                    <a:sym typeface="Canva Sans"/>
                  </a:rPr>
                  <a:t> </a:t>
                </a:r>
                <a:r>
                  <a:rPr lang="en-US" sz="1800" dirty="0" err="1">
                    <a:solidFill>
                      <a:srgbClr val="000000"/>
                    </a:solidFill>
                    <a:latin typeface=""/>
                    <a:ea typeface="Canva Sans"/>
                    <a:cs typeface="Canva Sans"/>
                    <a:sym typeface="Canva Sans"/>
                  </a:rPr>
                  <a:t>hợp</a:t>
                </a:r>
                <a:r>
                  <a:rPr lang="en-US" sz="1800" dirty="0">
                    <a:solidFill>
                      <a:srgbClr val="000000"/>
                    </a:solidFill>
                    <a:latin typeface=""/>
                    <a:ea typeface="Canva Sans"/>
                    <a:cs typeface="Canva Sans"/>
                    <a:sym typeface="Canva Sans"/>
                  </a:rPr>
                  <a:t> context </a:t>
                </a:r>
                <a:r>
                  <a:rPr lang="en-US" sz="1800" dirty="0" err="1">
                    <a:solidFill>
                      <a:srgbClr val="000000"/>
                    </a:solidFill>
                    <a:latin typeface=""/>
                    <a:ea typeface="Canva Sans"/>
                    <a:cs typeface="Canva Sans"/>
                    <a:sym typeface="Canva Sans"/>
                  </a:rPr>
                  <a:t>cuộc</a:t>
                </a:r>
                <a:r>
                  <a:rPr lang="en-US" sz="1800" dirty="0">
                    <a:solidFill>
                      <a:srgbClr val="000000"/>
                    </a:solidFill>
                    <a:latin typeface=""/>
                    <a:ea typeface="Canva Sans"/>
                    <a:cs typeface="Canva Sans"/>
                    <a:sym typeface="Canva Sans"/>
                  </a:rPr>
                  <a:t> </a:t>
                </a:r>
                <a:r>
                  <a:rPr lang="en-US" sz="1800" dirty="0" err="1">
                    <a:solidFill>
                      <a:srgbClr val="000000"/>
                    </a:solidFill>
                    <a:latin typeface=""/>
                    <a:ea typeface="Canva Sans"/>
                    <a:cs typeface="Canva Sans"/>
                    <a:sym typeface="Canva Sans"/>
                  </a:rPr>
                  <a:t>trò</a:t>
                </a:r>
                <a:r>
                  <a:rPr lang="en-US" sz="1800" dirty="0">
                    <a:solidFill>
                      <a:srgbClr val="000000"/>
                    </a:solidFill>
                    <a:latin typeface=""/>
                    <a:ea typeface="Canva Sans"/>
                    <a:cs typeface="Canva Sans"/>
                    <a:sym typeface="Canva Sans"/>
                  </a:rPr>
                  <a:t> </a:t>
                </a:r>
                <a:r>
                  <a:rPr lang="en-US" sz="1800" dirty="0" err="1">
                    <a:solidFill>
                      <a:srgbClr val="000000"/>
                    </a:solidFill>
                    <a:latin typeface=""/>
                    <a:ea typeface="Canva Sans"/>
                    <a:cs typeface="Canva Sans"/>
                    <a:sym typeface="Canva Sans"/>
                  </a:rPr>
                  <a:t>chuyện</a:t>
                </a:r>
                <a:endParaRPr lang="en-US" sz="1800" dirty="0">
                  <a:solidFill>
                    <a:srgbClr val="000000"/>
                  </a:solidFill>
                  <a:latin typeface=""/>
                  <a:ea typeface="Canva Sans"/>
                  <a:cs typeface="Canva Sans"/>
                  <a:sym typeface="Canva Sans"/>
                </a:endParaRPr>
              </a:p>
            </p:txBody>
          </p:sp>
        </p:grpSp>
        <p:sp>
          <p:nvSpPr>
            <p:cNvPr id="24" name="Freeform 24"/>
            <p:cNvSpPr/>
            <p:nvPr/>
          </p:nvSpPr>
          <p:spPr>
            <a:xfrm>
              <a:off x="12685969" y="7502884"/>
              <a:ext cx="831352" cy="803294"/>
            </a:xfrm>
            <a:custGeom>
              <a:avLst/>
              <a:gdLst/>
              <a:ahLst/>
              <a:cxnLst/>
              <a:rect l="l" t="t" r="r" b="b"/>
              <a:pathLst>
                <a:path w="831352" h="803294">
                  <a:moveTo>
                    <a:pt x="0" y="0"/>
                  </a:moveTo>
                  <a:lnTo>
                    <a:pt x="831352" y="0"/>
                  </a:lnTo>
                  <a:lnTo>
                    <a:pt x="831352" y="803293"/>
                  </a:lnTo>
                  <a:lnTo>
                    <a:pt x="0" y="80329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5" name="TextBox 25"/>
            <p:cNvSpPr txBox="1"/>
            <p:nvPr/>
          </p:nvSpPr>
          <p:spPr>
            <a:xfrm>
              <a:off x="3322673" y="245377"/>
              <a:ext cx="1541337" cy="786113"/>
            </a:xfrm>
            <a:prstGeom prst="rect">
              <a:avLst/>
            </a:prstGeom>
          </p:spPr>
          <p:txBody>
            <a:bodyPr lIns="0" tIns="0" rIns="0" bIns="0" rtlCol="0" anchor="t">
              <a:spAutoFit/>
            </a:bodyPr>
            <a:lstStyle/>
            <a:p>
              <a:pPr algn="ctr">
                <a:lnSpc>
                  <a:spcPts val="2444"/>
                </a:lnSpc>
              </a:pPr>
              <a:r>
                <a:rPr lang="en-US" sz="1746" b="1" dirty="0">
                  <a:solidFill>
                    <a:srgbClr val="000000"/>
                  </a:solidFill>
                  <a:latin typeface=""/>
                  <a:ea typeface="Canva Sans Bold"/>
                  <a:cs typeface="Canva Sans Bold"/>
                  <a:sym typeface="Canva Sans Bold"/>
                </a:rPr>
                <a:t>Database</a:t>
              </a:r>
            </a:p>
            <a:p>
              <a:pPr algn="ctr">
                <a:lnSpc>
                  <a:spcPts val="2444"/>
                </a:lnSpc>
                <a:spcBef>
                  <a:spcPct val="0"/>
                </a:spcBef>
              </a:pPr>
              <a:r>
                <a:rPr lang="en-US" sz="1746" b="1" dirty="0" err="1">
                  <a:solidFill>
                    <a:srgbClr val="000000"/>
                  </a:solidFill>
                  <a:latin typeface=""/>
                  <a:ea typeface="Canva Sans Bold"/>
                  <a:cs typeface="Canva Sans Bold"/>
                  <a:sym typeface="Canva Sans Bold"/>
                </a:rPr>
                <a:t>Postgresql</a:t>
              </a:r>
              <a:endParaRPr lang="en-US" sz="1746" b="1" dirty="0">
                <a:solidFill>
                  <a:srgbClr val="000000"/>
                </a:solidFill>
                <a:latin typeface=""/>
                <a:ea typeface="Canva Sans Bold"/>
                <a:cs typeface="Canva Sans Bold"/>
                <a:sym typeface="Canva Sans Bold"/>
              </a:endParaRPr>
            </a:p>
          </p:txBody>
        </p:sp>
        <p:sp>
          <p:nvSpPr>
            <p:cNvPr id="26" name="AutoShape 26"/>
            <p:cNvSpPr/>
            <p:nvPr/>
          </p:nvSpPr>
          <p:spPr>
            <a:xfrm>
              <a:off x="1671071" y="3414095"/>
              <a:ext cx="2040993" cy="61741"/>
            </a:xfrm>
            <a:prstGeom prst="line">
              <a:avLst/>
            </a:prstGeom>
            <a:ln w="56858" cap="flat">
              <a:solidFill>
                <a:srgbClr val="000000"/>
              </a:solidFill>
              <a:prstDash val="solid"/>
              <a:headEnd type="none" w="sm" len="sm"/>
              <a:tailEnd type="arrow" w="med" len="sm"/>
            </a:ln>
          </p:spPr>
        </p:sp>
        <p:sp>
          <p:nvSpPr>
            <p:cNvPr id="27" name="TextBox 27"/>
            <p:cNvSpPr txBox="1"/>
            <p:nvPr/>
          </p:nvSpPr>
          <p:spPr>
            <a:xfrm>
              <a:off x="8782351" y="1761470"/>
              <a:ext cx="2159583" cy="722922"/>
            </a:xfrm>
            <a:prstGeom prst="rect">
              <a:avLst/>
            </a:prstGeom>
          </p:spPr>
          <p:txBody>
            <a:bodyPr lIns="0" tIns="0" rIns="0" bIns="0" rtlCol="0" anchor="t">
              <a:spAutoFit/>
            </a:bodyPr>
            <a:lstStyle/>
            <a:p>
              <a:pPr algn="ctr">
                <a:lnSpc>
                  <a:spcPts val="2239"/>
                </a:lnSpc>
                <a:spcBef>
                  <a:spcPct val="0"/>
                </a:spcBef>
              </a:pPr>
              <a:r>
                <a:rPr lang="en-US" sz="1599" b="1" dirty="0" err="1">
                  <a:solidFill>
                    <a:srgbClr val="000000"/>
                  </a:solidFill>
                  <a:latin typeface=""/>
                  <a:ea typeface="Canva Sans Bold"/>
                  <a:cs typeface="Canva Sans Bold"/>
                  <a:sym typeface="Canva Sans Bold"/>
                </a:rPr>
                <a:t>Lên</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kế</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hoạch</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thực</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hiện</a:t>
              </a:r>
              <a:endParaRPr lang="en-US" sz="1599" b="1" dirty="0">
                <a:solidFill>
                  <a:srgbClr val="000000"/>
                </a:solidFill>
                <a:latin typeface=""/>
                <a:ea typeface="Canva Sans Bold"/>
                <a:cs typeface="Canva Sans Bold"/>
                <a:sym typeface="Canva Sans Bold"/>
              </a:endParaRPr>
            </a:p>
          </p:txBody>
        </p:sp>
        <p:sp>
          <p:nvSpPr>
            <p:cNvPr id="28" name="TextBox 28"/>
            <p:cNvSpPr txBox="1"/>
            <p:nvPr/>
          </p:nvSpPr>
          <p:spPr>
            <a:xfrm>
              <a:off x="11627566" y="1725455"/>
              <a:ext cx="3172062" cy="722922"/>
            </a:xfrm>
            <a:prstGeom prst="rect">
              <a:avLst/>
            </a:prstGeom>
          </p:spPr>
          <p:txBody>
            <a:bodyPr lIns="0" tIns="0" rIns="0" bIns="0" rtlCol="0" anchor="t">
              <a:spAutoFit/>
            </a:bodyPr>
            <a:lstStyle/>
            <a:p>
              <a:pPr algn="ctr">
                <a:lnSpc>
                  <a:spcPts val="2239"/>
                </a:lnSpc>
                <a:spcBef>
                  <a:spcPct val="0"/>
                </a:spcBef>
              </a:pPr>
              <a:r>
                <a:rPr lang="en-US" sz="1599" b="1" dirty="0">
                  <a:solidFill>
                    <a:srgbClr val="000000"/>
                  </a:solidFill>
                  <a:latin typeface=""/>
                  <a:ea typeface="Canva Sans Bold"/>
                  <a:cs typeface="Canva Sans Bold"/>
                  <a:sym typeface="Canva Sans Bold"/>
                </a:rPr>
                <a:t>Review </a:t>
              </a:r>
              <a:r>
                <a:rPr lang="en-US" sz="1599" b="1" dirty="0" err="1">
                  <a:solidFill>
                    <a:srgbClr val="000000"/>
                  </a:solidFill>
                  <a:latin typeface=""/>
                  <a:ea typeface="Canva Sans Bold"/>
                  <a:cs typeface="Canva Sans Bold"/>
                  <a:sym typeface="Canva Sans Bold"/>
                </a:rPr>
                <a:t>kế</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hoạch</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và</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các</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bước</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đã</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thực</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hiện</a:t>
              </a:r>
              <a:endParaRPr lang="en-US" sz="1599" b="1" dirty="0">
                <a:solidFill>
                  <a:srgbClr val="000000"/>
                </a:solidFill>
                <a:latin typeface=""/>
                <a:ea typeface="Canva Sans Bold"/>
                <a:cs typeface="Canva Sans Bold"/>
                <a:sym typeface="Canva Sans Bold"/>
              </a:endParaRPr>
            </a:p>
          </p:txBody>
        </p:sp>
        <p:sp>
          <p:nvSpPr>
            <p:cNvPr id="29" name="TextBox 29"/>
            <p:cNvSpPr txBox="1"/>
            <p:nvPr/>
          </p:nvSpPr>
          <p:spPr>
            <a:xfrm>
              <a:off x="9207396" y="5582883"/>
              <a:ext cx="3172062" cy="722922"/>
            </a:xfrm>
            <a:prstGeom prst="rect">
              <a:avLst/>
            </a:prstGeom>
          </p:spPr>
          <p:txBody>
            <a:bodyPr lIns="0" tIns="0" rIns="0" bIns="0" rtlCol="0" anchor="t">
              <a:spAutoFit/>
            </a:bodyPr>
            <a:lstStyle/>
            <a:p>
              <a:pPr algn="ctr">
                <a:lnSpc>
                  <a:spcPts val="2239"/>
                </a:lnSpc>
                <a:spcBef>
                  <a:spcPct val="0"/>
                </a:spcBef>
              </a:pPr>
              <a:r>
                <a:rPr lang="en-US" sz="1599" b="1" dirty="0" err="1">
                  <a:solidFill>
                    <a:srgbClr val="000000"/>
                  </a:solidFill>
                  <a:latin typeface=""/>
                  <a:ea typeface="Canva Sans Bold"/>
                  <a:cs typeface="Canva Sans Bold"/>
                  <a:sym typeface="Canva Sans Bold"/>
                </a:rPr>
                <a:t>Điều</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khiển</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các</a:t>
              </a:r>
              <a:r>
                <a:rPr lang="en-US" sz="1599" b="1" dirty="0">
                  <a:solidFill>
                    <a:srgbClr val="000000"/>
                  </a:solidFill>
                  <a:latin typeface=""/>
                  <a:ea typeface="Canva Sans Bold"/>
                  <a:cs typeface="Canva Sans Bold"/>
                  <a:sym typeface="Canva Sans Bold"/>
                </a:rPr>
                <a:t> tool </a:t>
              </a:r>
              <a:r>
                <a:rPr lang="en-US" sz="1599" b="1" dirty="0" err="1">
                  <a:solidFill>
                    <a:srgbClr val="000000"/>
                  </a:solidFill>
                  <a:latin typeface=""/>
                  <a:ea typeface="Canva Sans Bold"/>
                  <a:cs typeface="Canva Sans Bold"/>
                  <a:sym typeface="Canva Sans Bold"/>
                </a:rPr>
                <a:t>để</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thực</a:t>
              </a:r>
              <a:r>
                <a:rPr lang="en-US" sz="1599" b="1" dirty="0">
                  <a:solidFill>
                    <a:srgbClr val="000000"/>
                  </a:solidFill>
                  <a:latin typeface=""/>
                  <a:ea typeface="Canva Sans Bold"/>
                  <a:cs typeface="Canva Sans Bold"/>
                  <a:sym typeface="Canva Sans Bold"/>
                </a:rPr>
                <a:t> </a:t>
              </a:r>
              <a:r>
                <a:rPr lang="en-US" sz="1599" b="1" dirty="0" err="1">
                  <a:solidFill>
                    <a:srgbClr val="000000"/>
                  </a:solidFill>
                  <a:latin typeface=""/>
                  <a:ea typeface="Canva Sans Bold"/>
                  <a:cs typeface="Canva Sans Bold"/>
                  <a:sym typeface="Canva Sans Bold"/>
                </a:rPr>
                <a:t>hiện</a:t>
              </a:r>
              <a:r>
                <a:rPr lang="en-US" sz="1599" b="1" dirty="0">
                  <a:solidFill>
                    <a:srgbClr val="000000"/>
                  </a:solidFill>
                  <a:latin typeface=""/>
                  <a:ea typeface="Canva Sans Bold"/>
                  <a:cs typeface="Canva Sans Bold"/>
                  <a:sym typeface="Canva Sans Bold"/>
                </a:rPr>
                <a:t> task</a:t>
              </a:r>
            </a:p>
          </p:txBody>
        </p:sp>
        <p:sp>
          <p:nvSpPr>
            <p:cNvPr id="30" name="TextBox 30"/>
            <p:cNvSpPr txBox="1"/>
            <p:nvPr/>
          </p:nvSpPr>
          <p:spPr>
            <a:xfrm>
              <a:off x="13706530" y="4265225"/>
              <a:ext cx="1331356" cy="722922"/>
            </a:xfrm>
            <a:prstGeom prst="rect">
              <a:avLst/>
            </a:prstGeom>
          </p:spPr>
          <p:txBody>
            <a:bodyPr lIns="0" tIns="0" rIns="0" bIns="0" rtlCol="0" anchor="t">
              <a:spAutoFit/>
            </a:bodyPr>
            <a:lstStyle/>
            <a:p>
              <a:pPr algn="ctr">
                <a:lnSpc>
                  <a:spcPts val="2239"/>
                </a:lnSpc>
                <a:spcBef>
                  <a:spcPct val="0"/>
                </a:spcBef>
              </a:pPr>
              <a:r>
                <a:rPr lang="en-US" sz="1599" i="1" dirty="0" err="1">
                  <a:solidFill>
                    <a:srgbClr val="000000"/>
                  </a:solidFill>
                  <a:latin typeface=""/>
                  <a:ea typeface="Canva Sans Italics"/>
                  <a:cs typeface="Canva Sans Italics"/>
                  <a:sym typeface="Canva Sans Italics"/>
                </a:rPr>
                <a:t>Cần</a:t>
              </a:r>
              <a:r>
                <a:rPr lang="en-US" sz="1599" i="1" dirty="0">
                  <a:solidFill>
                    <a:srgbClr val="000000"/>
                  </a:solidFill>
                  <a:latin typeface=""/>
                  <a:ea typeface="Canva Sans Italics"/>
                  <a:cs typeface="Canva Sans Italics"/>
                  <a:sym typeface="Canva Sans Italics"/>
                </a:rPr>
                <a:t> </a:t>
              </a:r>
              <a:r>
                <a:rPr lang="en-US" sz="1599" i="1" dirty="0" err="1">
                  <a:solidFill>
                    <a:srgbClr val="000000"/>
                  </a:solidFill>
                  <a:latin typeface=""/>
                  <a:ea typeface="Canva Sans Italics"/>
                  <a:cs typeface="Canva Sans Italics"/>
                  <a:sym typeface="Canva Sans Italics"/>
                </a:rPr>
                <a:t>thực</a:t>
              </a:r>
              <a:r>
                <a:rPr lang="en-US" sz="1599" i="1" dirty="0">
                  <a:solidFill>
                    <a:srgbClr val="000000"/>
                  </a:solidFill>
                  <a:latin typeface=""/>
                  <a:ea typeface="Canva Sans Italics"/>
                  <a:cs typeface="Canva Sans Italics"/>
                  <a:sym typeface="Canva Sans Italics"/>
                </a:rPr>
                <a:t> </a:t>
              </a:r>
              <a:r>
                <a:rPr lang="en-US" sz="1599" i="1" dirty="0" err="1">
                  <a:solidFill>
                    <a:srgbClr val="000000"/>
                  </a:solidFill>
                  <a:latin typeface=""/>
                  <a:ea typeface="Canva Sans Italics"/>
                  <a:cs typeface="Canva Sans Italics"/>
                  <a:sym typeface="Canva Sans Italics"/>
                </a:rPr>
                <a:t>hiện</a:t>
              </a:r>
              <a:r>
                <a:rPr lang="en-US" sz="1599" i="1" dirty="0">
                  <a:solidFill>
                    <a:srgbClr val="000000"/>
                  </a:solidFill>
                  <a:latin typeface=""/>
                  <a:ea typeface="Canva Sans Italics"/>
                  <a:cs typeface="Canva Sans Italics"/>
                  <a:sym typeface="Canva Sans Italics"/>
                </a:rPr>
                <a:t> </a:t>
              </a:r>
              <a:r>
                <a:rPr lang="en-US" sz="1599" i="1" dirty="0" err="1">
                  <a:solidFill>
                    <a:srgbClr val="000000"/>
                  </a:solidFill>
                  <a:latin typeface=""/>
                  <a:ea typeface="Canva Sans Italics"/>
                  <a:cs typeface="Canva Sans Italics"/>
                  <a:sym typeface="Canva Sans Italics"/>
                </a:rPr>
                <a:t>tiếp</a:t>
              </a:r>
              <a:endParaRPr lang="en-US" sz="1599" i="1" dirty="0">
                <a:solidFill>
                  <a:srgbClr val="000000"/>
                </a:solidFill>
                <a:latin typeface=""/>
                <a:ea typeface="Canva Sans Italics"/>
                <a:cs typeface="Canva Sans Italics"/>
                <a:sym typeface="Canva Sans Italics"/>
              </a:endParaRPr>
            </a:p>
          </p:txBody>
        </p:sp>
        <p:sp>
          <p:nvSpPr>
            <p:cNvPr id="31" name="TextBox 31"/>
            <p:cNvSpPr txBox="1"/>
            <p:nvPr/>
          </p:nvSpPr>
          <p:spPr>
            <a:xfrm>
              <a:off x="14276972" y="2603307"/>
              <a:ext cx="1331356" cy="722922"/>
            </a:xfrm>
            <a:prstGeom prst="rect">
              <a:avLst/>
            </a:prstGeom>
          </p:spPr>
          <p:txBody>
            <a:bodyPr lIns="0" tIns="0" rIns="0" bIns="0" rtlCol="0" anchor="t">
              <a:spAutoFit/>
            </a:bodyPr>
            <a:lstStyle/>
            <a:p>
              <a:pPr algn="ctr">
                <a:lnSpc>
                  <a:spcPts val="2239"/>
                </a:lnSpc>
                <a:spcBef>
                  <a:spcPct val="0"/>
                </a:spcBef>
              </a:pPr>
              <a:r>
                <a:rPr lang="en-US" sz="1599" i="1">
                  <a:solidFill>
                    <a:srgbClr val="000000"/>
                  </a:solidFill>
                  <a:latin typeface="Canva Sans Italics"/>
                  <a:ea typeface="Canva Sans Italics"/>
                  <a:cs typeface="Canva Sans Italics"/>
                  <a:sym typeface="Canva Sans Italics"/>
                </a:rPr>
                <a:t>Tạo kết quả cuối</a:t>
              </a:r>
            </a:p>
          </p:txBody>
        </p:sp>
        <p:sp>
          <p:nvSpPr>
            <p:cNvPr id="32" name="TextBox 32"/>
            <p:cNvSpPr txBox="1"/>
            <p:nvPr/>
          </p:nvSpPr>
          <p:spPr>
            <a:xfrm>
              <a:off x="10515015" y="7957518"/>
              <a:ext cx="1659626" cy="348660"/>
            </a:xfrm>
            <a:prstGeom prst="rect">
              <a:avLst/>
            </a:prstGeom>
          </p:spPr>
          <p:txBody>
            <a:bodyPr lIns="0" tIns="0" rIns="0" bIns="0" rtlCol="0" anchor="t">
              <a:spAutoFit/>
            </a:bodyPr>
            <a:lstStyle/>
            <a:p>
              <a:pPr algn="ctr">
                <a:lnSpc>
                  <a:spcPts val="2239"/>
                </a:lnSpc>
                <a:spcBef>
                  <a:spcPct val="0"/>
                </a:spcBef>
              </a:pPr>
              <a:r>
                <a:rPr lang="en-US" sz="1599" b="1" dirty="0">
                  <a:solidFill>
                    <a:srgbClr val="000000"/>
                  </a:solidFill>
                  <a:latin typeface=""/>
                  <a:ea typeface="Canva Sans Bold"/>
                  <a:cs typeface="Canva Sans Bold"/>
                  <a:sym typeface="Canva Sans Bold"/>
                </a:rPr>
                <a:t>Các tool</a:t>
              </a:r>
            </a:p>
          </p:txBody>
        </p:sp>
        <p:sp>
          <p:nvSpPr>
            <p:cNvPr id="33" name="AutoShape 33"/>
            <p:cNvSpPr/>
            <p:nvPr/>
          </p:nvSpPr>
          <p:spPr>
            <a:xfrm>
              <a:off x="7593282" y="3475836"/>
              <a:ext cx="1642821" cy="0"/>
            </a:xfrm>
            <a:prstGeom prst="line">
              <a:avLst/>
            </a:prstGeom>
            <a:ln w="56858" cap="flat">
              <a:solidFill>
                <a:srgbClr val="000000"/>
              </a:solidFill>
              <a:prstDash val="solid"/>
              <a:headEnd type="none" w="sm" len="sm"/>
              <a:tailEnd type="arrow" w="med" len="sm"/>
            </a:ln>
          </p:spPr>
        </p:sp>
        <p:sp>
          <p:nvSpPr>
            <p:cNvPr id="34" name="AutoShape 34"/>
            <p:cNvSpPr/>
            <p:nvPr/>
          </p:nvSpPr>
          <p:spPr>
            <a:xfrm>
              <a:off x="10445873" y="3475836"/>
              <a:ext cx="2050887" cy="0"/>
            </a:xfrm>
            <a:prstGeom prst="line">
              <a:avLst/>
            </a:prstGeom>
            <a:ln w="56858" cap="flat">
              <a:solidFill>
                <a:srgbClr val="000000"/>
              </a:solidFill>
              <a:prstDash val="solid"/>
              <a:headEnd type="none" w="sm" len="sm"/>
              <a:tailEnd type="arrow" w="med" len="sm"/>
            </a:ln>
          </p:spPr>
        </p:sp>
        <p:sp>
          <p:nvSpPr>
            <p:cNvPr id="35" name="AutoShape 35"/>
            <p:cNvSpPr/>
            <p:nvPr/>
          </p:nvSpPr>
          <p:spPr>
            <a:xfrm>
              <a:off x="13213597" y="4057214"/>
              <a:ext cx="60297" cy="1275404"/>
            </a:xfrm>
            <a:prstGeom prst="line">
              <a:avLst/>
            </a:prstGeom>
            <a:ln w="56858" cap="flat">
              <a:solidFill>
                <a:srgbClr val="000000"/>
              </a:solidFill>
              <a:prstDash val="solid"/>
              <a:headEnd type="none" w="sm" len="sm"/>
              <a:tailEnd type="arrow" w="med" len="sm"/>
            </a:ln>
          </p:spPr>
        </p:sp>
        <p:sp>
          <p:nvSpPr>
            <p:cNvPr id="36" name="AutoShape 36"/>
            <p:cNvSpPr/>
            <p:nvPr/>
          </p:nvSpPr>
          <p:spPr>
            <a:xfrm>
              <a:off x="13101645" y="6584644"/>
              <a:ext cx="0" cy="918240"/>
            </a:xfrm>
            <a:prstGeom prst="line">
              <a:avLst/>
            </a:prstGeom>
            <a:ln w="56858" cap="flat">
              <a:solidFill>
                <a:srgbClr val="000000"/>
              </a:solidFill>
              <a:prstDash val="solid"/>
              <a:headEnd type="none" w="sm" len="sm"/>
              <a:tailEnd type="arrow" w="med" len="sm"/>
            </a:ln>
          </p:spPr>
        </p:sp>
        <p:sp>
          <p:nvSpPr>
            <p:cNvPr id="37" name="AutoShape 37"/>
            <p:cNvSpPr/>
            <p:nvPr/>
          </p:nvSpPr>
          <p:spPr>
            <a:xfrm>
              <a:off x="13706530" y="3475836"/>
              <a:ext cx="1994528" cy="0"/>
            </a:xfrm>
            <a:prstGeom prst="line">
              <a:avLst/>
            </a:prstGeom>
            <a:ln w="56858" cap="flat">
              <a:solidFill>
                <a:srgbClr val="000000"/>
              </a:solidFill>
              <a:prstDash val="solid"/>
              <a:headEnd type="none" w="sm" len="sm"/>
              <a:tailEnd type="arrow" w="med" len="sm"/>
            </a:ln>
          </p:spPr>
        </p:sp>
        <p:sp>
          <p:nvSpPr>
            <p:cNvPr id="38" name="AutoShape 38"/>
            <p:cNvSpPr/>
            <p:nvPr/>
          </p:nvSpPr>
          <p:spPr>
            <a:xfrm flipH="1" flipV="1">
              <a:off x="12932984" y="4101849"/>
              <a:ext cx="17943" cy="1141890"/>
            </a:xfrm>
            <a:prstGeom prst="line">
              <a:avLst/>
            </a:prstGeom>
            <a:ln w="56858" cap="flat">
              <a:solidFill>
                <a:srgbClr val="000000"/>
              </a:solidFill>
              <a:prstDash val="solid"/>
              <a:headEnd type="none" w="sm" len="sm"/>
              <a:tailEnd type="arrow" w="med" len="sm"/>
            </a:ln>
          </p:spPr>
        </p:sp>
        <p:sp>
          <p:nvSpPr>
            <p:cNvPr id="39" name="TextBox 39"/>
            <p:cNvSpPr txBox="1"/>
            <p:nvPr/>
          </p:nvSpPr>
          <p:spPr>
            <a:xfrm>
              <a:off x="11292631" y="4297521"/>
              <a:ext cx="1331356" cy="722922"/>
            </a:xfrm>
            <a:prstGeom prst="rect">
              <a:avLst/>
            </a:prstGeom>
          </p:spPr>
          <p:txBody>
            <a:bodyPr lIns="0" tIns="0" rIns="0" bIns="0" rtlCol="0" anchor="t">
              <a:spAutoFit/>
            </a:bodyPr>
            <a:lstStyle/>
            <a:p>
              <a:pPr algn="ctr">
                <a:lnSpc>
                  <a:spcPts val="2239"/>
                </a:lnSpc>
                <a:spcBef>
                  <a:spcPct val="0"/>
                </a:spcBef>
              </a:pPr>
              <a:r>
                <a:rPr lang="en-US" sz="1599" i="1" dirty="0" err="1">
                  <a:solidFill>
                    <a:srgbClr val="000000"/>
                  </a:solidFill>
                  <a:latin typeface=""/>
                  <a:ea typeface="Canva Sans Italics"/>
                  <a:cs typeface="Canva Sans Italics"/>
                  <a:sym typeface="Canva Sans Italics"/>
                </a:rPr>
                <a:t>Trả</a:t>
              </a:r>
              <a:r>
                <a:rPr lang="en-US" sz="1599" i="1" dirty="0">
                  <a:solidFill>
                    <a:srgbClr val="000000"/>
                  </a:solidFill>
                  <a:latin typeface=""/>
                  <a:ea typeface="Canva Sans Italics"/>
                  <a:cs typeface="Canva Sans Italics"/>
                  <a:sym typeface="Canva Sans Italics"/>
                </a:rPr>
                <a:t> </a:t>
              </a:r>
              <a:r>
                <a:rPr lang="en-US" sz="1599" i="1" dirty="0" err="1">
                  <a:solidFill>
                    <a:srgbClr val="000000"/>
                  </a:solidFill>
                  <a:latin typeface=""/>
                  <a:ea typeface="Canva Sans Italics"/>
                  <a:cs typeface="Canva Sans Italics"/>
                  <a:sym typeface="Canva Sans Italics"/>
                </a:rPr>
                <a:t>kết</a:t>
              </a:r>
              <a:r>
                <a:rPr lang="en-US" sz="1599" i="1" dirty="0">
                  <a:solidFill>
                    <a:srgbClr val="000000"/>
                  </a:solidFill>
                  <a:latin typeface=""/>
                  <a:ea typeface="Canva Sans Italics"/>
                  <a:cs typeface="Canva Sans Italics"/>
                  <a:sym typeface="Canva Sans Italics"/>
                </a:rPr>
                <a:t> </a:t>
              </a:r>
              <a:r>
                <a:rPr lang="en-US" sz="1599" i="1" dirty="0" err="1">
                  <a:solidFill>
                    <a:srgbClr val="000000"/>
                  </a:solidFill>
                  <a:latin typeface=""/>
                  <a:ea typeface="Canva Sans Italics"/>
                  <a:cs typeface="Canva Sans Italics"/>
                  <a:sym typeface="Canva Sans Italics"/>
                </a:rPr>
                <a:t>quả</a:t>
              </a:r>
              <a:endParaRPr lang="en-US" sz="1599" i="1" dirty="0">
                <a:solidFill>
                  <a:srgbClr val="000000"/>
                </a:solidFill>
                <a:latin typeface=""/>
                <a:ea typeface="Canva Sans Italics"/>
                <a:cs typeface="Canva Sans Italics"/>
                <a:sym typeface="Canva Sans Italics"/>
              </a:endParaRPr>
            </a:p>
          </p:txBody>
        </p:sp>
        <p:sp>
          <p:nvSpPr>
            <p:cNvPr id="40" name="TextBox 40"/>
            <p:cNvSpPr txBox="1"/>
            <p:nvPr/>
          </p:nvSpPr>
          <p:spPr>
            <a:xfrm>
              <a:off x="3322673" y="1976976"/>
              <a:ext cx="2107221" cy="722922"/>
            </a:xfrm>
            <a:prstGeom prst="rect">
              <a:avLst/>
            </a:prstGeom>
          </p:spPr>
          <p:txBody>
            <a:bodyPr lIns="0" tIns="0" rIns="0" bIns="0" rtlCol="0" anchor="t">
              <a:spAutoFit/>
            </a:bodyPr>
            <a:lstStyle/>
            <a:p>
              <a:pPr algn="ctr">
                <a:lnSpc>
                  <a:spcPts val="2239"/>
                </a:lnSpc>
                <a:spcBef>
                  <a:spcPct val="0"/>
                </a:spcBef>
              </a:pPr>
              <a:r>
                <a:rPr lang="en-US" sz="1599" i="1" dirty="0" err="1">
                  <a:solidFill>
                    <a:srgbClr val="000000"/>
                  </a:solidFill>
                  <a:latin typeface=""/>
                  <a:ea typeface="Canva Sans Italics"/>
                  <a:cs typeface="Canva Sans Italics"/>
                  <a:sym typeface="Canva Sans Italics"/>
                </a:rPr>
                <a:t>Lấy</a:t>
              </a:r>
              <a:r>
                <a:rPr lang="en-US" sz="1599" i="1" dirty="0">
                  <a:solidFill>
                    <a:srgbClr val="000000"/>
                  </a:solidFill>
                  <a:latin typeface=""/>
                  <a:ea typeface="Canva Sans Italics"/>
                  <a:cs typeface="Canva Sans Italics"/>
                  <a:sym typeface="Canva Sans Italics"/>
                </a:rPr>
                <a:t> </a:t>
              </a:r>
              <a:r>
                <a:rPr lang="en-US" sz="1599" i="1" dirty="0" err="1">
                  <a:solidFill>
                    <a:srgbClr val="000000"/>
                  </a:solidFill>
                  <a:latin typeface=""/>
                  <a:ea typeface="Canva Sans Italics"/>
                  <a:cs typeface="Canva Sans Italics"/>
                  <a:sym typeface="Canva Sans Italics"/>
                </a:rPr>
                <a:t>lịch</a:t>
              </a:r>
              <a:r>
                <a:rPr lang="en-US" sz="1599" i="1" dirty="0">
                  <a:solidFill>
                    <a:srgbClr val="000000"/>
                  </a:solidFill>
                  <a:latin typeface=""/>
                  <a:ea typeface="Canva Sans Italics"/>
                  <a:cs typeface="Canva Sans Italics"/>
                  <a:sym typeface="Canva Sans Italics"/>
                </a:rPr>
                <a:t> </a:t>
              </a:r>
              <a:r>
                <a:rPr lang="en-US" sz="1599" i="1" dirty="0" err="1">
                  <a:solidFill>
                    <a:srgbClr val="000000"/>
                  </a:solidFill>
                  <a:latin typeface=""/>
                  <a:ea typeface="Canva Sans Italics"/>
                  <a:cs typeface="Canva Sans Italics"/>
                  <a:sym typeface="Canva Sans Italics"/>
                </a:rPr>
                <a:t>sử</a:t>
              </a:r>
              <a:r>
                <a:rPr lang="en-US" sz="1599" i="1" dirty="0">
                  <a:solidFill>
                    <a:srgbClr val="000000"/>
                  </a:solidFill>
                  <a:latin typeface=""/>
                  <a:ea typeface="Canva Sans Italics"/>
                  <a:cs typeface="Canva Sans Italics"/>
                  <a:sym typeface="Canva Sans Italics"/>
                </a:rPr>
                <a:t> </a:t>
              </a:r>
              <a:r>
                <a:rPr lang="en-US" sz="1599" i="1" dirty="0" err="1">
                  <a:solidFill>
                    <a:srgbClr val="000000"/>
                  </a:solidFill>
                  <a:latin typeface=""/>
                  <a:ea typeface="Canva Sans Italics"/>
                  <a:cs typeface="Canva Sans Italics"/>
                  <a:sym typeface="Canva Sans Italics"/>
                </a:rPr>
                <a:t>trò</a:t>
              </a:r>
              <a:r>
                <a:rPr lang="en-US" sz="1599" i="1" dirty="0">
                  <a:solidFill>
                    <a:srgbClr val="000000"/>
                  </a:solidFill>
                  <a:latin typeface=""/>
                  <a:ea typeface="Canva Sans Italics"/>
                  <a:cs typeface="Canva Sans Italics"/>
                  <a:sym typeface="Canva Sans Italics"/>
                </a:rPr>
                <a:t> </a:t>
              </a:r>
              <a:r>
                <a:rPr lang="en-US" sz="1599" i="1" dirty="0" err="1">
                  <a:solidFill>
                    <a:srgbClr val="000000"/>
                  </a:solidFill>
                  <a:latin typeface=""/>
                  <a:ea typeface="Canva Sans Italics"/>
                  <a:cs typeface="Canva Sans Italics"/>
                  <a:sym typeface="Canva Sans Italics"/>
                </a:rPr>
                <a:t>chuyện</a:t>
              </a:r>
              <a:endParaRPr lang="en-US" sz="1599" i="1" dirty="0">
                <a:solidFill>
                  <a:srgbClr val="000000"/>
                </a:solidFill>
                <a:latin typeface=""/>
                <a:ea typeface="Canva Sans Italics"/>
                <a:cs typeface="Canva Sans Italics"/>
                <a:sym typeface="Canva Sans Italics"/>
              </a:endParaRPr>
            </a:p>
          </p:txBody>
        </p:sp>
      </p:grpSp>
      <p:sp>
        <p:nvSpPr>
          <p:cNvPr id="41" name="TextBox 41"/>
          <p:cNvSpPr txBox="1"/>
          <p:nvPr/>
        </p:nvSpPr>
        <p:spPr>
          <a:xfrm>
            <a:off x="1028700" y="1593214"/>
            <a:ext cx="13915105"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3.2. </a:t>
            </a:r>
            <a:r>
              <a:rPr lang="en-US" sz="3999" b="1" dirty="0" err="1">
                <a:solidFill>
                  <a:srgbClr val="0C1D4B"/>
                </a:solidFill>
                <a:latin typeface="Montserrat Heavy"/>
                <a:ea typeface="Montserrat Heavy"/>
                <a:cs typeface="Montserrat Heavy"/>
                <a:sym typeface="Montserrat Heavy"/>
              </a:rPr>
              <a:t>Mô</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hình</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tổng</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quan</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của</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hệ</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thống</a:t>
            </a:r>
            <a:r>
              <a:rPr lang="en-US" sz="3999" b="1" dirty="0">
                <a:solidFill>
                  <a:srgbClr val="0C1D4B"/>
                </a:solidFill>
                <a:latin typeface="Montserrat Heavy"/>
                <a:ea typeface="Montserrat Heavy"/>
                <a:cs typeface="Montserrat Heavy"/>
                <a:sym typeface="Montserrat Heavy"/>
              </a:rPr>
              <a:t> chatbot</a:t>
            </a:r>
          </a:p>
        </p:txBody>
      </p:sp>
      <p:sp>
        <p:nvSpPr>
          <p:cNvPr id="42" name="TextBox 42"/>
          <p:cNvSpPr txBox="1"/>
          <p:nvPr/>
        </p:nvSpPr>
        <p:spPr>
          <a:xfrm>
            <a:off x="5835180" y="9406580"/>
            <a:ext cx="6617639" cy="365125"/>
          </a:xfrm>
          <a:prstGeom prst="rect">
            <a:avLst/>
          </a:prstGeom>
        </p:spPr>
        <p:txBody>
          <a:bodyPr lIns="0" tIns="0" rIns="0" bIns="0" rtlCol="0" anchor="t">
            <a:spAutoFit/>
          </a:bodyPr>
          <a:lstStyle/>
          <a:p>
            <a:pPr algn="ctr">
              <a:lnSpc>
                <a:spcPts val="3199"/>
              </a:lnSpc>
            </a:pPr>
            <a:r>
              <a:rPr lang="en-US" sz="1999" b="1" i="1">
                <a:solidFill>
                  <a:srgbClr val="0C1D4B"/>
                </a:solidFill>
                <a:latin typeface="Montserrat Bold Italics"/>
                <a:ea typeface="Montserrat Bold Italics"/>
                <a:cs typeface="Montserrat Bold Italics"/>
                <a:sym typeface="Montserrat Bold Italics"/>
              </a:rPr>
              <a:t>Hành trình của một tin nhắn khi đi qua hệ thống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65" name="TextBox 65"/>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20</a:t>
            </a:r>
          </a:p>
        </p:txBody>
      </p:sp>
      <p:sp>
        <p:nvSpPr>
          <p:cNvPr id="66" name="TextBox 66"/>
          <p:cNvSpPr txBox="1"/>
          <p:nvPr/>
        </p:nvSpPr>
        <p:spPr>
          <a:xfrm>
            <a:off x="1028700" y="1593214"/>
            <a:ext cx="13915105"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3.3. Đồ thị của hệ thống</a:t>
            </a:r>
          </a:p>
        </p:txBody>
      </p:sp>
      <p:pic>
        <p:nvPicPr>
          <p:cNvPr id="68" name="Picture 67">
            <a:extLst>
              <a:ext uri="{FF2B5EF4-FFF2-40B4-BE49-F238E27FC236}">
                <a16:creationId xmlns:a16="http://schemas.microsoft.com/office/drawing/2014/main" id="{27BDD147-EF24-4163-8649-D7B2CAF3D5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7325" y="2361633"/>
            <a:ext cx="15878175" cy="68961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21</a:t>
            </a:r>
          </a:p>
        </p:txBody>
      </p:sp>
      <p:sp>
        <p:nvSpPr>
          <p:cNvPr id="13" name="TextBox 13"/>
          <p:cNvSpPr txBox="1"/>
          <p:nvPr/>
        </p:nvSpPr>
        <p:spPr>
          <a:xfrm>
            <a:off x="1028700" y="2337434"/>
            <a:ext cx="6957553" cy="768985"/>
          </a:xfrm>
          <a:prstGeom prst="rect">
            <a:avLst/>
          </a:prstGeom>
        </p:spPr>
        <p:txBody>
          <a:bodyPr lIns="0" tIns="0" rIns="0" bIns="0" rtlCol="0" anchor="t">
            <a:spAutoFit/>
          </a:bodyPr>
          <a:lstStyle/>
          <a:p>
            <a:pPr algn="just">
              <a:lnSpc>
                <a:spcPts val="6799"/>
              </a:lnSpc>
            </a:pPr>
            <a:r>
              <a:rPr lang="en-US" sz="3399" b="1">
                <a:solidFill>
                  <a:srgbClr val="0C1D4B"/>
                </a:solidFill>
                <a:latin typeface="Montserrat Bold"/>
                <a:ea typeface="Montserrat Bold"/>
                <a:cs typeface="Montserrat Bold"/>
                <a:sym typeface="Montserrat Bold"/>
              </a:rPr>
              <a:t>Node Summary_Chat_History</a:t>
            </a:r>
          </a:p>
        </p:txBody>
      </p:sp>
      <p:sp>
        <p:nvSpPr>
          <p:cNvPr id="14" name="TextBox 14"/>
          <p:cNvSpPr txBox="1"/>
          <p:nvPr/>
        </p:nvSpPr>
        <p:spPr>
          <a:xfrm>
            <a:off x="1028700" y="3359949"/>
            <a:ext cx="16230600" cy="1114425"/>
          </a:xfrm>
          <a:prstGeom prst="rect">
            <a:avLst/>
          </a:prstGeom>
        </p:spPr>
        <p:txBody>
          <a:bodyPr lIns="0" tIns="0" rIns="0" bIns="0" rtlCol="0" anchor="t">
            <a:spAutoFit/>
          </a:bodyPr>
          <a:lstStyle/>
          <a:p>
            <a:pPr algn="just">
              <a:lnSpc>
                <a:spcPts val="4500"/>
              </a:lnSpc>
            </a:pPr>
            <a:r>
              <a:rPr lang="en-US" sz="3000">
                <a:solidFill>
                  <a:srgbClr val="0C1D4B"/>
                </a:solidFill>
                <a:latin typeface="Montserrat"/>
                <a:ea typeface="Montserrat"/>
                <a:cs typeface="Montserrat"/>
                <a:sym typeface="Montserrat"/>
              </a:rPr>
              <a:t>Node này chịu trách nhiệm tóm tắt lịch sử chat và câu hỏi mới nhất thành một câu truy vấn duy nhất</a:t>
            </a:r>
          </a:p>
        </p:txBody>
      </p:sp>
      <p:grpSp>
        <p:nvGrpSpPr>
          <p:cNvPr id="15" name="Group 15"/>
          <p:cNvGrpSpPr/>
          <p:nvPr/>
        </p:nvGrpSpPr>
        <p:grpSpPr>
          <a:xfrm>
            <a:off x="1552552" y="5143500"/>
            <a:ext cx="15182896" cy="3235491"/>
            <a:chOff x="0" y="0"/>
            <a:chExt cx="20243861" cy="4313988"/>
          </a:xfrm>
        </p:grpSpPr>
        <p:sp>
          <p:nvSpPr>
            <p:cNvPr id="16" name="TextBox 16"/>
            <p:cNvSpPr txBox="1"/>
            <p:nvPr/>
          </p:nvSpPr>
          <p:spPr>
            <a:xfrm>
              <a:off x="252698" y="3759633"/>
              <a:ext cx="18921107" cy="554355"/>
            </a:xfrm>
            <a:prstGeom prst="rect">
              <a:avLst/>
            </a:prstGeom>
          </p:spPr>
          <p:txBody>
            <a:bodyPr lIns="0" tIns="0" rIns="0" bIns="0" rtlCol="0" anchor="t">
              <a:spAutoFit/>
            </a:bodyPr>
            <a:lstStyle/>
            <a:p>
              <a:pPr algn="just">
                <a:lnSpc>
                  <a:spcPts val="3600"/>
                </a:lnSpc>
              </a:pPr>
              <a:r>
                <a:rPr lang="en-US" sz="2400" b="1" i="1" dirty="0">
                  <a:solidFill>
                    <a:srgbClr val="0C1D4B"/>
                  </a:solidFill>
                  <a:latin typeface="Montserrat Bold Italics"/>
                  <a:ea typeface="Montserrat Bold Italics"/>
                  <a:cs typeface="Montserrat Bold Italics"/>
                  <a:sym typeface="Montserrat Bold Italics"/>
                </a:rPr>
                <a:t>Khi </a:t>
              </a:r>
              <a:r>
                <a:rPr lang="en-US" sz="2400" b="1" i="1" dirty="0" err="1">
                  <a:solidFill>
                    <a:srgbClr val="0C1D4B"/>
                  </a:solidFill>
                  <a:latin typeface="Montserrat Bold Italics"/>
                  <a:ea typeface="Montserrat Bold Italics"/>
                  <a:cs typeface="Montserrat Bold Italics"/>
                  <a:sym typeface="Montserrat Bold Italics"/>
                </a:rPr>
                <a:t>làm</a:t>
              </a:r>
              <a:r>
                <a:rPr lang="en-US" sz="2400" b="1" i="1" dirty="0">
                  <a:solidFill>
                    <a:srgbClr val="0C1D4B"/>
                  </a:solidFill>
                  <a:latin typeface="Montserrat Bold Italics"/>
                  <a:ea typeface="Montserrat Bold Italics"/>
                  <a:cs typeface="Montserrat Bold Italics"/>
                  <a:sym typeface="Montserrat Bold Italics"/>
                </a:rPr>
                <a:t> </a:t>
              </a:r>
              <a:r>
                <a:rPr lang="en-US" sz="2400" b="1" i="1" dirty="0" err="1">
                  <a:solidFill>
                    <a:srgbClr val="0C1D4B"/>
                  </a:solidFill>
                  <a:latin typeface="Montserrat Bold Italics"/>
                  <a:ea typeface="Montserrat Bold Italics"/>
                  <a:cs typeface="Montserrat Bold Italics"/>
                  <a:sym typeface="Montserrat Bold Italics"/>
                </a:rPr>
                <a:t>việc</a:t>
              </a:r>
              <a:r>
                <a:rPr lang="en-US" sz="2400" b="1" i="1" dirty="0">
                  <a:solidFill>
                    <a:srgbClr val="0C1D4B"/>
                  </a:solidFill>
                  <a:latin typeface="Montserrat Bold Italics"/>
                  <a:ea typeface="Montserrat Bold Italics"/>
                  <a:cs typeface="Montserrat Bold Italics"/>
                  <a:sym typeface="Montserrat Bold Italics"/>
                </a:rPr>
                <a:t> </a:t>
              </a:r>
              <a:r>
                <a:rPr lang="en-US" sz="2400" b="1" i="1" dirty="0" err="1">
                  <a:solidFill>
                    <a:srgbClr val="0C1D4B"/>
                  </a:solidFill>
                  <a:latin typeface="Montserrat Bold Italics"/>
                  <a:ea typeface="Montserrat Bold Italics"/>
                  <a:cs typeface="Montserrat Bold Italics"/>
                  <a:sym typeface="Montserrat Bold Italics"/>
                </a:rPr>
                <a:t>với</a:t>
              </a:r>
              <a:r>
                <a:rPr lang="en-US" sz="2400" b="1" i="1" dirty="0">
                  <a:solidFill>
                    <a:srgbClr val="0C1D4B"/>
                  </a:solidFill>
                  <a:latin typeface="Montserrat Bold Italics"/>
                  <a:ea typeface="Montserrat Bold Italics"/>
                  <a:cs typeface="Montserrat Bold Italics"/>
                  <a:sym typeface="Montserrat Bold Italics"/>
                </a:rPr>
                <a:t> LLMs </a:t>
              </a:r>
              <a:r>
                <a:rPr lang="en-US" sz="2400" b="1" i="1" dirty="0" err="1">
                  <a:solidFill>
                    <a:srgbClr val="0C1D4B"/>
                  </a:solidFill>
                  <a:latin typeface="Montserrat Bold Italics"/>
                  <a:ea typeface="Montserrat Bold Italics"/>
                  <a:cs typeface="Montserrat Bold Italics"/>
                  <a:sym typeface="Montserrat Bold Italics"/>
                </a:rPr>
                <a:t>là</a:t>
              </a:r>
              <a:r>
                <a:rPr lang="en-US" sz="2400" b="1" i="1" dirty="0">
                  <a:solidFill>
                    <a:srgbClr val="0C1D4B"/>
                  </a:solidFill>
                  <a:latin typeface="Montserrat Bold Italics"/>
                  <a:ea typeface="Montserrat Bold Italics"/>
                  <a:cs typeface="Montserrat Bold Italics"/>
                  <a:sym typeface="Montserrat Bold Italics"/>
                </a:rPr>
                <a:t> ta </a:t>
              </a:r>
              <a:r>
                <a:rPr lang="en-US" sz="2400" b="1" i="1" dirty="0" err="1">
                  <a:solidFill>
                    <a:srgbClr val="0C1D4B"/>
                  </a:solidFill>
                  <a:latin typeface="Montserrat Bold Italics"/>
                  <a:ea typeface="Montserrat Bold Italics"/>
                  <a:cs typeface="Montserrat Bold Italics"/>
                  <a:sym typeface="Montserrat Bold Italics"/>
                </a:rPr>
                <a:t>đang</a:t>
              </a:r>
              <a:r>
                <a:rPr lang="en-US" sz="2400" b="1" i="1" dirty="0">
                  <a:solidFill>
                    <a:srgbClr val="0C1D4B"/>
                  </a:solidFill>
                  <a:latin typeface="Montserrat Bold Italics"/>
                  <a:ea typeface="Montserrat Bold Italics"/>
                  <a:cs typeface="Montserrat Bold Italics"/>
                  <a:sym typeface="Montserrat Bold Italics"/>
                </a:rPr>
                <a:t> </a:t>
              </a:r>
              <a:r>
                <a:rPr lang="en-US" sz="2400" b="1" i="1" dirty="0" err="1">
                  <a:solidFill>
                    <a:srgbClr val="0C1D4B"/>
                  </a:solidFill>
                  <a:latin typeface="Montserrat Bold Italics"/>
                  <a:ea typeface="Montserrat Bold Italics"/>
                  <a:cs typeface="Montserrat Bold Italics"/>
                  <a:sym typeface="Montserrat Bold Italics"/>
                </a:rPr>
                <a:t>làm</a:t>
              </a:r>
              <a:r>
                <a:rPr lang="en-US" sz="2400" b="1" i="1" dirty="0">
                  <a:solidFill>
                    <a:srgbClr val="0C1D4B"/>
                  </a:solidFill>
                  <a:latin typeface="Montserrat Bold Italics"/>
                  <a:ea typeface="Montserrat Bold Italics"/>
                  <a:cs typeface="Montserrat Bold Italics"/>
                  <a:sym typeface="Montserrat Bold Italics"/>
                </a:rPr>
                <a:t> </a:t>
              </a:r>
              <a:r>
                <a:rPr lang="en-US" sz="2400" b="1" i="1" dirty="0" err="1">
                  <a:solidFill>
                    <a:srgbClr val="0C1D4B"/>
                  </a:solidFill>
                  <a:latin typeface="Montserrat Bold Italics"/>
                  <a:ea typeface="Montserrat Bold Italics"/>
                  <a:cs typeface="Montserrat Bold Italics"/>
                  <a:sym typeface="Montserrat Bold Italics"/>
                </a:rPr>
                <a:t>việc</a:t>
              </a:r>
              <a:r>
                <a:rPr lang="en-US" sz="2400" b="1" i="1" dirty="0">
                  <a:solidFill>
                    <a:srgbClr val="0C1D4B"/>
                  </a:solidFill>
                  <a:latin typeface="Montserrat Bold Italics"/>
                  <a:ea typeface="Montserrat Bold Italics"/>
                  <a:cs typeface="Montserrat Bold Italics"/>
                  <a:sym typeface="Montserrat Bold Italics"/>
                </a:rPr>
                <a:t> </a:t>
              </a:r>
              <a:r>
                <a:rPr lang="en-US" sz="2400" b="1" i="1" dirty="0" err="1">
                  <a:solidFill>
                    <a:srgbClr val="0C1D4B"/>
                  </a:solidFill>
                  <a:latin typeface="Montserrat Bold Italics"/>
                  <a:ea typeface="Montserrat Bold Italics"/>
                  <a:cs typeface="Montserrat Bold Italics"/>
                  <a:sym typeface="Montserrat Bold Italics"/>
                </a:rPr>
                <a:t>với</a:t>
              </a:r>
              <a:r>
                <a:rPr lang="en-US" sz="2400" b="1" i="1" dirty="0">
                  <a:solidFill>
                    <a:srgbClr val="0C1D4B"/>
                  </a:solidFill>
                  <a:latin typeface="Montserrat Bold Italics"/>
                  <a:ea typeface="Montserrat Bold Italics"/>
                  <a:cs typeface="Montserrat Bold Italics"/>
                  <a:sym typeface="Montserrat Bold Italics"/>
                </a:rPr>
                <a:t> PROMPT </a:t>
              </a:r>
              <a:r>
                <a:rPr lang="en-US" sz="2400" b="1" i="1" dirty="0" err="1">
                  <a:solidFill>
                    <a:srgbClr val="0C1D4B"/>
                  </a:solidFill>
                  <a:latin typeface="Montserrat Bold Italics"/>
                  <a:ea typeface="Montserrat Bold Italics"/>
                  <a:cs typeface="Montserrat Bold Italics"/>
                  <a:sym typeface="Montserrat Bold Italics"/>
                </a:rPr>
                <a:t>để</a:t>
              </a:r>
              <a:r>
                <a:rPr lang="en-US" sz="2400" b="1" i="1" dirty="0">
                  <a:solidFill>
                    <a:srgbClr val="0C1D4B"/>
                  </a:solidFill>
                  <a:latin typeface="Montserrat Bold Italics"/>
                  <a:ea typeface="Montserrat Bold Italics"/>
                  <a:cs typeface="Montserrat Bold Italics"/>
                  <a:sym typeface="Montserrat Bold Italics"/>
                </a:rPr>
                <a:t> </a:t>
              </a:r>
              <a:r>
                <a:rPr lang="en-US" sz="2400" b="1" i="1" dirty="0" err="1">
                  <a:solidFill>
                    <a:srgbClr val="0C1D4B"/>
                  </a:solidFill>
                  <a:latin typeface="Montserrat Bold Italics"/>
                  <a:ea typeface="Montserrat Bold Italics"/>
                  <a:cs typeface="Montserrat Bold Italics"/>
                  <a:sym typeface="Montserrat Bold Italics"/>
                </a:rPr>
                <a:t>cho</a:t>
              </a:r>
              <a:r>
                <a:rPr lang="en-US" sz="2400" b="1" i="1" dirty="0">
                  <a:solidFill>
                    <a:srgbClr val="0C1D4B"/>
                  </a:solidFill>
                  <a:latin typeface="Montserrat Bold Italics"/>
                  <a:ea typeface="Montserrat Bold Italics"/>
                  <a:cs typeface="Montserrat Bold Italics"/>
                  <a:sym typeface="Montserrat Bold Italics"/>
                </a:rPr>
                <a:t> </a:t>
              </a:r>
              <a:r>
                <a:rPr lang="en-US" sz="2400" b="1" i="1" dirty="0" err="1">
                  <a:solidFill>
                    <a:srgbClr val="0C1D4B"/>
                  </a:solidFill>
                  <a:latin typeface="Montserrat Bold Italics"/>
                  <a:ea typeface="Montserrat Bold Italics"/>
                  <a:cs typeface="Montserrat Bold Italics"/>
                  <a:sym typeface="Montserrat Bold Italics"/>
                </a:rPr>
                <a:t>ra</a:t>
              </a:r>
              <a:r>
                <a:rPr lang="en-US" sz="2400" b="1" i="1" dirty="0">
                  <a:solidFill>
                    <a:srgbClr val="0C1D4B"/>
                  </a:solidFill>
                  <a:latin typeface="Montserrat Bold Italics"/>
                  <a:ea typeface="Montserrat Bold Italics"/>
                  <a:cs typeface="Montserrat Bold Italics"/>
                  <a:sym typeface="Montserrat Bold Italics"/>
                </a:rPr>
                <a:t> </a:t>
              </a:r>
              <a:r>
                <a:rPr lang="en-US" sz="2400" b="1" i="1" dirty="0" err="1">
                  <a:solidFill>
                    <a:srgbClr val="0C1D4B"/>
                  </a:solidFill>
                  <a:latin typeface="Montserrat Bold Italics"/>
                  <a:ea typeface="Montserrat Bold Italics"/>
                  <a:cs typeface="Montserrat Bold Italics"/>
                  <a:sym typeface="Montserrat Bold Italics"/>
                </a:rPr>
                <a:t>đầu</a:t>
              </a:r>
              <a:r>
                <a:rPr lang="en-US" sz="2400" b="1" i="1" dirty="0">
                  <a:solidFill>
                    <a:srgbClr val="0C1D4B"/>
                  </a:solidFill>
                  <a:latin typeface="Montserrat Bold Italics"/>
                  <a:ea typeface="Montserrat Bold Italics"/>
                  <a:cs typeface="Montserrat Bold Italics"/>
                  <a:sym typeface="Montserrat Bold Italics"/>
                </a:rPr>
                <a:t> </a:t>
              </a:r>
              <a:r>
                <a:rPr lang="en-US" sz="2400" b="1" i="1" dirty="0" err="1">
                  <a:solidFill>
                    <a:srgbClr val="0C1D4B"/>
                  </a:solidFill>
                  <a:latin typeface="Montserrat Bold Italics"/>
                  <a:ea typeface="Montserrat Bold Italics"/>
                  <a:cs typeface="Montserrat Bold Italics"/>
                  <a:sym typeface="Montserrat Bold Italics"/>
                </a:rPr>
                <a:t>ra</a:t>
              </a:r>
              <a:r>
                <a:rPr lang="en-US" sz="2400" b="1" i="1" dirty="0">
                  <a:solidFill>
                    <a:srgbClr val="0C1D4B"/>
                  </a:solidFill>
                  <a:latin typeface="Montserrat Bold Italics"/>
                  <a:ea typeface="Montserrat Bold Italics"/>
                  <a:cs typeface="Montserrat Bold Italics"/>
                  <a:sym typeface="Montserrat Bold Italics"/>
                </a:rPr>
                <a:t> </a:t>
              </a:r>
              <a:r>
                <a:rPr lang="en-US" sz="2400" b="1" i="1" dirty="0" err="1">
                  <a:solidFill>
                    <a:srgbClr val="0C1D4B"/>
                  </a:solidFill>
                  <a:latin typeface="Montserrat Bold Italics"/>
                  <a:ea typeface="Montserrat Bold Italics"/>
                  <a:cs typeface="Montserrat Bold Italics"/>
                  <a:sym typeface="Montserrat Bold Italics"/>
                </a:rPr>
                <a:t>mong</a:t>
              </a:r>
              <a:r>
                <a:rPr lang="en-US" sz="2400" b="1" i="1" dirty="0">
                  <a:solidFill>
                    <a:srgbClr val="0C1D4B"/>
                  </a:solidFill>
                  <a:latin typeface="Montserrat Bold Italics"/>
                  <a:ea typeface="Montserrat Bold Italics"/>
                  <a:cs typeface="Montserrat Bold Italics"/>
                  <a:sym typeface="Montserrat Bold Italics"/>
                </a:rPr>
                <a:t> </a:t>
              </a:r>
              <a:r>
                <a:rPr lang="en-US" sz="2400" b="1" i="1" dirty="0" err="1">
                  <a:solidFill>
                    <a:srgbClr val="0C1D4B"/>
                  </a:solidFill>
                  <a:latin typeface="Montserrat Bold Italics"/>
                  <a:ea typeface="Montserrat Bold Italics"/>
                  <a:cs typeface="Montserrat Bold Italics"/>
                  <a:sym typeface="Montserrat Bold Italics"/>
                </a:rPr>
                <a:t>muốn</a:t>
              </a:r>
              <a:endParaRPr lang="en-US" sz="2400" b="1" i="1" dirty="0">
                <a:solidFill>
                  <a:srgbClr val="0C1D4B"/>
                </a:solidFill>
                <a:latin typeface="Montserrat Bold Italics"/>
                <a:ea typeface="Montserrat Bold Italics"/>
                <a:cs typeface="Montserrat Bold Italics"/>
                <a:sym typeface="Montserrat Bold Italics"/>
              </a:endParaRPr>
            </a:p>
          </p:txBody>
        </p:sp>
        <p:sp>
          <p:nvSpPr>
            <p:cNvPr id="17" name="Freeform 17"/>
            <p:cNvSpPr/>
            <p:nvPr/>
          </p:nvSpPr>
          <p:spPr>
            <a:xfrm>
              <a:off x="7377784" y="153219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11768375" y="1450016"/>
              <a:ext cx="1500501" cy="1552911"/>
            </a:xfrm>
            <a:custGeom>
              <a:avLst/>
              <a:gdLst/>
              <a:ahLst/>
              <a:cxnLst/>
              <a:rect l="l" t="t" r="r" b="b"/>
              <a:pathLst>
                <a:path w="1500501" h="1552911">
                  <a:moveTo>
                    <a:pt x="0" y="0"/>
                  </a:moveTo>
                  <a:lnTo>
                    <a:pt x="1500501" y="0"/>
                  </a:lnTo>
                  <a:lnTo>
                    <a:pt x="1500501" y="1552912"/>
                  </a:lnTo>
                  <a:lnTo>
                    <a:pt x="0" y="15529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9" name="Group 19"/>
            <p:cNvGrpSpPr/>
            <p:nvPr/>
          </p:nvGrpSpPr>
          <p:grpSpPr>
            <a:xfrm>
              <a:off x="15665602" y="1414036"/>
              <a:ext cx="4578260" cy="1624872"/>
              <a:chOff x="0" y="0"/>
              <a:chExt cx="829615" cy="294439"/>
            </a:xfrm>
          </p:grpSpPr>
          <p:sp>
            <p:nvSpPr>
              <p:cNvPr id="20" name="Freeform 20"/>
              <p:cNvSpPr/>
              <p:nvPr/>
            </p:nvSpPr>
            <p:spPr>
              <a:xfrm>
                <a:off x="0" y="0"/>
                <a:ext cx="829615" cy="294439"/>
              </a:xfrm>
              <a:custGeom>
                <a:avLst/>
                <a:gdLst/>
                <a:ahLst/>
                <a:cxnLst/>
                <a:rect l="l" t="t" r="r" b="b"/>
                <a:pathLst>
                  <a:path w="829615" h="294439">
                    <a:moveTo>
                      <a:pt x="87933" y="0"/>
                    </a:moveTo>
                    <a:lnTo>
                      <a:pt x="741682" y="0"/>
                    </a:lnTo>
                    <a:cubicBezTo>
                      <a:pt x="765003" y="0"/>
                      <a:pt x="787369" y="9264"/>
                      <a:pt x="803860" y="25755"/>
                    </a:cubicBezTo>
                    <a:cubicBezTo>
                      <a:pt x="820351" y="42246"/>
                      <a:pt x="829615" y="64612"/>
                      <a:pt x="829615" y="87933"/>
                    </a:cubicBezTo>
                    <a:lnTo>
                      <a:pt x="829615" y="206506"/>
                    </a:lnTo>
                    <a:cubicBezTo>
                      <a:pt x="829615" y="255070"/>
                      <a:pt x="790246" y="294439"/>
                      <a:pt x="741682" y="294439"/>
                    </a:cubicBezTo>
                    <a:lnTo>
                      <a:pt x="87933" y="294439"/>
                    </a:lnTo>
                    <a:cubicBezTo>
                      <a:pt x="39369" y="294439"/>
                      <a:pt x="0" y="255070"/>
                      <a:pt x="0" y="206506"/>
                    </a:cubicBezTo>
                    <a:lnTo>
                      <a:pt x="0" y="87933"/>
                    </a:lnTo>
                    <a:cubicBezTo>
                      <a:pt x="0" y="39369"/>
                      <a:pt x="39369" y="0"/>
                      <a:pt x="87933" y="0"/>
                    </a:cubicBezTo>
                    <a:close/>
                  </a:path>
                </a:pathLst>
              </a:custGeom>
              <a:solidFill>
                <a:srgbClr val="000000">
                  <a:alpha val="0"/>
                </a:srgbClr>
              </a:solidFill>
              <a:ln w="19050" cap="rnd">
                <a:solidFill>
                  <a:srgbClr val="000000"/>
                </a:solidFill>
                <a:prstDash val="solid"/>
                <a:round/>
              </a:ln>
            </p:spPr>
          </p:sp>
          <p:sp>
            <p:nvSpPr>
              <p:cNvPr id="21" name="TextBox 21"/>
              <p:cNvSpPr txBox="1"/>
              <p:nvPr/>
            </p:nvSpPr>
            <p:spPr>
              <a:xfrm>
                <a:off x="0" y="-47625"/>
                <a:ext cx="829615" cy="342064"/>
              </a:xfrm>
              <a:prstGeom prst="rect">
                <a:avLst/>
              </a:prstGeom>
            </p:spPr>
            <p:txBody>
              <a:bodyPr lIns="70439" tIns="70439" rIns="70439" bIns="70439" rtlCol="0" anchor="ctr"/>
              <a:lstStyle/>
              <a:p>
                <a:pPr algn="ctr">
                  <a:lnSpc>
                    <a:spcPts val="3219"/>
                  </a:lnSpc>
                </a:pPr>
                <a:r>
                  <a:rPr lang="en-US" sz="2299" b="1">
                    <a:solidFill>
                      <a:srgbClr val="000000"/>
                    </a:solidFill>
                    <a:latin typeface="Montserrat Bold"/>
                    <a:ea typeface="Montserrat Bold"/>
                    <a:cs typeface="Montserrat Bold"/>
                    <a:sym typeface="Montserrat Bold"/>
                  </a:rPr>
                  <a:t>Câu truy vấn tóm tắt</a:t>
                </a:r>
              </a:p>
            </p:txBody>
          </p:sp>
        </p:grpSp>
        <p:sp>
          <p:nvSpPr>
            <p:cNvPr id="22" name="TextBox 22"/>
            <p:cNvSpPr txBox="1"/>
            <p:nvPr/>
          </p:nvSpPr>
          <p:spPr>
            <a:xfrm>
              <a:off x="0" y="1657909"/>
              <a:ext cx="4713540" cy="1099026"/>
            </a:xfrm>
            <a:prstGeom prst="rect">
              <a:avLst/>
            </a:prstGeom>
          </p:spPr>
          <p:txBody>
            <a:bodyPr lIns="0" tIns="0" rIns="0" bIns="0" rtlCol="0" anchor="t">
              <a:spAutoFit/>
            </a:bodyPr>
            <a:lstStyle/>
            <a:p>
              <a:pPr marL="523223" lvl="1" indent="-261612" algn="l">
                <a:lnSpc>
                  <a:spcPts val="3392"/>
                </a:lnSpc>
                <a:spcBef>
                  <a:spcPct val="0"/>
                </a:spcBef>
                <a:buFont typeface="Arial"/>
                <a:buChar char="•"/>
              </a:pPr>
              <a:r>
                <a:rPr lang="en-US" sz="2423" b="1">
                  <a:solidFill>
                    <a:srgbClr val="000000"/>
                  </a:solidFill>
                  <a:latin typeface="Montserrat Bold"/>
                  <a:ea typeface="Montserrat Bold"/>
                  <a:cs typeface="Montserrat Bold"/>
                  <a:sym typeface="Montserrat Bold"/>
                </a:rPr>
                <a:t>Lịch sử chat</a:t>
              </a:r>
            </a:p>
            <a:p>
              <a:pPr marL="523223" lvl="1" indent="-261612" algn="l">
                <a:lnSpc>
                  <a:spcPts val="3392"/>
                </a:lnSpc>
                <a:spcBef>
                  <a:spcPct val="0"/>
                </a:spcBef>
                <a:buFont typeface="Arial"/>
                <a:buChar char="•"/>
              </a:pPr>
              <a:r>
                <a:rPr lang="en-US" sz="2423" b="1">
                  <a:solidFill>
                    <a:srgbClr val="000000"/>
                  </a:solidFill>
                  <a:latin typeface="Montserrat Bold"/>
                  <a:ea typeface="Montserrat Bold"/>
                  <a:cs typeface="Montserrat Bold"/>
                  <a:sym typeface="Montserrat Bold"/>
                </a:rPr>
                <a:t>Câu hỏi mới nhất</a:t>
              </a:r>
            </a:p>
          </p:txBody>
        </p:sp>
        <p:sp>
          <p:nvSpPr>
            <p:cNvPr id="23" name="AutoShape 23"/>
            <p:cNvSpPr/>
            <p:nvPr/>
          </p:nvSpPr>
          <p:spPr>
            <a:xfrm>
              <a:off x="4713540" y="2226472"/>
              <a:ext cx="2664244" cy="27112"/>
            </a:xfrm>
            <a:prstGeom prst="line">
              <a:avLst/>
            </a:prstGeom>
            <a:ln w="50800" cap="flat">
              <a:solidFill>
                <a:srgbClr val="0C0C6B"/>
              </a:solidFill>
              <a:prstDash val="solid"/>
              <a:headEnd type="none" w="sm" len="sm"/>
              <a:tailEnd type="arrow" w="med" len="sm"/>
            </a:ln>
          </p:spPr>
        </p:sp>
        <p:sp>
          <p:nvSpPr>
            <p:cNvPr id="24" name="AutoShape 24"/>
            <p:cNvSpPr/>
            <p:nvPr/>
          </p:nvSpPr>
          <p:spPr>
            <a:xfrm flipV="1">
              <a:off x="8846264" y="2226472"/>
              <a:ext cx="2922111" cy="27112"/>
            </a:xfrm>
            <a:prstGeom prst="line">
              <a:avLst/>
            </a:prstGeom>
            <a:ln w="50800" cap="flat">
              <a:solidFill>
                <a:srgbClr val="0C0C6B"/>
              </a:solidFill>
              <a:prstDash val="solid"/>
              <a:headEnd type="none" w="sm" len="sm"/>
              <a:tailEnd type="arrow" w="med" len="sm"/>
            </a:ln>
          </p:spPr>
        </p:sp>
        <p:sp>
          <p:nvSpPr>
            <p:cNvPr id="25" name="AutoShape 25"/>
            <p:cNvSpPr/>
            <p:nvPr/>
          </p:nvSpPr>
          <p:spPr>
            <a:xfrm>
              <a:off x="13268876" y="2226472"/>
              <a:ext cx="2396726" cy="0"/>
            </a:xfrm>
            <a:prstGeom prst="line">
              <a:avLst/>
            </a:prstGeom>
            <a:ln w="50800" cap="flat">
              <a:solidFill>
                <a:srgbClr val="0C0C6B"/>
              </a:solidFill>
              <a:prstDash val="solid"/>
              <a:headEnd type="none" w="sm" len="sm"/>
              <a:tailEnd type="arrow" w="med" len="sm"/>
            </a:ln>
          </p:spPr>
        </p:sp>
        <p:sp>
          <p:nvSpPr>
            <p:cNvPr id="26" name="TextBox 26"/>
            <p:cNvSpPr txBox="1"/>
            <p:nvPr/>
          </p:nvSpPr>
          <p:spPr>
            <a:xfrm>
              <a:off x="5812328" y="-57150"/>
              <a:ext cx="4599393" cy="1234916"/>
            </a:xfrm>
            <a:prstGeom prst="rect">
              <a:avLst/>
            </a:prstGeom>
          </p:spPr>
          <p:txBody>
            <a:bodyPr lIns="0" tIns="0" rIns="0" bIns="0" rtlCol="0" anchor="t">
              <a:spAutoFit/>
            </a:bodyPr>
            <a:lstStyle/>
            <a:p>
              <a:pPr algn="ctr">
                <a:lnSpc>
                  <a:spcPts val="3812"/>
                </a:lnSpc>
                <a:spcBef>
                  <a:spcPct val="0"/>
                </a:spcBef>
              </a:pPr>
              <a:r>
                <a:rPr lang="en-US" sz="2723" b="1" dirty="0">
                  <a:solidFill>
                    <a:srgbClr val="000000"/>
                  </a:solidFill>
                  <a:latin typeface="Montserrat Bold"/>
                  <a:ea typeface="Montserrat Bold"/>
                  <a:cs typeface="Montserrat Bold"/>
                  <a:sym typeface="Montserrat Bold"/>
                </a:rPr>
                <a:t>PROMPT: </a:t>
              </a:r>
              <a:r>
                <a:rPr lang="en-US" sz="2723" b="1" dirty="0" err="1">
                  <a:solidFill>
                    <a:srgbClr val="000000"/>
                  </a:solidFill>
                  <a:latin typeface="Montserrat Bold"/>
                  <a:ea typeface="Montserrat Bold"/>
                  <a:cs typeface="Montserrat Bold"/>
                  <a:sym typeface="Montserrat Bold"/>
                </a:rPr>
                <a:t>hãy</a:t>
              </a:r>
              <a:r>
                <a:rPr lang="en-US" sz="2723" b="1" dirty="0">
                  <a:solidFill>
                    <a:srgbClr val="000000"/>
                  </a:solidFill>
                  <a:latin typeface="Montserrat Bold"/>
                  <a:ea typeface="Montserrat Bold"/>
                  <a:cs typeface="Montserrat Bold"/>
                  <a:sym typeface="Montserrat Bold"/>
                </a:rPr>
                <a:t> </a:t>
              </a:r>
              <a:r>
                <a:rPr lang="en-US" sz="2723" b="1" dirty="0" err="1">
                  <a:solidFill>
                    <a:srgbClr val="000000"/>
                  </a:solidFill>
                  <a:latin typeface="Montserrat Bold"/>
                  <a:ea typeface="Montserrat Bold"/>
                  <a:cs typeface="Montserrat Bold"/>
                  <a:sym typeface="Montserrat Bold"/>
                </a:rPr>
                <a:t>tóm</a:t>
              </a:r>
              <a:r>
                <a:rPr lang="en-US" sz="2723" b="1" dirty="0">
                  <a:solidFill>
                    <a:srgbClr val="000000"/>
                  </a:solidFill>
                  <a:latin typeface="Montserrat Bold"/>
                  <a:ea typeface="Montserrat Bold"/>
                  <a:cs typeface="Montserrat Bold"/>
                  <a:sym typeface="Montserrat Bold"/>
                </a:rPr>
                <a:t> </a:t>
              </a:r>
              <a:r>
                <a:rPr lang="en-US" sz="2723" b="1" dirty="0" err="1">
                  <a:solidFill>
                    <a:srgbClr val="000000"/>
                  </a:solidFill>
                  <a:latin typeface="Montserrat Bold"/>
                  <a:ea typeface="Montserrat Bold"/>
                  <a:cs typeface="Montserrat Bold"/>
                  <a:sym typeface="Montserrat Bold"/>
                </a:rPr>
                <a:t>tắt</a:t>
              </a:r>
              <a:r>
                <a:rPr lang="en-US" sz="2723" b="1" dirty="0">
                  <a:solidFill>
                    <a:srgbClr val="000000"/>
                  </a:solidFill>
                  <a:latin typeface="Montserrat Bold"/>
                  <a:ea typeface="Montserrat Bold"/>
                  <a:cs typeface="Montserrat Bold"/>
                  <a:sym typeface="Montserrat Bold"/>
                </a:rPr>
                <a:t> </a:t>
              </a:r>
              <a:r>
                <a:rPr lang="en-US" sz="2723" b="1" dirty="0" err="1">
                  <a:solidFill>
                    <a:srgbClr val="000000"/>
                  </a:solidFill>
                  <a:latin typeface="Montserrat Bold"/>
                  <a:ea typeface="Montserrat Bold"/>
                  <a:cs typeface="Montserrat Bold"/>
                  <a:sym typeface="Montserrat Bold"/>
                </a:rPr>
                <a:t>giúp</a:t>
              </a:r>
              <a:r>
                <a:rPr lang="en-US" sz="2723" b="1" dirty="0">
                  <a:solidFill>
                    <a:srgbClr val="000000"/>
                  </a:solidFill>
                  <a:latin typeface="Montserrat Bold"/>
                  <a:ea typeface="Montserrat Bold"/>
                  <a:cs typeface="Montserrat Bold"/>
                  <a:sym typeface="Montserrat Bold"/>
                </a:rPr>
                <a:t> </a:t>
              </a:r>
              <a:r>
                <a:rPr lang="en-US" sz="2723" b="1" dirty="0" err="1">
                  <a:solidFill>
                    <a:srgbClr val="000000"/>
                  </a:solidFill>
                  <a:latin typeface="Montserrat Bold"/>
                  <a:ea typeface="Montserrat Bold"/>
                  <a:cs typeface="Montserrat Bold"/>
                  <a:sym typeface="Montserrat Bold"/>
                </a:rPr>
                <a:t>tôi</a:t>
              </a:r>
              <a:r>
                <a:rPr lang="en-US" sz="2723" b="1" dirty="0">
                  <a:solidFill>
                    <a:srgbClr val="000000"/>
                  </a:solidFill>
                  <a:latin typeface="Montserrat Bold"/>
                  <a:ea typeface="Montserrat Bold"/>
                  <a:cs typeface="Montserrat Bold"/>
                  <a:sym typeface="Montserrat Bold"/>
                </a:rPr>
                <a:t>...</a:t>
              </a:r>
            </a:p>
          </p:txBody>
        </p:sp>
        <p:sp>
          <p:nvSpPr>
            <p:cNvPr id="27" name="TextBox 27"/>
            <p:cNvSpPr txBox="1"/>
            <p:nvPr/>
          </p:nvSpPr>
          <p:spPr>
            <a:xfrm>
              <a:off x="10315994" y="194310"/>
              <a:ext cx="3830101" cy="665956"/>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Montserrat Bold"/>
                  <a:ea typeface="Montserrat Bold"/>
                  <a:cs typeface="Montserrat Bold"/>
                  <a:sym typeface="Montserrat Bold"/>
                </a:rPr>
                <a:t>LLMs</a:t>
              </a:r>
            </a:p>
          </p:txBody>
        </p:sp>
      </p:grpSp>
      <p:sp>
        <p:nvSpPr>
          <p:cNvPr id="28" name="TextBox 28"/>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3.4. Xây dựng các thành phần của hệ thống chatbot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22</a:t>
            </a:r>
          </a:p>
        </p:txBody>
      </p:sp>
      <p:sp>
        <p:nvSpPr>
          <p:cNvPr id="13" name="TextBox 13"/>
          <p:cNvSpPr txBox="1"/>
          <p:nvPr/>
        </p:nvSpPr>
        <p:spPr>
          <a:xfrm>
            <a:off x="1028700" y="2474418"/>
            <a:ext cx="6957553" cy="768985"/>
          </a:xfrm>
          <a:prstGeom prst="rect">
            <a:avLst/>
          </a:prstGeom>
        </p:spPr>
        <p:txBody>
          <a:bodyPr lIns="0" tIns="0" rIns="0" bIns="0" rtlCol="0" anchor="t">
            <a:spAutoFit/>
          </a:bodyPr>
          <a:lstStyle/>
          <a:p>
            <a:pPr algn="just">
              <a:lnSpc>
                <a:spcPts val="6799"/>
              </a:lnSpc>
            </a:pPr>
            <a:r>
              <a:rPr lang="en-US" sz="3399" b="1">
                <a:solidFill>
                  <a:srgbClr val="0C1D4B"/>
                </a:solidFill>
                <a:latin typeface="Montserrat Bold"/>
                <a:ea typeface="Montserrat Bold"/>
                <a:cs typeface="Montserrat Bold"/>
                <a:sym typeface="Montserrat Bold"/>
              </a:rPr>
              <a:t>Node Initial_Thinking</a:t>
            </a:r>
          </a:p>
        </p:txBody>
      </p:sp>
      <p:sp>
        <p:nvSpPr>
          <p:cNvPr id="14" name="TextBox 14"/>
          <p:cNvSpPr txBox="1"/>
          <p:nvPr/>
        </p:nvSpPr>
        <p:spPr>
          <a:xfrm>
            <a:off x="1028700" y="3417110"/>
            <a:ext cx="16230600" cy="542925"/>
          </a:xfrm>
          <a:prstGeom prst="rect">
            <a:avLst/>
          </a:prstGeom>
        </p:spPr>
        <p:txBody>
          <a:bodyPr lIns="0" tIns="0" rIns="0" bIns="0" rtlCol="0" anchor="t">
            <a:spAutoFit/>
          </a:bodyPr>
          <a:lstStyle/>
          <a:p>
            <a:pPr algn="just">
              <a:lnSpc>
                <a:spcPts val="4500"/>
              </a:lnSpc>
            </a:pPr>
            <a:r>
              <a:rPr lang="en-US" sz="3000">
                <a:solidFill>
                  <a:srgbClr val="0C1D4B"/>
                </a:solidFill>
                <a:latin typeface="Montserrat"/>
                <a:ea typeface="Montserrat"/>
                <a:cs typeface="Montserrat"/>
                <a:sym typeface="Montserrat"/>
              </a:rPr>
              <a:t>Node này chịu trách nhiệm khởi tạo kế hoạch thực hiện ban đầu cho toàn bộ Agent</a:t>
            </a:r>
          </a:p>
        </p:txBody>
      </p:sp>
      <p:grpSp>
        <p:nvGrpSpPr>
          <p:cNvPr id="15" name="Group 15"/>
          <p:cNvGrpSpPr/>
          <p:nvPr/>
        </p:nvGrpSpPr>
        <p:grpSpPr>
          <a:xfrm>
            <a:off x="1552552" y="5519224"/>
            <a:ext cx="15182896" cy="2279181"/>
            <a:chOff x="0" y="0"/>
            <a:chExt cx="20243861" cy="3038908"/>
          </a:xfrm>
        </p:grpSpPr>
        <p:sp>
          <p:nvSpPr>
            <p:cNvPr id="16" name="Freeform 16"/>
            <p:cNvSpPr/>
            <p:nvPr/>
          </p:nvSpPr>
          <p:spPr>
            <a:xfrm>
              <a:off x="7377784" y="153219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17"/>
            <p:cNvSpPr/>
            <p:nvPr/>
          </p:nvSpPr>
          <p:spPr>
            <a:xfrm>
              <a:off x="11768375" y="1450016"/>
              <a:ext cx="1500501" cy="1552911"/>
            </a:xfrm>
            <a:custGeom>
              <a:avLst/>
              <a:gdLst/>
              <a:ahLst/>
              <a:cxnLst/>
              <a:rect l="l" t="t" r="r" b="b"/>
              <a:pathLst>
                <a:path w="1500501" h="1552911">
                  <a:moveTo>
                    <a:pt x="0" y="0"/>
                  </a:moveTo>
                  <a:lnTo>
                    <a:pt x="1500501" y="0"/>
                  </a:lnTo>
                  <a:lnTo>
                    <a:pt x="1500501" y="1552912"/>
                  </a:lnTo>
                  <a:lnTo>
                    <a:pt x="0" y="15529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8" name="Group 18"/>
            <p:cNvGrpSpPr/>
            <p:nvPr/>
          </p:nvGrpSpPr>
          <p:grpSpPr>
            <a:xfrm>
              <a:off x="15665602" y="1414036"/>
              <a:ext cx="4578260" cy="1624872"/>
              <a:chOff x="0" y="0"/>
              <a:chExt cx="829615" cy="294439"/>
            </a:xfrm>
          </p:grpSpPr>
          <p:sp>
            <p:nvSpPr>
              <p:cNvPr id="19" name="Freeform 19"/>
              <p:cNvSpPr/>
              <p:nvPr/>
            </p:nvSpPr>
            <p:spPr>
              <a:xfrm>
                <a:off x="0" y="0"/>
                <a:ext cx="829615" cy="294439"/>
              </a:xfrm>
              <a:custGeom>
                <a:avLst/>
                <a:gdLst/>
                <a:ahLst/>
                <a:cxnLst/>
                <a:rect l="l" t="t" r="r" b="b"/>
                <a:pathLst>
                  <a:path w="829615" h="294439">
                    <a:moveTo>
                      <a:pt x="87933" y="0"/>
                    </a:moveTo>
                    <a:lnTo>
                      <a:pt x="741682" y="0"/>
                    </a:lnTo>
                    <a:cubicBezTo>
                      <a:pt x="765003" y="0"/>
                      <a:pt x="787369" y="9264"/>
                      <a:pt x="803860" y="25755"/>
                    </a:cubicBezTo>
                    <a:cubicBezTo>
                      <a:pt x="820351" y="42246"/>
                      <a:pt x="829615" y="64612"/>
                      <a:pt x="829615" y="87933"/>
                    </a:cubicBezTo>
                    <a:lnTo>
                      <a:pt x="829615" y="206506"/>
                    </a:lnTo>
                    <a:cubicBezTo>
                      <a:pt x="829615" y="255070"/>
                      <a:pt x="790246" y="294439"/>
                      <a:pt x="741682" y="294439"/>
                    </a:cubicBezTo>
                    <a:lnTo>
                      <a:pt x="87933" y="294439"/>
                    </a:lnTo>
                    <a:cubicBezTo>
                      <a:pt x="39369" y="294439"/>
                      <a:pt x="0" y="255070"/>
                      <a:pt x="0" y="206506"/>
                    </a:cubicBezTo>
                    <a:lnTo>
                      <a:pt x="0" y="87933"/>
                    </a:lnTo>
                    <a:cubicBezTo>
                      <a:pt x="0" y="39369"/>
                      <a:pt x="39369" y="0"/>
                      <a:pt x="87933" y="0"/>
                    </a:cubicBezTo>
                    <a:close/>
                  </a:path>
                </a:pathLst>
              </a:custGeom>
              <a:solidFill>
                <a:srgbClr val="000000">
                  <a:alpha val="0"/>
                </a:srgbClr>
              </a:solidFill>
              <a:ln w="28575" cap="rnd">
                <a:solidFill>
                  <a:srgbClr val="000000"/>
                </a:solidFill>
                <a:prstDash val="solid"/>
                <a:round/>
              </a:ln>
            </p:spPr>
          </p:sp>
          <p:sp>
            <p:nvSpPr>
              <p:cNvPr id="20" name="TextBox 20"/>
              <p:cNvSpPr txBox="1"/>
              <p:nvPr/>
            </p:nvSpPr>
            <p:spPr>
              <a:xfrm>
                <a:off x="0" y="-47625"/>
                <a:ext cx="829615" cy="342064"/>
              </a:xfrm>
              <a:prstGeom prst="rect">
                <a:avLst/>
              </a:prstGeom>
            </p:spPr>
            <p:txBody>
              <a:bodyPr lIns="70439" tIns="70439" rIns="70439" bIns="70439" rtlCol="0" anchor="ctr"/>
              <a:lstStyle/>
              <a:p>
                <a:pPr algn="ctr">
                  <a:lnSpc>
                    <a:spcPts val="3219"/>
                  </a:lnSpc>
                </a:pPr>
                <a:r>
                  <a:rPr lang="en-US" sz="2299" b="1">
                    <a:solidFill>
                      <a:srgbClr val="000000"/>
                    </a:solidFill>
                    <a:latin typeface="Montserrat Bold"/>
                    <a:ea typeface="Montserrat Bold"/>
                    <a:cs typeface="Montserrat Bold"/>
                    <a:sym typeface="Montserrat Bold"/>
                  </a:rPr>
                  <a:t>Bản kế hoạch thực hiện</a:t>
                </a:r>
              </a:p>
            </p:txBody>
          </p:sp>
        </p:grpSp>
        <p:sp>
          <p:nvSpPr>
            <p:cNvPr id="21" name="TextBox 21"/>
            <p:cNvSpPr txBox="1"/>
            <p:nvPr/>
          </p:nvSpPr>
          <p:spPr>
            <a:xfrm>
              <a:off x="0" y="1368382"/>
              <a:ext cx="5607581" cy="1670526"/>
            </a:xfrm>
            <a:prstGeom prst="rect">
              <a:avLst/>
            </a:prstGeom>
          </p:spPr>
          <p:txBody>
            <a:bodyPr lIns="0" tIns="0" rIns="0" bIns="0" rtlCol="0" anchor="t">
              <a:spAutoFit/>
            </a:bodyPr>
            <a:lstStyle/>
            <a:p>
              <a:pPr marL="523223" lvl="1" indent="-261612" algn="l">
                <a:lnSpc>
                  <a:spcPts val="3392"/>
                </a:lnSpc>
                <a:buFont typeface="Arial"/>
                <a:buChar char="•"/>
              </a:pPr>
              <a:r>
                <a:rPr lang="en-US" sz="2423" b="1">
                  <a:solidFill>
                    <a:srgbClr val="000000"/>
                  </a:solidFill>
                  <a:latin typeface="Montserrat Bold"/>
                  <a:ea typeface="Montserrat Bold"/>
                  <a:cs typeface="Montserrat Bold"/>
                  <a:sym typeface="Montserrat Bold"/>
                </a:rPr>
                <a:t>Yêu cầu đầu vào</a:t>
              </a:r>
            </a:p>
            <a:p>
              <a:pPr marL="523223" lvl="1" indent="-261612" algn="l">
                <a:lnSpc>
                  <a:spcPts val="3392"/>
                </a:lnSpc>
                <a:buFont typeface="Arial"/>
                <a:buChar char="•"/>
              </a:pPr>
              <a:r>
                <a:rPr lang="en-US" sz="2423" b="1">
                  <a:solidFill>
                    <a:srgbClr val="000000"/>
                  </a:solidFill>
                  <a:latin typeface="Montserrat Bold"/>
                  <a:ea typeface="Montserrat Bold"/>
                  <a:cs typeface="Montserrat Bold"/>
                  <a:sym typeface="Montserrat Bold"/>
                </a:rPr>
                <a:t>Mô tả dữ liệu có sẵn</a:t>
              </a:r>
            </a:p>
            <a:p>
              <a:pPr marL="523223" lvl="1" indent="-261612" algn="l">
                <a:lnSpc>
                  <a:spcPts val="3392"/>
                </a:lnSpc>
                <a:spcBef>
                  <a:spcPct val="0"/>
                </a:spcBef>
                <a:buFont typeface="Arial"/>
                <a:buChar char="•"/>
              </a:pPr>
              <a:r>
                <a:rPr lang="en-US" sz="2423" b="1">
                  <a:solidFill>
                    <a:srgbClr val="000000"/>
                  </a:solidFill>
                  <a:latin typeface="Montserrat Bold"/>
                  <a:ea typeface="Montserrat Bold"/>
                  <a:cs typeface="Montserrat Bold"/>
                  <a:sym typeface="Montserrat Bold"/>
                </a:rPr>
                <a:t>Mô tả các công cụ</a:t>
              </a:r>
            </a:p>
          </p:txBody>
        </p:sp>
        <p:sp>
          <p:nvSpPr>
            <p:cNvPr id="22" name="AutoShape 22"/>
            <p:cNvSpPr/>
            <p:nvPr/>
          </p:nvSpPr>
          <p:spPr>
            <a:xfrm>
              <a:off x="5607581" y="2222695"/>
              <a:ext cx="1770203" cy="30889"/>
            </a:xfrm>
            <a:prstGeom prst="line">
              <a:avLst/>
            </a:prstGeom>
            <a:ln w="50800" cap="flat">
              <a:solidFill>
                <a:srgbClr val="0C0C6B"/>
              </a:solidFill>
              <a:prstDash val="solid"/>
              <a:headEnd type="none" w="sm" len="sm"/>
              <a:tailEnd type="arrow" w="med" len="sm"/>
            </a:ln>
          </p:spPr>
        </p:sp>
        <p:sp>
          <p:nvSpPr>
            <p:cNvPr id="23" name="AutoShape 23"/>
            <p:cNvSpPr/>
            <p:nvPr/>
          </p:nvSpPr>
          <p:spPr>
            <a:xfrm flipV="1">
              <a:off x="8846264" y="2226472"/>
              <a:ext cx="2922111" cy="27112"/>
            </a:xfrm>
            <a:prstGeom prst="line">
              <a:avLst/>
            </a:prstGeom>
            <a:ln w="50800" cap="flat">
              <a:solidFill>
                <a:srgbClr val="0C0C6B"/>
              </a:solidFill>
              <a:prstDash val="solid"/>
              <a:headEnd type="none" w="sm" len="sm"/>
              <a:tailEnd type="arrow" w="med" len="sm"/>
            </a:ln>
          </p:spPr>
        </p:sp>
        <p:sp>
          <p:nvSpPr>
            <p:cNvPr id="24" name="AutoShape 24"/>
            <p:cNvSpPr/>
            <p:nvPr/>
          </p:nvSpPr>
          <p:spPr>
            <a:xfrm>
              <a:off x="13268876" y="2226472"/>
              <a:ext cx="2396726" cy="0"/>
            </a:xfrm>
            <a:prstGeom prst="line">
              <a:avLst/>
            </a:prstGeom>
            <a:ln w="50800" cap="flat">
              <a:solidFill>
                <a:srgbClr val="0C0C6B"/>
              </a:solidFill>
              <a:prstDash val="solid"/>
              <a:headEnd type="none" w="sm" len="sm"/>
              <a:tailEnd type="arrow" w="med" len="sm"/>
            </a:ln>
          </p:spPr>
        </p:sp>
        <p:sp>
          <p:nvSpPr>
            <p:cNvPr id="25" name="TextBox 25"/>
            <p:cNvSpPr txBox="1"/>
            <p:nvPr/>
          </p:nvSpPr>
          <p:spPr>
            <a:xfrm>
              <a:off x="5812328" y="-57150"/>
              <a:ext cx="4599393" cy="599916"/>
            </a:xfrm>
            <a:prstGeom prst="rect">
              <a:avLst/>
            </a:prstGeom>
          </p:spPr>
          <p:txBody>
            <a:bodyPr lIns="0" tIns="0" rIns="0" bIns="0" rtlCol="0" anchor="t">
              <a:spAutoFit/>
            </a:bodyPr>
            <a:lstStyle/>
            <a:p>
              <a:pPr algn="ctr">
                <a:lnSpc>
                  <a:spcPts val="3812"/>
                </a:lnSpc>
                <a:spcBef>
                  <a:spcPct val="0"/>
                </a:spcBef>
              </a:pPr>
              <a:r>
                <a:rPr lang="en-US" sz="2723" b="1">
                  <a:solidFill>
                    <a:srgbClr val="000000"/>
                  </a:solidFill>
                  <a:latin typeface="Montserrat Bold"/>
                  <a:ea typeface="Montserrat Bold"/>
                  <a:cs typeface="Montserrat Bold"/>
                  <a:sym typeface="Montserrat Bold"/>
                </a:rPr>
                <a:t>PROMPT</a:t>
              </a:r>
            </a:p>
          </p:txBody>
        </p:sp>
        <p:sp>
          <p:nvSpPr>
            <p:cNvPr id="26" name="TextBox 26"/>
            <p:cNvSpPr txBox="1"/>
            <p:nvPr/>
          </p:nvSpPr>
          <p:spPr>
            <a:xfrm>
              <a:off x="10315994" y="194310"/>
              <a:ext cx="3830101" cy="665956"/>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Montserrat Bold"/>
                  <a:ea typeface="Montserrat Bold"/>
                  <a:cs typeface="Montserrat Bold"/>
                  <a:sym typeface="Montserrat Bold"/>
                </a:rPr>
                <a:t>LLMs</a:t>
              </a:r>
            </a:p>
          </p:txBody>
        </p:sp>
      </p:grpSp>
      <p:sp>
        <p:nvSpPr>
          <p:cNvPr id="27" name="TextBox 27"/>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3.4. Xây dựng các thành phần của hệ thống chatbot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23</a:t>
            </a:r>
          </a:p>
        </p:txBody>
      </p:sp>
      <p:sp>
        <p:nvSpPr>
          <p:cNvPr id="13" name="TextBox 13"/>
          <p:cNvSpPr txBox="1"/>
          <p:nvPr/>
        </p:nvSpPr>
        <p:spPr>
          <a:xfrm>
            <a:off x="1028700" y="2337434"/>
            <a:ext cx="11584944" cy="768985"/>
          </a:xfrm>
          <a:prstGeom prst="rect">
            <a:avLst/>
          </a:prstGeom>
        </p:spPr>
        <p:txBody>
          <a:bodyPr lIns="0" tIns="0" rIns="0" bIns="0" rtlCol="0" anchor="t">
            <a:spAutoFit/>
          </a:bodyPr>
          <a:lstStyle/>
          <a:p>
            <a:pPr algn="just">
              <a:lnSpc>
                <a:spcPts val="6799"/>
              </a:lnSpc>
            </a:pPr>
            <a:r>
              <a:rPr lang="en-US" sz="3399" b="1">
                <a:solidFill>
                  <a:srgbClr val="0C1D4B"/>
                </a:solidFill>
                <a:latin typeface="Montserrat Bold"/>
                <a:ea typeface="Montserrat Bold"/>
                <a:cs typeface="Montserrat Bold"/>
                <a:sym typeface="Montserrat Bold"/>
              </a:rPr>
              <a:t>Node Plan_Validator</a:t>
            </a:r>
          </a:p>
        </p:txBody>
      </p:sp>
      <p:sp>
        <p:nvSpPr>
          <p:cNvPr id="14" name="TextBox 14"/>
          <p:cNvSpPr txBox="1"/>
          <p:nvPr/>
        </p:nvSpPr>
        <p:spPr>
          <a:xfrm>
            <a:off x="1028700" y="3282353"/>
            <a:ext cx="16230600" cy="1114425"/>
          </a:xfrm>
          <a:prstGeom prst="rect">
            <a:avLst/>
          </a:prstGeom>
        </p:spPr>
        <p:txBody>
          <a:bodyPr lIns="0" tIns="0" rIns="0" bIns="0" rtlCol="0" anchor="t">
            <a:spAutoFit/>
          </a:bodyPr>
          <a:lstStyle/>
          <a:p>
            <a:pPr algn="just">
              <a:lnSpc>
                <a:spcPts val="4500"/>
              </a:lnSpc>
            </a:pPr>
            <a:r>
              <a:rPr lang="en-US" sz="3000">
                <a:solidFill>
                  <a:srgbClr val="0C1D4B"/>
                </a:solidFill>
                <a:latin typeface="Montserrat"/>
                <a:ea typeface="Montserrat"/>
                <a:cs typeface="Montserrat"/>
                <a:sym typeface="Montserrat"/>
              </a:rPr>
              <a:t>Node này chịu trách nhiệm xem xét kế hoạch và quyết định sẽ sửa kế hoạch, hay tiếp tục thực hiện hay sẽ dừng.</a:t>
            </a:r>
          </a:p>
        </p:txBody>
      </p:sp>
      <p:grpSp>
        <p:nvGrpSpPr>
          <p:cNvPr id="15" name="Group 15"/>
          <p:cNvGrpSpPr/>
          <p:nvPr/>
        </p:nvGrpSpPr>
        <p:grpSpPr>
          <a:xfrm>
            <a:off x="1409756" y="5143500"/>
            <a:ext cx="15468489" cy="3803046"/>
            <a:chOff x="0" y="0"/>
            <a:chExt cx="20624652" cy="5070728"/>
          </a:xfrm>
        </p:grpSpPr>
        <p:sp>
          <p:nvSpPr>
            <p:cNvPr id="16" name="TextBox 16"/>
            <p:cNvSpPr txBox="1"/>
            <p:nvPr/>
          </p:nvSpPr>
          <p:spPr>
            <a:xfrm rot="1736002">
              <a:off x="12790620" y="3528600"/>
              <a:ext cx="4226483" cy="554355"/>
            </a:xfrm>
            <a:prstGeom prst="rect">
              <a:avLst/>
            </a:prstGeom>
          </p:spPr>
          <p:txBody>
            <a:bodyPr lIns="0" tIns="0" rIns="0" bIns="0" rtlCol="0" anchor="t">
              <a:spAutoFit/>
            </a:bodyPr>
            <a:lstStyle/>
            <a:p>
              <a:pPr algn="just">
                <a:lnSpc>
                  <a:spcPts val="3600"/>
                </a:lnSpc>
              </a:pPr>
              <a:r>
                <a:rPr lang="en-US" sz="2400" b="1">
                  <a:solidFill>
                    <a:srgbClr val="0C1D4B"/>
                  </a:solidFill>
                  <a:latin typeface="Montserrat Bold"/>
                  <a:ea typeface="Montserrat Bold"/>
                  <a:cs typeface="Montserrat Bold"/>
                  <a:sym typeface="Montserrat Bold"/>
                </a:rPr>
                <a:t>conditional edges</a:t>
              </a:r>
            </a:p>
          </p:txBody>
        </p:sp>
        <p:sp>
          <p:nvSpPr>
            <p:cNvPr id="17" name="Freeform 17"/>
            <p:cNvSpPr/>
            <p:nvPr/>
          </p:nvSpPr>
          <p:spPr>
            <a:xfrm>
              <a:off x="7428176" y="151393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11419793" y="1431756"/>
              <a:ext cx="1500501" cy="1552911"/>
            </a:xfrm>
            <a:custGeom>
              <a:avLst/>
              <a:gdLst/>
              <a:ahLst/>
              <a:cxnLst/>
              <a:rect l="l" t="t" r="r" b="b"/>
              <a:pathLst>
                <a:path w="1500501" h="1552911">
                  <a:moveTo>
                    <a:pt x="0" y="0"/>
                  </a:moveTo>
                  <a:lnTo>
                    <a:pt x="1500500" y="0"/>
                  </a:lnTo>
                  <a:lnTo>
                    <a:pt x="1500500" y="1552912"/>
                  </a:lnTo>
                  <a:lnTo>
                    <a:pt x="0" y="15529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TextBox 19"/>
            <p:cNvSpPr txBox="1"/>
            <p:nvPr/>
          </p:nvSpPr>
          <p:spPr>
            <a:xfrm>
              <a:off x="0" y="523761"/>
              <a:ext cx="5384071" cy="3385026"/>
            </a:xfrm>
            <a:prstGeom prst="rect">
              <a:avLst/>
            </a:prstGeom>
          </p:spPr>
          <p:txBody>
            <a:bodyPr lIns="0" tIns="0" rIns="0" bIns="0" rtlCol="0" anchor="t">
              <a:spAutoFit/>
            </a:bodyPr>
            <a:lstStyle/>
            <a:p>
              <a:pPr marL="523223" lvl="1" indent="-261612" algn="l">
                <a:lnSpc>
                  <a:spcPts val="3392"/>
                </a:lnSpc>
                <a:buFont typeface="Arial"/>
                <a:buChar char="•"/>
              </a:pPr>
              <a:r>
                <a:rPr lang="en-US" sz="2423" b="1">
                  <a:solidFill>
                    <a:srgbClr val="000000"/>
                  </a:solidFill>
                  <a:latin typeface="Montserrat Bold"/>
                  <a:ea typeface="Montserrat Bold"/>
                  <a:cs typeface="Montserrat Bold"/>
                  <a:sym typeface="Montserrat Bold"/>
                </a:rPr>
                <a:t>Yêu cầu đầu vào</a:t>
              </a:r>
            </a:p>
            <a:p>
              <a:pPr marL="523223" lvl="1" indent="-261612" algn="l">
                <a:lnSpc>
                  <a:spcPts val="3392"/>
                </a:lnSpc>
                <a:buFont typeface="Arial"/>
                <a:buChar char="•"/>
              </a:pPr>
              <a:r>
                <a:rPr lang="en-US" sz="2423" b="1">
                  <a:solidFill>
                    <a:srgbClr val="000000"/>
                  </a:solidFill>
                  <a:latin typeface="Montserrat Bold"/>
                  <a:ea typeface="Montserrat Bold"/>
                  <a:cs typeface="Montserrat Bold"/>
                  <a:sym typeface="Montserrat Bold"/>
                </a:rPr>
                <a:t>Mô tả dữ liệu có sẵn</a:t>
              </a:r>
            </a:p>
            <a:p>
              <a:pPr marL="523223" lvl="1" indent="-261612" algn="l">
                <a:lnSpc>
                  <a:spcPts val="3392"/>
                </a:lnSpc>
                <a:spcBef>
                  <a:spcPct val="0"/>
                </a:spcBef>
                <a:buFont typeface="Arial"/>
                <a:buChar char="•"/>
              </a:pPr>
              <a:r>
                <a:rPr lang="en-US" sz="2423" b="1">
                  <a:solidFill>
                    <a:srgbClr val="000000"/>
                  </a:solidFill>
                  <a:latin typeface="Montserrat Bold"/>
                  <a:ea typeface="Montserrat Bold"/>
                  <a:cs typeface="Montserrat Bold"/>
                  <a:sym typeface="Montserrat Bold"/>
                </a:rPr>
                <a:t>Mô tả các công cụ</a:t>
              </a:r>
            </a:p>
            <a:p>
              <a:pPr marL="523223" lvl="1" indent="-261612" algn="l">
                <a:lnSpc>
                  <a:spcPts val="3392"/>
                </a:lnSpc>
                <a:spcBef>
                  <a:spcPct val="0"/>
                </a:spcBef>
                <a:buFont typeface="Arial"/>
                <a:buChar char="•"/>
              </a:pPr>
              <a:r>
                <a:rPr lang="en-US" sz="2423" b="1">
                  <a:solidFill>
                    <a:srgbClr val="000000"/>
                  </a:solidFill>
                  <a:latin typeface="Montserrat Bold"/>
                  <a:ea typeface="Montserrat Bold"/>
                  <a:cs typeface="Montserrat Bold"/>
                  <a:sym typeface="Montserrat Bold"/>
                </a:rPr>
                <a:t>Bản kế hoạch</a:t>
              </a:r>
            </a:p>
            <a:p>
              <a:pPr marL="523223" lvl="1" indent="-261612" algn="l">
                <a:lnSpc>
                  <a:spcPts val="3392"/>
                </a:lnSpc>
                <a:spcBef>
                  <a:spcPct val="0"/>
                </a:spcBef>
                <a:buFont typeface="Arial"/>
                <a:buChar char="•"/>
              </a:pPr>
              <a:r>
                <a:rPr lang="en-US" sz="2423" b="1">
                  <a:solidFill>
                    <a:srgbClr val="000000"/>
                  </a:solidFill>
                  <a:latin typeface="Montserrat Bold"/>
                  <a:ea typeface="Montserrat Bold"/>
                  <a:cs typeface="Montserrat Bold"/>
                  <a:sym typeface="Montserrat Bold"/>
                </a:rPr>
                <a:t>Kế quả các bước đã thực hiện</a:t>
              </a:r>
            </a:p>
          </p:txBody>
        </p:sp>
        <p:sp>
          <p:nvSpPr>
            <p:cNvPr id="20" name="AutoShape 20"/>
            <p:cNvSpPr/>
            <p:nvPr/>
          </p:nvSpPr>
          <p:spPr>
            <a:xfrm>
              <a:off x="5384071" y="2235324"/>
              <a:ext cx="2044105" cy="0"/>
            </a:xfrm>
            <a:prstGeom prst="line">
              <a:avLst/>
            </a:prstGeom>
            <a:ln w="50800" cap="flat">
              <a:solidFill>
                <a:srgbClr val="0C0C6B"/>
              </a:solidFill>
              <a:prstDash val="solid"/>
              <a:headEnd type="none" w="sm" len="sm"/>
              <a:tailEnd type="arrow" w="med" len="sm"/>
            </a:ln>
          </p:spPr>
        </p:sp>
        <p:sp>
          <p:nvSpPr>
            <p:cNvPr id="21" name="AutoShape 21"/>
            <p:cNvSpPr/>
            <p:nvPr/>
          </p:nvSpPr>
          <p:spPr>
            <a:xfrm flipV="1">
              <a:off x="8896656" y="2208212"/>
              <a:ext cx="2523136" cy="27112"/>
            </a:xfrm>
            <a:prstGeom prst="line">
              <a:avLst/>
            </a:prstGeom>
            <a:ln w="50800" cap="flat">
              <a:solidFill>
                <a:srgbClr val="0C0C6B"/>
              </a:solidFill>
              <a:prstDash val="solid"/>
              <a:headEnd type="none" w="sm" len="sm"/>
              <a:tailEnd type="arrow" w="med" len="sm"/>
            </a:ln>
          </p:spPr>
        </p:sp>
        <p:sp>
          <p:nvSpPr>
            <p:cNvPr id="22" name="AutoShape 22"/>
            <p:cNvSpPr/>
            <p:nvPr/>
          </p:nvSpPr>
          <p:spPr>
            <a:xfrm>
              <a:off x="12920293" y="2208212"/>
              <a:ext cx="3334014" cy="1702496"/>
            </a:xfrm>
            <a:prstGeom prst="line">
              <a:avLst/>
            </a:prstGeom>
            <a:ln w="50800" cap="flat">
              <a:solidFill>
                <a:srgbClr val="0C0C6B"/>
              </a:solidFill>
              <a:prstDash val="solid"/>
              <a:headEnd type="none" w="sm" len="sm"/>
              <a:tailEnd type="arrow" w="med" len="sm"/>
            </a:ln>
          </p:spPr>
        </p:sp>
        <p:sp>
          <p:nvSpPr>
            <p:cNvPr id="23" name="TextBox 23"/>
            <p:cNvSpPr txBox="1"/>
            <p:nvPr/>
          </p:nvSpPr>
          <p:spPr>
            <a:xfrm>
              <a:off x="5862720" y="-24130"/>
              <a:ext cx="4599393" cy="599916"/>
            </a:xfrm>
            <a:prstGeom prst="rect">
              <a:avLst/>
            </a:prstGeom>
          </p:spPr>
          <p:txBody>
            <a:bodyPr lIns="0" tIns="0" rIns="0" bIns="0" rtlCol="0" anchor="t">
              <a:spAutoFit/>
            </a:bodyPr>
            <a:lstStyle/>
            <a:p>
              <a:pPr algn="ctr">
                <a:lnSpc>
                  <a:spcPts val="3812"/>
                </a:lnSpc>
                <a:spcBef>
                  <a:spcPct val="0"/>
                </a:spcBef>
              </a:pPr>
              <a:r>
                <a:rPr lang="en-US" sz="2723" b="1">
                  <a:solidFill>
                    <a:srgbClr val="000000"/>
                  </a:solidFill>
                  <a:latin typeface="Montserrat Bold"/>
                  <a:ea typeface="Montserrat Bold"/>
                  <a:cs typeface="Montserrat Bold"/>
                  <a:sym typeface="Montserrat Bold"/>
                </a:rPr>
                <a:t>PROMPT</a:t>
              </a:r>
            </a:p>
          </p:txBody>
        </p:sp>
        <p:sp>
          <p:nvSpPr>
            <p:cNvPr id="24" name="TextBox 24"/>
            <p:cNvSpPr txBox="1"/>
            <p:nvPr/>
          </p:nvSpPr>
          <p:spPr>
            <a:xfrm>
              <a:off x="10136552" y="-57150"/>
              <a:ext cx="3830101" cy="665956"/>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Montserrat Bold"/>
                  <a:ea typeface="Montserrat Bold"/>
                  <a:cs typeface="Montserrat Bold"/>
                  <a:sym typeface="Montserrat Bold"/>
                </a:rPr>
                <a:t>LLMs</a:t>
              </a:r>
            </a:p>
          </p:txBody>
        </p:sp>
        <p:grpSp>
          <p:nvGrpSpPr>
            <p:cNvPr id="25" name="Group 25"/>
            <p:cNvGrpSpPr/>
            <p:nvPr/>
          </p:nvGrpSpPr>
          <p:grpSpPr>
            <a:xfrm>
              <a:off x="16381782" y="3446708"/>
              <a:ext cx="3845843" cy="928000"/>
              <a:chOff x="0" y="0"/>
              <a:chExt cx="759673" cy="183309"/>
            </a:xfrm>
          </p:grpSpPr>
          <p:sp>
            <p:nvSpPr>
              <p:cNvPr id="26" name="Freeform 26"/>
              <p:cNvSpPr/>
              <p:nvPr/>
            </p:nvSpPr>
            <p:spPr>
              <a:xfrm>
                <a:off x="0" y="0"/>
                <a:ext cx="759673" cy="183309"/>
              </a:xfrm>
              <a:custGeom>
                <a:avLst/>
                <a:gdLst/>
                <a:ahLst/>
                <a:cxnLst/>
                <a:rect l="l" t="t" r="r" b="b"/>
                <a:pathLst>
                  <a:path w="759673" h="183309">
                    <a:moveTo>
                      <a:pt x="75154" y="0"/>
                    </a:moveTo>
                    <a:lnTo>
                      <a:pt x="684518" y="0"/>
                    </a:lnTo>
                    <a:cubicBezTo>
                      <a:pt x="704451" y="0"/>
                      <a:pt x="723566" y="7918"/>
                      <a:pt x="737661" y="22012"/>
                    </a:cubicBezTo>
                    <a:cubicBezTo>
                      <a:pt x="751755" y="36106"/>
                      <a:pt x="759673" y="55222"/>
                      <a:pt x="759673" y="75154"/>
                    </a:cubicBezTo>
                    <a:lnTo>
                      <a:pt x="759673" y="108154"/>
                    </a:lnTo>
                    <a:cubicBezTo>
                      <a:pt x="759673" y="128086"/>
                      <a:pt x="751755" y="147202"/>
                      <a:pt x="737661" y="161296"/>
                    </a:cubicBezTo>
                    <a:cubicBezTo>
                      <a:pt x="723566" y="175391"/>
                      <a:pt x="704451" y="183309"/>
                      <a:pt x="684518" y="183309"/>
                    </a:cubicBezTo>
                    <a:lnTo>
                      <a:pt x="75154" y="183309"/>
                    </a:lnTo>
                    <a:cubicBezTo>
                      <a:pt x="55222" y="183309"/>
                      <a:pt x="36106" y="175391"/>
                      <a:pt x="22012" y="161296"/>
                    </a:cubicBezTo>
                    <a:cubicBezTo>
                      <a:pt x="7918" y="147202"/>
                      <a:pt x="0" y="128086"/>
                      <a:pt x="0" y="108154"/>
                    </a:cubicBezTo>
                    <a:lnTo>
                      <a:pt x="0" y="75154"/>
                    </a:lnTo>
                    <a:cubicBezTo>
                      <a:pt x="0" y="55222"/>
                      <a:pt x="7918" y="36106"/>
                      <a:pt x="22012" y="22012"/>
                    </a:cubicBezTo>
                    <a:cubicBezTo>
                      <a:pt x="36106" y="7918"/>
                      <a:pt x="55222" y="0"/>
                      <a:pt x="75154" y="0"/>
                    </a:cubicBezTo>
                    <a:close/>
                  </a:path>
                </a:pathLst>
              </a:custGeom>
              <a:solidFill>
                <a:srgbClr val="0D1D4B"/>
              </a:solidFill>
            </p:spPr>
          </p:sp>
          <p:sp>
            <p:nvSpPr>
              <p:cNvPr id="27" name="TextBox 27"/>
              <p:cNvSpPr txBox="1"/>
              <p:nvPr/>
            </p:nvSpPr>
            <p:spPr>
              <a:xfrm>
                <a:off x="0" y="-47625"/>
                <a:ext cx="759673" cy="230934"/>
              </a:xfrm>
              <a:prstGeom prst="rect">
                <a:avLst/>
              </a:prstGeom>
            </p:spPr>
            <p:txBody>
              <a:bodyPr lIns="50800" tIns="50800" rIns="50800" bIns="50800" rtlCol="0" anchor="ctr"/>
              <a:lstStyle/>
              <a:p>
                <a:pPr algn="ctr">
                  <a:lnSpc>
                    <a:spcPts val="2940"/>
                  </a:lnSpc>
                </a:pPr>
                <a:endParaRPr/>
              </a:p>
            </p:txBody>
          </p:sp>
        </p:grpSp>
        <p:sp>
          <p:nvSpPr>
            <p:cNvPr id="28" name="TextBox 28"/>
            <p:cNvSpPr txBox="1"/>
            <p:nvPr/>
          </p:nvSpPr>
          <p:spPr>
            <a:xfrm>
              <a:off x="16254307" y="3639759"/>
              <a:ext cx="4370344" cy="515620"/>
            </a:xfrm>
            <a:prstGeom prst="rect">
              <a:avLst/>
            </a:prstGeom>
          </p:spPr>
          <p:txBody>
            <a:bodyPr lIns="0" tIns="0" rIns="0" bIns="0" rtlCol="0" anchor="t">
              <a:spAutoFit/>
            </a:bodyPr>
            <a:lstStyle/>
            <a:p>
              <a:pPr algn="ctr">
                <a:lnSpc>
                  <a:spcPts val="3359"/>
                </a:lnSpc>
              </a:pPr>
              <a:r>
                <a:rPr lang="en-US" sz="2400" b="1" spc="57">
                  <a:solidFill>
                    <a:srgbClr val="FFFFFF"/>
                  </a:solidFill>
                  <a:latin typeface="Montserrat Bold"/>
                  <a:ea typeface="Montserrat Bold"/>
                  <a:cs typeface="Montserrat Bold"/>
                  <a:sym typeface="Montserrat Bold"/>
                </a:rPr>
                <a:t>Node END</a:t>
              </a:r>
            </a:p>
          </p:txBody>
        </p:sp>
        <p:grpSp>
          <p:nvGrpSpPr>
            <p:cNvPr id="29" name="Group 29"/>
            <p:cNvGrpSpPr/>
            <p:nvPr/>
          </p:nvGrpSpPr>
          <p:grpSpPr>
            <a:xfrm>
              <a:off x="16214150" y="1945287"/>
              <a:ext cx="3845843" cy="928000"/>
              <a:chOff x="0" y="0"/>
              <a:chExt cx="759673" cy="183309"/>
            </a:xfrm>
          </p:grpSpPr>
          <p:sp>
            <p:nvSpPr>
              <p:cNvPr id="30" name="Freeform 30"/>
              <p:cNvSpPr/>
              <p:nvPr/>
            </p:nvSpPr>
            <p:spPr>
              <a:xfrm>
                <a:off x="0" y="0"/>
                <a:ext cx="759673" cy="183309"/>
              </a:xfrm>
              <a:custGeom>
                <a:avLst/>
                <a:gdLst/>
                <a:ahLst/>
                <a:cxnLst/>
                <a:rect l="l" t="t" r="r" b="b"/>
                <a:pathLst>
                  <a:path w="759673" h="183309">
                    <a:moveTo>
                      <a:pt x="75154" y="0"/>
                    </a:moveTo>
                    <a:lnTo>
                      <a:pt x="684518" y="0"/>
                    </a:lnTo>
                    <a:cubicBezTo>
                      <a:pt x="704451" y="0"/>
                      <a:pt x="723566" y="7918"/>
                      <a:pt x="737661" y="22012"/>
                    </a:cubicBezTo>
                    <a:cubicBezTo>
                      <a:pt x="751755" y="36106"/>
                      <a:pt x="759673" y="55222"/>
                      <a:pt x="759673" y="75154"/>
                    </a:cubicBezTo>
                    <a:lnTo>
                      <a:pt x="759673" y="108154"/>
                    </a:lnTo>
                    <a:cubicBezTo>
                      <a:pt x="759673" y="128086"/>
                      <a:pt x="751755" y="147202"/>
                      <a:pt x="737661" y="161296"/>
                    </a:cubicBezTo>
                    <a:cubicBezTo>
                      <a:pt x="723566" y="175391"/>
                      <a:pt x="704451" y="183309"/>
                      <a:pt x="684518" y="183309"/>
                    </a:cubicBezTo>
                    <a:lnTo>
                      <a:pt x="75154" y="183309"/>
                    </a:lnTo>
                    <a:cubicBezTo>
                      <a:pt x="55222" y="183309"/>
                      <a:pt x="36106" y="175391"/>
                      <a:pt x="22012" y="161296"/>
                    </a:cubicBezTo>
                    <a:cubicBezTo>
                      <a:pt x="7918" y="147202"/>
                      <a:pt x="0" y="128086"/>
                      <a:pt x="0" y="108154"/>
                    </a:cubicBezTo>
                    <a:lnTo>
                      <a:pt x="0" y="75154"/>
                    </a:lnTo>
                    <a:cubicBezTo>
                      <a:pt x="0" y="55222"/>
                      <a:pt x="7918" y="36106"/>
                      <a:pt x="22012" y="22012"/>
                    </a:cubicBezTo>
                    <a:cubicBezTo>
                      <a:pt x="36106" y="7918"/>
                      <a:pt x="55222" y="0"/>
                      <a:pt x="75154" y="0"/>
                    </a:cubicBezTo>
                    <a:close/>
                  </a:path>
                </a:pathLst>
              </a:custGeom>
              <a:solidFill>
                <a:srgbClr val="0D1D4B"/>
              </a:solidFill>
            </p:spPr>
          </p:sp>
          <p:sp>
            <p:nvSpPr>
              <p:cNvPr id="31" name="TextBox 31"/>
              <p:cNvSpPr txBox="1"/>
              <p:nvPr/>
            </p:nvSpPr>
            <p:spPr>
              <a:xfrm>
                <a:off x="0" y="-47625"/>
                <a:ext cx="759673" cy="230934"/>
              </a:xfrm>
              <a:prstGeom prst="rect">
                <a:avLst/>
              </a:prstGeom>
            </p:spPr>
            <p:txBody>
              <a:bodyPr lIns="50800" tIns="50800" rIns="50800" bIns="50800" rtlCol="0" anchor="ctr"/>
              <a:lstStyle/>
              <a:p>
                <a:pPr algn="ctr">
                  <a:lnSpc>
                    <a:spcPts val="2940"/>
                  </a:lnSpc>
                </a:pPr>
                <a:endParaRPr/>
              </a:p>
            </p:txBody>
          </p:sp>
        </p:grpSp>
        <p:sp>
          <p:nvSpPr>
            <p:cNvPr id="32" name="TextBox 32"/>
            <p:cNvSpPr txBox="1"/>
            <p:nvPr/>
          </p:nvSpPr>
          <p:spPr>
            <a:xfrm>
              <a:off x="16086675" y="2138338"/>
              <a:ext cx="4370344" cy="515620"/>
            </a:xfrm>
            <a:prstGeom prst="rect">
              <a:avLst/>
            </a:prstGeom>
          </p:spPr>
          <p:txBody>
            <a:bodyPr lIns="0" tIns="0" rIns="0" bIns="0" rtlCol="0" anchor="t">
              <a:spAutoFit/>
            </a:bodyPr>
            <a:lstStyle/>
            <a:p>
              <a:pPr algn="ctr">
                <a:lnSpc>
                  <a:spcPts val="3359"/>
                </a:lnSpc>
              </a:pPr>
              <a:r>
                <a:rPr lang="en-US" sz="2400" b="1" spc="57">
                  <a:solidFill>
                    <a:srgbClr val="FFFFFF"/>
                  </a:solidFill>
                  <a:latin typeface="Montserrat Bold"/>
                  <a:ea typeface="Montserrat Bold"/>
                  <a:cs typeface="Montserrat Bold"/>
                  <a:sym typeface="Montserrat Bold"/>
                </a:rPr>
                <a:t>Node do_task</a:t>
              </a:r>
            </a:p>
          </p:txBody>
        </p:sp>
        <p:grpSp>
          <p:nvGrpSpPr>
            <p:cNvPr id="33" name="Group 33"/>
            <p:cNvGrpSpPr/>
            <p:nvPr/>
          </p:nvGrpSpPr>
          <p:grpSpPr>
            <a:xfrm>
              <a:off x="16214150" y="153688"/>
              <a:ext cx="4141889" cy="928000"/>
              <a:chOff x="0" y="0"/>
              <a:chExt cx="818151" cy="183309"/>
            </a:xfrm>
          </p:grpSpPr>
          <p:sp>
            <p:nvSpPr>
              <p:cNvPr id="34" name="Freeform 34"/>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sp>
          <p:sp>
            <p:nvSpPr>
              <p:cNvPr id="35" name="TextBox 35"/>
              <p:cNvSpPr txBox="1"/>
              <p:nvPr/>
            </p:nvSpPr>
            <p:spPr>
              <a:xfrm>
                <a:off x="0" y="-47625"/>
                <a:ext cx="818151" cy="230934"/>
              </a:xfrm>
              <a:prstGeom prst="rect">
                <a:avLst/>
              </a:prstGeom>
            </p:spPr>
            <p:txBody>
              <a:bodyPr lIns="50800" tIns="50800" rIns="50800" bIns="50800" rtlCol="0" anchor="ctr"/>
              <a:lstStyle/>
              <a:p>
                <a:pPr algn="ctr">
                  <a:lnSpc>
                    <a:spcPts val="2940"/>
                  </a:lnSpc>
                </a:pPr>
                <a:endParaRPr/>
              </a:p>
            </p:txBody>
          </p:sp>
        </p:grpSp>
        <p:sp>
          <p:nvSpPr>
            <p:cNvPr id="36" name="TextBox 36"/>
            <p:cNvSpPr txBox="1"/>
            <p:nvPr/>
          </p:nvSpPr>
          <p:spPr>
            <a:xfrm>
              <a:off x="16086675" y="346738"/>
              <a:ext cx="4370344" cy="515620"/>
            </a:xfrm>
            <a:prstGeom prst="rect">
              <a:avLst/>
            </a:prstGeom>
          </p:spPr>
          <p:txBody>
            <a:bodyPr lIns="0" tIns="0" rIns="0" bIns="0" rtlCol="0" anchor="t">
              <a:spAutoFit/>
            </a:bodyPr>
            <a:lstStyle/>
            <a:p>
              <a:pPr algn="ctr">
                <a:lnSpc>
                  <a:spcPts val="3359"/>
                </a:lnSpc>
              </a:pPr>
              <a:r>
                <a:rPr lang="en-US" sz="2400" b="1" spc="57">
                  <a:solidFill>
                    <a:srgbClr val="FFFFFF"/>
                  </a:solidFill>
                  <a:latin typeface="Montserrat Bold"/>
                  <a:ea typeface="Montserrat Bold"/>
                  <a:cs typeface="Montserrat Bold"/>
                  <a:sym typeface="Montserrat Bold"/>
                </a:rPr>
                <a:t>Node re_planning</a:t>
              </a:r>
            </a:p>
          </p:txBody>
        </p:sp>
        <p:sp>
          <p:nvSpPr>
            <p:cNvPr id="37" name="AutoShape 37"/>
            <p:cNvSpPr/>
            <p:nvPr/>
          </p:nvSpPr>
          <p:spPr>
            <a:xfrm>
              <a:off x="12920293" y="2208212"/>
              <a:ext cx="3203060" cy="331014"/>
            </a:xfrm>
            <a:prstGeom prst="line">
              <a:avLst/>
            </a:prstGeom>
            <a:ln w="50800" cap="flat">
              <a:solidFill>
                <a:srgbClr val="0C0C6B"/>
              </a:solidFill>
              <a:prstDash val="solid"/>
              <a:headEnd type="none" w="sm" len="sm"/>
              <a:tailEnd type="arrow" w="med" len="sm"/>
            </a:ln>
          </p:spPr>
        </p:sp>
        <p:sp>
          <p:nvSpPr>
            <p:cNvPr id="38" name="AutoShape 38"/>
            <p:cNvSpPr/>
            <p:nvPr/>
          </p:nvSpPr>
          <p:spPr>
            <a:xfrm flipV="1">
              <a:off x="12920293" y="617688"/>
              <a:ext cx="3166381" cy="1590524"/>
            </a:xfrm>
            <a:prstGeom prst="line">
              <a:avLst/>
            </a:prstGeom>
            <a:ln w="50800" cap="flat">
              <a:solidFill>
                <a:srgbClr val="0C0C6B"/>
              </a:solidFill>
              <a:prstDash val="solid"/>
              <a:headEnd type="none" w="sm" len="sm"/>
              <a:tailEnd type="arrow" w="med" len="sm"/>
            </a:ln>
          </p:spPr>
        </p:sp>
      </p:grpSp>
      <p:sp>
        <p:nvSpPr>
          <p:cNvPr id="39" name="TextBox 39"/>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3.4. Xây dựng các thành phần của hệ thống chatbot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24</a:t>
            </a:r>
          </a:p>
        </p:txBody>
      </p:sp>
      <p:sp>
        <p:nvSpPr>
          <p:cNvPr id="13" name="TextBox 13"/>
          <p:cNvSpPr txBox="1"/>
          <p:nvPr/>
        </p:nvSpPr>
        <p:spPr>
          <a:xfrm>
            <a:off x="1028700" y="2337434"/>
            <a:ext cx="6957553" cy="768985"/>
          </a:xfrm>
          <a:prstGeom prst="rect">
            <a:avLst/>
          </a:prstGeom>
        </p:spPr>
        <p:txBody>
          <a:bodyPr lIns="0" tIns="0" rIns="0" bIns="0" rtlCol="0" anchor="t">
            <a:spAutoFit/>
          </a:bodyPr>
          <a:lstStyle/>
          <a:p>
            <a:pPr algn="just">
              <a:lnSpc>
                <a:spcPts val="6799"/>
              </a:lnSpc>
            </a:pPr>
            <a:r>
              <a:rPr lang="en-US" sz="3399" b="1">
                <a:solidFill>
                  <a:srgbClr val="0C1D4B"/>
                </a:solidFill>
                <a:latin typeface="Montserrat Bold"/>
                <a:ea typeface="Montserrat Bold"/>
                <a:cs typeface="Montserrat Bold"/>
                <a:sym typeface="Montserrat Bold"/>
              </a:rPr>
              <a:t>Node Re-planning</a:t>
            </a:r>
          </a:p>
        </p:txBody>
      </p:sp>
      <p:sp>
        <p:nvSpPr>
          <p:cNvPr id="14" name="TextBox 14"/>
          <p:cNvSpPr txBox="1"/>
          <p:nvPr/>
        </p:nvSpPr>
        <p:spPr>
          <a:xfrm>
            <a:off x="1028700" y="3255721"/>
            <a:ext cx="16230600" cy="542925"/>
          </a:xfrm>
          <a:prstGeom prst="rect">
            <a:avLst/>
          </a:prstGeom>
        </p:spPr>
        <p:txBody>
          <a:bodyPr lIns="0" tIns="0" rIns="0" bIns="0" rtlCol="0" anchor="t">
            <a:spAutoFit/>
          </a:bodyPr>
          <a:lstStyle/>
          <a:p>
            <a:pPr algn="just">
              <a:lnSpc>
                <a:spcPts val="4500"/>
              </a:lnSpc>
            </a:pPr>
            <a:r>
              <a:rPr lang="en-US" sz="3000">
                <a:solidFill>
                  <a:srgbClr val="0C1D4B"/>
                </a:solidFill>
                <a:latin typeface="Montserrat"/>
                <a:ea typeface="Montserrat"/>
                <a:cs typeface="Montserrat"/>
                <a:sym typeface="Montserrat"/>
              </a:rPr>
              <a:t>Node này chịu trách nhiệm lập kế hoạch lại cho Agent khi được yêu cầu.</a:t>
            </a:r>
          </a:p>
        </p:txBody>
      </p:sp>
      <p:grpSp>
        <p:nvGrpSpPr>
          <p:cNvPr id="15" name="Group 15"/>
          <p:cNvGrpSpPr/>
          <p:nvPr/>
        </p:nvGrpSpPr>
        <p:grpSpPr>
          <a:xfrm>
            <a:off x="1772087" y="5220003"/>
            <a:ext cx="14743827" cy="2931590"/>
            <a:chOff x="0" y="0"/>
            <a:chExt cx="19658436" cy="3908787"/>
          </a:xfrm>
        </p:grpSpPr>
        <p:sp>
          <p:nvSpPr>
            <p:cNvPr id="16" name="Freeform 16"/>
            <p:cNvSpPr/>
            <p:nvPr/>
          </p:nvSpPr>
          <p:spPr>
            <a:xfrm>
              <a:off x="7428176" y="151393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17"/>
            <p:cNvSpPr/>
            <p:nvPr/>
          </p:nvSpPr>
          <p:spPr>
            <a:xfrm>
              <a:off x="11419793" y="1431756"/>
              <a:ext cx="1500501" cy="1552911"/>
            </a:xfrm>
            <a:custGeom>
              <a:avLst/>
              <a:gdLst/>
              <a:ahLst/>
              <a:cxnLst/>
              <a:rect l="l" t="t" r="r" b="b"/>
              <a:pathLst>
                <a:path w="1500501" h="1552911">
                  <a:moveTo>
                    <a:pt x="0" y="0"/>
                  </a:moveTo>
                  <a:lnTo>
                    <a:pt x="1500500" y="0"/>
                  </a:lnTo>
                  <a:lnTo>
                    <a:pt x="1500500" y="1552912"/>
                  </a:lnTo>
                  <a:lnTo>
                    <a:pt x="0" y="15529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8" name="TextBox 18"/>
            <p:cNvSpPr txBox="1"/>
            <p:nvPr/>
          </p:nvSpPr>
          <p:spPr>
            <a:xfrm>
              <a:off x="0" y="523761"/>
              <a:ext cx="5384071" cy="3385026"/>
            </a:xfrm>
            <a:prstGeom prst="rect">
              <a:avLst/>
            </a:prstGeom>
          </p:spPr>
          <p:txBody>
            <a:bodyPr lIns="0" tIns="0" rIns="0" bIns="0" rtlCol="0" anchor="t">
              <a:spAutoFit/>
            </a:bodyPr>
            <a:lstStyle/>
            <a:p>
              <a:pPr marL="523223" lvl="1" indent="-261612" algn="l">
                <a:lnSpc>
                  <a:spcPts val="3392"/>
                </a:lnSpc>
                <a:buFont typeface="Arial"/>
                <a:buChar char="•"/>
              </a:pPr>
              <a:r>
                <a:rPr lang="en-US" sz="2423" b="1">
                  <a:solidFill>
                    <a:srgbClr val="000000"/>
                  </a:solidFill>
                  <a:latin typeface="Montserrat Bold"/>
                  <a:ea typeface="Montserrat Bold"/>
                  <a:cs typeface="Montserrat Bold"/>
                  <a:sym typeface="Montserrat Bold"/>
                </a:rPr>
                <a:t>Yêu cầu đầu vào</a:t>
              </a:r>
            </a:p>
            <a:p>
              <a:pPr marL="523223" lvl="1" indent="-261612" algn="l">
                <a:lnSpc>
                  <a:spcPts val="3392"/>
                </a:lnSpc>
                <a:buFont typeface="Arial"/>
                <a:buChar char="•"/>
              </a:pPr>
              <a:r>
                <a:rPr lang="en-US" sz="2423" b="1">
                  <a:solidFill>
                    <a:srgbClr val="000000"/>
                  </a:solidFill>
                  <a:latin typeface="Montserrat Bold"/>
                  <a:ea typeface="Montserrat Bold"/>
                  <a:cs typeface="Montserrat Bold"/>
                  <a:sym typeface="Montserrat Bold"/>
                </a:rPr>
                <a:t>Mô tả dữ liệu có sẵn</a:t>
              </a:r>
            </a:p>
            <a:p>
              <a:pPr marL="523223" lvl="1" indent="-261612" algn="l">
                <a:lnSpc>
                  <a:spcPts val="3392"/>
                </a:lnSpc>
                <a:spcBef>
                  <a:spcPct val="0"/>
                </a:spcBef>
                <a:buFont typeface="Arial"/>
                <a:buChar char="•"/>
              </a:pPr>
              <a:r>
                <a:rPr lang="en-US" sz="2423" b="1">
                  <a:solidFill>
                    <a:srgbClr val="000000"/>
                  </a:solidFill>
                  <a:latin typeface="Montserrat Bold"/>
                  <a:ea typeface="Montserrat Bold"/>
                  <a:cs typeface="Montserrat Bold"/>
                  <a:sym typeface="Montserrat Bold"/>
                </a:rPr>
                <a:t>Mô tả các công cụ</a:t>
              </a:r>
            </a:p>
            <a:p>
              <a:pPr marL="523223" lvl="1" indent="-261612" algn="l">
                <a:lnSpc>
                  <a:spcPts val="3392"/>
                </a:lnSpc>
                <a:spcBef>
                  <a:spcPct val="0"/>
                </a:spcBef>
                <a:buFont typeface="Arial"/>
                <a:buChar char="•"/>
              </a:pPr>
              <a:r>
                <a:rPr lang="en-US" sz="2423" b="1">
                  <a:solidFill>
                    <a:srgbClr val="000000"/>
                  </a:solidFill>
                  <a:latin typeface="Montserrat Bold"/>
                  <a:ea typeface="Montserrat Bold"/>
                  <a:cs typeface="Montserrat Bold"/>
                  <a:sym typeface="Montserrat Bold"/>
                </a:rPr>
                <a:t>Bản kế hoạch</a:t>
              </a:r>
            </a:p>
            <a:p>
              <a:pPr marL="523223" lvl="1" indent="-261612" algn="l">
                <a:lnSpc>
                  <a:spcPts val="3392"/>
                </a:lnSpc>
                <a:spcBef>
                  <a:spcPct val="0"/>
                </a:spcBef>
                <a:buFont typeface="Arial"/>
                <a:buChar char="•"/>
              </a:pPr>
              <a:r>
                <a:rPr lang="en-US" sz="2423" b="1">
                  <a:solidFill>
                    <a:srgbClr val="000000"/>
                  </a:solidFill>
                  <a:latin typeface="Montserrat Bold"/>
                  <a:ea typeface="Montserrat Bold"/>
                  <a:cs typeface="Montserrat Bold"/>
                  <a:sym typeface="Montserrat Bold"/>
                </a:rPr>
                <a:t>Kế quả các bước đã thực hiện</a:t>
              </a:r>
            </a:p>
          </p:txBody>
        </p:sp>
        <p:sp>
          <p:nvSpPr>
            <p:cNvPr id="19" name="AutoShape 19"/>
            <p:cNvSpPr/>
            <p:nvPr/>
          </p:nvSpPr>
          <p:spPr>
            <a:xfrm>
              <a:off x="5384071" y="2235324"/>
              <a:ext cx="2044105" cy="0"/>
            </a:xfrm>
            <a:prstGeom prst="line">
              <a:avLst/>
            </a:prstGeom>
            <a:ln w="50800" cap="flat">
              <a:solidFill>
                <a:srgbClr val="0C0C6B"/>
              </a:solidFill>
              <a:prstDash val="solid"/>
              <a:headEnd type="none" w="sm" len="sm"/>
              <a:tailEnd type="arrow" w="med" len="sm"/>
            </a:ln>
          </p:spPr>
        </p:sp>
        <p:sp>
          <p:nvSpPr>
            <p:cNvPr id="20" name="AutoShape 20"/>
            <p:cNvSpPr/>
            <p:nvPr/>
          </p:nvSpPr>
          <p:spPr>
            <a:xfrm flipV="1">
              <a:off x="8896656" y="2208212"/>
              <a:ext cx="2523136" cy="27112"/>
            </a:xfrm>
            <a:prstGeom prst="line">
              <a:avLst/>
            </a:prstGeom>
            <a:ln w="50800" cap="flat">
              <a:solidFill>
                <a:srgbClr val="0C0C6B"/>
              </a:solidFill>
              <a:prstDash val="solid"/>
              <a:headEnd type="none" w="sm" len="sm"/>
              <a:tailEnd type="arrow" w="med" len="sm"/>
            </a:ln>
          </p:spPr>
        </p:sp>
        <p:sp>
          <p:nvSpPr>
            <p:cNvPr id="21" name="TextBox 21"/>
            <p:cNvSpPr txBox="1"/>
            <p:nvPr/>
          </p:nvSpPr>
          <p:spPr>
            <a:xfrm>
              <a:off x="5862720" y="-24130"/>
              <a:ext cx="4599393" cy="599916"/>
            </a:xfrm>
            <a:prstGeom prst="rect">
              <a:avLst/>
            </a:prstGeom>
          </p:spPr>
          <p:txBody>
            <a:bodyPr lIns="0" tIns="0" rIns="0" bIns="0" rtlCol="0" anchor="t">
              <a:spAutoFit/>
            </a:bodyPr>
            <a:lstStyle/>
            <a:p>
              <a:pPr algn="ctr">
                <a:lnSpc>
                  <a:spcPts val="3812"/>
                </a:lnSpc>
                <a:spcBef>
                  <a:spcPct val="0"/>
                </a:spcBef>
              </a:pPr>
              <a:r>
                <a:rPr lang="en-US" sz="2723" b="1">
                  <a:solidFill>
                    <a:srgbClr val="000000"/>
                  </a:solidFill>
                  <a:latin typeface="Montserrat Bold"/>
                  <a:ea typeface="Montserrat Bold"/>
                  <a:cs typeface="Montserrat Bold"/>
                  <a:sym typeface="Montserrat Bold"/>
                </a:rPr>
                <a:t>PROMPT</a:t>
              </a:r>
            </a:p>
          </p:txBody>
        </p:sp>
        <p:sp>
          <p:nvSpPr>
            <p:cNvPr id="22" name="TextBox 22"/>
            <p:cNvSpPr txBox="1"/>
            <p:nvPr/>
          </p:nvSpPr>
          <p:spPr>
            <a:xfrm>
              <a:off x="10136552" y="-57150"/>
              <a:ext cx="3830101" cy="665956"/>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Montserrat Bold"/>
                  <a:ea typeface="Montserrat Bold"/>
                  <a:cs typeface="Montserrat Bold"/>
                  <a:sym typeface="Montserrat Bold"/>
                </a:rPr>
                <a:t>LLMs</a:t>
              </a:r>
            </a:p>
          </p:txBody>
        </p:sp>
        <p:grpSp>
          <p:nvGrpSpPr>
            <p:cNvPr id="23" name="Group 23"/>
            <p:cNvGrpSpPr/>
            <p:nvPr/>
          </p:nvGrpSpPr>
          <p:grpSpPr>
            <a:xfrm>
              <a:off x="15219870" y="1647225"/>
              <a:ext cx="4438566" cy="1121974"/>
              <a:chOff x="0" y="0"/>
              <a:chExt cx="804301" cy="203310"/>
            </a:xfrm>
          </p:grpSpPr>
          <p:sp>
            <p:nvSpPr>
              <p:cNvPr id="24" name="Freeform 24"/>
              <p:cNvSpPr/>
              <p:nvPr/>
            </p:nvSpPr>
            <p:spPr>
              <a:xfrm>
                <a:off x="0" y="0"/>
                <a:ext cx="804301" cy="203310"/>
              </a:xfrm>
              <a:custGeom>
                <a:avLst/>
                <a:gdLst/>
                <a:ahLst/>
                <a:cxnLst/>
                <a:rect l="l" t="t" r="r" b="b"/>
                <a:pathLst>
                  <a:path w="804301" h="203310">
                    <a:moveTo>
                      <a:pt x="90700" y="0"/>
                    </a:moveTo>
                    <a:lnTo>
                      <a:pt x="713601" y="0"/>
                    </a:lnTo>
                    <a:cubicBezTo>
                      <a:pt x="737656" y="0"/>
                      <a:pt x="760726" y="9556"/>
                      <a:pt x="777736" y="26566"/>
                    </a:cubicBezTo>
                    <a:cubicBezTo>
                      <a:pt x="794745" y="43575"/>
                      <a:pt x="804301" y="66645"/>
                      <a:pt x="804301" y="90700"/>
                    </a:cubicBezTo>
                    <a:lnTo>
                      <a:pt x="804301" y="112610"/>
                    </a:lnTo>
                    <a:cubicBezTo>
                      <a:pt x="804301" y="136665"/>
                      <a:pt x="794745" y="159735"/>
                      <a:pt x="777736" y="176745"/>
                    </a:cubicBezTo>
                    <a:cubicBezTo>
                      <a:pt x="760726" y="193754"/>
                      <a:pt x="737656" y="203310"/>
                      <a:pt x="713601" y="203310"/>
                    </a:cubicBezTo>
                    <a:lnTo>
                      <a:pt x="90700" y="203310"/>
                    </a:lnTo>
                    <a:cubicBezTo>
                      <a:pt x="66645" y="203310"/>
                      <a:pt x="43575" y="193754"/>
                      <a:pt x="26566" y="176745"/>
                    </a:cubicBezTo>
                    <a:cubicBezTo>
                      <a:pt x="9556" y="159735"/>
                      <a:pt x="0" y="136665"/>
                      <a:pt x="0" y="112610"/>
                    </a:cubicBezTo>
                    <a:lnTo>
                      <a:pt x="0" y="90700"/>
                    </a:lnTo>
                    <a:cubicBezTo>
                      <a:pt x="0" y="66645"/>
                      <a:pt x="9556" y="43575"/>
                      <a:pt x="26566" y="26566"/>
                    </a:cubicBezTo>
                    <a:cubicBezTo>
                      <a:pt x="43575" y="9556"/>
                      <a:pt x="66645" y="0"/>
                      <a:pt x="90700" y="0"/>
                    </a:cubicBezTo>
                    <a:close/>
                  </a:path>
                </a:pathLst>
              </a:custGeom>
              <a:solidFill>
                <a:srgbClr val="000000">
                  <a:alpha val="0"/>
                </a:srgbClr>
              </a:solidFill>
              <a:ln w="28575" cap="rnd">
                <a:solidFill>
                  <a:srgbClr val="000000"/>
                </a:solidFill>
                <a:prstDash val="solid"/>
                <a:round/>
              </a:ln>
            </p:spPr>
          </p:sp>
          <p:sp>
            <p:nvSpPr>
              <p:cNvPr id="25" name="TextBox 25"/>
              <p:cNvSpPr txBox="1"/>
              <p:nvPr/>
            </p:nvSpPr>
            <p:spPr>
              <a:xfrm>
                <a:off x="0" y="-47625"/>
                <a:ext cx="804301" cy="250935"/>
              </a:xfrm>
              <a:prstGeom prst="rect">
                <a:avLst/>
              </a:prstGeom>
            </p:spPr>
            <p:txBody>
              <a:bodyPr lIns="70439" tIns="70439" rIns="70439" bIns="70439" rtlCol="0" anchor="ctr"/>
              <a:lstStyle/>
              <a:p>
                <a:pPr algn="ctr">
                  <a:lnSpc>
                    <a:spcPts val="3219"/>
                  </a:lnSpc>
                </a:pPr>
                <a:r>
                  <a:rPr lang="en-US" sz="2299" b="1">
                    <a:solidFill>
                      <a:srgbClr val="000000"/>
                    </a:solidFill>
                    <a:latin typeface="Montserrat Bold"/>
                    <a:ea typeface="Montserrat Bold"/>
                    <a:cs typeface="Montserrat Bold"/>
                    <a:sym typeface="Montserrat Bold"/>
                  </a:rPr>
                  <a:t>Bản kế hoạch mới</a:t>
                </a:r>
              </a:p>
            </p:txBody>
          </p:sp>
        </p:grpSp>
        <p:sp>
          <p:nvSpPr>
            <p:cNvPr id="26" name="AutoShape 26"/>
            <p:cNvSpPr/>
            <p:nvPr/>
          </p:nvSpPr>
          <p:spPr>
            <a:xfrm flipV="1">
              <a:off x="13206856" y="2208212"/>
              <a:ext cx="2013014" cy="62679"/>
            </a:xfrm>
            <a:prstGeom prst="line">
              <a:avLst/>
            </a:prstGeom>
            <a:ln w="50800" cap="flat">
              <a:solidFill>
                <a:srgbClr val="0C0C6B"/>
              </a:solidFill>
              <a:prstDash val="solid"/>
              <a:headEnd type="none" w="sm" len="sm"/>
              <a:tailEnd type="arrow" w="med" len="sm"/>
            </a:ln>
          </p:spPr>
        </p:sp>
      </p:grpSp>
      <p:sp>
        <p:nvSpPr>
          <p:cNvPr id="27" name="TextBox 27"/>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3.4. Xây dựng các thành phần của hệ thống chatbot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25</a:t>
            </a:r>
          </a:p>
        </p:txBody>
      </p:sp>
      <p:sp>
        <p:nvSpPr>
          <p:cNvPr id="13" name="TextBox 13"/>
          <p:cNvSpPr txBox="1"/>
          <p:nvPr/>
        </p:nvSpPr>
        <p:spPr>
          <a:xfrm>
            <a:off x="1028700" y="2337434"/>
            <a:ext cx="6957553" cy="768985"/>
          </a:xfrm>
          <a:prstGeom prst="rect">
            <a:avLst/>
          </a:prstGeom>
        </p:spPr>
        <p:txBody>
          <a:bodyPr lIns="0" tIns="0" rIns="0" bIns="0" rtlCol="0" anchor="t">
            <a:spAutoFit/>
          </a:bodyPr>
          <a:lstStyle/>
          <a:p>
            <a:pPr algn="just">
              <a:lnSpc>
                <a:spcPts val="6799"/>
              </a:lnSpc>
            </a:pPr>
            <a:r>
              <a:rPr lang="en-US" sz="3399" b="1">
                <a:solidFill>
                  <a:srgbClr val="0C1D4B"/>
                </a:solidFill>
                <a:latin typeface="Montserrat Bold"/>
                <a:ea typeface="Montserrat Bold"/>
                <a:cs typeface="Montserrat Bold"/>
                <a:sym typeface="Montserrat Bold"/>
              </a:rPr>
              <a:t>Node Do-task</a:t>
            </a:r>
          </a:p>
        </p:txBody>
      </p:sp>
      <p:sp>
        <p:nvSpPr>
          <p:cNvPr id="14" name="TextBox 14"/>
          <p:cNvSpPr txBox="1"/>
          <p:nvPr/>
        </p:nvSpPr>
        <p:spPr>
          <a:xfrm>
            <a:off x="1028700" y="3246718"/>
            <a:ext cx="16230600" cy="2257425"/>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0C1D4B"/>
                </a:solidFill>
                <a:latin typeface="Montserrat"/>
                <a:ea typeface="Montserrat"/>
                <a:cs typeface="Montserrat"/>
                <a:sym typeface="Montserrat"/>
              </a:rPr>
              <a:t>Node này chịu trách nhiệm gọi các tool nhằm thực hiện các task.</a:t>
            </a:r>
          </a:p>
          <a:p>
            <a:pPr marL="647700" lvl="1" indent="-323850" algn="just">
              <a:lnSpc>
                <a:spcPts val="4500"/>
              </a:lnSpc>
              <a:buFont typeface="Arial"/>
              <a:buChar char="•"/>
            </a:pPr>
            <a:r>
              <a:rPr lang="en-US" sz="3000">
                <a:solidFill>
                  <a:srgbClr val="0C1D4B"/>
                </a:solidFill>
                <a:latin typeface="Montserrat"/>
                <a:ea typeface="Montserrat"/>
                <a:cs typeface="Montserrat"/>
                <a:sym typeface="Montserrat"/>
              </a:rPr>
              <a:t>Để gọi các tool, ta sử dụng tính năng tool calling trong SDK của các mô hình LLMs.</a:t>
            </a:r>
          </a:p>
          <a:p>
            <a:pPr marL="647700" lvl="1" indent="-323850" algn="just">
              <a:lnSpc>
                <a:spcPts val="4500"/>
              </a:lnSpc>
              <a:buFont typeface="Arial"/>
              <a:buChar char="•"/>
            </a:pPr>
            <a:r>
              <a:rPr lang="en-US" sz="3000">
                <a:solidFill>
                  <a:srgbClr val="0C1D4B"/>
                </a:solidFill>
                <a:latin typeface="Montserrat"/>
                <a:ea typeface="Montserrat"/>
                <a:cs typeface="Montserrat"/>
                <a:sym typeface="Montserrat"/>
              </a:rPr>
              <a:t>Trong Prompt, ta yêu cầu LLMs trả kết quả dạng JSON để dễ dàng xử lý</a:t>
            </a:r>
          </a:p>
        </p:txBody>
      </p:sp>
      <p:grpSp>
        <p:nvGrpSpPr>
          <p:cNvPr id="15" name="Group 15"/>
          <p:cNvGrpSpPr/>
          <p:nvPr/>
        </p:nvGrpSpPr>
        <p:grpSpPr>
          <a:xfrm>
            <a:off x="1609366" y="6047520"/>
            <a:ext cx="15069268" cy="3562273"/>
            <a:chOff x="0" y="0"/>
            <a:chExt cx="20092357" cy="4749698"/>
          </a:xfrm>
        </p:grpSpPr>
        <p:sp>
          <p:nvSpPr>
            <p:cNvPr id="16" name="Freeform 16"/>
            <p:cNvSpPr/>
            <p:nvPr/>
          </p:nvSpPr>
          <p:spPr>
            <a:xfrm>
              <a:off x="5741690" y="1060921"/>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17"/>
            <p:cNvSpPr/>
            <p:nvPr/>
          </p:nvSpPr>
          <p:spPr>
            <a:xfrm>
              <a:off x="10054339" y="1064658"/>
              <a:ext cx="1500501" cy="1552911"/>
            </a:xfrm>
            <a:custGeom>
              <a:avLst/>
              <a:gdLst/>
              <a:ahLst/>
              <a:cxnLst/>
              <a:rect l="l" t="t" r="r" b="b"/>
              <a:pathLst>
                <a:path w="1500501" h="1552911">
                  <a:moveTo>
                    <a:pt x="0" y="0"/>
                  </a:moveTo>
                  <a:lnTo>
                    <a:pt x="1500501" y="0"/>
                  </a:lnTo>
                  <a:lnTo>
                    <a:pt x="1500501" y="1552912"/>
                  </a:lnTo>
                  <a:lnTo>
                    <a:pt x="0" y="15529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8" name="AutoShape 18"/>
            <p:cNvSpPr/>
            <p:nvPr/>
          </p:nvSpPr>
          <p:spPr>
            <a:xfrm flipV="1">
              <a:off x="2897520" y="1782312"/>
              <a:ext cx="2844170" cy="0"/>
            </a:xfrm>
            <a:prstGeom prst="line">
              <a:avLst/>
            </a:prstGeom>
            <a:ln w="50800" cap="flat">
              <a:solidFill>
                <a:srgbClr val="0C0C6B"/>
              </a:solidFill>
              <a:prstDash val="solid"/>
              <a:headEnd type="none" w="sm" len="sm"/>
              <a:tailEnd type="arrow" w="med" len="sm"/>
            </a:ln>
          </p:spPr>
        </p:sp>
        <p:sp>
          <p:nvSpPr>
            <p:cNvPr id="19" name="AutoShape 19"/>
            <p:cNvSpPr/>
            <p:nvPr/>
          </p:nvSpPr>
          <p:spPr>
            <a:xfrm>
              <a:off x="7210170" y="1782312"/>
              <a:ext cx="2844170" cy="58802"/>
            </a:xfrm>
            <a:prstGeom prst="line">
              <a:avLst/>
            </a:prstGeom>
            <a:ln w="50800" cap="flat">
              <a:solidFill>
                <a:srgbClr val="0C0C6B"/>
              </a:solidFill>
              <a:prstDash val="solid"/>
              <a:headEnd type="none" w="sm" len="sm"/>
              <a:tailEnd type="arrow" w="med" len="sm"/>
            </a:ln>
          </p:spPr>
        </p:sp>
        <p:grpSp>
          <p:nvGrpSpPr>
            <p:cNvPr id="20" name="Group 20"/>
            <p:cNvGrpSpPr/>
            <p:nvPr/>
          </p:nvGrpSpPr>
          <p:grpSpPr>
            <a:xfrm>
              <a:off x="8585307" y="3627724"/>
              <a:ext cx="4438566" cy="1121974"/>
              <a:chOff x="0" y="0"/>
              <a:chExt cx="804301" cy="203310"/>
            </a:xfrm>
          </p:grpSpPr>
          <p:sp>
            <p:nvSpPr>
              <p:cNvPr id="21" name="Freeform 21"/>
              <p:cNvSpPr/>
              <p:nvPr/>
            </p:nvSpPr>
            <p:spPr>
              <a:xfrm>
                <a:off x="0" y="0"/>
                <a:ext cx="804301" cy="203310"/>
              </a:xfrm>
              <a:custGeom>
                <a:avLst/>
                <a:gdLst/>
                <a:ahLst/>
                <a:cxnLst/>
                <a:rect l="l" t="t" r="r" b="b"/>
                <a:pathLst>
                  <a:path w="804301" h="203310">
                    <a:moveTo>
                      <a:pt x="90700" y="0"/>
                    </a:moveTo>
                    <a:lnTo>
                      <a:pt x="713601" y="0"/>
                    </a:lnTo>
                    <a:cubicBezTo>
                      <a:pt x="737656" y="0"/>
                      <a:pt x="760726" y="9556"/>
                      <a:pt x="777736" y="26566"/>
                    </a:cubicBezTo>
                    <a:cubicBezTo>
                      <a:pt x="794745" y="43575"/>
                      <a:pt x="804301" y="66645"/>
                      <a:pt x="804301" y="90700"/>
                    </a:cubicBezTo>
                    <a:lnTo>
                      <a:pt x="804301" y="112610"/>
                    </a:lnTo>
                    <a:cubicBezTo>
                      <a:pt x="804301" y="136665"/>
                      <a:pt x="794745" y="159735"/>
                      <a:pt x="777736" y="176745"/>
                    </a:cubicBezTo>
                    <a:cubicBezTo>
                      <a:pt x="760726" y="193754"/>
                      <a:pt x="737656" y="203310"/>
                      <a:pt x="713601" y="203310"/>
                    </a:cubicBezTo>
                    <a:lnTo>
                      <a:pt x="90700" y="203310"/>
                    </a:lnTo>
                    <a:cubicBezTo>
                      <a:pt x="66645" y="203310"/>
                      <a:pt x="43575" y="193754"/>
                      <a:pt x="26566" y="176745"/>
                    </a:cubicBezTo>
                    <a:cubicBezTo>
                      <a:pt x="9556" y="159735"/>
                      <a:pt x="0" y="136665"/>
                      <a:pt x="0" y="112610"/>
                    </a:cubicBezTo>
                    <a:lnTo>
                      <a:pt x="0" y="90700"/>
                    </a:lnTo>
                    <a:cubicBezTo>
                      <a:pt x="0" y="66645"/>
                      <a:pt x="9556" y="43575"/>
                      <a:pt x="26566" y="26566"/>
                    </a:cubicBezTo>
                    <a:cubicBezTo>
                      <a:pt x="43575" y="9556"/>
                      <a:pt x="66645" y="0"/>
                      <a:pt x="90700" y="0"/>
                    </a:cubicBezTo>
                    <a:close/>
                  </a:path>
                </a:pathLst>
              </a:custGeom>
              <a:solidFill>
                <a:srgbClr val="000000">
                  <a:alpha val="0"/>
                </a:srgbClr>
              </a:solidFill>
              <a:ln w="28575" cap="rnd">
                <a:solidFill>
                  <a:srgbClr val="000000"/>
                </a:solidFill>
                <a:prstDash val="solid"/>
                <a:round/>
              </a:ln>
            </p:spPr>
          </p:sp>
          <p:sp>
            <p:nvSpPr>
              <p:cNvPr id="22" name="TextBox 22"/>
              <p:cNvSpPr txBox="1"/>
              <p:nvPr/>
            </p:nvSpPr>
            <p:spPr>
              <a:xfrm>
                <a:off x="0" y="-47625"/>
                <a:ext cx="804301" cy="250935"/>
              </a:xfrm>
              <a:prstGeom prst="rect">
                <a:avLst/>
              </a:prstGeom>
            </p:spPr>
            <p:txBody>
              <a:bodyPr lIns="70439" tIns="70439" rIns="70439" bIns="70439" rtlCol="0" anchor="ctr"/>
              <a:lstStyle/>
              <a:p>
                <a:pPr algn="ctr">
                  <a:lnSpc>
                    <a:spcPts val="3219"/>
                  </a:lnSpc>
                </a:pPr>
                <a:r>
                  <a:rPr lang="en-US" sz="2299" b="1">
                    <a:solidFill>
                      <a:srgbClr val="000000"/>
                    </a:solidFill>
                    <a:latin typeface="Montserrat Bold"/>
                    <a:ea typeface="Montserrat Bold"/>
                    <a:cs typeface="Montserrat Bold"/>
                    <a:sym typeface="Montserrat Bold"/>
                  </a:rPr>
                  <a:t>Kết quả dạng json</a:t>
                </a:r>
              </a:p>
            </p:txBody>
          </p:sp>
        </p:grpSp>
        <p:sp>
          <p:nvSpPr>
            <p:cNvPr id="23" name="Freeform 23"/>
            <p:cNvSpPr/>
            <p:nvPr/>
          </p:nvSpPr>
          <p:spPr>
            <a:xfrm>
              <a:off x="17028313" y="947054"/>
              <a:ext cx="1689522" cy="1670515"/>
            </a:xfrm>
            <a:custGeom>
              <a:avLst/>
              <a:gdLst/>
              <a:ahLst/>
              <a:cxnLst/>
              <a:rect l="l" t="t" r="r" b="b"/>
              <a:pathLst>
                <a:path w="1689522" h="1670515">
                  <a:moveTo>
                    <a:pt x="0" y="0"/>
                  </a:moveTo>
                  <a:lnTo>
                    <a:pt x="1689522" y="0"/>
                  </a:lnTo>
                  <a:lnTo>
                    <a:pt x="1689522" y="1670516"/>
                  </a:lnTo>
                  <a:lnTo>
                    <a:pt x="0" y="16705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TextBox 24"/>
            <p:cNvSpPr txBox="1"/>
            <p:nvPr/>
          </p:nvSpPr>
          <p:spPr>
            <a:xfrm>
              <a:off x="0" y="1213749"/>
              <a:ext cx="2897520" cy="1099026"/>
            </a:xfrm>
            <a:prstGeom prst="rect">
              <a:avLst/>
            </a:prstGeom>
          </p:spPr>
          <p:txBody>
            <a:bodyPr lIns="0" tIns="0" rIns="0" bIns="0" rtlCol="0" anchor="t">
              <a:spAutoFit/>
            </a:bodyPr>
            <a:lstStyle/>
            <a:p>
              <a:pPr algn="ctr">
                <a:lnSpc>
                  <a:spcPts val="3392"/>
                </a:lnSpc>
              </a:pPr>
              <a:r>
                <a:rPr lang="en-US" sz="2423" b="1">
                  <a:solidFill>
                    <a:srgbClr val="000000"/>
                  </a:solidFill>
                  <a:latin typeface="Montserrat Bold"/>
                  <a:ea typeface="Montserrat Bold"/>
                  <a:cs typeface="Montserrat Bold"/>
                  <a:sym typeface="Montserrat Bold"/>
                </a:rPr>
                <a:t>Task cần thực hiện</a:t>
              </a:r>
            </a:p>
          </p:txBody>
        </p:sp>
        <p:sp>
          <p:nvSpPr>
            <p:cNvPr id="25" name="TextBox 25"/>
            <p:cNvSpPr txBox="1"/>
            <p:nvPr/>
          </p:nvSpPr>
          <p:spPr>
            <a:xfrm>
              <a:off x="4175603" y="-57150"/>
              <a:ext cx="4599393" cy="599916"/>
            </a:xfrm>
            <a:prstGeom prst="rect">
              <a:avLst/>
            </a:prstGeom>
          </p:spPr>
          <p:txBody>
            <a:bodyPr lIns="0" tIns="0" rIns="0" bIns="0" rtlCol="0" anchor="t">
              <a:spAutoFit/>
            </a:bodyPr>
            <a:lstStyle/>
            <a:p>
              <a:pPr algn="ctr">
                <a:lnSpc>
                  <a:spcPts val="3812"/>
                </a:lnSpc>
                <a:spcBef>
                  <a:spcPct val="0"/>
                </a:spcBef>
              </a:pPr>
              <a:r>
                <a:rPr lang="en-US" sz="2723" b="1">
                  <a:solidFill>
                    <a:srgbClr val="000000"/>
                  </a:solidFill>
                  <a:latin typeface="Montserrat Bold"/>
                  <a:ea typeface="Montserrat Bold"/>
                  <a:cs typeface="Montserrat Bold"/>
                  <a:sym typeface="Montserrat Bold"/>
                </a:rPr>
                <a:t>PROMPT</a:t>
              </a:r>
            </a:p>
          </p:txBody>
        </p:sp>
        <p:sp>
          <p:nvSpPr>
            <p:cNvPr id="26" name="TextBox 26"/>
            <p:cNvSpPr txBox="1"/>
            <p:nvPr/>
          </p:nvSpPr>
          <p:spPr>
            <a:xfrm>
              <a:off x="8571981" y="-57150"/>
              <a:ext cx="3830101" cy="665956"/>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Montserrat Bold"/>
                  <a:ea typeface="Montserrat Bold"/>
                  <a:cs typeface="Montserrat Bold"/>
                  <a:sym typeface="Montserrat Bold"/>
                </a:rPr>
                <a:t>LLMs</a:t>
              </a:r>
            </a:p>
          </p:txBody>
        </p:sp>
        <p:sp>
          <p:nvSpPr>
            <p:cNvPr id="27" name="TextBox 27"/>
            <p:cNvSpPr txBox="1"/>
            <p:nvPr/>
          </p:nvSpPr>
          <p:spPr>
            <a:xfrm>
              <a:off x="15958023" y="-57150"/>
              <a:ext cx="3830101" cy="665956"/>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Montserrat Bold"/>
                  <a:ea typeface="Montserrat Bold"/>
                  <a:cs typeface="Montserrat Bold"/>
                  <a:sym typeface="Montserrat Bold"/>
                </a:rPr>
                <a:t>Tools</a:t>
              </a:r>
            </a:p>
          </p:txBody>
        </p:sp>
        <p:sp>
          <p:nvSpPr>
            <p:cNvPr id="28" name="AutoShape 28"/>
            <p:cNvSpPr/>
            <p:nvPr/>
          </p:nvSpPr>
          <p:spPr>
            <a:xfrm flipV="1">
              <a:off x="11554840" y="1782312"/>
              <a:ext cx="5473473" cy="58802"/>
            </a:xfrm>
            <a:prstGeom prst="line">
              <a:avLst/>
            </a:prstGeom>
            <a:ln w="50800" cap="flat">
              <a:solidFill>
                <a:srgbClr val="0C0C6B"/>
              </a:solidFill>
              <a:prstDash val="solid"/>
              <a:headEnd type="arrow" w="med" len="sm"/>
              <a:tailEnd type="arrow" w="med" len="sm"/>
            </a:ln>
          </p:spPr>
        </p:sp>
        <p:sp>
          <p:nvSpPr>
            <p:cNvPr id="29" name="TextBox 29"/>
            <p:cNvSpPr txBox="1"/>
            <p:nvPr/>
          </p:nvSpPr>
          <p:spPr>
            <a:xfrm>
              <a:off x="12110976" y="445606"/>
              <a:ext cx="4361200" cy="1163954"/>
            </a:xfrm>
            <a:prstGeom prst="rect">
              <a:avLst/>
            </a:prstGeom>
          </p:spPr>
          <p:txBody>
            <a:bodyPr lIns="0" tIns="0" rIns="0" bIns="0" rtlCol="0" anchor="t">
              <a:spAutoFit/>
            </a:bodyPr>
            <a:lstStyle/>
            <a:p>
              <a:pPr marL="518163" lvl="1" indent="-259082" algn="just">
                <a:lnSpc>
                  <a:spcPts val="3600"/>
                </a:lnSpc>
                <a:buFont typeface="Arial"/>
                <a:buChar char="•"/>
              </a:pPr>
              <a:r>
                <a:rPr lang="en-US" sz="2400" b="1">
                  <a:solidFill>
                    <a:srgbClr val="0C1D4B"/>
                  </a:solidFill>
                  <a:latin typeface="Montserrat Bold"/>
                  <a:ea typeface="Montserrat Bold"/>
                  <a:cs typeface="Montserrat Bold"/>
                  <a:sym typeface="Montserrat Bold"/>
                </a:rPr>
                <a:t>Chọn tool</a:t>
              </a:r>
            </a:p>
            <a:p>
              <a:pPr marL="518163" lvl="1" indent="-259082" algn="just">
                <a:lnSpc>
                  <a:spcPts val="3600"/>
                </a:lnSpc>
                <a:buFont typeface="Arial"/>
                <a:buChar char="•"/>
              </a:pPr>
              <a:r>
                <a:rPr lang="en-US" sz="2400" b="1">
                  <a:solidFill>
                    <a:srgbClr val="0C1D4B"/>
                  </a:solidFill>
                  <a:latin typeface="Montserrat Bold"/>
                  <a:ea typeface="Montserrat Bold"/>
                  <a:cs typeface="Montserrat Bold"/>
                  <a:sym typeface="Montserrat Bold"/>
                </a:rPr>
                <a:t>Tham số đầu vào</a:t>
              </a:r>
            </a:p>
          </p:txBody>
        </p:sp>
        <p:sp>
          <p:nvSpPr>
            <p:cNvPr id="30" name="AutoShape 30"/>
            <p:cNvSpPr/>
            <p:nvPr/>
          </p:nvSpPr>
          <p:spPr>
            <a:xfrm>
              <a:off x="10804590" y="2617570"/>
              <a:ext cx="0" cy="1010155"/>
            </a:xfrm>
            <a:prstGeom prst="line">
              <a:avLst/>
            </a:prstGeom>
            <a:ln w="50800" cap="flat">
              <a:solidFill>
                <a:srgbClr val="0C0C6B"/>
              </a:solidFill>
              <a:prstDash val="solid"/>
              <a:headEnd type="none" w="sm" len="sm"/>
              <a:tailEnd type="arrow" w="med" len="sm"/>
            </a:ln>
          </p:spPr>
        </p:sp>
        <p:grpSp>
          <p:nvGrpSpPr>
            <p:cNvPr id="31" name="Group 31"/>
            <p:cNvGrpSpPr/>
            <p:nvPr/>
          </p:nvGrpSpPr>
          <p:grpSpPr>
            <a:xfrm>
              <a:off x="15653791" y="3627724"/>
              <a:ext cx="4438566" cy="1121974"/>
              <a:chOff x="0" y="0"/>
              <a:chExt cx="804301" cy="203310"/>
            </a:xfrm>
          </p:grpSpPr>
          <p:sp>
            <p:nvSpPr>
              <p:cNvPr id="32" name="Freeform 32"/>
              <p:cNvSpPr/>
              <p:nvPr/>
            </p:nvSpPr>
            <p:spPr>
              <a:xfrm>
                <a:off x="0" y="0"/>
                <a:ext cx="804301" cy="203310"/>
              </a:xfrm>
              <a:custGeom>
                <a:avLst/>
                <a:gdLst/>
                <a:ahLst/>
                <a:cxnLst/>
                <a:rect l="l" t="t" r="r" b="b"/>
                <a:pathLst>
                  <a:path w="804301" h="203310">
                    <a:moveTo>
                      <a:pt x="90700" y="0"/>
                    </a:moveTo>
                    <a:lnTo>
                      <a:pt x="713601" y="0"/>
                    </a:lnTo>
                    <a:cubicBezTo>
                      <a:pt x="737656" y="0"/>
                      <a:pt x="760726" y="9556"/>
                      <a:pt x="777736" y="26566"/>
                    </a:cubicBezTo>
                    <a:cubicBezTo>
                      <a:pt x="794745" y="43575"/>
                      <a:pt x="804301" y="66645"/>
                      <a:pt x="804301" y="90700"/>
                    </a:cubicBezTo>
                    <a:lnTo>
                      <a:pt x="804301" y="112610"/>
                    </a:lnTo>
                    <a:cubicBezTo>
                      <a:pt x="804301" y="136665"/>
                      <a:pt x="794745" y="159735"/>
                      <a:pt x="777736" y="176745"/>
                    </a:cubicBezTo>
                    <a:cubicBezTo>
                      <a:pt x="760726" y="193754"/>
                      <a:pt x="737656" y="203310"/>
                      <a:pt x="713601" y="203310"/>
                    </a:cubicBezTo>
                    <a:lnTo>
                      <a:pt x="90700" y="203310"/>
                    </a:lnTo>
                    <a:cubicBezTo>
                      <a:pt x="66645" y="203310"/>
                      <a:pt x="43575" y="193754"/>
                      <a:pt x="26566" y="176745"/>
                    </a:cubicBezTo>
                    <a:cubicBezTo>
                      <a:pt x="9556" y="159735"/>
                      <a:pt x="0" y="136665"/>
                      <a:pt x="0" y="112610"/>
                    </a:cubicBezTo>
                    <a:lnTo>
                      <a:pt x="0" y="90700"/>
                    </a:lnTo>
                    <a:cubicBezTo>
                      <a:pt x="0" y="66645"/>
                      <a:pt x="9556" y="43575"/>
                      <a:pt x="26566" y="26566"/>
                    </a:cubicBezTo>
                    <a:cubicBezTo>
                      <a:pt x="43575" y="9556"/>
                      <a:pt x="66645" y="0"/>
                      <a:pt x="90700" y="0"/>
                    </a:cubicBezTo>
                    <a:close/>
                  </a:path>
                </a:pathLst>
              </a:custGeom>
              <a:solidFill>
                <a:srgbClr val="000000">
                  <a:alpha val="0"/>
                </a:srgbClr>
              </a:solidFill>
              <a:ln w="28575" cap="rnd">
                <a:solidFill>
                  <a:srgbClr val="000000"/>
                </a:solidFill>
                <a:prstDash val="solid"/>
                <a:round/>
              </a:ln>
            </p:spPr>
          </p:sp>
          <p:sp>
            <p:nvSpPr>
              <p:cNvPr id="33" name="TextBox 33"/>
              <p:cNvSpPr txBox="1"/>
              <p:nvPr/>
            </p:nvSpPr>
            <p:spPr>
              <a:xfrm>
                <a:off x="0" y="-47625"/>
                <a:ext cx="804301" cy="250935"/>
              </a:xfrm>
              <a:prstGeom prst="rect">
                <a:avLst/>
              </a:prstGeom>
            </p:spPr>
            <p:txBody>
              <a:bodyPr lIns="70439" tIns="70439" rIns="70439" bIns="70439" rtlCol="0" anchor="ctr"/>
              <a:lstStyle/>
              <a:p>
                <a:pPr algn="ctr">
                  <a:lnSpc>
                    <a:spcPts val="3219"/>
                  </a:lnSpc>
                </a:pPr>
                <a:r>
                  <a:rPr lang="en-US" sz="2299" b="1">
                    <a:solidFill>
                      <a:srgbClr val="000000"/>
                    </a:solidFill>
                    <a:latin typeface="Montserrat Bold"/>
                    <a:ea typeface="Montserrat Bold"/>
                    <a:cs typeface="Montserrat Bold"/>
                    <a:sym typeface="Montserrat Bold"/>
                  </a:rPr>
                  <a:t>Kết quả dạng Object</a:t>
                </a:r>
              </a:p>
            </p:txBody>
          </p:sp>
        </p:grpSp>
        <p:sp>
          <p:nvSpPr>
            <p:cNvPr id="34" name="AutoShape 34"/>
            <p:cNvSpPr/>
            <p:nvPr/>
          </p:nvSpPr>
          <p:spPr>
            <a:xfrm>
              <a:off x="13023873" y="4188711"/>
              <a:ext cx="2629919" cy="0"/>
            </a:xfrm>
            <a:prstGeom prst="line">
              <a:avLst/>
            </a:prstGeom>
            <a:ln w="50800" cap="flat">
              <a:solidFill>
                <a:srgbClr val="0C0C6B"/>
              </a:solidFill>
              <a:prstDash val="solid"/>
              <a:headEnd type="none" w="sm" len="sm"/>
              <a:tailEnd type="arrow" w="med" len="sm"/>
            </a:ln>
          </p:spPr>
        </p:sp>
        <p:sp>
          <p:nvSpPr>
            <p:cNvPr id="35" name="TextBox 35"/>
            <p:cNvSpPr txBox="1"/>
            <p:nvPr/>
          </p:nvSpPr>
          <p:spPr>
            <a:xfrm>
              <a:off x="13682089" y="3317209"/>
              <a:ext cx="1427629" cy="554354"/>
            </a:xfrm>
            <a:prstGeom prst="rect">
              <a:avLst/>
            </a:prstGeom>
          </p:spPr>
          <p:txBody>
            <a:bodyPr lIns="0" tIns="0" rIns="0" bIns="0" rtlCol="0" anchor="t">
              <a:spAutoFit/>
            </a:bodyPr>
            <a:lstStyle/>
            <a:p>
              <a:pPr algn="just">
                <a:lnSpc>
                  <a:spcPts val="3600"/>
                </a:lnSpc>
              </a:pPr>
              <a:r>
                <a:rPr lang="en-US" sz="2400" b="1">
                  <a:solidFill>
                    <a:srgbClr val="0C1D4B"/>
                  </a:solidFill>
                  <a:latin typeface="Montserrat Bold"/>
                  <a:ea typeface="Montserrat Bold"/>
                  <a:cs typeface="Montserrat Bold"/>
                  <a:sym typeface="Montserrat Bold"/>
                </a:rPr>
                <a:t>Parse</a:t>
              </a:r>
            </a:p>
          </p:txBody>
        </p:sp>
      </p:grpSp>
      <p:sp>
        <p:nvSpPr>
          <p:cNvPr id="36" name="TextBox 36"/>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3.4. Xây dựng các thành phần của hệ thống chatbot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Freeform 12"/>
          <p:cNvSpPr/>
          <p:nvPr/>
        </p:nvSpPr>
        <p:spPr>
          <a:xfrm>
            <a:off x="4759854" y="5693564"/>
            <a:ext cx="8902546" cy="4221016"/>
          </a:xfrm>
          <a:custGeom>
            <a:avLst/>
            <a:gdLst/>
            <a:ahLst/>
            <a:cxnLst/>
            <a:rect l="l" t="t" r="r" b="b"/>
            <a:pathLst>
              <a:path w="8902546" h="4221016">
                <a:moveTo>
                  <a:pt x="0" y="0"/>
                </a:moveTo>
                <a:lnTo>
                  <a:pt x="8902545" y="0"/>
                </a:lnTo>
                <a:lnTo>
                  <a:pt x="8902545" y="4221016"/>
                </a:lnTo>
                <a:lnTo>
                  <a:pt x="0" y="4221016"/>
                </a:lnTo>
                <a:lnTo>
                  <a:pt x="0" y="0"/>
                </a:lnTo>
                <a:close/>
              </a:path>
            </a:pathLst>
          </a:custGeom>
          <a:blipFill>
            <a:blip r:embed="rId4"/>
            <a:stretch>
              <a:fillRect l="-2172" t="-6126" r="-8772" b="-10535"/>
            </a:stretch>
          </a:blipFill>
        </p:spPr>
      </p:sp>
      <p:sp>
        <p:nvSpPr>
          <p:cNvPr id="13" name="TextBox 13"/>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26</a:t>
            </a:r>
          </a:p>
        </p:txBody>
      </p:sp>
      <p:sp>
        <p:nvSpPr>
          <p:cNvPr id="14" name="TextBox 14"/>
          <p:cNvSpPr txBox="1"/>
          <p:nvPr/>
        </p:nvSpPr>
        <p:spPr>
          <a:xfrm>
            <a:off x="1028700" y="2337434"/>
            <a:ext cx="6957553" cy="768985"/>
          </a:xfrm>
          <a:prstGeom prst="rect">
            <a:avLst/>
          </a:prstGeom>
        </p:spPr>
        <p:txBody>
          <a:bodyPr lIns="0" tIns="0" rIns="0" bIns="0" rtlCol="0" anchor="t">
            <a:spAutoFit/>
          </a:bodyPr>
          <a:lstStyle/>
          <a:p>
            <a:pPr algn="just">
              <a:lnSpc>
                <a:spcPts val="6799"/>
              </a:lnSpc>
            </a:pPr>
            <a:r>
              <a:rPr lang="en-US" sz="3399" b="1">
                <a:solidFill>
                  <a:srgbClr val="0C1D4B"/>
                </a:solidFill>
                <a:latin typeface="Montserrat Bold"/>
                <a:ea typeface="Montserrat Bold"/>
                <a:cs typeface="Montserrat Bold"/>
                <a:sym typeface="Montserrat Bold"/>
              </a:rPr>
              <a:t>Agentic RAG</a:t>
            </a:r>
          </a:p>
        </p:txBody>
      </p:sp>
      <p:sp>
        <p:nvSpPr>
          <p:cNvPr id="15" name="TextBox 15"/>
          <p:cNvSpPr txBox="1"/>
          <p:nvPr/>
        </p:nvSpPr>
        <p:spPr>
          <a:xfrm>
            <a:off x="1162953" y="3306492"/>
            <a:ext cx="16096347" cy="2257425"/>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0C1D4B"/>
                </a:solidFill>
                <a:latin typeface="Montserrat"/>
                <a:ea typeface="Montserrat"/>
                <a:cs typeface="Montserrat"/>
                <a:sym typeface="Montserrat"/>
              </a:rPr>
              <a:t>Node </a:t>
            </a:r>
            <a:r>
              <a:rPr lang="en-US" sz="3000" b="1">
                <a:solidFill>
                  <a:srgbClr val="0C1D4B"/>
                </a:solidFill>
                <a:latin typeface="Montserrat Bold"/>
                <a:ea typeface="Montserrat Bold"/>
                <a:cs typeface="Montserrat Bold"/>
                <a:sym typeface="Montserrat Bold"/>
              </a:rPr>
              <a:t>Agentic RAG</a:t>
            </a:r>
            <a:r>
              <a:rPr lang="en-US" sz="3000">
                <a:solidFill>
                  <a:srgbClr val="0C1D4B"/>
                </a:solidFill>
                <a:latin typeface="Montserrat"/>
                <a:ea typeface="Montserrat"/>
                <a:cs typeface="Montserrat"/>
                <a:sym typeface="Montserrat"/>
              </a:rPr>
              <a:t> có bản chất là một AI Agent con, có nhiệm vụ tìm kiếm, truy xuất thông tin như quy định học tập, câu hỏi thường gặp,...</a:t>
            </a:r>
          </a:p>
          <a:p>
            <a:pPr marL="647700" lvl="1" indent="-323850" algn="just">
              <a:lnSpc>
                <a:spcPts val="4500"/>
              </a:lnSpc>
              <a:buFont typeface="Arial"/>
              <a:buChar char="•"/>
            </a:pPr>
            <a:r>
              <a:rPr lang="en-US" sz="3000">
                <a:solidFill>
                  <a:srgbClr val="0C1D4B"/>
                </a:solidFill>
                <a:latin typeface="Montserrat"/>
                <a:ea typeface="Montserrat"/>
                <a:cs typeface="Montserrat"/>
                <a:sym typeface="Montserrat"/>
              </a:rPr>
              <a:t>Node này sử dụng phương pháp truy vấn tăng cường </a:t>
            </a:r>
            <a:r>
              <a:rPr lang="en-US" sz="3000" b="1">
                <a:solidFill>
                  <a:srgbClr val="0C1D4B"/>
                </a:solidFill>
                <a:latin typeface="Montserrat Bold"/>
                <a:ea typeface="Montserrat Bold"/>
                <a:cs typeface="Montserrat Bold"/>
                <a:sym typeface="Montserrat Bold"/>
              </a:rPr>
              <a:t>RAG</a:t>
            </a:r>
            <a:r>
              <a:rPr lang="en-US" sz="3000">
                <a:solidFill>
                  <a:srgbClr val="0C1D4B"/>
                </a:solidFill>
                <a:latin typeface="Montserrat"/>
                <a:ea typeface="Montserrat"/>
                <a:cs typeface="Montserrat"/>
                <a:sym typeface="Montserrat"/>
              </a:rPr>
              <a:t> để thực hiện truy vấn thông tin hiệu quả</a:t>
            </a:r>
          </a:p>
        </p:txBody>
      </p:sp>
      <p:sp>
        <p:nvSpPr>
          <p:cNvPr id="16" name="TextBox 16"/>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3.4. Xây dựng các thành phần của hệ thống chatbot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Freeform 12"/>
          <p:cNvSpPr/>
          <p:nvPr/>
        </p:nvSpPr>
        <p:spPr>
          <a:xfrm>
            <a:off x="3572210" y="4582925"/>
            <a:ext cx="11143580" cy="5516072"/>
          </a:xfrm>
          <a:custGeom>
            <a:avLst/>
            <a:gdLst/>
            <a:ahLst/>
            <a:cxnLst/>
            <a:rect l="l" t="t" r="r" b="b"/>
            <a:pathLst>
              <a:path w="11143580" h="5516072">
                <a:moveTo>
                  <a:pt x="0" y="0"/>
                </a:moveTo>
                <a:lnTo>
                  <a:pt x="11143580" y="0"/>
                </a:lnTo>
                <a:lnTo>
                  <a:pt x="11143580" y="5516072"/>
                </a:lnTo>
                <a:lnTo>
                  <a:pt x="0" y="5516072"/>
                </a:lnTo>
                <a:lnTo>
                  <a:pt x="0" y="0"/>
                </a:lnTo>
                <a:close/>
              </a:path>
            </a:pathLst>
          </a:custGeom>
          <a:blipFill>
            <a:blip r:embed="rId4"/>
            <a:stretch>
              <a:fillRect/>
            </a:stretch>
          </a:blipFill>
        </p:spPr>
      </p:sp>
      <p:sp>
        <p:nvSpPr>
          <p:cNvPr id="13" name="TextBox 13"/>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27</a:t>
            </a:r>
          </a:p>
        </p:txBody>
      </p:sp>
      <p:sp>
        <p:nvSpPr>
          <p:cNvPr id="14" name="TextBox 14"/>
          <p:cNvSpPr txBox="1"/>
          <p:nvPr/>
        </p:nvSpPr>
        <p:spPr>
          <a:xfrm>
            <a:off x="1028700" y="2337434"/>
            <a:ext cx="6957553" cy="768985"/>
          </a:xfrm>
          <a:prstGeom prst="rect">
            <a:avLst/>
          </a:prstGeom>
        </p:spPr>
        <p:txBody>
          <a:bodyPr lIns="0" tIns="0" rIns="0" bIns="0" rtlCol="0" anchor="t">
            <a:spAutoFit/>
          </a:bodyPr>
          <a:lstStyle/>
          <a:p>
            <a:pPr algn="just">
              <a:lnSpc>
                <a:spcPts val="6799"/>
              </a:lnSpc>
            </a:pPr>
            <a:r>
              <a:rPr lang="en-US" sz="3399" b="1">
                <a:solidFill>
                  <a:srgbClr val="0C1D4B"/>
                </a:solidFill>
                <a:latin typeface="Montserrat Bold"/>
                <a:ea typeface="Montserrat Bold"/>
                <a:cs typeface="Montserrat Bold"/>
                <a:sym typeface="Montserrat Bold"/>
              </a:rPr>
              <a:t>Agentic RAG</a:t>
            </a:r>
          </a:p>
        </p:txBody>
      </p:sp>
      <p:sp>
        <p:nvSpPr>
          <p:cNvPr id="15" name="TextBox 15"/>
          <p:cNvSpPr txBox="1"/>
          <p:nvPr/>
        </p:nvSpPr>
        <p:spPr>
          <a:xfrm>
            <a:off x="1028700" y="3340104"/>
            <a:ext cx="16230600" cy="1114425"/>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0C1D4B"/>
                </a:solidFill>
                <a:latin typeface="Montserrat"/>
                <a:ea typeface="Montserrat"/>
                <a:cs typeface="Montserrat"/>
                <a:sym typeface="Montserrat"/>
              </a:rPr>
              <a:t>Nhằm tăng hiệu quả truy vấn của </a:t>
            </a:r>
            <a:r>
              <a:rPr lang="en-US" sz="3000" b="1">
                <a:solidFill>
                  <a:srgbClr val="0C1D4B"/>
                </a:solidFill>
                <a:latin typeface="Montserrat Bold"/>
                <a:ea typeface="Montserrat Bold"/>
                <a:cs typeface="Montserrat Bold"/>
                <a:sym typeface="Montserrat Bold"/>
              </a:rPr>
              <a:t>RAG</a:t>
            </a:r>
            <a:r>
              <a:rPr lang="en-US" sz="3000">
                <a:solidFill>
                  <a:srgbClr val="0C1D4B"/>
                </a:solidFill>
                <a:latin typeface="Montserrat"/>
                <a:ea typeface="Montserrat"/>
                <a:cs typeface="Montserrat"/>
                <a:sym typeface="Montserrat"/>
              </a:rPr>
              <a:t>, ta xây dựng </a:t>
            </a:r>
            <a:r>
              <a:rPr lang="en-US" sz="3000" b="1">
                <a:solidFill>
                  <a:srgbClr val="0C1D4B"/>
                </a:solidFill>
                <a:latin typeface="Montserrat Bold"/>
                <a:ea typeface="Montserrat Bold"/>
                <a:cs typeface="Montserrat Bold"/>
                <a:sym typeface="Montserrat Bold"/>
              </a:rPr>
              <a:t>AI Agent</a:t>
            </a:r>
            <a:r>
              <a:rPr lang="en-US" sz="3000">
                <a:solidFill>
                  <a:srgbClr val="0C1D4B"/>
                </a:solidFill>
                <a:latin typeface="Montserrat"/>
                <a:ea typeface="Montserrat"/>
                <a:cs typeface="Montserrat"/>
                <a:sym typeface="Montserrat"/>
              </a:rPr>
              <a:t> với chức năng đánh giá câu trả lời, tự động viết lại câu hỏi đầu vào</a:t>
            </a:r>
          </a:p>
        </p:txBody>
      </p:sp>
      <p:sp>
        <p:nvSpPr>
          <p:cNvPr id="16" name="TextBox 16"/>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3.4. Xây dựng các thành phần của hệ thống chatbot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3" name="TextBox 13"/>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28</a:t>
            </a:r>
          </a:p>
        </p:txBody>
      </p:sp>
      <p:sp>
        <p:nvSpPr>
          <p:cNvPr id="14" name="TextBox 14"/>
          <p:cNvSpPr txBox="1"/>
          <p:nvPr/>
        </p:nvSpPr>
        <p:spPr>
          <a:xfrm>
            <a:off x="1028700" y="2527934"/>
            <a:ext cx="15003919" cy="1180465"/>
          </a:xfrm>
          <a:prstGeom prst="rect">
            <a:avLst/>
          </a:prstGeom>
        </p:spPr>
        <p:txBody>
          <a:bodyPr lIns="0" tIns="0" rIns="0" bIns="0" rtlCol="0" anchor="t">
            <a:spAutoFit/>
          </a:bodyPr>
          <a:lstStyle/>
          <a:p>
            <a:pPr algn="just">
              <a:lnSpc>
                <a:spcPts val="4759"/>
              </a:lnSpc>
            </a:pPr>
            <a:r>
              <a:rPr lang="en-US" sz="3399" b="1" dirty="0">
                <a:solidFill>
                  <a:srgbClr val="0C1D4B"/>
                </a:solidFill>
                <a:latin typeface="Montserrat Medium" panose="00000600000000000000" pitchFamily="2" charset="0"/>
                <a:ea typeface="Montserrat Bold"/>
                <a:cs typeface="Montserrat Bold"/>
                <a:sym typeface="Montserrat Bold"/>
              </a:rPr>
              <a:t>Sau khi tích hợp hệ thống chatbot, ta thu được mô hình của toàn bộ hệ thống</a:t>
            </a:r>
          </a:p>
        </p:txBody>
      </p:sp>
      <p:sp>
        <p:nvSpPr>
          <p:cNvPr id="15" name="TextBox 15"/>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3.5. Mô hình hệ thống sau khi tích hợp chatbot</a:t>
            </a:r>
          </a:p>
        </p:txBody>
      </p:sp>
      <p:pic>
        <p:nvPicPr>
          <p:cNvPr id="1026" name="Picture 2">
            <a:extLst>
              <a:ext uri="{FF2B5EF4-FFF2-40B4-BE49-F238E27FC236}">
                <a16:creationId xmlns:a16="http://schemas.microsoft.com/office/drawing/2014/main" id="{08654A68-D5E9-4414-9AB8-425F4085C3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1179" y="4073011"/>
            <a:ext cx="13345642" cy="42296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CA8F8-1CC0-8FA9-9222-07C0D3E4949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8F99144-4D98-5956-28F0-12C66CFD220C}"/>
              </a:ext>
            </a:extLst>
          </p:cNvPr>
          <p:cNvGrpSpPr/>
          <p:nvPr/>
        </p:nvGrpSpPr>
        <p:grpSpPr>
          <a:xfrm>
            <a:off x="705846" y="434975"/>
            <a:ext cx="5042638" cy="603250"/>
            <a:chOff x="0" y="0"/>
            <a:chExt cx="6723518" cy="804333"/>
          </a:xfrm>
        </p:grpSpPr>
        <p:sp>
          <p:nvSpPr>
            <p:cNvPr id="3" name="TextBox 3">
              <a:extLst>
                <a:ext uri="{FF2B5EF4-FFF2-40B4-BE49-F238E27FC236}">
                  <a16:creationId xmlns:a16="http://schemas.microsoft.com/office/drawing/2014/main" id="{32143B4C-F4F3-9176-85EE-BB0FD1E0A8F1}"/>
                </a:ext>
              </a:extLst>
            </p:cNvPr>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a:extLst>
                <a:ext uri="{FF2B5EF4-FFF2-40B4-BE49-F238E27FC236}">
                  <a16:creationId xmlns:a16="http://schemas.microsoft.com/office/drawing/2014/main" id="{D29BCB2D-132A-517C-3C71-5E659AE388A8}"/>
                </a:ext>
              </a:extLst>
            </p:cNvPr>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a:extLst>
              <a:ext uri="{FF2B5EF4-FFF2-40B4-BE49-F238E27FC236}">
                <a16:creationId xmlns:a16="http://schemas.microsoft.com/office/drawing/2014/main" id="{173D0A0E-A889-1B8B-F64A-BD5C9AEB2B2A}"/>
              </a:ext>
            </a:extLst>
          </p:cNvPr>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a:extLst>
              <a:ext uri="{FF2B5EF4-FFF2-40B4-BE49-F238E27FC236}">
                <a16:creationId xmlns:a16="http://schemas.microsoft.com/office/drawing/2014/main" id="{FB65BECB-1916-9569-E7B4-F820BAC6B025}"/>
              </a:ext>
            </a:extLst>
          </p:cNvPr>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a:extLst>
              <a:ext uri="{FF2B5EF4-FFF2-40B4-BE49-F238E27FC236}">
                <a16:creationId xmlns:a16="http://schemas.microsoft.com/office/drawing/2014/main" id="{839CE4CC-FFAF-1F8C-3E6A-EAB00715A268}"/>
              </a:ext>
            </a:extLst>
          </p:cNvPr>
          <p:cNvGrpSpPr/>
          <p:nvPr/>
        </p:nvGrpSpPr>
        <p:grpSpPr>
          <a:xfrm>
            <a:off x="-3158965" y="9357593"/>
            <a:ext cx="22035035" cy="3394679"/>
            <a:chOff x="0" y="0"/>
            <a:chExt cx="29380046" cy="4526239"/>
          </a:xfrm>
        </p:grpSpPr>
        <p:grpSp>
          <p:nvGrpSpPr>
            <p:cNvPr id="8" name="Group 8">
              <a:extLst>
                <a:ext uri="{FF2B5EF4-FFF2-40B4-BE49-F238E27FC236}">
                  <a16:creationId xmlns:a16="http://schemas.microsoft.com/office/drawing/2014/main" id="{CFF1D007-82FF-FFF0-CF44-AB89713DE010}"/>
                </a:ext>
              </a:extLst>
            </p:cNvPr>
            <p:cNvGrpSpPr/>
            <p:nvPr/>
          </p:nvGrpSpPr>
          <p:grpSpPr>
            <a:xfrm>
              <a:off x="0" y="954681"/>
              <a:ext cx="29380046" cy="3571558"/>
              <a:chOff x="0" y="0"/>
              <a:chExt cx="5803466" cy="705493"/>
            </a:xfrm>
          </p:grpSpPr>
          <p:sp>
            <p:nvSpPr>
              <p:cNvPr id="9" name="Freeform 9">
                <a:extLst>
                  <a:ext uri="{FF2B5EF4-FFF2-40B4-BE49-F238E27FC236}">
                    <a16:creationId xmlns:a16="http://schemas.microsoft.com/office/drawing/2014/main" id="{4A18B582-DC87-614D-2B7F-11FF362AA77D}"/>
                  </a:ext>
                </a:extLst>
              </p:cNvPr>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a:extLst>
                  <a:ext uri="{FF2B5EF4-FFF2-40B4-BE49-F238E27FC236}">
                    <a16:creationId xmlns:a16="http://schemas.microsoft.com/office/drawing/2014/main" id="{92B96328-9D46-A60A-D146-1E8D4A21004C}"/>
                  </a:ext>
                </a:extLst>
              </p:cNvPr>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a:extLst>
                <a:ext uri="{FF2B5EF4-FFF2-40B4-BE49-F238E27FC236}">
                  <a16:creationId xmlns:a16="http://schemas.microsoft.com/office/drawing/2014/main" id="{D7D6D3CA-F32E-7798-931E-3F6FA4894A14}"/>
                </a:ext>
              </a:extLst>
            </p:cNvPr>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4" name="TextBox 14">
            <a:extLst>
              <a:ext uri="{FF2B5EF4-FFF2-40B4-BE49-F238E27FC236}">
                <a16:creationId xmlns:a16="http://schemas.microsoft.com/office/drawing/2014/main" id="{90B76002-F5A1-E2CE-3D5F-4755FB13537C}"/>
              </a:ext>
            </a:extLst>
          </p:cNvPr>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29</a:t>
            </a:r>
          </a:p>
        </p:txBody>
      </p:sp>
      <p:sp>
        <p:nvSpPr>
          <p:cNvPr id="16" name="TextBox 16">
            <a:extLst>
              <a:ext uri="{FF2B5EF4-FFF2-40B4-BE49-F238E27FC236}">
                <a16:creationId xmlns:a16="http://schemas.microsoft.com/office/drawing/2014/main" id="{FDF0E5FF-2EFF-D063-DD67-A2330BC361D5}"/>
              </a:ext>
            </a:extLst>
          </p:cNvPr>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3.6. Các </a:t>
            </a:r>
            <a:r>
              <a:rPr lang="en-US" sz="3999" b="1" dirty="0" err="1">
                <a:solidFill>
                  <a:srgbClr val="0C1D4B"/>
                </a:solidFill>
                <a:latin typeface="Montserrat Heavy"/>
                <a:ea typeface="Montserrat Heavy"/>
                <a:cs typeface="Montserrat Heavy"/>
                <a:sym typeface="Montserrat Heavy"/>
              </a:rPr>
              <a:t>chức</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năng</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của</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hệ</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thống</a:t>
            </a:r>
            <a:endParaRPr lang="en-US" sz="3999" b="1" dirty="0">
              <a:solidFill>
                <a:srgbClr val="0C1D4B"/>
              </a:solidFill>
              <a:latin typeface="Montserrat Heavy"/>
              <a:ea typeface="Montserrat Heavy"/>
              <a:cs typeface="Montserrat Heavy"/>
              <a:sym typeface="Montserrat Heavy"/>
            </a:endParaRPr>
          </a:p>
        </p:txBody>
      </p:sp>
      <p:sp>
        <p:nvSpPr>
          <p:cNvPr id="17" name="TextBox 9">
            <a:extLst>
              <a:ext uri="{FF2B5EF4-FFF2-40B4-BE49-F238E27FC236}">
                <a16:creationId xmlns:a16="http://schemas.microsoft.com/office/drawing/2014/main" id="{DEEE7A0A-E084-DF86-CBA6-E3FDB74B83DD}"/>
              </a:ext>
            </a:extLst>
          </p:cNvPr>
          <p:cNvSpPr txBox="1"/>
          <p:nvPr/>
        </p:nvSpPr>
        <p:spPr>
          <a:xfrm>
            <a:off x="705846" y="2600437"/>
            <a:ext cx="12400554" cy="6712287"/>
          </a:xfrm>
          <a:prstGeom prst="rect">
            <a:avLst/>
          </a:prstGeom>
        </p:spPr>
        <p:txBody>
          <a:bodyPr wrap="square" lIns="0" tIns="0" rIns="0" bIns="0" rtlCol="0" anchor="t">
            <a:spAutoFit/>
          </a:bodyPr>
          <a:lstStyle/>
          <a:p>
            <a:pPr marL="323850" lvl="1" algn="just">
              <a:lnSpc>
                <a:spcPts val="4800"/>
              </a:lnSpc>
            </a:pPr>
            <a:r>
              <a:rPr lang="en-US" sz="3000" dirty="0" err="1">
                <a:solidFill>
                  <a:srgbClr val="0C1D4B"/>
                </a:solidFill>
                <a:latin typeface="Montserrat"/>
                <a:ea typeface="Montserrat"/>
                <a:cs typeface="Montserrat"/>
                <a:sym typeface="Montserrat"/>
              </a:rPr>
              <a:t>Hình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thức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của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hệ</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thống</a:t>
            </a:r>
            <a:endParaRPr lang="en-US" sz="3000" dirty="0">
              <a:solidFill>
                <a:srgbClr val="0C1D4B"/>
              </a:solidFill>
              <a:latin typeface="Montserrat"/>
              <a:ea typeface="Montserrat"/>
              <a:cs typeface="Montserrat"/>
              <a:sym typeface="Montserrat"/>
            </a:endParaRPr>
          </a:p>
          <a:p>
            <a:pPr marL="647700" lvl="1" indent="-323850" algn="just">
              <a:lnSpc>
                <a:spcPts val="4800"/>
              </a:lnSpc>
              <a:buFont typeface="Arial"/>
              <a:buChar char="•"/>
            </a:pPr>
            <a:r>
              <a:rPr lang="en-US" sz="3000" dirty="0" err="1">
                <a:solidFill>
                  <a:srgbClr val="0C1D4B"/>
                </a:solidFill>
                <a:latin typeface="Montserrat"/>
                <a:ea typeface="Montserrat"/>
                <a:cs typeface="Montserrat"/>
                <a:sym typeface="Montserrat"/>
              </a:rPr>
              <a:t>Xây</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dựng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hệ</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thống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dưới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dạng</a:t>
            </a:r>
            <a:r>
              <a:rPr lang="en-US" sz="3000" dirty="0">
                <a:solidFill>
                  <a:srgbClr val="0C1D4B"/>
                </a:solidFill>
                <a:latin typeface="Montserrat"/>
                <a:ea typeface="Montserrat"/>
                <a:cs typeface="Montserrat"/>
                <a:sym typeface="Montserrat"/>
              </a:rPr>
              <a:t> Website </a:t>
            </a:r>
            <a:r>
              <a:rPr lang="en-US" sz="3000" dirty="0" err="1">
                <a:solidFill>
                  <a:srgbClr val="0C1D4B"/>
                </a:solidFill>
                <a:latin typeface="Montserrat"/>
                <a:ea typeface="Montserrat"/>
                <a:cs typeface="Montserrat"/>
                <a:sym typeface="Montserrat"/>
              </a:rPr>
              <a:t>tra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cứu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có</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tích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hợp</a:t>
            </a:r>
            <a:r>
              <a:rPr lang="en-US" sz="3000" dirty="0">
                <a:solidFill>
                  <a:srgbClr val="0C1D4B"/>
                </a:solidFill>
                <a:latin typeface="Montserrat"/>
                <a:ea typeface="Montserrat"/>
                <a:cs typeface="Montserrat"/>
                <a:sym typeface="Montserrat"/>
              </a:rPr>
              <a:t> chatbot AI Chatbot </a:t>
            </a:r>
            <a:r>
              <a:rPr lang="en-US" sz="3000" dirty="0" err="1">
                <a:solidFill>
                  <a:srgbClr val="0C1D4B"/>
                </a:solidFill>
                <a:latin typeface="Montserrat"/>
                <a:ea typeface="Montserrat"/>
                <a:cs typeface="Montserrat"/>
                <a:sym typeface="Montserrat"/>
              </a:rPr>
              <a:t>có</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khả</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năng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tự</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động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trả</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lời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câu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hỏi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của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người</a:t>
            </a:r>
            <a:r>
              <a:rPr lang="en-US" sz="3000" dirty="0">
                <a:solidFill>
                  <a:srgbClr val="0C1D4B"/>
                </a:solidFill>
                <a:latin typeface="Montserrat"/>
                <a:ea typeface="Montserrat"/>
                <a:cs typeface="Montserrat"/>
                <a:sym typeface="Montserrat"/>
              </a:rPr>
              <a:t> dung</a:t>
            </a:r>
          </a:p>
          <a:p>
            <a:pPr marL="647700" lvl="1" indent="-323850" algn="just">
              <a:lnSpc>
                <a:spcPts val="4800"/>
              </a:lnSpc>
              <a:buFont typeface="Arial"/>
              <a:buChar char="•"/>
            </a:pPr>
            <a:endParaRPr lang="en-US" sz="3000" dirty="0">
              <a:solidFill>
                <a:srgbClr val="0C1D4B"/>
              </a:solidFill>
              <a:latin typeface="Montserrat"/>
              <a:ea typeface="Montserrat"/>
              <a:cs typeface="Montserrat"/>
              <a:sym typeface="Montserrat"/>
            </a:endParaRPr>
          </a:p>
          <a:p>
            <a:pPr marL="323850" lvl="1" algn="just">
              <a:lnSpc>
                <a:spcPts val="4800"/>
              </a:lnSpc>
            </a:pPr>
            <a:r>
              <a:rPr lang="en-US" sz="3000" dirty="0" err="1">
                <a:solidFill>
                  <a:srgbClr val="0C1D4B"/>
                </a:solidFill>
                <a:latin typeface="Montserrat"/>
                <a:ea typeface="Montserrat"/>
                <a:cs typeface="Montserrat"/>
                <a:sym typeface="Montserrat"/>
              </a:rPr>
              <a:t>Chức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năng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của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hệ</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thống</a:t>
            </a:r>
            <a:r>
              <a:rPr lang="en-US" sz="3000" dirty="0">
                <a:solidFill>
                  <a:srgbClr val="0C1D4B"/>
                </a:solidFill>
                <a:latin typeface="Montserrat"/>
                <a:ea typeface="Montserrat"/>
                <a:cs typeface="Montserrat"/>
                <a:sym typeface="Montserrat"/>
              </a:rPr>
              <a:t>:</a:t>
            </a:r>
          </a:p>
          <a:p>
            <a:pPr marL="781050" lvl="1" indent="-457200" algn="just">
              <a:lnSpc>
                <a:spcPts val="4800"/>
              </a:lnSpc>
              <a:buFont typeface="Arial" panose="020B0604020202020204" pitchFamily="34" charset="0"/>
              <a:buChar char="•"/>
            </a:pPr>
            <a:r>
              <a:rPr lang="en-US" sz="3000" dirty="0">
                <a:solidFill>
                  <a:srgbClr val="0C1D4B"/>
                </a:solidFill>
                <a:latin typeface="Montserrat"/>
                <a:ea typeface="Montserrat"/>
                <a:cs typeface="Montserrat"/>
                <a:sym typeface="Montserrat"/>
              </a:rPr>
              <a:t>Tra </a:t>
            </a:r>
            <a:r>
              <a:rPr lang="en-US" sz="3000" dirty="0" err="1">
                <a:solidFill>
                  <a:srgbClr val="0C1D4B"/>
                </a:solidFill>
                <a:latin typeface="Montserrat"/>
                <a:ea typeface="Montserrat"/>
                <a:cs typeface="Montserrat"/>
                <a:sym typeface="Montserrat"/>
              </a:rPr>
              <a:t>cứu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điểm</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tình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hình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học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tập</a:t>
            </a:r>
            <a:endParaRPr lang="en-US" sz="3000" dirty="0">
              <a:solidFill>
                <a:srgbClr val="0C1D4B"/>
              </a:solidFill>
              <a:latin typeface="Montserrat"/>
              <a:ea typeface="Montserrat"/>
              <a:cs typeface="Montserrat"/>
              <a:sym typeface="Montserrat"/>
            </a:endParaRPr>
          </a:p>
          <a:p>
            <a:pPr marL="781050" lvl="1" indent="-457200" algn="just">
              <a:lnSpc>
                <a:spcPts val="4800"/>
              </a:lnSpc>
              <a:buFont typeface="Arial" panose="020B0604020202020204" pitchFamily="34" charset="0"/>
              <a:buChar char="•"/>
            </a:pPr>
            <a:r>
              <a:rPr lang="en-US" sz="3000" dirty="0">
                <a:solidFill>
                  <a:srgbClr val="0C1D4B"/>
                </a:solidFill>
                <a:latin typeface="Montserrat"/>
                <a:ea typeface="Montserrat"/>
                <a:cs typeface="Montserrat"/>
                <a:sym typeface="Montserrat"/>
              </a:rPr>
              <a:t>Tra </a:t>
            </a:r>
            <a:r>
              <a:rPr lang="en-US" sz="3000" dirty="0" err="1">
                <a:solidFill>
                  <a:srgbClr val="0C1D4B"/>
                </a:solidFill>
                <a:latin typeface="Montserrat"/>
                <a:ea typeface="Montserrat"/>
                <a:cs typeface="Montserrat"/>
                <a:sym typeface="Montserrat"/>
              </a:rPr>
              <a:t>cứu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xếp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hạng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điểm</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số</a:t>
            </a:r>
            <a:endParaRPr lang="en-US" sz="3000" dirty="0">
              <a:solidFill>
                <a:srgbClr val="0C1D4B"/>
              </a:solidFill>
              <a:latin typeface="Montserrat"/>
              <a:ea typeface="Montserrat"/>
              <a:cs typeface="Montserrat"/>
              <a:sym typeface="Montserrat"/>
            </a:endParaRPr>
          </a:p>
          <a:p>
            <a:pPr marL="781050" lvl="1" indent="-457200" algn="just">
              <a:lnSpc>
                <a:spcPts val="4800"/>
              </a:lnSpc>
              <a:buFont typeface="Arial" panose="020B0604020202020204" pitchFamily="34" charset="0"/>
              <a:buChar char="•"/>
            </a:pPr>
            <a:r>
              <a:rPr lang="en-US" sz="3000" dirty="0">
                <a:solidFill>
                  <a:srgbClr val="0C1D4B"/>
                </a:solidFill>
                <a:latin typeface="Montserrat"/>
                <a:ea typeface="Montserrat"/>
                <a:cs typeface="Montserrat"/>
                <a:sym typeface="Montserrat"/>
              </a:rPr>
              <a:t>Tra </a:t>
            </a:r>
            <a:r>
              <a:rPr lang="en-US" sz="3000" dirty="0" err="1">
                <a:solidFill>
                  <a:srgbClr val="0C1D4B"/>
                </a:solidFill>
                <a:latin typeface="Montserrat"/>
                <a:ea typeface="Montserrat"/>
                <a:cs typeface="Montserrat"/>
                <a:sym typeface="Montserrat"/>
              </a:rPr>
              <a:t>cứu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danh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sách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sinh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viên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đủ</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điều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kiện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dự</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xét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học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bổng</a:t>
            </a:r>
            <a:endParaRPr lang="en-US" sz="3000" dirty="0">
              <a:solidFill>
                <a:srgbClr val="0C1D4B"/>
              </a:solidFill>
              <a:latin typeface="Montserrat"/>
              <a:ea typeface="Montserrat"/>
              <a:cs typeface="Montserrat"/>
              <a:sym typeface="Montserrat"/>
            </a:endParaRPr>
          </a:p>
          <a:p>
            <a:pPr marL="781050" lvl="1" indent="-457200" algn="just">
              <a:lnSpc>
                <a:spcPts val="4800"/>
              </a:lnSpc>
              <a:buFont typeface="Arial" panose="020B0604020202020204" pitchFamily="34" charset="0"/>
              <a:buChar char="•"/>
            </a:pPr>
            <a:r>
              <a:rPr lang="en-US" sz="3000" dirty="0">
                <a:solidFill>
                  <a:srgbClr val="0C1D4B"/>
                </a:solidFill>
                <a:latin typeface="Montserrat"/>
                <a:ea typeface="Montserrat"/>
                <a:cs typeface="Montserrat"/>
                <a:sym typeface="Montserrat"/>
              </a:rPr>
              <a:t>Tra </a:t>
            </a:r>
            <a:r>
              <a:rPr lang="en-US" sz="3000" dirty="0" err="1">
                <a:solidFill>
                  <a:srgbClr val="0C1D4B"/>
                </a:solidFill>
                <a:latin typeface="Montserrat"/>
                <a:ea typeface="Montserrat"/>
                <a:cs typeface="Montserrat"/>
                <a:sym typeface="Montserrat"/>
              </a:rPr>
              <a:t>cứu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quy</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định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học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tập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dưới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dạng</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bài</a:t>
            </a:r>
            <a:r>
              <a:rPr lang="en-US" sz="3000" dirty="0">
                <a:solidFill>
                  <a:srgbClr val="0C1D4B"/>
                </a:solidFill>
                <a:latin typeface="Montserrat"/>
                <a:ea typeface="Montserrat"/>
                <a:cs typeface="Montserrat"/>
                <a:sym typeface="Montserrat"/>
              </a:rPr>
              <a:t> blog</a:t>
            </a:r>
          </a:p>
          <a:p>
            <a:pPr marL="781050" lvl="1" indent="-457200" algn="just">
              <a:lnSpc>
                <a:spcPts val="4800"/>
              </a:lnSpc>
              <a:buFont typeface="Arial" panose="020B0604020202020204" pitchFamily="34" charset="0"/>
              <a:buChar char="•"/>
            </a:pPr>
            <a:r>
              <a:rPr lang="en-US" sz="3000" dirty="0">
                <a:solidFill>
                  <a:srgbClr val="0C1D4B"/>
                </a:solidFill>
                <a:latin typeface="Montserrat"/>
                <a:ea typeface="Montserrat"/>
                <a:cs typeface="Montserrat"/>
                <a:sym typeface="Montserrat"/>
              </a:rPr>
              <a:t>Chat </a:t>
            </a:r>
            <a:r>
              <a:rPr lang="en-US" sz="3000" dirty="0" err="1">
                <a:solidFill>
                  <a:srgbClr val="0C1D4B"/>
                </a:solidFill>
                <a:latin typeface="Montserrat"/>
                <a:ea typeface="Montserrat"/>
                <a:cs typeface="Montserrat"/>
                <a:sym typeface="Montserrat"/>
              </a:rPr>
              <a:t>với</a:t>
            </a:r>
            <a:r>
              <a:rPr lang="en-US" sz="3000" dirty="0">
                <a:solidFill>
                  <a:srgbClr val="0C1D4B"/>
                </a:solidFill>
                <a:latin typeface="Montserrat"/>
                <a:ea typeface="Montserrat"/>
                <a:cs typeface="Montserrat"/>
                <a:sym typeface="Montserrat"/>
              </a:rPr>
              <a:t> AI</a:t>
            </a:r>
          </a:p>
        </p:txBody>
      </p:sp>
      <p:sp>
        <p:nvSpPr>
          <p:cNvPr id="18" name="Freeform 3">
            <a:extLst>
              <a:ext uri="{FF2B5EF4-FFF2-40B4-BE49-F238E27FC236}">
                <a16:creationId xmlns:a16="http://schemas.microsoft.com/office/drawing/2014/main" id="{F6BF8136-67F6-FA61-F10B-CC4B4B6BEAED}"/>
              </a:ext>
            </a:extLst>
          </p:cNvPr>
          <p:cNvSpPr/>
          <p:nvPr/>
        </p:nvSpPr>
        <p:spPr>
          <a:xfrm>
            <a:off x="13411200" y="3344156"/>
            <a:ext cx="5224848" cy="5224848"/>
          </a:xfrm>
          <a:custGeom>
            <a:avLst/>
            <a:gdLst/>
            <a:ahLst/>
            <a:cxnLst/>
            <a:rect l="l" t="t" r="r" b="b"/>
            <a:pathLst>
              <a:path w="5224848" h="5224848">
                <a:moveTo>
                  <a:pt x="0" y="0"/>
                </a:moveTo>
                <a:lnTo>
                  <a:pt x="5224848" y="0"/>
                </a:lnTo>
                <a:lnTo>
                  <a:pt x="5224848" y="5224848"/>
                </a:lnTo>
                <a:lnTo>
                  <a:pt x="0" y="52248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3593505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Freeform 12"/>
          <p:cNvSpPr/>
          <p:nvPr/>
        </p:nvSpPr>
        <p:spPr>
          <a:xfrm>
            <a:off x="1028700" y="3364630"/>
            <a:ext cx="10177574" cy="6208320"/>
          </a:xfrm>
          <a:custGeom>
            <a:avLst/>
            <a:gdLst/>
            <a:ahLst/>
            <a:cxnLst/>
            <a:rect l="l" t="t" r="r" b="b"/>
            <a:pathLst>
              <a:path w="10177574" h="6208320">
                <a:moveTo>
                  <a:pt x="0" y="0"/>
                </a:moveTo>
                <a:lnTo>
                  <a:pt x="10177574" y="0"/>
                </a:lnTo>
                <a:lnTo>
                  <a:pt x="10177574" y="6208320"/>
                </a:lnTo>
                <a:lnTo>
                  <a:pt x="0" y="6208320"/>
                </a:lnTo>
                <a:lnTo>
                  <a:pt x="0" y="0"/>
                </a:lnTo>
                <a:close/>
              </a:path>
            </a:pathLst>
          </a:custGeom>
          <a:blipFill>
            <a:blip r:embed="rId4"/>
            <a:stretch>
              <a:fillRect/>
            </a:stretch>
          </a:blipFill>
        </p:spPr>
      </p:sp>
      <p:sp>
        <p:nvSpPr>
          <p:cNvPr id="13" name="Freeform 13"/>
          <p:cNvSpPr/>
          <p:nvPr/>
        </p:nvSpPr>
        <p:spPr>
          <a:xfrm>
            <a:off x="11802475" y="5059497"/>
            <a:ext cx="5367589" cy="3818993"/>
          </a:xfrm>
          <a:custGeom>
            <a:avLst/>
            <a:gdLst/>
            <a:ahLst/>
            <a:cxnLst/>
            <a:rect l="l" t="t" r="r" b="b"/>
            <a:pathLst>
              <a:path w="5367589" h="3818993">
                <a:moveTo>
                  <a:pt x="0" y="0"/>
                </a:moveTo>
                <a:lnTo>
                  <a:pt x="5367588" y="0"/>
                </a:lnTo>
                <a:lnTo>
                  <a:pt x="5367588" y="3818993"/>
                </a:lnTo>
                <a:lnTo>
                  <a:pt x="0" y="3818993"/>
                </a:lnTo>
                <a:lnTo>
                  <a:pt x="0" y="0"/>
                </a:lnTo>
                <a:close/>
              </a:path>
            </a:pathLst>
          </a:custGeom>
          <a:blipFill>
            <a:blip r:embed="rId5"/>
            <a:stretch>
              <a:fillRect/>
            </a:stretch>
          </a:blipFill>
        </p:spPr>
      </p:sp>
      <p:sp>
        <p:nvSpPr>
          <p:cNvPr id="14" name="TextBox 14"/>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29</a:t>
            </a:r>
          </a:p>
        </p:txBody>
      </p:sp>
      <p:sp>
        <p:nvSpPr>
          <p:cNvPr id="15" name="TextBox 15"/>
          <p:cNvSpPr txBox="1"/>
          <p:nvPr/>
        </p:nvSpPr>
        <p:spPr>
          <a:xfrm>
            <a:off x="1028700" y="2527934"/>
            <a:ext cx="15003919" cy="580390"/>
          </a:xfrm>
          <a:prstGeom prst="rect">
            <a:avLst/>
          </a:prstGeom>
        </p:spPr>
        <p:txBody>
          <a:bodyPr lIns="0" tIns="0" rIns="0" bIns="0" rtlCol="0" anchor="t">
            <a:spAutoFit/>
          </a:bodyPr>
          <a:lstStyle/>
          <a:p>
            <a:pPr algn="just">
              <a:lnSpc>
                <a:spcPts val="4759"/>
              </a:lnSpc>
            </a:pPr>
            <a:r>
              <a:rPr lang="en-US" sz="3399">
                <a:solidFill>
                  <a:srgbClr val="0C1D4B"/>
                </a:solidFill>
                <a:latin typeface="Montserrat"/>
                <a:ea typeface="Montserrat"/>
                <a:cs typeface="Montserrat"/>
                <a:sym typeface="Montserrat"/>
              </a:rPr>
              <a:t>Usecase của hệ thống</a:t>
            </a:r>
          </a:p>
        </p:txBody>
      </p:sp>
      <p:sp>
        <p:nvSpPr>
          <p:cNvPr id="16" name="TextBox 16"/>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3.6. Các </a:t>
            </a:r>
            <a:r>
              <a:rPr lang="en-US" sz="3999" b="1" dirty="0" err="1">
                <a:solidFill>
                  <a:srgbClr val="0C1D4B"/>
                </a:solidFill>
                <a:latin typeface="Montserrat Heavy"/>
                <a:ea typeface="Montserrat Heavy"/>
                <a:cs typeface="Montserrat Heavy"/>
                <a:sym typeface="Montserrat Heavy"/>
              </a:rPr>
              <a:t>chức</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năng</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của</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hệ</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thống</a:t>
            </a:r>
            <a:endParaRPr lang="en-US" sz="3999" b="1" dirty="0">
              <a:solidFill>
                <a:srgbClr val="0C1D4B"/>
              </a:solidFill>
              <a:latin typeface="Montserrat Heavy"/>
              <a:ea typeface="Montserrat Heavy"/>
              <a:cs typeface="Montserrat Heavy"/>
              <a:sym typeface="Montserrat Heavy"/>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grpSp>
        <p:nvGrpSpPr>
          <p:cNvPr id="5" name="Group 5"/>
          <p:cNvGrpSpPr/>
          <p:nvPr/>
        </p:nvGrpSpPr>
        <p:grpSpPr>
          <a:xfrm>
            <a:off x="4135752" y="4425482"/>
            <a:ext cx="10244442" cy="1436035"/>
            <a:chOff x="0" y="0"/>
            <a:chExt cx="2698125" cy="378215"/>
          </a:xfrm>
        </p:grpSpPr>
        <p:sp>
          <p:nvSpPr>
            <p:cNvPr id="6" name="Freeform 6"/>
            <p:cNvSpPr/>
            <p:nvPr/>
          </p:nvSpPr>
          <p:spPr>
            <a:xfrm>
              <a:off x="0" y="0"/>
              <a:ext cx="2698125" cy="378215"/>
            </a:xfrm>
            <a:custGeom>
              <a:avLst/>
              <a:gdLst/>
              <a:ahLst/>
              <a:cxnLst/>
              <a:rect l="l" t="t" r="r" b="b"/>
              <a:pathLst>
                <a:path w="2698125" h="378215">
                  <a:moveTo>
                    <a:pt x="21160" y="0"/>
                  </a:moveTo>
                  <a:lnTo>
                    <a:pt x="2676965" y="0"/>
                  </a:lnTo>
                  <a:cubicBezTo>
                    <a:pt x="2682577" y="0"/>
                    <a:pt x="2687959" y="2229"/>
                    <a:pt x="2691927" y="6198"/>
                  </a:cubicBezTo>
                  <a:cubicBezTo>
                    <a:pt x="2695896" y="10166"/>
                    <a:pt x="2698125" y="15548"/>
                    <a:pt x="2698125" y="21160"/>
                  </a:cubicBezTo>
                  <a:lnTo>
                    <a:pt x="2698125" y="357055"/>
                  </a:lnTo>
                  <a:cubicBezTo>
                    <a:pt x="2698125" y="362667"/>
                    <a:pt x="2695896" y="368049"/>
                    <a:pt x="2691927" y="372017"/>
                  </a:cubicBezTo>
                  <a:cubicBezTo>
                    <a:pt x="2687959" y="375986"/>
                    <a:pt x="2682577" y="378215"/>
                    <a:pt x="2676965" y="378215"/>
                  </a:cubicBezTo>
                  <a:lnTo>
                    <a:pt x="21160" y="378215"/>
                  </a:lnTo>
                  <a:cubicBezTo>
                    <a:pt x="15548" y="378215"/>
                    <a:pt x="10166" y="375986"/>
                    <a:pt x="6198" y="372017"/>
                  </a:cubicBezTo>
                  <a:cubicBezTo>
                    <a:pt x="2229" y="368049"/>
                    <a:pt x="0" y="362667"/>
                    <a:pt x="0" y="357055"/>
                  </a:cubicBezTo>
                  <a:lnTo>
                    <a:pt x="0" y="21160"/>
                  </a:lnTo>
                  <a:cubicBezTo>
                    <a:pt x="0" y="15548"/>
                    <a:pt x="2229" y="10166"/>
                    <a:pt x="6198" y="6198"/>
                  </a:cubicBezTo>
                  <a:cubicBezTo>
                    <a:pt x="10166" y="2229"/>
                    <a:pt x="15548" y="0"/>
                    <a:pt x="21160" y="0"/>
                  </a:cubicBezTo>
                  <a:close/>
                </a:path>
              </a:pathLst>
            </a:custGeom>
            <a:solidFill>
              <a:srgbClr val="000000">
                <a:alpha val="0"/>
              </a:srgbClr>
            </a:solidFill>
            <a:ln w="38100" cap="rnd">
              <a:solidFill>
                <a:srgbClr val="0D1D4B"/>
              </a:solidFill>
              <a:prstDash val="solid"/>
              <a:round/>
            </a:ln>
          </p:spPr>
        </p:sp>
        <p:sp>
          <p:nvSpPr>
            <p:cNvPr id="7" name="TextBox 7"/>
            <p:cNvSpPr txBox="1"/>
            <p:nvPr/>
          </p:nvSpPr>
          <p:spPr>
            <a:xfrm>
              <a:off x="0" y="-47625"/>
              <a:ext cx="2698125" cy="425840"/>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8598061" y="3599413"/>
            <a:ext cx="1091879" cy="1091879"/>
            <a:chOff x="0" y="0"/>
            <a:chExt cx="1455838" cy="1455838"/>
          </a:xfrm>
        </p:grpSpPr>
        <p:grpSp>
          <p:nvGrpSpPr>
            <p:cNvPr id="9" name="Group 9"/>
            <p:cNvGrpSpPr/>
            <p:nvPr/>
          </p:nvGrpSpPr>
          <p:grpSpPr>
            <a:xfrm>
              <a:off x="0" y="0"/>
              <a:ext cx="1455838" cy="145583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1D4B"/>
              </a:solidFill>
              <a:ln w="38100" cap="sq">
                <a:solidFill>
                  <a:srgbClr val="0C1D4B"/>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940"/>
                  </a:lnSpc>
                </a:pPr>
                <a:endParaRPr/>
              </a:p>
            </p:txBody>
          </p:sp>
        </p:grpSp>
        <p:sp>
          <p:nvSpPr>
            <p:cNvPr id="12" name="TextBox 12"/>
            <p:cNvSpPr txBox="1"/>
            <p:nvPr/>
          </p:nvSpPr>
          <p:spPr>
            <a:xfrm>
              <a:off x="192932" y="227539"/>
              <a:ext cx="1069975" cy="924560"/>
            </a:xfrm>
            <a:prstGeom prst="rect">
              <a:avLst/>
            </a:prstGeom>
          </p:spPr>
          <p:txBody>
            <a:bodyPr lIns="0" tIns="0" rIns="0" bIns="0" rtlCol="0" anchor="t">
              <a:spAutoFit/>
            </a:bodyPr>
            <a:lstStyle/>
            <a:p>
              <a:pPr algn="ctr">
                <a:lnSpc>
                  <a:spcPts val="5880"/>
                </a:lnSpc>
              </a:pPr>
              <a:r>
                <a:rPr lang="en-US" sz="4200" b="1" spc="100">
                  <a:solidFill>
                    <a:srgbClr val="FFFFFF"/>
                  </a:solidFill>
                  <a:latin typeface="Montserrat Bold"/>
                  <a:ea typeface="Montserrat Bold"/>
                  <a:cs typeface="Montserrat Bold"/>
                  <a:sym typeface="Montserrat Bold"/>
                </a:rPr>
                <a:t>4</a:t>
              </a:r>
            </a:p>
          </p:txBody>
        </p:sp>
      </p:grpSp>
      <p:sp>
        <p:nvSpPr>
          <p:cNvPr id="13" name="TextBox 13"/>
          <p:cNvSpPr txBox="1"/>
          <p:nvPr/>
        </p:nvSpPr>
        <p:spPr>
          <a:xfrm>
            <a:off x="4135752" y="4876038"/>
            <a:ext cx="10016496" cy="630174"/>
          </a:xfrm>
          <a:prstGeom prst="rect">
            <a:avLst/>
          </a:prstGeom>
        </p:spPr>
        <p:txBody>
          <a:bodyPr lIns="0" tIns="0" rIns="0" bIns="0" rtlCol="0" anchor="t">
            <a:spAutoFit/>
          </a:bodyPr>
          <a:lstStyle/>
          <a:p>
            <a:pPr algn="ctr">
              <a:lnSpc>
                <a:spcPts val="4848"/>
              </a:lnSpc>
            </a:pPr>
            <a:r>
              <a:rPr lang="en-US" sz="4800" b="1" dirty="0">
                <a:solidFill>
                  <a:srgbClr val="0C1D4B"/>
                </a:solidFill>
                <a:latin typeface="Montserrat Heavy"/>
                <a:ea typeface="Montserrat Heavy"/>
                <a:cs typeface="Montserrat Heavy"/>
                <a:sym typeface="Montserrat Heavy"/>
              </a:rPr>
              <a:t>THỰC NGHIỆM &amp; KẾT LUẬN</a:t>
            </a:r>
          </a:p>
        </p:txBody>
      </p:sp>
      <p:sp>
        <p:nvSpPr>
          <p:cNvPr id="14" name="Freeform 14"/>
          <p:cNvSpPr/>
          <p:nvPr/>
        </p:nvSpPr>
        <p:spPr>
          <a:xfrm>
            <a:off x="15569234" y="8449152"/>
            <a:ext cx="1052409" cy="263102"/>
          </a:xfrm>
          <a:custGeom>
            <a:avLst/>
            <a:gdLst/>
            <a:ahLst/>
            <a:cxnLst/>
            <a:rect l="l" t="t" r="r" b="b"/>
            <a:pathLst>
              <a:path w="1052409" h="263102">
                <a:moveTo>
                  <a:pt x="0" y="0"/>
                </a:moveTo>
                <a:lnTo>
                  <a:pt x="1052409" y="0"/>
                </a:lnTo>
                <a:lnTo>
                  <a:pt x="1052409" y="263102"/>
                </a:lnTo>
                <a:lnTo>
                  <a:pt x="0" y="2631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5"/>
            <a:stretch>
              <a:fillRect/>
            </a:stretch>
          </a:blipFill>
        </p:spPr>
      </p:sp>
      <p:grpSp>
        <p:nvGrpSpPr>
          <p:cNvPr id="16" name="Group 16"/>
          <p:cNvGrpSpPr/>
          <p:nvPr/>
        </p:nvGrpSpPr>
        <p:grpSpPr>
          <a:xfrm>
            <a:off x="-3127839" y="9429370"/>
            <a:ext cx="22035035" cy="3394679"/>
            <a:chOff x="0" y="0"/>
            <a:chExt cx="29380046" cy="4526239"/>
          </a:xfrm>
        </p:grpSpPr>
        <p:grpSp>
          <p:nvGrpSpPr>
            <p:cNvPr id="17" name="Group 17"/>
            <p:cNvGrpSpPr/>
            <p:nvPr/>
          </p:nvGrpSpPr>
          <p:grpSpPr>
            <a:xfrm>
              <a:off x="0" y="954681"/>
              <a:ext cx="29380046" cy="3571558"/>
              <a:chOff x="0" y="0"/>
              <a:chExt cx="5803466" cy="705493"/>
            </a:xfrm>
          </p:grpSpPr>
          <p:sp>
            <p:nvSpPr>
              <p:cNvPr id="18" name="Freeform 18"/>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9" name="TextBox 19"/>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20" name="Freeform 20"/>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5"/>
              <a:stretch>
                <a:fillRect/>
              </a:stretch>
            </a:blipFill>
          </p:spPr>
        </p:sp>
      </p:grpSp>
      <p:sp>
        <p:nvSpPr>
          <p:cNvPr id="21" name="TextBox 21"/>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31</a:t>
            </a:r>
          </a:p>
        </p:txBody>
      </p:sp>
      <p:sp>
        <p:nvSpPr>
          <p:cNvPr id="14" name="TextBox 14"/>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4.1. Demo </a:t>
            </a:r>
            <a:r>
              <a:rPr lang="en-US" sz="3999" b="1" dirty="0" err="1">
                <a:solidFill>
                  <a:srgbClr val="0C1D4B"/>
                </a:solidFill>
                <a:latin typeface="Montserrat Heavy"/>
                <a:ea typeface="Montserrat Heavy"/>
                <a:cs typeface="Montserrat Heavy"/>
                <a:sym typeface="Montserrat Heavy"/>
              </a:rPr>
              <a:t>các</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chức</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năng</a:t>
            </a:r>
            <a:endParaRPr lang="en-US" sz="3999" b="1" dirty="0">
              <a:solidFill>
                <a:srgbClr val="0C1D4B"/>
              </a:solidFill>
              <a:latin typeface="Montserrat Heavy"/>
              <a:ea typeface="Montserrat Heavy"/>
              <a:cs typeface="Montserrat Heavy"/>
              <a:sym typeface="Montserrat Heavy"/>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D473C-FFA9-843B-499E-99450011F40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485A192-DF7D-7200-FB47-FB98B0B0B10F}"/>
              </a:ext>
            </a:extLst>
          </p:cNvPr>
          <p:cNvGrpSpPr/>
          <p:nvPr/>
        </p:nvGrpSpPr>
        <p:grpSpPr>
          <a:xfrm>
            <a:off x="705846" y="434975"/>
            <a:ext cx="5042638" cy="603250"/>
            <a:chOff x="0" y="0"/>
            <a:chExt cx="6723518" cy="804333"/>
          </a:xfrm>
        </p:grpSpPr>
        <p:sp>
          <p:nvSpPr>
            <p:cNvPr id="3" name="TextBox 3">
              <a:extLst>
                <a:ext uri="{FF2B5EF4-FFF2-40B4-BE49-F238E27FC236}">
                  <a16:creationId xmlns:a16="http://schemas.microsoft.com/office/drawing/2014/main" id="{BD9ADA0E-B9E0-89BA-AFD9-56B3BE54A595}"/>
                </a:ext>
              </a:extLst>
            </p:cNvPr>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a:extLst>
                <a:ext uri="{FF2B5EF4-FFF2-40B4-BE49-F238E27FC236}">
                  <a16:creationId xmlns:a16="http://schemas.microsoft.com/office/drawing/2014/main" id="{4D817C48-F9BC-EFEB-216D-1B959D0FAD4A}"/>
                </a:ext>
              </a:extLst>
            </p:cNvPr>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a:extLst>
              <a:ext uri="{FF2B5EF4-FFF2-40B4-BE49-F238E27FC236}">
                <a16:creationId xmlns:a16="http://schemas.microsoft.com/office/drawing/2014/main" id="{2B8AFEB9-5A9A-D7D0-9616-C9135EF8FC9C}"/>
              </a:ext>
            </a:extLst>
          </p:cNvPr>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a:extLst>
              <a:ext uri="{FF2B5EF4-FFF2-40B4-BE49-F238E27FC236}">
                <a16:creationId xmlns:a16="http://schemas.microsoft.com/office/drawing/2014/main" id="{2E7F7B12-BB8E-A984-B1B4-D2914B6146BE}"/>
              </a:ext>
            </a:extLst>
          </p:cNvPr>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a:extLst>
              <a:ext uri="{FF2B5EF4-FFF2-40B4-BE49-F238E27FC236}">
                <a16:creationId xmlns:a16="http://schemas.microsoft.com/office/drawing/2014/main" id="{468BAE51-B6E1-196A-1E59-A5508530F41B}"/>
              </a:ext>
            </a:extLst>
          </p:cNvPr>
          <p:cNvGrpSpPr/>
          <p:nvPr/>
        </p:nvGrpSpPr>
        <p:grpSpPr>
          <a:xfrm>
            <a:off x="-3158965" y="9357593"/>
            <a:ext cx="22035035" cy="3394679"/>
            <a:chOff x="0" y="0"/>
            <a:chExt cx="29380046" cy="4526239"/>
          </a:xfrm>
        </p:grpSpPr>
        <p:grpSp>
          <p:nvGrpSpPr>
            <p:cNvPr id="8" name="Group 8">
              <a:extLst>
                <a:ext uri="{FF2B5EF4-FFF2-40B4-BE49-F238E27FC236}">
                  <a16:creationId xmlns:a16="http://schemas.microsoft.com/office/drawing/2014/main" id="{6B6244D6-9037-6D5E-5D3A-9D061B4BFDE8}"/>
                </a:ext>
              </a:extLst>
            </p:cNvPr>
            <p:cNvGrpSpPr/>
            <p:nvPr/>
          </p:nvGrpSpPr>
          <p:grpSpPr>
            <a:xfrm>
              <a:off x="0" y="954681"/>
              <a:ext cx="29380046" cy="3571558"/>
              <a:chOff x="0" y="0"/>
              <a:chExt cx="5803466" cy="705493"/>
            </a:xfrm>
          </p:grpSpPr>
          <p:sp>
            <p:nvSpPr>
              <p:cNvPr id="9" name="Freeform 9">
                <a:extLst>
                  <a:ext uri="{FF2B5EF4-FFF2-40B4-BE49-F238E27FC236}">
                    <a16:creationId xmlns:a16="http://schemas.microsoft.com/office/drawing/2014/main" id="{42A0677F-56B5-D073-0361-A0BE02FAAC33}"/>
                  </a:ext>
                </a:extLst>
              </p:cNvPr>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a:extLst>
                  <a:ext uri="{FF2B5EF4-FFF2-40B4-BE49-F238E27FC236}">
                    <a16:creationId xmlns:a16="http://schemas.microsoft.com/office/drawing/2014/main" id="{BDE5BC51-ECE2-350E-34A8-255F89A9DD91}"/>
                  </a:ext>
                </a:extLst>
              </p:cNvPr>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a:extLst>
                <a:ext uri="{FF2B5EF4-FFF2-40B4-BE49-F238E27FC236}">
                  <a16:creationId xmlns:a16="http://schemas.microsoft.com/office/drawing/2014/main" id="{6440A547-DFE5-A4DF-C04B-C94228C75405}"/>
                </a:ext>
              </a:extLst>
            </p:cNvPr>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a:extLst>
              <a:ext uri="{FF2B5EF4-FFF2-40B4-BE49-F238E27FC236}">
                <a16:creationId xmlns:a16="http://schemas.microsoft.com/office/drawing/2014/main" id="{5416FBCE-ADE1-26F1-7592-3DF9322BEA8C}"/>
              </a:ext>
            </a:extLst>
          </p:cNvPr>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31</a:t>
            </a:r>
          </a:p>
        </p:txBody>
      </p:sp>
      <p:sp>
        <p:nvSpPr>
          <p:cNvPr id="14" name="TextBox 14">
            <a:extLst>
              <a:ext uri="{FF2B5EF4-FFF2-40B4-BE49-F238E27FC236}">
                <a16:creationId xmlns:a16="http://schemas.microsoft.com/office/drawing/2014/main" id="{DC1F16E1-CEA1-2465-576E-F480FA5CC6E4}"/>
              </a:ext>
            </a:extLst>
          </p:cNvPr>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4.2. </a:t>
            </a:r>
            <a:r>
              <a:rPr lang="en-US" sz="3999" b="1" dirty="0" err="1">
                <a:solidFill>
                  <a:srgbClr val="0C1D4B"/>
                </a:solidFill>
                <a:latin typeface="Montserrat Heavy"/>
                <a:ea typeface="Montserrat Heavy"/>
                <a:cs typeface="Montserrat Heavy"/>
                <a:sym typeface="Montserrat Heavy"/>
              </a:rPr>
              <a:t>Thực</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nghiệm</a:t>
            </a:r>
            <a:endParaRPr lang="en-US" sz="3999" b="1" dirty="0">
              <a:solidFill>
                <a:srgbClr val="0C1D4B"/>
              </a:solidFill>
              <a:latin typeface="Montserrat Heavy"/>
              <a:ea typeface="Montserrat Heavy"/>
              <a:cs typeface="Montserrat Heavy"/>
              <a:sym typeface="Montserrat Heavy"/>
            </a:endParaRPr>
          </a:p>
        </p:txBody>
      </p:sp>
      <p:sp>
        <p:nvSpPr>
          <p:cNvPr id="13" name="TextBox 9">
            <a:extLst>
              <a:ext uri="{FF2B5EF4-FFF2-40B4-BE49-F238E27FC236}">
                <a16:creationId xmlns:a16="http://schemas.microsoft.com/office/drawing/2014/main" id="{9C3EF79A-B607-DA02-5E11-321F5542CE10}"/>
              </a:ext>
            </a:extLst>
          </p:cNvPr>
          <p:cNvSpPr txBox="1"/>
          <p:nvPr/>
        </p:nvSpPr>
        <p:spPr>
          <a:xfrm>
            <a:off x="718725" y="2418217"/>
            <a:ext cx="9720675" cy="5481180"/>
          </a:xfrm>
          <a:prstGeom prst="rect">
            <a:avLst/>
          </a:prstGeom>
        </p:spPr>
        <p:txBody>
          <a:bodyPr wrap="square" lIns="0" tIns="0" rIns="0" bIns="0" rtlCol="0" anchor="t">
            <a:spAutoFit/>
          </a:bodyPr>
          <a:lstStyle/>
          <a:p>
            <a:pPr marL="323850" lvl="1" algn="just">
              <a:lnSpc>
                <a:spcPts val="4800"/>
              </a:lnSpc>
            </a:pPr>
            <a:r>
              <a:rPr lang="en-US" sz="3000" dirty="0" err="1">
                <a:solidFill>
                  <a:srgbClr val="0C1D4B"/>
                </a:solidFill>
                <a:latin typeface="Montserrat"/>
                <a:ea typeface="Montserrat"/>
                <a:cs typeface="Montserrat"/>
                <a:sym typeface="Montserrat"/>
              </a:rPr>
              <a:t>Bộ</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dữ</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liệu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thực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nghiệm</a:t>
            </a:r>
            <a:r>
              <a:rPr lang="en-US" sz="3000" dirty="0">
                <a:solidFill>
                  <a:srgbClr val="0C1D4B"/>
                </a:solidFill>
                <a:latin typeface="Montserrat"/>
                <a:ea typeface="Montserrat"/>
                <a:cs typeface="Montserrat"/>
                <a:sym typeface="Montserrat"/>
              </a:rPr>
              <a:t>:</a:t>
            </a:r>
          </a:p>
          <a:p>
            <a:pPr marL="781050" lvl="1" indent="-457200" algn="just">
              <a:lnSpc>
                <a:spcPts val="4800"/>
              </a:lnSpc>
              <a:buFont typeface="Arial" panose="020B0604020202020204" pitchFamily="34" charset="0"/>
              <a:buChar char="•"/>
            </a:pPr>
            <a:r>
              <a:rPr lang="en-US" sz="3000" dirty="0" err="1">
                <a:solidFill>
                  <a:srgbClr val="0C1D4B"/>
                </a:solidFill>
                <a:latin typeface="Montserrat"/>
                <a:ea typeface="Montserrat"/>
                <a:cs typeface="Montserrat"/>
                <a:sym typeface="Montserrat"/>
              </a:rPr>
              <a:t>Bộ</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dữ</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liệu</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thực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nghiệm</a:t>
            </a:r>
            <a:r>
              <a:rPr lang="en-US" sz="3000" dirty="0">
                <a:solidFill>
                  <a:srgbClr val="0C1D4B"/>
                </a:solidFill>
                <a:latin typeface="Montserrat"/>
                <a:ea typeface="Montserrat"/>
                <a:cs typeface="Montserrat"/>
                <a:sym typeface="Montserrat"/>
              </a:rPr>
              <a:t> </a:t>
            </a:r>
            <a:r>
              <a:rPr lang="vi-VN" sz="3000" dirty="0">
                <a:solidFill>
                  <a:srgbClr val="0C1D4B"/>
                </a:solidFill>
                <a:latin typeface="Montserrat"/>
                <a:ea typeface="Montserrat"/>
                <a:cs typeface="Montserrat"/>
                <a:sym typeface="Montserrat"/>
              </a:rPr>
              <a:t>gồm các truy vấn mẫu </a:t>
            </a:r>
            <a:r>
              <a:rPr lang="en-US" sz="3000" dirty="0" err="1">
                <a:solidFill>
                  <a:srgbClr val="0C1D4B"/>
                </a:solidFill>
                <a:latin typeface="Montserrat"/>
                <a:ea typeface="Montserrat"/>
                <a:cs typeface="Montserrat"/>
                <a:sym typeface="Montserrat"/>
              </a:rPr>
              <a:t>có</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thể</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gặp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trên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thực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tế</a:t>
            </a:r>
            <a:endParaRPr lang="en-US" sz="3000" dirty="0">
              <a:solidFill>
                <a:srgbClr val="0C1D4B"/>
              </a:solidFill>
              <a:latin typeface="Montserrat"/>
              <a:ea typeface="Montserrat"/>
              <a:cs typeface="Montserrat"/>
              <a:sym typeface="Montserrat"/>
            </a:endParaRPr>
          </a:p>
          <a:p>
            <a:pPr marL="781050" lvl="1" indent="-457200" algn="just">
              <a:lnSpc>
                <a:spcPts val="4800"/>
              </a:lnSpc>
              <a:buFont typeface="Arial" panose="020B0604020202020204" pitchFamily="34" charset="0"/>
              <a:buChar char="•"/>
            </a:pPr>
            <a:endParaRPr lang="en-US" sz="3000" dirty="0">
              <a:solidFill>
                <a:srgbClr val="0C1D4B"/>
              </a:solidFill>
              <a:latin typeface="Montserrat"/>
              <a:ea typeface="Montserrat"/>
              <a:cs typeface="Montserrat"/>
              <a:sym typeface="Montserrat"/>
            </a:endParaRPr>
          </a:p>
          <a:p>
            <a:pPr marL="781050" lvl="1" indent="-457200" algn="just">
              <a:lnSpc>
                <a:spcPts val="4800"/>
              </a:lnSpc>
              <a:buFont typeface="Arial" panose="020B0604020202020204" pitchFamily="34" charset="0"/>
              <a:buChar char="•"/>
            </a:pPr>
            <a:r>
              <a:rPr lang="en-US" sz="3000" dirty="0" err="1">
                <a:solidFill>
                  <a:srgbClr val="0C1D4B"/>
                </a:solidFill>
                <a:latin typeface="Montserrat"/>
                <a:ea typeface="Montserrat"/>
                <a:cs typeface="Montserrat"/>
                <a:sym typeface="Montserrat"/>
              </a:rPr>
              <a:t>Bộ</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dữ</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liệu</a:t>
            </a:r>
            <a:r>
              <a:rPr lang="en-US" sz="3000" dirty="0">
                <a:solidFill>
                  <a:srgbClr val="0C1D4B"/>
                </a:solidFill>
                <a:latin typeface="Montserrat"/>
                <a:ea typeface="Montserrat"/>
                <a:cs typeface="Montserrat"/>
                <a:sym typeface="Montserrat"/>
              </a:rPr>
              <a:t> chia </a:t>
            </a:r>
            <a:r>
              <a:rPr lang="en-US" sz="3000" dirty="0" err="1">
                <a:solidFill>
                  <a:srgbClr val="0C1D4B"/>
                </a:solidFill>
                <a:latin typeface="Montserrat"/>
                <a:ea typeface="Montserrat"/>
                <a:cs typeface="Montserrat"/>
                <a:sym typeface="Montserrat"/>
              </a:rPr>
              <a:t>thành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hai</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nhóm</a:t>
            </a:r>
            <a:r>
              <a:rPr lang="en-US" sz="3000" dirty="0">
                <a:solidFill>
                  <a:srgbClr val="0C1D4B"/>
                </a:solidFill>
                <a:latin typeface="Montserrat"/>
                <a:ea typeface="Montserrat"/>
                <a:cs typeface="Montserrat"/>
                <a:sym typeface="Montserrat"/>
              </a:rPr>
              <a:t>:</a:t>
            </a:r>
          </a:p>
          <a:p>
            <a:pPr marL="1238250" lvl="2" indent="-457200" algn="just">
              <a:lnSpc>
                <a:spcPts val="4800"/>
              </a:lnSpc>
              <a:buFont typeface="Arial" panose="020B0604020202020204" pitchFamily="34" charset="0"/>
              <a:buChar char="•"/>
            </a:pPr>
            <a:r>
              <a:rPr lang="en-US" sz="3000" b="1" dirty="0" err="1">
                <a:solidFill>
                  <a:srgbClr val="0C1D4B"/>
                </a:solidFill>
                <a:latin typeface="Montserrat"/>
                <a:ea typeface="Montserrat"/>
                <a:cs typeface="Montserrat"/>
                <a:sym typeface="Montserrat"/>
              </a:rPr>
              <a:t>Nhóm</a:t>
            </a:r>
            <a:r>
              <a:rPr lang="en-US" sz="3000" b="1" dirty="0">
                <a:solidFill>
                  <a:srgbClr val="0C1D4B"/>
                </a:solidFill>
                <a:latin typeface="Montserrat"/>
                <a:ea typeface="Montserrat"/>
                <a:cs typeface="Montserrat"/>
                <a:sym typeface="Montserrat"/>
              </a:rPr>
              <a:t> N1</a:t>
            </a:r>
            <a:r>
              <a:rPr lang="en-US" sz="3000" dirty="0">
                <a:solidFill>
                  <a:srgbClr val="0C1D4B"/>
                </a:solidFill>
                <a:latin typeface="Montserrat"/>
                <a:ea typeface="Montserrat"/>
                <a:cs typeface="Montserrat"/>
                <a:sym typeface="Montserrat"/>
              </a:rPr>
              <a:t>: </a:t>
            </a:r>
            <a:r>
              <a:rPr lang="vi-VN" sz="3000" dirty="0">
                <a:solidFill>
                  <a:srgbClr val="0C1D4B"/>
                </a:solidFill>
                <a:latin typeface="Montserrat"/>
                <a:ea typeface="Montserrat"/>
                <a:cs typeface="Montserrat"/>
                <a:sym typeface="Montserrat"/>
              </a:rPr>
              <a:t>câu hỏi có đầu vào có thể đưa ra dạng kết quả duy nhất </a:t>
            </a:r>
          </a:p>
          <a:p>
            <a:pPr marL="1238250" lvl="2" indent="-457200" algn="just">
              <a:lnSpc>
                <a:spcPts val="4800"/>
              </a:lnSpc>
              <a:buFont typeface="Arial" panose="020B0604020202020204" pitchFamily="34" charset="0"/>
              <a:buChar char="•"/>
            </a:pPr>
            <a:r>
              <a:rPr lang="vi-VN" sz="3000" b="1" dirty="0">
                <a:solidFill>
                  <a:srgbClr val="0C1D4B"/>
                </a:solidFill>
                <a:latin typeface="Montserrat"/>
                <a:ea typeface="Montserrat"/>
                <a:cs typeface="Montserrat"/>
                <a:sym typeface="Montserrat"/>
              </a:rPr>
              <a:t>Nhóm N2</a:t>
            </a:r>
            <a:r>
              <a:rPr lang="vi-VN" sz="3000" dirty="0">
                <a:solidFill>
                  <a:srgbClr val="0C1D4B"/>
                </a:solidFill>
                <a:latin typeface="Montserrat"/>
                <a:ea typeface="Montserrat"/>
                <a:cs typeface="Montserrat"/>
                <a:sym typeface="Montserrat"/>
              </a:rPr>
              <a:t>: câu hỏi đầu vào có thể đưa ra kết quả ở nhiều dạng khác nhau </a:t>
            </a:r>
            <a:endParaRPr lang="en-US" sz="3000" dirty="0">
              <a:solidFill>
                <a:srgbClr val="0C1D4B"/>
              </a:solidFill>
              <a:latin typeface="Montserrat"/>
              <a:ea typeface="Montserrat"/>
              <a:cs typeface="Montserrat"/>
              <a:sym typeface="Montserrat"/>
            </a:endParaRPr>
          </a:p>
        </p:txBody>
      </p:sp>
      <p:graphicFrame>
        <p:nvGraphicFramePr>
          <p:cNvPr id="17" name="Table 16">
            <a:extLst>
              <a:ext uri="{FF2B5EF4-FFF2-40B4-BE49-F238E27FC236}">
                <a16:creationId xmlns:a16="http://schemas.microsoft.com/office/drawing/2014/main" id="{15EE4AC8-9F88-8BCC-19DD-578FFE48EE9E}"/>
              </a:ext>
            </a:extLst>
          </p:cNvPr>
          <p:cNvGraphicFramePr>
            <a:graphicFrameLocks noGrp="1"/>
          </p:cNvGraphicFramePr>
          <p:nvPr>
            <p:extLst>
              <p:ext uri="{D42A27DB-BD31-4B8C-83A1-F6EECF244321}">
                <p14:modId xmlns:p14="http://schemas.microsoft.com/office/powerpoint/2010/main" val="2641019167"/>
              </p:ext>
            </p:extLst>
          </p:nvPr>
        </p:nvGraphicFramePr>
        <p:xfrm>
          <a:off x="11049000" y="2874777"/>
          <a:ext cx="6629400" cy="4144920"/>
        </p:xfrm>
        <a:graphic>
          <a:graphicData uri="http://schemas.openxmlformats.org/drawingml/2006/table">
            <a:tbl>
              <a:tblPr firstRow="1" firstCol="1" bandRow="1">
                <a:tableStyleId>{5C22544A-7EE6-4342-B048-85BDC9FD1C3A}</a:tableStyleId>
              </a:tblPr>
              <a:tblGrid>
                <a:gridCol w="1992076">
                  <a:extLst>
                    <a:ext uri="{9D8B030D-6E8A-4147-A177-3AD203B41FA5}">
                      <a16:colId xmlns:a16="http://schemas.microsoft.com/office/drawing/2014/main" val="1450647565"/>
                    </a:ext>
                  </a:extLst>
                </a:gridCol>
                <a:gridCol w="4637324">
                  <a:extLst>
                    <a:ext uri="{9D8B030D-6E8A-4147-A177-3AD203B41FA5}">
                      <a16:colId xmlns:a16="http://schemas.microsoft.com/office/drawing/2014/main" val="745071102"/>
                    </a:ext>
                  </a:extLst>
                </a:gridCol>
              </a:tblGrid>
              <a:tr h="531807">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en-US" sz="2000" dirty="0" err="1">
                          <a:solidFill>
                            <a:schemeClr val="tx1"/>
                          </a:solidFill>
                          <a:effectLst/>
                          <a:latin typeface=""/>
                        </a:rPr>
                        <a:t>Tên</a:t>
                      </a:r>
                      <a:r>
                        <a:rPr lang="en-US" sz="2000" dirty="0">
                          <a:solidFill>
                            <a:schemeClr val="tx1"/>
                          </a:solidFill>
                          <a:effectLst/>
                          <a:latin typeface=""/>
                        </a:rPr>
                        <a:t> </a:t>
                      </a:r>
                      <a:r>
                        <a:rPr lang="en-US" sz="2000" dirty="0" err="1">
                          <a:solidFill>
                            <a:schemeClr val="tx1"/>
                          </a:solidFill>
                          <a:effectLst/>
                          <a:latin typeface=""/>
                        </a:rPr>
                        <a:t>trường</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450215" algn="l">
                        <a:lnSpc>
                          <a:spcPct val="130000"/>
                        </a:lnSpc>
                        <a:buNone/>
                      </a:pPr>
                      <a:r>
                        <a:rPr lang="en-US" sz="2000" dirty="0" err="1">
                          <a:solidFill>
                            <a:schemeClr val="tx1"/>
                          </a:solidFill>
                          <a:effectLst/>
                          <a:latin typeface=""/>
                        </a:rPr>
                        <a:t>Ý</a:t>
                      </a:r>
                      <a:r>
                        <a:rPr lang="en-US" sz="2000" dirty="0">
                          <a:solidFill>
                            <a:schemeClr val="tx1"/>
                          </a:solidFill>
                          <a:effectLst/>
                          <a:latin typeface=""/>
                        </a:rPr>
                        <a:t> </a:t>
                      </a:r>
                      <a:r>
                        <a:rPr lang="en-US" sz="2000" dirty="0" err="1">
                          <a:solidFill>
                            <a:schemeClr val="tx1"/>
                          </a:solidFill>
                          <a:effectLst/>
                          <a:latin typeface=""/>
                        </a:rPr>
                        <a:t>nghĩa</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804567400"/>
                  </a:ext>
                </a:extLst>
              </a:tr>
              <a:tr h="768981">
                <a:tc>
                  <a:txBody>
                    <a:bodyPr/>
                    <a:lstStyle/>
                    <a:p>
                      <a:pPr indent="0" algn="l">
                        <a:lnSpc>
                          <a:spcPct val="130000"/>
                        </a:lnSpc>
                        <a:buNone/>
                      </a:pPr>
                      <a:r>
                        <a:rPr lang="en-US" sz="2000" dirty="0">
                          <a:solidFill>
                            <a:schemeClr val="tx1"/>
                          </a:solidFill>
                          <a:effectLst/>
                          <a:latin typeface=""/>
                        </a:rPr>
                        <a:t>Query</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l">
                        <a:lnSpc>
                          <a:spcPct val="130000"/>
                        </a:lnSpc>
                        <a:buNone/>
                      </a:pPr>
                      <a:r>
                        <a:rPr lang="en-US" sz="2000" dirty="0" err="1">
                          <a:solidFill>
                            <a:schemeClr val="tx1"/>
                          </a:solidFill>
                          <a:effectLst/>
                          <a:latin typeface=""/>
                        </a:rPr>
                        <a:t>Câu</a:t>
                      </a:r>
                      <a:r>
                        <a:rPr lang="en-US" sz="2000" dirty="0">
                          <a:solidFill>
                            <a:schemeClr val="tx1"/>
                          </a:solidFill>
                          <a:effectLst/>
                          <a:latin typeface=""/>
                        </a:rPr>
                        <a:t> </a:t>
                      </a:r>
                      <a:r>
                        <a:rPr lang="en-US" sz="2000" dirty="0" err="1">
                          <a:solidFill>
                            <a:schemeClr val="tx1"/>
                          </a:solidFill>
                          <a:effectLst/>
                          <a:latin typeface=""/>
                        </a:rPr>
                        <a:t>hỏi</a:t>
                      </a:r>
                      <a:r>
                        <a:rPr lang="en-US" sz="2000" dirty="0">
                          <a:solidFill>
                            <a:schemeClr val="tx1"/>
                          </a:solidFill>
                          <a:effectLst/>
                          <a:latin typeface=""/>
                        </a:rPr>
                        <a:t> </a:t>
                      </a:r>
                      <a:r>
                        <a:rPr lang="en-US" sz="2000" dirty="0" err="1">
                          <a:solidFill>
                            <a:schemeClr val="tx1"/>
                          </a:solidFill>
                          <a:effectLst/>
                          <a:latin typeface=""/>
                        </a:rPr>
                        <a:t>đầu</a:t>
                      </a:r>
                      <a:r>
                        <a:rPr lang="en-US" sz="2000" dirty="0">
                          <a:solidFill>
                            <a:schemeClr val="tx1"/>
                          </a:solidFill>
                          <a:effectLst/>
                          <a:latin typeface=""/>
                        </a:rPr>
                        <a:t> </a:t>
                      </a:r>
                      <a:r>
                        <a:rPr lang="en-US" sz="2000" dirty="0" err="1">
                          <a:solidFill>
                            <a:schemeClr val="tx1"/>
                          </a:solidFill>
                          <a:effectLst/>
                          <a:latin typeface=""/>
                        </a:rPr>
                        <a:t>vào</a:t>
                      </a:r>
                      <a:r>
                        <a:rPr lang="en-US" sz="2000" dirty="0">
                          <a:solidFill>
                            <a:schemeClr val="tx1"/>
                          </a:solidFill>
                          <a:effectLst/>
                          <a:latin typeface=""/>
                        </a:rPr>
                        <a:t> </a:t>
                      </a:r>
                      <a:r>
                        <a:rPr lang="en-US" sz="2000" dirty="0" err="1">
                          <a:solidFill>
                            <a:schemeClr val="tx1"/>
                          </a:solidFill>
                          <a:effectLst/>
                          <a:latin typeface=""/>
                        </a:rPr>
                        <a:t>cho</a:t>
                      </a:r>
                      <a:r>
                        <a:rPr lang="en-US" sz="2000" dirty="0">
                          <a:solidFill>
                            <a:schemeClr val="tx1"/>
                          </a:solidFill>
                          <a:effectLst/>
                          <a:latin typeface=""/>
                        </a:rPr>
                        <a:t> </a:t>
                      </a:r>
                      <a:r>
                        <a:rPr lang="en-US" sz="2000" dirty="0" err="1">
                          <a:solidFill>
                            <a:schemeClr val="tx1"/>
                          </a:solidFill>
                          <a:effectLst/>
                          <a:latin typeface=""/>
                        </a:rPr>
                        <a:t>hệ</a:t>
                      </a:r>
                      <a:r>
                        <a:rPr lang="en-US" sz="2000" dirty="0">
                          <a:solidFill>
                            <a:schemeClr val="tx1"/>
                          </a:solidFill>
                          <a:effectLst/>
                          <a:latin typeface=""/>
                        </a:rPr>
                        <a:t> </a:t>
                      </a:r>
                      <a:r>
                        <a:rPr lang="en-US" sz="2000" dirty="0" err="1">
                          <a:solidFill>
                            <a:schemeClr val="tx1"/>
                          </a:solidFill>
                          <a:effectLst/>
                          <a:latin typeface=""/>
                        </a:rPr>
                        <a:t>thống</a:t>
                      </a:r>
                      <a:r>
                        <a:rPr lang="en-US" sz="2000" dirty="0">
                          <a:solidFill>
                            <a:schemeClr val="tx1"/>
                          </a:solidFill>
                          <a:effectLst/>
                          <a:latin typeface=""/>
                        </a:rPr>
                        <a:t> chatbot</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3429997"/>
                  </a:ext>
                </a:extLst>
              </a:tr>
              <a:tr h="531807">
                <a:tc>
                  <a:txBody>
                    <a:bodyPr/>
                    <a:lstStyle/>
                    <a:p>
                      <a:pPr indent="0" algn="l">
                        <a:lnSpc>
                          <a:spcPct val="130000"/>
                        </a:lnSpc>
                        <a:buNone/>
                      </a:pPr>
                      <a:r>
                        <a:rPr lang="en-US" sz="2000" dirty="0">
                          <a:solidFill>
                            <a:schemeClr val="tx1"/>
                          </a:solidFill>
                          <a:effectLst/>
                          <a:latin typeface=""/>
                        </a:rPr>
                        <a:t>Expect</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l">
                        <a:lnSpc>
                          <a:spcPct val="130000"/>
                        </a:lnSpc>
                        <a:buNone/>
                      </a:pPr>
                      <a:r>
                        <a:rPr lang="en-US" sz="2000" dirty="0" err="1">
                          <a:solidFill>
                            <a:schemeClr val="tx1"/>
                          </a:solidFill>
                          <a:effectLst/>
                          <a:latin typeface=""/>
                        </a:rPr>
                        <a:t>Đầu</a:t>
                      </a:r>
                      <a:r>
                        <a:rPr lang="en-US" sz="2000" dirty="0">
                          <a:solidFill>
                            <a:schemeClr val="tx1"/>
                          </a:solidFill>
                          <a:effectLst/>
                          <a:latin typeface=""/>
                        </a:rPr>
                        <a:t> </a:t>
                      </a:r>
                      <a:r>
                        <a:rPr lang="en-US" sz="2000" dirty="0" err="1">
                          <a:solidFill>
                            <a:schemeClr val="tx1"/>
                          </a:solidFill>
                          <a:effectLst/>
                          <a:latin typeface=""/>
                        </a:rPr>
                        <a:t>ra</a:t>
                      </a:r>
                      <a:r>
                        <a:rPr lang="en-US" sz="2000" dirty="0">
                          <a:solidFill>
                            <a:schemeClr val="tx1"/>
                          </a:solidFill>
                          <a:effectLst/>
                          <a:latin typeface=""/>
                        </a:rPr>
                        <a:t> </a:t>
                      </a:r>
                      <a:r>
                        <a:rPr lang="en-US" sz="2000" dirty="0" err="1">
                          <a:solidFill>
                            <a:schemeClr val="tx1"/>
                          </a:solidFill>
                          <a:effectLst/>
                          <a:latin typeface=""/>
                        </a:rPr>
                        <a:t>mong</a:t>
                      </a:r>
                      <a:r>
                        <a:rPr lang="en-US" sz="2000" dirty="0">
                          <a:solidFill>
                            <a:schemeClr val="tx1"/>
                          </a:solidFill>
                          <a:effectLst/>
                          <a:latin typeface=""/>
                        </a:rPr>
                        <a:t> </a:t>
                      </a:r>
                      <a:r>
                        <a:rPr lang="en-US" sz="2000" dirty="0" err="1">
                          <a:solidFill>
                            <a:schemeClr val="tx1"/>
                          </a:solidFill>
                          <a:effectLst/>
                          <a:latin typeface=""/>
                        </a:rPr>
                        <a:t>muốn</a:t>
                      </a:r>
                      <a:r>
                        <a:rPr lang="en-US" sz="2000" dirty="0">
                          <a:solidFill>
                            <a:schemeClr val="tx1"/>
                          </a:solidFill>
                          <a:effectLst/>
                          <a:latin typeface=""/>
                        </a:rPr>
                        <a:t> chatbot </a:t>
                      </a:r>
                      <a:r>
                        <a:rPr lang="en-US" sz="2000" dirty="0" err="1">
                          <a:solidFill>
                            <a:schemeClr val="tx1"/>
                          </a:solidFill>
                          <a:effectLst/>
                          <a:latin typeface=""/>
                        </a:rPr>
                        <a:t>đạt</a:t>
                      </a:r>
                      <a:r>
                        <a:rPr lang="en-US" sz="2000" dirty="0">
                          <a:solidFill>
                            <a:schemeClr val="tx1"/>
                          </a:solidFill>
                          <a:effectLst/>
                          <a:latin typeface=""/>
                        </a:rPr>
                        <a:t> </a:t>
                      </a:r>
                      <a:r>
                        <a:rPr lang="en-US" sz="2000" dirty="0" err="1">
                          <a:solidFill>
                            <a:schemeClr val="tx1"/>
                          </a:solidFill>
                          <a:effectLst/>
                          <a:latin typeface=""/>
                        </a:rPr>
                        <a:t>được</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93368485"/>
                  </a:ext>
                </a:extLst>
              </a:tr>
              <a:tr h="2312325">
                <a:tc>
                  <a:txBody>
                    <a:bodyPr/>
                    <a:lstStyle/>
                    <a:p>
                      <a:pPr indent="0" algn="l">
                        <a:lnSpc>
                          <a:spcPct val="130000"/>
                        </a:lnSpc>
                        <a:buNone/>
                      </a:pPr>
                      <a:r>
                        <a:rPr lang="en-US" sz="2000" dirty="0">
                          <a:solidFill>
                            <a:schemeClr val="tx1"/>
                          </a:solidFill>
                          <a:effectLst/>
                          <a:latin typeface=""/>
                        </a:rPr>
                        <a:t>Context</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0" algn="l">
                        <a:lnSpc>
                          <a:spcPct val="130000"/>
                        </a:lnSpc>
                        <a:buNone/>
                      </a:pPr>
                      <a:r>
                        <a:rPr lang="en-US" sz="2000" dirty="0" err="1">
                          <a:solidFill>
                            <a:schemeClr val="tx1"/>
                          </a:solidFill>
                          <a:effectLst/>
                          <a:latin typeface=""/>
                        </a:rPr>
                        <a:t>Ngữ</a:t>
                      </a:r>
                      <a:r>
                        <a:rPr lang="en-US" sz="2000" dirty="0">
                          <a:solidFill>
                            <a:schemeClr val="tx1"/>
                          </a:solidFill>
                          <a:effectLst/>
                          <a:latin typeface=""/>
                        </a:rPr>
                        <a:t> </a:t>
                      </a:r>
                      <a:r>
                        <a:rPr lang="en-US" sz="2000" dirty="0" err="1">
                          <a:solidFill>
                            <a:schemeClr val="tx1"/>
                          </a:solidFill>
                          <a:effectLst/>
                          <a:latin typeface=""/>
                        </a:rPr>
                        <a:t>cảnh</a:t>
                      </a:r>
                      <a:r>
                        <a:rPr lang="en-US" sz="2000" dirty="0">
                          <a:solidFill>
                            <a:schemeClr val="tx1"/>
                          </a:solidFill>
                          <a:effectLst/>
                          <a:latin typeface=""/>
                        </a:rPr>
                        <a:t> </a:t>
                      </a:r>
                      <a:r>
                        <a:rPr lang="en-US" sz="2000" dirty="0" err="1">
                          <a:solidFill>
                            <a:schemeClr val="tx1"/>
                          </a:solidFill>
                          <a:effectLst/>
                          <a:latin typeface=""/>
                        </a:rPr>
                        <a:t>liên</a:t>
                      </a:r>
                      <a:r>
                        <a:rPr lang="en-US" sz="2000" dirty="0">
                          <a:solidFill>
                            <a:schemeClr val="tx1"/>
                          </a:solidFill>
                          <a:effectLst/>
                          <a:latin typeface=""/>
                        </a:rPr>
                        <a:t> </a:t>
                      </a:r>
                      <a:r>
                        <a:rPr lang="en-US" sz="2000" dirty="0" err="1">
                          <a:solidFill>
                            <a:schemeClr val="tx1"/>
                          </a:solidFill>
                          <a:effectLst/>
                          <a:latin typeface=""/>
                        </a:rPr>
                        <a:t>quan</a:t>
                      </a:r>
                      <a:r>
                        <a:rPr lang="en-US" sz="2000" dirty="0">
                          <a:solidFill>
                            <a:schemeClr val="tx1"/>
                          </a:solidFill>
                          <a:effectLst/>
                          <a:latin typeface=""/>
                        </a:rPr>
                        <a:t>. </a:t>
                      </a:r>
                      <a:r>
                        <a:rPr lang="en-US" sz="2000" dirty="0" err="1">
                          <a:solidFill>
                            <a:schemeClr val="tx1"/>
                          </a:solidFill>
                          <a:effectLst/>
                          <a:latin typeface=""/>
                        </a:rPr>
                        <a:t>Đây</a:t>
                      </a:r>
                      <a:r>
                        <a:rPr lang="en-US" sz="2000" dirty="0">
                          <a:solidFill>
                            <a:schemeClr val="tx1"/>
                          </a:solidFill>
                          <a:effectLst/>
                          <a:latin typeface=""/>
                        </a:rPr>
                        <a:t> </a:t>
                      </a:r>
                      <a:r>
                        <a:rPr lang="en-US" sz="2000" dirty="0" err="1">
                          <a:solidFill>
                            <a:schemeClr val="tx1"/>
                          </a:solidFill>
                          <a:effectLst/>
                          <a:latin typeface=""/>
                        </a:rPr>
                        <a:t>là</a:t>
                      </a:r>
                      <a:r>
                        <a:rPr lang="en-US" sz="2000" dirty="0">
                          <a:solidFill>
                            <a:schemeClr val="tx1"/>
                          </a:solidFill>
                          <a:effectLst/>
                          <a:latin typeface=""/>
                        </a:rPr>
                        <a:t> </a:t>
                      </a:r>
                      <a:r>
                        <a:rPr lang="en-US" sz="2000" dirty="0" err="1">
                          <a:solidFill>
                            <a:schemeClr val="tx1"/>
                          </a:solidFill>
                          <a:effectLst/>
                          <a:latin typeface=""/>
                        </a:rPr>
                        <a:t>ngữ</a:t>
                      </a:r>
                      <a:r>
                        <a:rPr lang="en-US" sz="2000" dirty="0">
                          <a:solidFill>
                            <a:schemeClr val="tx1"/>
                          </a:solidFill>
                          <a:effectLst/>
                          <a:latin typeface=""/>
                        </a:rPr>
                        <a:t> </a:t>
                      </a:r>
                      <a:r>
                        <a:rPr lang="en-US" sz="2000" dirty="0" err="1">
                          <a:solidFill>
                            <a:schemeClr val="tx1"/>
                          </a:solidFill>
                          <a:effectLst/>
                          <a:latin typeface=""/>
                        </a:rPr>
                        <a:t>cảnh</a:t>
                      </a:r>
                      <a:r>
                        <a:rPr lang="en-US" sz="2000" dirty="0">
                          <a:solidFill>
                            <a:schemeClr val="tx1"/>
                          </a:solidFill>
                          <a:effectLst/>
                          <a:latin typeface=""/>
                        </a:rPr>
                        <a:t> </a:t>
                      </a:r>
                      <a:r>
                        <a:rPr lang="en-US" sz="2000" dirty="0" err="1">
                          <a:solidFill>
                            <a:schemeClr val="tx1"/>
                          </a:solidFill>
                          <a:effectLst/>
                          <a:latin typeface=""/>
                        </a:rPr>
                        <a:t>thực</a:t>
                      </a:r>
                      <a:r>
                        <a:rPr lang="en-US" sz="2000" dirty="0">
                          <a:solidFill>
                            <a:schemeClr val="tx1"/>
                          </a:solidFill>
                          <a:effectLst/>
                          <a:latin typeface=""/>
                        </a:rPr>
                        <a:t> </a:t>
                      </a:r>
                      <a:r>
                        <a:rPr lang="en-US" sz="2000" dirty="0" err="1">
                          <a:solidFill>
                            <a:schemeClr val="tx1"/>
                          </a:solidFill>
                          <a:effectLst/>
                          <a:latin typeface=""/>
                        </a:rPr>
                        <a:t>tế</a:t>
                      </a:r>
                      <a:r>
                        <a:rPr lang="en-US" sz="2000" dirty="0">
                          <a:solidFill>
                            <a:schemeClr val="tx1"/>
                          </a:solidFill>
                          <a:effectLst/>
                          <a:latin typeface=""/>
                        </a:rPr>
                        <a:t>, </a:t>
                      </a:r>
                      <a:r>
                        <a:rPr lang="en-US" sz="2000" dirty="0" err="1">
                          <a:solidFill>
                            <a:schemeClr val="tx1"/>
                          </a:solidFill>
                          <a:effectLst/>
                          <a:latin typeface=""/>
                        </a:rPr>
                        <a:t>được</a:t>
                      </a:r>
                      <a:r>
                        <a:rPr lang="en-US" sz="2000" dirty="0">
                          <a:solidFill>
                            <a:schemeClr val="tx1"/>
                          </a:solidFill>
                          <a:effectLst/>
                          <a:latin typeface=""/>
                        </a:rPr>
                        <a:t> </a:t>
                      </a:r>
                      <a:r>
                        <a:rPr lang="en-US" sz="2000" dirty="0" err="1">
                          <a:solidFill>
                            <a:schemeClr val="tx1"/>
                          </a:solidFill>
                          <a:effectLst/>
                          <a:latin typeface=""/>
                        </a:rPr>
                        <a:t>trích</a:t>
                      </a:r>
                      <a:r>
                        <a:rPr lang="en-US" sz="2000" dirty="0">
                          <a:solidFill>
                            <a:schemeClr val="tx1"/>
                          </a:solidFill>
                          <a:effectLst/>
                          <a:latin typeface=""/>
                        </a:rPr>
                        <a:t> </a:t>
                      </a:r>
                      <a:r>
                        <a:rPr lang="en-US" sz="2000" dirty="0" err="1">
                          <a:solidFill>
                            <a:schemeClr val="tx1"/>
                          </a:solidFill>
                          <a:effectLst/>
                          <a:latin typeface=""/>
                        </a:rPr>
                        <a:t>xuất</a:t>
                      </a:r>
                      <a:r>
                        <a:rPr lang="en-US" sz="2000" dirty="0">
                          <a:solidFill>
                            <a:schemeClr val="tx1"/>
                          </a:solidFill>
                          <a:effectLst/>
                          <a:latin typeface=""/>
                        </a:rPr>
                        <a:t> </a:t>
                      </a:r>
                      <a:r>
                        <a:rPr lang="en-US" sz="2000" dirty="0" err="1">
                          <a:solidFill>
                            <a:schemeClr val="tx1"/>
                          </a:solidFill>
                          <a:effectLst/>
                          <a:latin typeface=""/>
                        </a:rPr>
                        <a:t>từ</a:t>
                      </a:r>
                      <a:r>
                        <a:rPr lang="en-US" sz="2000" dirty="0">
                          <a:solidFill>
                            <a:schemeClr val="tx1"/>
                          </a:solidFill>
                          <a:effectLst/>
                          <a:latin typeface=""/>
                        </a:rPr>
                        <a:t> </a:t>
                      </a:r>
                      <a:r>
                        <a:rPr lang="en-US" sz="2000" dirty="0" err="1">
                          <a:solidFill>
                            <a:schemeClr val="tx1"/>
                          </a:solidFill>
                          <a:effectLst/>
                          <a:latin typeface=""/>
                        </a:rPr>
                        <a:t>bộ</a:t>
                      </a:r>
                      <a:r>
                        <a:rPr lang="en-US" sz="2000" dirty="0">
                          <a:solidFill>
                            <a:schemeClr val="tx1"/>
                          </a:solidFill>
                          <a:effectLst/>
                          <a:latin typeface=""/>
                        </a:rPr>
                        <a:t> </a:t>
                      </a:r>
                      <a:r>
                        <a:rPr lang="en-US" sz="2000" dirty="0" err="1">
                          <a:solidFill>
                            <a:schemeClr val="tx1"/>
                          </a:solidFill>
                          <a:effectLst/>
                          <a:latin typeface=""/>
                        </a:rPr>
                        <a:t>dữ</a:t>
                      </a:r>
                      <a:r>
                        <a:rPr lang="en-US" sz="2000" dirty="0">
                          <a:solidFill>
                            <a:schemeClr val="tx1"/>
                          </a:solidFill>
                          <a:effectLst/>
                          <a:latin typeface=""/>
                        </a:rPr>
                        <a:t> </a:t>
                      </a:r>
                      <a:r>
                        <a:rPr lang="en-US" sz="2000" dirty="0" err="1">
                          <a:solidFill>
                            <a:schemeClr val="tx1"/>
                          </a:solidFill>
                          <a:effectLst/>
                          <a:latin typeface=""/>
                        </a:rPr>
                        <a:t>liệu</a:t>
                      </a:r>
                      <a:r>
                        <a:rPr lang="en-US" sz="2000" dirty="0">
                          <a:solidFill>
                            <a:schemeClr val="tx1"/>
                          </a:solidFill>
                          <a:effectLst/>
                          <a:latin typeface=""/>
                        </a:rPr>
                        <a:t> </a:t>
                      </a:r>
                      <a:r>
                        <a:rPr lang="en-US" sz="2000" dirty="0" err="1">
                          <a:solidFill>
                            <a:schemeClr val="tx1"/>
                          </a:solidFill>
                          <a:effectLst/>
                          <a:latin typeface=""/>
                        </a:rPr>
                        <a:t>sử</a:t>
                      </a:r>
                      <a:r>
                        <a:rPr lang="en-US" sz="2000" dirty="0">
                          <a:solidFill>
                            <a:schemeClr val="tx1"/>
                          </a:solidFill>
                          <a:effectLst/>
                          <a:latin typeface=""/>
                        </a:rPr>
                        <a:t> </a:t>
                      </a:r>
                      <a:r>
                        <a:rPr lang="en-US" sz="2000" dirty="0" err="1">
                          <a:solidFill>
                            <a:schemeClr val="tx1"/>
                          </a:solidFill>
                          <a:effectLst/>
                          <a:latin typeface=""/>
                        </a:rPr>
                        <a:t>dụng</a:t>
                      </a:r>
                      <a:r>
                        <a:rPr lang="en-US" sz="2000" dirty="0">
                          <a:solidFill>
                            <a:schemeClr val="tx1"/>
                          </a:solidFill>
                          <a:effectLst/>
                          <a:latin typeface=""/>
                        </a:rPr>
                        <a:t> </a:t>
                      </a:r>
                      <a:r>
                        <a:rPr lang="en-US" sz="2000" dirty="0" err="1">
                          <a:solidFill>
                            <a:schemeClr val="tx1"/>
                          </a:solidFill>
                          <a:effectLst/>
                          <a:latin typeface=""/>
                        </a:rPr>
                        <a:t>để</a:t>
                      </a:r>
                      <a:r>
                        <a:rPr lang="en-US" sz="2000" dirty="0">
                          <a:solidFill>
                            <a:schemeClr val="tx1"/>
                          </a:solidFill>
                          <a:effectLst/>
                          <a:latin typeface=""/>
                        </a:rPr>
                        <a:t> </a:t>
                      </a:r>
                      <a:r>
                        <a:rPr lang="en-US" sz="2000" dirty="0" err="1">
                          <a:solidFill>
                            <a:schemeClr val="tx1"/>
                          </a:solidFill>
                          <a:effectLst/>
                          <a:latin typeface=""/>
                        </a:rPr>
                        <a:t>xây</a:t>
                      </a:r>
                      <a:r>
                        <a:rPr lang="en-US" sz="2000" dirty="0">
                          <a:solidFill>
                            <a:schemeClr val="tx1"/>
                          </a:solidFill>
                          <a:effectLst/>
                          <a:latin typeface=""/>
                        </a:rPr>
                        <a:t> </a:t>
                      </a:r>
                      <a:r>
                        <a:rPr lang="en-US" sz="2000" dirty="0" err="1">
                          <a:solidFill>
                            <a:schemeClr val="tx1"/>
                          </a:solidFill>
                          <a:effectLst/>
                          <a:latin typeface=""/>
                        </a:rPr>
                        <a:t>dựng</a:t>
                      </a:r>
                      <a:r>
                        <a:rPr lang="en-US" sz="2000" dirty="0">
                          <a:solidFill>
                            <a:schemeClr val="tx1"/>
                          </a:solidFill>
                          <a:effectLst/>
                          <a:latin typeface=""/>
                        </a:rPr>
                        <a:t> </a:t>
                      </a:r>
                      <a:r>
                        <a:rPr lang="en-US" sz="2000" dirty="0" err="1">
                          <a:solidFill>
                            <a:schemeClr val="tx1"/>
                          </a:solidFill>
                          <a:effectLst/>
                          <a:latin typeface=""/>
                        </a:rPr>
                        <a:t>hệ</a:t>
                      </a:r>
                      <a:r>
                        <a:rPr lang="en-US" sz="2000" dirty="0">
                          <a:solidFill>
                            <a:schemeClr val="tx1"/>
                          </a:solidFill>
                          <a:effectLst/>
                          <a:latin typeface=""/>
                        </a:rPr>
                        <a:t> </a:t>
                      </a:r>
                      <a:r>
                        <a:rPr lang="en-US" sz="2000" dirty="0" err="1">
                          <a:solidFill>
                            <a:schemeClr val="tx1"/>
                          </a:solidFill>
                          <a:effectLst/>
                          <a:latin typeface=""/>
                        </a:rPr>
                        <a:t>thống</a:t>
                      </a:r>
                      <a:r>
                        <a:rPr lang="en-US" sz="2000" dirty="0">
                          <a:solidFill>
                            <a:schemeClr val="tx1"/>
                          </a:solidFill>
                          <a:effectLst/>
                          <a:latin typeface=""/>
                        </a:rPr>
                        <a:t> chatbot.</a:t>
                      </a:r>
                      <a:endParaRPr lang="en-VN" sz="2000" dirty="0">
                        <a:solidFill>
                          <a:schemeClr val="tx1"/>
                        </a:solidFill>
                        <a:effectLst/>
                        <a:latin typeface=""/>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4484155"/>
                  </a:ext>
                </a:extLst>
              </a:tr>
            </a:tbl>
          </a:graphicData>
        </a:graphic>
      </p:graphicFrame>
    </p:spTree>
    <p:extLst>
      <p:ext uri="{BB962C8B-B14F-4D97-AF65-F5344CB8AC3E}">
        <p14:creationId xmlns:p14="http://schemas.microsoft.com/office/powerpoint/2010/main" val="27192377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75CA4-F25D-9D15-E4C8-F0A38BD2509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437DEC0-A408-2D48-ACBF-852DD0B6101F}"/>
              </a:ext>
            </a:extLst>
          </p:cNvPr>
          <p:cNvGrpSpPr/>
          <p:nvPr/>
        </p:nvGrpSpPr>
        <p:grpSpPr>
          <a:xfrm>
            <a:off x="705846" y="434975"/>
            <a:ext cx="5042638" cy="603250"/>
            <a:chOff x="0" y="0"/>
            <a:chExt cx="6723518" cy="804333"/>
          </a:xfrm>
        </p:grpSpPr>
        <p:sp>
          <p:nvSpPr>
            <p:cNvPr id="3" name="TextBox 3">
              <a:extLst>
                <a:ext uri="{FF2B5EF4-FFF2-40B4-BE49-F238E27FC236}">
                  <a16:creationId xmlns:a16="http://schemas.microsoft.com/office/drawing/2014/main" id="{FFF7F09A-C4FE-4BDA-8211-12AF921D2349}"/>
                </a:ext>
              </a:extLst>
            </p:cNvPr>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a:extLst>
                <a:ext uri="{FF2B5EF4-FFF2-40B4-BE49-F238E27FC236}">
                  <a16:creationId xmlns:a16="http://schemas.microsoft.com/office/drawing/2014/main" id="{ECC6BC44-1859-2F02-B83C-191BA8F8ED16}"/>
                </a:ext>
              </a:extLst>
            </p:cNvPr>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a:extLst>
              <a:ext uri="{FF2B5EF4-FFF2-40B4-BE49-F238E27FC236}">
                <a16:creationId xmlns:a16="http://schemas.microsoft.com/office/drawing/2014/main" id="{EEE17108-34C7-8C28-3C27-C569C39CF9EE}"/>
              </a:ext>
            </a:extLst>
          </p:cNvPr>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a:extLst>
              <a:ext uri="{FF2B5EF4-FFF2-40B4-BE49-F238E27FC236}">
                <a16:creationId xmlns:a16="http://schemas.microsoft.com/office/drawing/2014/main" id="{170A817E-C252-E992-FCF1-82800DB16D4A}"/>
              </a:ext>
            </a:extLst>
          </p:cNvPr>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a:extLst>
              <a:ext uri="{FF2B5EF4-FFF2-40B4-BE49-F238E27FC236}">
                <a16:creationId xmlns:a16="http://schemas.microsoft.com/office/drawing/2014/main" id="{67E0E86A-2DDB-1C74-9033-81C6B23A387A}"/>
              </a:ext>
            </a:extLst>
          </p:cNvPr>
          <p:cNvGrpSpPr/>
          <p:nvPr/>
        </p:nvGrpSpPr>
        <p:grpSpPr>
          <a:xfrm>
            <a:off x="-3158965" y="9357593"/>
            <a:ext cx="22035035" cy="3394679"/>
            <a:chOff x="0" y="0"/>
            <a:chExt cx="29380046" cy="4526239"/>
          </a:xfrm>
        </p:grpSpPr>
        <p:grpSp>
          <p:nvGrpSpPr>
            <p:cNvPr id="8" name="Group 8">
              <a:extLst>
                <a:ext uri="{FF2B5EF4-FFF2-40B4-BE49-F238E27FC236}">
                  <a16:creationId xmlns:a16="http://schemas.microsoft.com/office/drawing/2014/main" id="{F080BAF3-E44F-E134-15AC-8EA9B4E0F82A}"/>
                </a:ext>
              </a:extLst>
            </p:cNvPr>
            <p:cNvGrpSpPr/>
            <p:nvPr/>
          </p:nvGrpSpPr>
          <p:grpSpPr>
            <a:xfrm>
              <a:off x="0" y="954681"/>
              <a:ext cx="29380046" cy="3571558"/>
              <a:chOff x="0" y="0"/>
              <a:chExt cx="5803466" cy="705493"/>
            </a:xfrm>
          </p:grpSpPr>
          <p:sp>
            <p:nvSpPr>
              <p:cNvPr id="9" name="Freeform 9">
                <a:extLst>
                  <a:ext uri="{FF2B5EF4-FFF2-40B4-BE49-F238E27FC236}">
                    <a16:creationId xmlns:a16="http://schemas.microsoft.com/office/drawing/2014/main" id="{85080CF0-75FA-DF63-2021-E90D780041FC}"/>
                  </a:ext>
                </a:extLst>
              </p:cNvPr>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a:extLst>
                  <a:ext uri="{FF2B5EF4-FFF2-40B4-BE49-F238E27FC236}">
                    <a16:creationId xmlns:a16="http://schemas.microsoft.com/office/drawing/2014/main" id="{2A039CC0-1D3E-7BA3-5B48-098E6538939D}"/>
                  </a:ext>
                </a:extLst>
              </p:cNvPr>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a:extLst>
                <a:ext uri="{FF2B5EF4-FFF2-40B4-BE49-F238E27FC236}">
                  <a16:creationId xmlns:a16="http://schemas.microsoft.com/office/drawing/2014/main" id="{049EC883-D71E-0342-9B72-4C0F068DBD2E}"/>
                </a:ext>
              </a:extLst>
            </p:cNvPr>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a:extLst>
              <a:ext uri="{FF2B5EF4-FFF2-40B4-BE49-F238E27FC236}">
                <a16:creationId xmlns:a16="http://schemas.microsoft.com/office/drawing/2014/main" id="{6EA67C64-FE3D-761C-089D-389E7C427654}"/>
              </a:ext>
            </a:extLst>
          </p:cNvPr>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31</a:t>
            </a:r>
          </a:p>
        </p:txBody>
      </p:sp>
      <p:sp>
        <p:nvSpPr>
          <p:cNvPr id="14" name="TextBox 14">
            <a:extLst>
              <a:ext uri="{FF2B5EF4-FFF2-40B4-BE49-F238E27FC236}">
                <a16:creationId xmlns:a16="http://schemas.microsoft.com/office/drawing/2014/main" id="{1348E571-59B4-AE7D-7354-E8E2D56463AA}"/>
              </a:ext>
            </a:extLst>
          </p:cNvPr>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4.2. </a:t>
            </a:r>
            <a:r>
              <a:rPr lang="en-US" sz="3999" b="1" dirty="0" err="1">
                <a:solidFill>
                  <a:srgbClr val="0C1D4B"/>
                </a:solidFill>
                <a:latin typeface="Montserrat Heavy"/>
                <a:ea typeface="Montserrat Heavy"/>
                <a:cs typeface="Montserrat Heavy"/>
                <a:sym typeface="Montserrat Heavy"/>
              </a:rPr>
              <a:t>Thực</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nghiệm</a:t>
            </a:r>
            <a:endParaRPr lang="en-US" sz="3999" b="1" dirty="0">
              <a:solidFill>
                <a:srgbClr val="0C1D4B"/>
              </a:solidFill>
              <a:latin typeface="Montserrat Heavy"/>
              <a:ea typeface="Montserrat Heavy"/>
              <a:cs typeface="Montserrat Heavy"/>
              <a:sym typeface="Montserrat Heavy"/>
            </a:endParaRPr>
          </a:p>
        </p:txBody>
      </p:sp>
      <p:sp>
        <p:nvSpPr>
          <p:cNvPr id="13" name="TextBox 9">
            <a:extLst>
              <a:ext uri="{FF2B5EF4-FFF2-40B4-BE49-F238E27FC236}">
                <a16:creationId xmlns:a16="http://schemas.microsoft.com/office/drawing/2014/main" id="{4D8A2EF0-5F92-376F-6D09-C9C261495687}"/>
              </a:ext>
            </a:extLst>
          </p:cNvPr>
          <p:cNvSpPr txBox="1"/>
          <p:nvPr/>
        </p:nvSpPr>
        <p:spPr>
          <a:xfrm>
            <a:off x="718725" y="2418217"/>
            <a:ext cx="9720675" cy="4250074"/>
          </a:xfrm>
          <a:prstGeom prst="rect">
            <a:avLst/>
          </a:prstGeom>
        </p:spPr>
        <p:txBody>
          <a:bodyPr wrap="square" lIns="0" tIns="0" rIns="0" bIns="0" rtlCol="0" anchor="t">
            <a:spAutoFit/>
          </a:bodyPr>
          <a:lstStyle/>
          <a:p>
            <a:pPr marL="323850" lvl="1" algn="just">
              <a:lnSpc>
                <a:spcPts val="4800"/>
              </a:lnSpc>
            </a:pPr>
            <a:r>
              <a:rPr lang="en-US" sz="3000" dirty="0">
                <a:solidFill>
                  <a:srgbClr val="0C1D4B"/>
                </a:solidFill>
                <a:latin typeface="Montserrat"/>
                <a:ea typeface="Montserrat"/>
                <a:cs typeface="Montserrat"/>
                <a:sym typeface="Montserrat"/>
              </a:rPr>
              <a:t>Phương </a:t>
            </a:r>
            <a:r>
              <a:rPr lang="en-US" sz="3000" dirty="0" err="1">
                <a:solidFill>
                  <a:srgbClr val="0C1D4B"/>
                </a:solidFill>
                <a:latin typeface="Montserrat"/>
                <a:ea typeface="Montserrat"/>
                <a:cs typeface="Montserrat"/>
                <a:sym typeface="Montserrat"/>
              </a:rPr>
              <a:t>pháp</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thực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nghiệm</a:t>
            </a:r>
            <a:r>
              <a:rPr lang="en-US" sz="3000" dirty="0">
                <a:solidFill>
                  <a:srgbClr val="0C1D4B"/>
                </a:solidFill>
                <a:latin typeface="Montserrat"/>
                <a:ea typeface="Montserrat"/>
                <a:cs typeface="Montserrat"/>
                <a:sym typeface="Montserrat"/>
              </a:rPr>
              <a:t>:</a:t>
            </a:r>
          </a:p>
          <a:p>
            <a:pPr marL="323850" lvl="1" algn="just">
              <a:lnSpc>
                <a:spcPts val="4800"/>
              </a:lnSpc>
            </a:pPr>
            <a:r>
              <a:rPr lang="en-US" sz="3000" dirty="0">
                <a:solidFill>
                  <a:srgbClr val="0C1D4B"/>
                </a:solidFill>
                <a:latin typeface="Montserrat"/>
                <a:ea typeface="Montserrat"/>
                <a:cs typeface="Montserrat"/>
                <a:sym typeface="Montserrat"/>
              </a:rPr>
              <a:t>Tiến </a:t>
            </a:r>
            <a:r>
              <a:rPr lang="en-US" sz="3000" dirty="0" err="1">
                <a:solidFill>
                  <a:srgbClr val="0C1D4B"/>
                </a:solidFill>
                <a:latin typeface="Montserrat"/>
                <a:ea typeface="Montserrat"/>
                <a:cs typeface="Montserrat"/>
                <a:sym typeface="Montserrat"/>
              </a:rPr>
              <a:t>hành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đo</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đạc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các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chỉ</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số</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của</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hệ</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thống</a:t>
            </a:r>
            <a:r>
              <a:rPr lang="en-US" sz="3000" dirty="0">
                <a:solidFill>
                  <a:srgbClr val="0C1D4B"/>
                </a:solidFill>
                <a:latin typeface="Montserrat"/>
                <a:ea typeface="Montserrat"/>
                <a:cs typeface="Montserrat"/>
                <a:sym typeface="Montserrat"/>
              </a:rPr>
              <a:t> bao </a:t>
            </a:r>
            <a:r>
              <a:rPr lang="en-US" sz="3000" dirty="0" err="1">
                <a:solidFill>
                  <a:srgbClr val="0C1D4B"/>
                </a:solidFill>
                <a:latin typeface="Montserrat"/>
                <a:ea typeface="Montserrat"/>
                <a:cs typeface="Montserrat"/>
                <a:sym typeface="Montserrat"/>
              </a:rPr>
              <a:t>gồm</a:t>
            </a:r>
            <a:r>
              <a:rPr lang="en-US" sz="3000" dirty="0">
                <a:solidFill>
                  <a:srgbClr val="0C1D4B"/>
                </a:solidFill>
                <a:latin typeface="Montserrat"/>
                <a:ea typeface="Montserrat"/>
                <a:cs typeface="Montserrat"/>
                <a:sym typeface="Montserrat"/>
              </a:rPr>
              <a:t>:</a:t>
            </a:r>
          </a:p>
          <a:p>
            <a:pPr marL="781050" lvl="1" indent="-457200" algn="just">
              <a:lnSpc>
                <a:spcPts val="4800"/>
              </a:lnSpc>
              <a:buFont typeface="Arial" panose="020B0604020202020204" pitchFamily="34" charset="0"/>
              <a:buChar char="•"/>
            </a:pPr>
            <a:r>
              <a:rPr lang="en-US" sz="3000" dirty="0">
                <a:solidFill>
                  <a:srgbClr val="0C1D4B"/>
                </a:solidFill>
                <a:latin typeface="Montserrat"/>
                <a:ea typeface="Montserrat"/>
                <a:cs typeface="Montserrat"/>
                <a:sym typeface="Montserrat"/>
              </a:rPr>
              <a:t>Accuracy (</a:t>
            </a:r>
            <a:r>
              <a:rPr lang="en-US" sz="3000" dirty="0" err="1">
                <a:solidFill>
                  <a:srgbClr val="0C1D4B"/>
                </a:solidFill>
                <a:latin typeface="Montserrat"/>
                <a:ea typeface="Montserrat"/>
                <a:cs typeface="Montserrat"/>
                <a:sym typeface="Montserrat"/>
              </a:rPr>
              <a:t>độ</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chính</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xác</a:t>
            </a:r>
            <a:r>
              <a:rPr lang="en-US" sz="3000" dirty="0">
                <a:solidFill>
                  <a:srgbClr val="0C1D4B"/>
                </a:solidFill>
                <a:latin typeface="Montserrat"/>
                <a:ea typeface="Montserrat"/>
                <a:cs typeface="Montserrat"/>
                <a:sym typeface="Montserrat"/>
              </a:rPr>
              <a:t>)</a:t>
            </a:r>
          </a:p>
          <a:p>
            <a:pPr marL="781050" lvl="1" indent="-457200" algn="just">
              <a:lnSpc>
                <a:spcPts val="4800"/>
              </a:lnSpc>
              <a:buFont typeface="Arial" panose="020B0604020202020204" pitchFamily="34" charset="0"/>
              <a:buChar char="•"/>
            </a:pPr>
            <a:r>
              <a:rPr lang="en-US" sz="3000" dirty="0">
                <a:solidFill>
                  <a:srgbClr val="0C1D4B"/>
                </a:solidFill>
                <a:latin typeface="Montserrat"/>
                <a:ea typeface="Montserrat"/>
                <a:cs typeface="Montserrat"/>
                <a:sym typeface="Montserrat"/>
              </a:rPr>
              <a:t>Recall (</a:t>
            </a:r>
            <a:r>
              <a:rPr lang="en-US" sz="3000" dirty="0" err="1">
                <a:solidFill>
                  <a:srgbClr val="0C1D4B"/>
                </a:solidFill>
                <a:latin typeface="Montserrat"/>
                <a:ea typeface="Montserrat"/>
                <a:cs typeface="Montserrat"/>
                <a:sym typeface="Montserrat"/>
              </a:rPr>
              <a:t>độ</a:t>
            </a:r>
            <a:r>
              <a:rPr lang="en-US" sz="3000" dirty="0">
                <a:solidFill>
                  <a:srgbClr val="0C1D4B"/>
                </a:solidFill>
                <a:latin typeface="Montserrat"/>
                <a:ea typeface="Montserrat"/>
                <a:cs typeface="Montserrat"/>
                <a:sym typeface="Montserrat"/>
              </a:rPr>
              <a:t> bao </a:t>
            </a:r>
            <a:r>
              <a:rPr lang="en-US" sz="3000" dirty="0" err="1">
                <a:solidFill>
                  <a:srgbClr val="0C1D4B"/>
                </a:solidFill>
                <a:latin typeface="Montserrat"/>
                <a:ea typeface="Montserrat"/>
                <a:cs typeface="Montserrat"/>
                <a:sym typeface="Montserrat"/>
              </a:rPr>
              <a:t>phủ</a:t>
            </a:r>
            <a:r>
              <a:rPr lang="en-US" sz="3000" dirty="0">
                <a:solidFill>
                  <a:srgbClr val="0C1D4B"/>
                </a:solidFill>
                <a:latin typeface="Montserrat"/>
                <a:ea typeface="Montserrat"/>
                <a:cs typeface="Montserrat"/>
                <a:sym typeface="Montserrat"/>
              </a:rPr>
              <a:t>)</a:t>
            </a:r>
          </a:p>
          <a:p>
            <a:pPr marL="781050" lvl="1" indent="-457200" algn="just">
              <a:lnSpc>
                <a:spcPts val="4800"/>
              </a:lnSpc>
              <a:buFont typeface="Arial" panose="020B0604020202020204" pitchFamily="34" charset="0"/>
              <a:buChar char="•"/>
            </a:pPr>
            <a:r>
              <a:rPr lang="en-US" sz="3000" dirty="0">
                <a:solidFill>
                  <a:srgbClr val="0C1D4B"/>
                </a:solidFill>
                <a:latin typeface="Montserrat"/>
                <a:ea typeface="Montserrat"/>
                <a:cs typeface="Montserrat"/>
                <a:sym typeface="Montserrat"/>
              </a:rPr>
              <a:t>Context Relevance (</a:t>
            </a:r>
            <a:r>
              <a:rPr lang="en-US" sz="3000" dirty="0" err="1">
                <a:solidFill>
                  <a:srgbClr val="0C1D4B"/>
                </a:solidFill>
                <a:latin typeface="Montserrat"/>
                <a:ea typeface="Montserrat"/>
                <a:cs typeface="Montserrat"/>
                <a:sym typeface="Montserrat"/>
              </a:rPr>
              <a:t>độ</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liên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quan</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ngữ</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cảnh</a:t>
            </a:r>
            <a:r>
              <a:rPr lang="en-US" sz="3000" dirty="0">
                <a:solidFill>
                  <a:srgbClr val="0C1D4B"/>
                </a:solidFill>
                <a:latin typeface="Montserrat"/>
                <a:ea typeface="Montserrat"/>
                <a:cs typeface="Montserrat"/>
                <a:sym typeface="Montserrat"/>
              </a:rPr>
              <a:t>)</a:t>
            </a:r>
          </a:p>
          <a:p>
            <a:pPr marL="781050" lvl="1" indent="-457200" algn="just">
              <a:lnSpc>
                <a:spcPts val="4800"/>
              </a:lnSpc>
              <a:buFont typeface="Arial" panose="020B0604020202020204" pitchFamily="34" charset="0"/>
              <a:buChar char="•"/>
            </a:pPr>
            <a:r>
              <a:rPr lang="en-US" sz="3000" dirty="0">
                <a:solidFill>
                  <a:srgbClr val="0C1D4B"/>
                </a:solidFill>
                <a:latin typeface="Montserrat"/>
                <a:ea typeface="Montserrat"/>
                <a:cs typeface="Montserrat"/>
                <a:sym typeface="Montserrat"/>
              </a:rPr>
              <a:t>Latency</a:t>
            </a:r>
          </a:p>
        </p:txBody>
      </p:sp>
    </p:spTree>
    <p:extLst>
      <p:ext uri="{BB962C8B-B14F-4D97-AF65-F5344CB8AC3E}">
        <p14:creationId xmlns:p14="http://schemas.microsoft.com/office/powerpoint/2010/main" val="15300882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01977-4BF3-D450-44A0-79DF1A35742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0825541-46E1-4B73-5B40-5FCC2C100D9F}"/>
              </a:ext>
            </a:extLst>
          </p:cNvPr>
          <p:cNvGrpSpPr/>
          <p:nvPr/>
        </p:nvGrpSpPr>
        <p:grpSpPr>
          <a:xfrm>
            <a:off x="705846" y="434975"/>
            <a:ext cx="5042638" cy="603250"/>
            <a:chOff x="0" y="0"/>
            <a:chExt cx="6723518" cy="804333"/>
          </a:xfrm>
        </p:grpSpPr>
        <p:sp>
          <p:nvSpPr>
            <p:cNvPr id="3" name="TextBox 3">
              <a:extLst>
                <a:ext uri="{FF2B5EF4-FFF2-40B4-BE49-F238E27FC236}">
                  <a16:creationId xmlns:a16="http://schemas.microsoft.com/office/drawing/2014/main" id="{6D1C4AA6-D2EE-5437-07A9-D3B21F710E80}"/>
                </a:ext>
              </a:extLst>
            </p:cNvPr>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a:extLst>
                <a:ext uri="{FF2B5EF4-FFF2-40B4-BE49-F238E27FC236}">
                  <a16:creationId xmlns:a16="http://schemas.microsoft.com/office/drawing/2014/main" id="{BE5C3546-0575-1EFC-28A4-51CD45D15288}"/>
                </a:ext>
              </a:extLst>
            </p:cNvPr>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a:extLst>
              <a:ext uri="{FF2B5EF4-FFF2-40B4-BE49-F238E27FC236}">
                <a16:creationId xmlns:a16="http://schemas.microsoft.com/office/drawing/2014/main" id="{562A89D3-855F-6444-1B2F-D141CAB3D08D}"/>
              </a:ext>
            </a:extLst>
          </p:cNvPr>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a:extLst>
              <a:ext uri="{FF2B5EF4-FFF2-40B4-BE49-F238E27FC236}">
                <a16:creationId xmlns:a16="http://schemas.microsoft.com/office/drawing/2014/main" id="{93E78EBD-4494-B2ED-E1E6-D4AAEEC00831}"/>
              </a:ext>
            </a:extLst>
          </p:cNvPr>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a:extLst>
              <a:ext uri="{FF2B5EF4-FFF2-40B4-BE49-F238E27FC236}">
                <a16:creationId xmlns:a16="http://schemas.microsoft.com/office/drawing/2014/main" id="{3A28DEA6-491C-AFCE-66BB-EB365785F0D0}"/>
              </a:ext>
            </a:extLst>
          </p:cNvPr>
          <p:cNvGrpSpPr/>
          <p:nvPr/>
        </p:nvGrpSpPr>
        <p:grpSpPr>
          <a:xfrm>
            <a:off x="-3158965" y="9357593"/>
            <a:ext cx="22035035" cy="3394679"/>
            <a:chOff x="0" y="0"/>
            <a:chExt cx="29380046" cy="4526239"/>
          </a:xfrm>
        </p:grpSpPr>
        <p:grpSp>
          <p:nvGrpSpPr>
            <p:cNvPr id="8" name="Group 8">
              <a:extLst>
                <a:ext uri="{FF2B5EF4-FFF2-40B4-BE49-F238E27FC236}">
                  <a16:creationId xmlns:a16="http://schemas.microsoft.com/office/drawing/2014/main" id="{66CDE953-E86E-4163-F81C-4E00E7404D6E}"/>
                </a:ext>
              </a:extLst>
            </p:cNvPr>
            <p:cNvGrpSpPr/>
            <p:nvPr/>
          </p:nvGrpSpPr>
          <p:grpSpPr>
            <a:xfrm>
              <a:off x="0" y="954681"/>
              <a:ext cx="29380046" cy="3571558"/>
              <a:chOff x="0" y="0"/>
              <a:chExt cx="5803466" cy="705493"/>
            </a:xfrm>
          </p:grpSpPr>
          <p:sp>
            <p:nvSpPr>
              <p:cNvPr id="9" name="Freeform 9">
                <a:extLst>
                  <a:ext uri="{FF2B5EF4-FFF2-40B4-BE49-F238E27FC236}">
                    <a16:creationId xmlns:a16="http://schemas.microsoft.com/office/drawing/2014/main" id="{4A29480C-FCD2-CF8D-590A-FA0F6870EBB3}"/>
                  </a:ext>
                </a:extLst>
              </p:cNvPr>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a:extLst>
                  <a:ext uri="{FF2B5EF4-FFF2-40B4-BE49-F238E27FC236}">
                    <a16:creationId xmlns:a16="http://schemas.microsoft.com/office/drawing/2014/main" id="{E666DF29-14FE-C0ED-467A-C05A1B9909CE}"/>
                  </a:ext>
                </a:extLst>
              </p:cNvPr>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a:extLst>
                <a:ext uri="{FF2B5EF4-FFF2-40B4-BE49-F238E27FC236}">
                  <a16:creationId xmlns:a16="http://schemas.microsoft.com/office/drawing/2014/main" id="{2933F5DD-A4BD-114F-FFDB-3B82F6865677}"/>
                </a:ext>
              </a:extLst>
            </p:cNvPr>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a:extLst>
              <a:ext uri="{FF2B5EF4-FFF2-40B4-BE49-F238E27FC236}">
                <a16:creationId xmlns:a16="http://schemas.microsoft.com/office/drawing/2014/main" id="{22134139-E299-41D8-D83F-A829AAE1B99C}"/>
              </a:ext>
            </a:extLst>
          </p:cNvPr>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31</a:t>
            </a:r>
          </a:p>
        </p:txBody>
      </p:sp>
      <p:sp>
        <p:nvSpPr>
          <p:cNvPr id="14" name="TextBox 14">
            <a:extLst>
              <a:ext uri="{FF2B5EF4-FFF2-40B4-BE49-F238E27FC236}">
                <a16:creationId xmlns:a16="http://schemas.microsoft.com/office/drawing/2014/main" id="{24E276BF-4CE9-7055-12C5-5715AD9DBD8E}"/>
              </a:ext>
            </a:extLst>
          </p:cNvPr>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4.2. </a:t>
            </a:r>
            <a:r>
              <a:rPr lang="en-US" sz="3999" b="1" dirty="0" err="1">
                <a:solidFill>
                  <a:srgbClr val="0C1D4B"/>
                </a:solidFill>
                <a:latin typeface="Montserrat Heavy"/>
                <a:ea typeface="Montserrat Heavy"/>
                <a:cs typeface="Montserrat Heavy"/>
                <a:sym typeface="Montserrat Heavy"/>
              </a:rPr>
              <a:t>Thực</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nghiệm</a:t>
            </a:r>
            <a:endParaRPr lang="en-US" sz="3999" b="1" dirty="0">
              <a:solidFill>
                <a:srgbClr val="0C1D4B"/>
              </a:solidFill>
              <a:latin typeface="Montserrat Heavy"/>
              <a:ea typeface="Montserrat Heavy"/>
              <a:cs typeface="Montserrat Heavy"/>
              <a:sym typeface="Montserrat Heavy"/>
            </a:endParaRPr>
          </a:p>
        </p:txBody>
      </p:sp>
      <p:sp>
        <p:nvSpPr>
          <p:cNvPr id="13" name="TextBox 9">
            <a:extLst>
              <a:ext uri="{FF2B5EF4-FFF2-40B4-BE49-F238E27FC236}">
                <a16:creationId xmlns:a16="http://schemas.microsoft.com/office/drawing/2014/main" id="{D87C8E8E-81BA-DF52-6542-3E235377B588}"/>
              </a:ext>
            </a:extLst>
          </p:cNvPr>
          <p:cNvSpPr txBox="1"/>
          <p:nvPr/>
        </p:nvSpPr>
        <p:spPr>
          <a:xfrm>
            <a:off x="718725" y="2418217"/>
            <a:ext cx="6291675" cy="1172309"/>
          </a:xfrm>
          <a:prstGeom prst="rect">
            <a:avLst/>
          </a:prstGeom>
        </p:spPr>
        <p:txBody>
          <a:bodyPr wrap="square" lIns="0" tIns="0" rIns="0" bIns="0" rtlCol="0" anchor="t">
            <a:spAutoFit/>
          </a:bodyPr>
          <a:lstStyle/>
          <a:p>
            <a:pPr marL="323850" lvl="1" algn="just">
              <a:lnSpc>
                <a:spcPts val="4800"/>
              </a:lnSpc>
            </a:pPr>
            <a:r>
              <a:rPr lang="en-US" sz="2800" b="1" dirty="0">
                <a:solidFill>
                  <a:srgbClr val="0C1D4B"/>
                </a:solidFill>
                <a:latin typeface="Montserrat"/>
                <a:ea typeface="Montserrat"/>
                <a:cs typeface="Montserrat"/>
                <a:sym typeface="Montserrat"/>
              </a:rPr>
              <a:t>Accuracy</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là</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tỷ</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lệ</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câu</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hỏi</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chính</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xác</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trên</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tổng</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số</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câu</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hỏi</a:t>
            </a:r>
            <a:endParaRPr lang="en-US" sz="2800" dirty="0">
              <a:solidFill>
                <a:srgbClr val="0C1D4B"/>
              </a:solidFill>
              <a:latin typeface="Montserrat"/>
              <a:ea typeface="Montserrat"/>
              <a:cs typeface="Montserrat"/>
              <a:sym typeface="Montserrat"/>
            </a:endParaRPr>
          </a:p>
        </p:txBody>
      </p:sp>
      <p:pic>
        <p:nvPicPr>
          <p:cNvPr id="15" name="Picture 14" title="text Accuracy end text equals fraction numerator text Số câu trả lời đúng end text over denominator text Tổng số câu truy vấn end text end fraction percent sign&#10;">
            <a:extLst>
              <a:ext uri="{FF2B5EF4-FFF2-40B4-BE49-F238E27FC236}">
                <a16:creationId xmlns:a16="http://schemas.microsoft.com/office/drawing/2014/main" id="{0A1FEE1A-068A-62D5-50CC-944C58CA98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8713" y="3944564"/>
            <a:ext cx="5703087" cy="1000542"/>
          </a:xfrm>
          <a:prstGeom prst="rect">
            <a:avLst/>
          </a:prstGeom>
        </p:spPr>
      </p:pic>
      <p:sp>
        <p:nvSpPr>
          <p:cNvPr id="16" name="TextBox 9">
            <a:extLst>
              <a:ext uri="{FF2B5EF4-FFF2-40B4-BE49-F238E27FC236}">
                <a16:creationId xmlns:a16="http://schemas.microsoft.com/office/drawing/2014/main" id="{3F678953-A20C-2EC7-02BF-38DFBB24782A}"/>
              </a:ext>
            </a:extLst>
          </p:cNvPr>
          <p:cNvSpPr txBox="1"/>
          <p:nvPr/>
        </p:nvSpPr>
        <p:spPr>
          <a:xfrm>
            <a:off x="9451340" y="2494627"/>
            <a:ext cx="7803667" cy="1165897"/>
          </a:xfrm>
          <a:prstGeom prst="rect">
            <a:avLst/>
          </a:prstGeom>
        </p:spPr>
        <p:txBody>
          <a:bodyPr wrap="square" lIns="0" tIns="0" rIns="0" bIns="0" rtlCol="0" anchor="t">
            <a:spAutoFit/>
          </a:bodyPr>
          <a:lstStyle/>
          <a:p>
            <a:pPr marL="323850" lvl="1" algn="just">
              <a:lnSpc>
                <a:spcPts val="4800"/>
              </a:lnSpc>
            </a:pPr>
            <a:r>
              <a:rPr lang="en-US" sz="2800" b="1" dirty="0">
                <a:solidFill>
                  <a:srgbClr val="0C1D4B"/>
                </a:solidFill>
                <a:latin typeface="Montserrat"/>
                <a:ea typeface="Montserrat"/>
                <a:cs typeface="Montserrat"/>
                <a:sym typeface="Montserrat"/>
              </a:rPr>
              <a:t>Recall</a:t>
            </a:r>
            <a:r>
              <a:rPr lang="en-US" sz="2800" dirty="0">
                <a:solidFill>
                  <a:srgbClr val="0C1D4B"/>
                </a:solidFill>
                <a:latin typeface="Montserrat"/>
                <a:ea typeface="Montserrat"/>
                <a:cs typeface="Montserrat"/>
                <a:sym typeface="Montserrat"/>
              </a:rPr>
              <a:t> </a:t>
            </a:r>
            <a:r>
              <a:rPr lang="vi-VN" sz="2800" dirty="0">
                <a:solidFill>
                  <a:srgbClr val="0C1D4B"/>
                </a:solidFill>
                <a:latin typeface="Montserrat"/>
                <a:ea typeface="Montserrat"/>
                <a:cs typeface="Montserrat"/>
                <a:sym typeface="Montserrat"/>
              </a:rPr>
              <a:t>đo lường khả năng thu thập đủ các thông tin cần thiết của chatbot. </a:t>
            </a:r>
            <a:endParaRPr lang="en-US" sz="2800" dirty="0">
              <a:solidFill>
                <a:srgbClr val="0C1D4B"/>
              </a:solidFill>
              <a:latin typeface="Montserrat"/>
              <a:ea typeface="Montserrat"/>
              <a:cs typeface="Montserrat"/>
              <a:sym typeface="Montserrat"/>
            </a:endParaRPr>
          </a:p>
        </p:txBody>
      </p:sp>
      <p:pic>
        <p:nvPicPr>
          <p:cNvPr id="18" name="Picture 17">
            <a:extLst>
              <a:ext uri="{FF2B5EF4-FFF2-40B4-BE49-F238E27FC236}">
                <a16:creationId xmlns:a16="http://schemas.microsoft.com/office/drawing/2014/main" id="{7EA6721C-69B5-AC67-E757-A52AE895B9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90202" y="3944564"/>
            <a:ext cx="5925941" cy="1365568"/>
          </a:xfrm>
          <a:prstGeom prst="rect">
            <a:avLst/>
          </a:prstGeom>
        </p:spPr>
      </p:pic>
      <p:sp>
        <p:nvSpPr>
          <p:cNvPr id="19" name="TextBox 9">
            <a:extLst>
              <a:ext uri="{FF2B5EF4-FFF2-40B4-BE49-F238E27FC236}">
                <a16:creationId xmlns:a16="http://schemas.microsoft.com/office/drawing/2014/main" id="{AA912280-0E04-A38E-4089-E6C90B58DF4B}"/>
              </a:ext>
            </a:extLst>
          </p:cNvPr>
          <p:cNvSpPr txBox="1"/>
          <p:nvPr/>
        </p:nvSpPr>
        <p:spPr>
          <a:xfrm>
            <a:off x="788711" y="5724275"/>
            <a:ext cx="6291675" cy="1781450"/>
          </a:xfrm>
          <a:prstGeom prst="rect">
            <a:avLst/>
          </a:prstGeom>
        </p:spPr>
        <p:txBody>
          <a:bodyPr wrap="square" lIns="0" tIns="0" rIns="0" bIns="0" rtlCol="0" anchor="t">
            <a:spAutoFit/>
          </a:bodyPr>
          <a:lstStyle/>
          <a:p>
            <a:pPr marL="323850" lvl="1" algn="just">
              <a:lnSpc>
                <a:spcPts val="4800"/>
              </a:lnSpc>
            </a:pPr>
            <a:r>
              <a:rPr lang="en-US" sz="2800" b="1" dirty="0">
                <a:solidFill>
                  <a:srgbClr val="0C1D4B"/>
                </a:solidFill>
                <a:latin typeface="Montserrat"/>
                <a:ea typeface="Montserrat"/>
                <a:cs typeface="Montserrat"/>
                <a:sym typeface="Montserrat"/>
              </a:rPr>
              <a:t>Context Relevance</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phản</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ánh</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mức</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độ</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liên</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kết</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của</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câu</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trả</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lời</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với</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ngữ</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cảnh</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truy</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vấn</a:t>
            </a:r>
            <a:r>
              <a:rPr lang="en-US" sz="2800" dirty="0">
                <a:solidFill>
                  <a:srgbClr val="0C1D4B"/>
                </a:solidFill>
                <a:latin typeface="Montserrat"/>
                <a:ea typeface="Montserrat"/>
                <a:cs typeface="Montserrat"/>
                <a:sym typeface="Montserrat"/>
              </a:rPr>
              <a:t> ban </a:t>
            </a:r>
            <a:r>
              <a:rPr lang="en-US" sz="2800" dirty="0" err="1">
                <a:solidFill>
                  <a:srgbClr val="0C1D4B"/>
                </a:solidFill>
                <a:latin typeface="Montserrat"/>
                <a:ea typeface="Montserrat"/>
                <a:cs typeface="Montserrat"/>
                <a:sym typeface="Montserrat"/>
              </a:rPr>
              <a:t>đầu</a:t>
            </a:r>
            <a:r>
              <a:rPr lang="en-US" sz="2800" dirty="0">
                <a:solidFill>
                  <a:srgbClr val="0C1D4B"/>
                </a:solidFill>
                <a:latin typeface="Montserrat"/>
                <a:ea typeface="Montserrat"/>
                <a:cs typeface="Montserrat"/>
                <a:sym typeface="Montserrat"/>
              </a:rPr>
              <a:t> </a:t>
            </a:r>
          </a:p>
        </p:txBody>
      </p:sp>
      <p:pic>
        <p:nvPicPr>
          <p:cNvPr id="20" name="Picture 19">
            <a:extLst>
              <a:ext uri="{FF2B5EF4-FFF2-40B4-BE49-F238E27FC236}">
                <a16:creationId xmlns:a16="http://schemas.microsoft.com/office/drawing/2014/main" id="{AC9B5D3C-E19D-A3F1-4E70-EF19D828BA0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88711" y="7781627"/>
            <a:ext cx="6459508" cy="1331982"/>
          </a:xfrm>
          <a:prstGeom prst="rect">
            <a:avLst/>
          </a:prstGeom>
        </p:spPr>
      </p:pic>
      <p:sp>
        <p:nvSpPr>
          <p:cNvPr id="21" name="TextBox 9">
            <a:extLst>
              <a:ext uri="{FF2B5EF4-FFF2-40B4-BE49-F238E27FC236}">
                <a16:creationId xmlns:a16="http://schemas.microsoft.com/office/drawing/2014/main" id="{E5AF8EEB-8DBD-9DD6-A446-E74D5627BAA9}"/>
              </a:ext>
            </a:extLst>
          </p:cNvPr>
          <p:cNvSpPr txBox="1"/>
          <p:nvPr/>
        </p:nvSpPr>
        <p:spPr>
          <a:xfrm>
            <a:off x="9390772" y="5613106"/>
            <a:ext cx="7924800" cy="550407"/>
          </a:xfrm>
          <a:prstGeom prst="rect">
            <a:avLst/>
          </a:prstGeom>
        </p:spPr>
        <p:txBody>
          <a:bodyPr wrap="square" lIns="0" tIns="0" rIns="0" bIns="0" rtlCol="0" anchor="t">
            <a:spAutoFit/>
          </a:bodyPr>
          <a:lstStyle/>
          <a:p>
            <a:pPr marL="323850" lvl="1" algn="just">
              <a:lnSpc>
                <a:spcPts val="4800"/>
              </a:lnSpc>
            </a:pPr>
            <a:r>
              <a:rPr lang="en-US" sz="2800" b="1" dirty="0">
                <a:solidFill>
                  <a:srgbClr val="0C1D4B"/>
                </a:solidFill>
                <a:latin typeface="Montserrat"/>
                <a:ea typeface="Montserrat"/>
                <a:cs typeface="Montserrat"/>
                <a:sym typeface="Montserrat"/>
              </a:rPr>
              <a:t>Latency </a:t>
            </a:r>
            <a:r>
              <a:rPr lang="en-US" sz="2800" dirty="0" err="1">
                <a:solidFill>
                  <a:srgbClr val="0C1D4B"/>
                </a:solidFill>
                <a:latin typeface="Montserrat"/>
                <a:ea typeface="Montserrat"/>
                <a:cs typeface="Montserrat"/>
                <a:sym typeface="Montserrat"/>
              </a:rPr>
              <a:t>thể</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hiện</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tốc</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độ</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của</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hệ</a:t>
            </a:r>
            <a:r>
              <a:rPr lang="en-US" sz="2800" dirty="0">
                <a:solidFill>
                  <a:srgbClr val="0C1D4B"/>
                </a:solidFill>
                <a:latin typeface="Montserrat"/>
                <a:ea typeface="Montserrat"/>
                <a:cs typeface="Montserrat"/>
                <a:sym typeface="Montserrat"/>
              </a:rPr>
              <a:t> </a:t>
            </a:r>
            <a:r>
              <a:rPr lang="en-US" sz="2800" dirty="0" err="1">
                <a:solidFill>
                  <a:srgbClr val="0C1D4B"/>
                </a:solidFill>
                <a:latin typeface="Montserrat"/>
                <a:ea typeface="Montserrat"/>
                <a:cs typeface="Montserrat"/>
                <a:sym typeface="Montserrat"/>
              </a:rPr>
              <a:t>thống</a:t>
            </a:r>
            <a:endParaRPr lang="en-US" sz="2800" dirty="0">
              <a:solidFill>
                <a:srgbClr val="0C1D4B"/>
              </a:solidFill>
              <a:latin typeface="Montserrat"/>
              <a:ea typeface="Montserrat"/>
              <a:cs typeface="Montserrat"/>
              <a:sym typeface="Montserrat"/>
            </a:endParaRPr>
          </a:p>
        </p:txBody>
      </p:sp>
      <p:pic>
        <p:nvPicPr>
          <p:cNvPr id="22" name="Picture 21">
            <a:extLst>
              <a:ext uri="{FF2B5EF4-FFF2-40B4-BE49-F238E27FC236}">
                <a16:creationId xmlns:a16="http://schemas.microsoft.com/office/drawing/2014/main" id="{2287CC42-7739-84BC-2EAE-C73DE973901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82200" y="6802035"/>
            <a:ext cx="6943616" cy="957591"/>
          </a:xfrm>
          <a:prstGeom prst="rect">
            <a:avLst/>
          </a:prstGeom>
        </p:spPr>
      </p:pic>
    </p:spTree>
    <p:extLst>
      <p:ext uri="{BB962C8B-B14F-4D97-AF65-F5344CB8AC3E}">
        <p14:creationId xmlns:p14="http://schemas.microsoft.com/office/powerpoint/2010/main" val="1446864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FFE61-5F7A-6991-44F6-5E2FD566F0D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D80E549-9EFC-C79A-A8FF-50AB0C7DBF24}"/>
              </a:ext>
            </a:extLst>
          </p:cNvPr>
          <p:cNvGrpSpPr/>
          <p:nvPr/>
        </p:nvGrpSpPr>
        <p:grpSpPr>
          <a:xfrm>
            <a:off x="705846" y="434975"/>
            <a:ext cx="5042638" cy="603250"/>
            <a:chOff x="0" y="0"/>
            <a:chExt cx="6723518" cy="804333"/>
          </a:xfrm>
        </p:grpSpPr>
        <p:sp>
          <p:nvSpPr>
            <p:cNvPr id="3" name="TextBox 3">
              <a:extLst>
                <a:ext uri="{FF2B5EF4-FFF2-40B4-BE49-F238E27FC236}">
                  <a16:creationId xmlns:a16="http://schemas.microsoft.com/office/drawing/2014/main" id="{3B037776-CF92-B6B4-F500-96B2178D4F5B}"/>
                </a:ext>
              </a:extLst>
            </p:cNvPr>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a:extLst>
                <a:ext uri="{FF2B5EF4-FFF2-40B4-BE49-F238E27FC236}">
                  <a16:creationId xmlns:a16="http://schemas.microsoft.com/office/drawing/2014/main" id="{D4CEB46F-CDAB-8CCF-01B7-BE5C182F8EB0}"/>
                </a:ext>
              </a:extLst>
            </p:cNvPr>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a:extLst>
              <a:ext uri="{FF2B5EF4-FFF2-40B4-BE49-F238E27FC236}">
                <a16:creationId xmlns:a16="http://schemas.microsoft.com/office/drawing/2014/main" id="{F49B8BAF-3C32-8394-A28A-5095BB1FD3A3}"/>
              </a:ext>
            </a:extLst>
          </p:cNvPr>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a:extLst>
              <a:ext uri="{FF2B5EF4-FFF2-40B4-BE49-F238E27FC236}">
                <a16:creationId xmlns:a16="http://schemas.microsoft.com/office/drawing/2014/main" id="{11C8BEA0-A434-B6AB-DBEF-790257726258}"/>
              </a:ext>
            </a:extLst>
          </p:cNvPr>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a:extLst>
              <a:ext uri="{FF2B5EF4-FFF2-40B4-BE49-F238E27FC236}">
                <a16:creationId xmlns:a16="http://schemas.microsoft.com/office/drawing/2014/main" id="{29AEFEA9-F9CD-B382-01C6-6ADD76743963}"/>
              </a:ext>
            </a:extLst>
          </p:cNvPr>
          <p:cNvGrpSpPr/>
          <p:nvPr/>
        </p:nvGrpSpPr>
        <p:grpSpPr>
          <a:xfrm>
            <a:off x="-3158965" y="9357593"/>
            <a:ext cx="22035035" cy="3394679"/>
            <a:chOff x="0" y="0"/>
            <a:chExt cx="29380046" cy="4526239"/>
          </a:xfrm>
        </p:grpSpPr>
        <p:grpSp>
          <p:nvGrpSpPr>
            <p:cNvPr id="8" name="Group 8">
              <a:extLst>
                <a:ext uri="{FF2B5EF4-FFF2-40B4-BE49-F238E27FC236}">
                  <a16:creationId xmlns:a16="http://schemas.microsoft.com/office/drawing/2014/main" id="{131D61C5-D334-2C93-3D01-06E8809DF173}"/>
                </a:ext>
              </a:extLst>
            </p:cNvPr>
            <p:cNvGrpSpPr/>
            <p:nvPr/>
          </p:nvGrpSpPr>
          <p:grpSpPr>
            <a:xfrm>
              <a:off x="0" y="954681"/>
              <a:ext cx="29380046" cy="3571558"/>
              <a:chOff x="0" y="0"/>
              <a:chExt cx="5803466" cy="705493"/>
            </a:xfrm>
          </p:grpSpPr>
          <p:sp>
            <p:nvSpPr>
              <p:cNvPr id="9" name="Freeform 9">
                <a:extLst>
                  <a:ext uri="{FF2B5EF4-FFF2-40B4-BE49-F238E27FC236}">
                    <a16:creationId xmlns:a16="http://schemas.microsoft.com/office/drawing/2014/main" id="{A725072F-9F2A-F887-D251-F0E1697D947F}"/>
                  </a:ext>
                </a:extLst>
              </p:cNvPr>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a:extLst>
                  <a:ext uri="{FF2B5EF4-FFF2-40B4-BE49-F238E27FC236}">
                    <a16:creationId xmlns:a16="http://schemas.microsoft.com/office/drawing/2014/main" id="{C9B11503-7B13-2996-54E2-B64F77066C0A}"/>
                  </a:ext>
                </a:extLst>
              </p:cNvPr>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a:extLst>
                <a:ext uri="{FF2B5EF4-FFF2-40B4-BE49-F238E27FC236}">
                  <a16:creationId xmlns:a16="http://schemas.microsoft.com/office/drawing/2014/main" id="{43248A15-2206-7850-3FAF-9813BE949544}"/>
                </a:ext>
              </a:extLst>
            </p:cNvPr>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a:extLst>
              <a:ext uri="{FF2B5EF4-FFF2-40B4-BE49-F238E27FC236}">
                <a16:creationId xmlns:a16="http://schemas.microsoft.com/office/drawing/2014/main" id="{587CFAD8-0A74-02AE-2280-A2CF5C75EF0A}"/>
              </a:ext>
            </a:extLst>
          </p:cNvPr>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31</a:t>
            </a:r>
          </a:p>
        </p:txBody>
      </p:sp>
      <p:sp>
        <p:nvSpPr>
          <p:cNvPr id="14" name="TextBox 14">
            <a:extLst>
              <a:ext uri="{FF2B5EF4-FFF2-40B4-BE49-F238E27FC236}">
                <a16:creationId xmlns:a16="http://schemas.microsoft.com/office/drawing/2014/main" id="{6B5B17FC-CC56-BC91-7632-BFB8A5C2CA40}"/>
              </a:ext>
            </a:extLst>
          </p:cNvPr>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4.2. </a:t>
            </a:r>
            <a:r>
              <a:rPr lang="en-US" sz="3999" b="1" dirty="0" err="1">
                <a:solidFill>
                  <a:srgbClr val="0C1D4B"/>
                </a:solidFill>
                <a:latin typeface="Montserrat Heavy"/>
                <a:ea typeface="Montserrat Heavy"/>
                <a:cs typeface="Montserrat Heavy"/>
                <a:sym typeface="Montserrat Heavy"/>
              </a:rPr>
              <a:t>Thực</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nghiệm</a:t>
            </a:r>
            <a:endParaRPr lang="en-US" sz="3999" b="1" dirty="0">
              <a:solidFill>
                <a:srgbClr val="0C1D4B"/>
              </a:solidFill>
              <a:latin typeface="Montserrat Heavy"/>
              <a:ea typeface="Montserrat Heavy"/>
              <a:cs typeface="Montserrat Heavy"/>
              <a:sym typeface="Montserrat Heavy"/>
            </a:endParaRPr>
          </a:p>
        </p:txBody>
      </p:sp>
      <p:sp>
        <p:nvSpPr>
          <p:cNvPr id="13" name="TextBox 9">
            <a:extLst>
              <a:ext uri="{FF2B5EF4-FFF2-40B4-BE49-F238E27FC236}">
                <a16:creationId xmlns:a16="http://schemas.microsoft.com/office/drawing/2014/main" id="{4D20C1D5-0161-84AF-913F-5B59E52B4B37}"/>
              </a:ext>
            </a:extLst>
          </p:cNvPr>
          <p:cNvSpPr txBox="1"/>
          <p:nvPr/>
        </p:nvSpPr>
        <p:spPr>
          <a:xfrm>
            <a:off x="718725" y="2418217"/>
            <a:ext cx="9720675" cy="556755"/>
          </a:xfrm>
          <a:prstGeom prst="rect">
            <a:avLst/>
          </a:prstGeom>
        </p:spPr>
        <p:txBody>
          <a:bodyPr wrap="square" lIns="0" tIns="0" rIns="0" bIns="0" rtlCol="0" anchor="t">
            <a:spAutoFit/>
          </a:bodyPr>
          <a:lstStyle/>
          <a:p>
            <a:pPr marL="323850" lvl="1" algn="just">
              <a:lnSpc>
                <a:spcPts val="4800"/>
              </a:lnSpc>
            </a:pPr>
            <a:r>
              <a:rPr lang="en-US" sz="3000" dirty="0" err="1">
                <a:solidFill>
                  <a:srgbClr val="0C1D4B"/>
                </a:solidFill>
                <a:latin typeface="Montserrat"/>
                <a:ea typeface="Montserrat"/>
                <a:cs typeface="Montserrat"/>
                <a:sym typeface="Montserrat"/>
              </a:rPr>
              <a:t>Kết</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quả</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thực</a:t>
            </a:r>
            <a:r>
              <a:rPr lang="en-US" sz="3000" dirty="0">
                <a:solidFill>
                  <a:srgbClr val="0C1D4B"/>
                </a:solidFill>
                <a:latin typeface="Montserrat"/>
                <a:ea typeface="Montserrat"/>
                <a:cs typeface="Montserrat"/>
                <a:sym typeface="Montserrat"/>
              </a:rPr>
              <a:t> </a:t>
            </a:r>
            <a:r>
              <a:rPr lang="en-US" sz="3000" dirty="0" err="1">
                <a:solidFill>
                  <a:srgbClr val="0C1D4B"/>
                </a:solidFill>
                <a:latin typeface="Montserrat"/>
                <a:ea typeface="Montserrat"/>
                <a:cs typeface="Montserrat"/>
                <a:sym typeface="Montserrat"/>
              </a:rPr>
              <a:t>nghiệm</a:t>
            </a:r>
            <a:endParaRPr lang="en-US" sz="3000" dirty="0">
              <a:solidFill>
                <a:srgbClr val="0C1D4B"/>
              </a:solidFill>
              <a:latin typeface="Montserrat"/>
              <a:ea typeface="Montserrat"/>
              <a:cs typeface="Montserrat"/>
              <a:sym typeface="Montserrat"/>
            </a:endParaRPr>
          </a:p>
        </p:txBody>
      </p:sp>
      <p:graphicFrame>
        <p:nvGraphicFramePr>
          <p:cNvPr id="15" name="Table 14">
            <a:extLst>
              <a:ext uri="{FF2B5EF4-FFF2-40B4-BE49-F238E27FC236}">
                <a16:creationId xmlns:a16="http://schemas.microsoft.com/office/drawing/2014/main" id="{369FD66D-1033-E19A-0B39-0D63E5F80649}"/>
              </a:ext>
            </a:extLst>
          </p:cNvPr>
          <p:cNvGraphicFramePr>
            <a:graphicFrameLocks noGrp="1"/>
          </p:cNvGraphicFramePr>
          <p:nvPr>
            <p:extLst>
              <p:ext uri="{D42A27DB-BD31-4B8C-83A1-F6EECF244321}">
                <p14:modId xmlns:p14="http://schemas.microsoft.com/office/powerpoint/2010/main" val="1090481348"/>
              </p:ext>
            </p:extLst>
          </p:nvPr>
        </p:nvGraphicFramePr>
        <p:xfrm>
          <a:off x="1028700" y="3667717"/>
          <a:ext cx="5791200" cy="3360105"/>
        </p:xfrm>
        <a:graphic>
          <a:graphicData uri="http://schemas.openxmlformats.org/drawingml/2006/table">
            <a:tbl>
              <a:tblPr firstRow="1" firstCol="1" bandRow="1">
                <a:tableStyleId>{5C22544A-7EE6-4342-B048-85BDC9FD1C3A}</a:tableStyleId>
              </a:tblPr>
              <a:tblGrid>
                <a:gridCol w="1714500">
                  <a:extLst>
                    <a:ext uri="{9D8B030D-6E8A-4147-A177-3AD203B41FA5}">
                      <a16:colId xmlns:a16="http://schemas.microsoft.com/office/drawing/2014/main" val="1284440045"/>
                    </a:ext>
                  </a:extLst>
                </a:gridCol>
                <a:gridCol w="1371600">
                  <a:extLst>
                    <a:ext uri="{9D8B030D-6E8A-4147-A177-3AD203B41FA5}">
                      <a16:colId xmlns:a16="http://schemas.microsoft.com/office/drawing/2014/main" val="2976822781"/>
                    </a:ext>
                  </a:extLst>
                </a:gridCol>
                <a:gridCol w="1295400">
                  <a:extLst>
                    <a:ext uri="{9D8B030D-6E8A-4147-A177-3AD203B41FA5}">
                      <a16:colId xmlns:a16="http://schemas.microsoft.com/office/drawing/2014/main" val="3504238919"/>
                    </a:ext>
                  </a:extLst>
                </a:gridCol>
                <a:gridCol w="1409700">
                  <a:extLst>
                    <a:ext uri="{9D8B030D-6E8A-4147-A177-3AD203B41FA5}">
                      <a16:colId xmlns:a16="http://schemas.microsoft.com/office/drawing/2014/main" val="3811331763"/>
                    </a:ext>
                  </a:extLst>
                </a:gridCol>
              </a:tblGrid>
              <a:tr h="0">
                <a:tc>
                  <a:txBody>
                    <a:bodyPr/>
                    <a:lstStyle/>
                    <a:p>
                      <a:pPr indent="0" algn="just">
                        <a:lnSpc>
                          <a:spcPct val="130000"/>
                        </a:lnSpc>
                        <a:buNone/>
                      </a:pPr>
                      <a:r>
                        <a:rPr lang="en-US" sz="2000" dirty="0" err="1">
                          <a:solidFill>
                            <a:schemeClr val="tx1"/>
                          </a:solidFill>
                          <a:effectLst/>
                          <a:latin typeface=""/>
                        </a:rPr>
                        <a:t>Chỉ</a:t>
                      </a:r>
                      <a:r>
                        <a:rPr lang="en-US" sz="2000" dirty="0">
                          <a:solidFill>
                            <a:schemeClr val="tx1"/>
                          </a:solidFill>
                          <a:effectLst/>
                          <a:latin typeface=""/>
                        </a:rPr>
                        <a:t> </a:t>
                      </a:r>
                      <a:r>
                        <a:rPr lang="en-US" sz="2000" dirty="0" err="1">
                          <a:solidFill>
                            <a:schemeClr val="tx1"/>
                          </a:solidFill>
                          <a:effectLst/>
                          <a:latin typeface=""/>
                        </a:rPr>
                        <a:t>số</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Trung </a:t>
                      </a:r>
                      <a:r>
                        <a:rPr lang="en-US" sz="2000" dirty="0" err="1">
                          <a:solidFill>
                            <a:schemeClr val="tx1"/>
                          </a:solidFill>
                          <a:effectLst/>
                          <a:latin typeface=""/>
                        </a:rPr>
                        <a:t>bình</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Min</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Max</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80667592"/>
                  </a:ext>
                </a:extLst>
              </a:tr>
              <a:tr h="0">
                <a:tc>
                  <a:txBody>
                    <a:bodyPr/>
                    <a:lstStyle/>
                    <a:p>
                      <a:pPr indent="0" algn="l">
                        <a:lnSpc>
                          <a:spcPct val="130000"/>
                        </a:lnSpc>
                        <a:buNone/>
                      </a:pPr>
                      <a:r>
                        <a:rPr lang="en-US" sz="2000" dirty="0">
                          <a:solidFill>
                            <a:schemeClr val="tx1"/>
                          </a:solidFill>
                          <a:effectLst/>
                          <a:latin typeface=""/>
                        </a:rPr>
                        <a:t>Accuracy (</a:t>
                      </a:r>
                      <a:r>
                        <a:rPr lang="en-US" sz="2000" dirty="0" err="1">
                          <a:solidFill>
                            <a:schemeClr val="tx1"/>
                          </a:solidFill>
                          <a:effectLst/>
                          <a:latin typeface=""/>
                        </a:rPr>
                        <a:t>đo</a:t>
                      </a:r>
                      <a:r>
                        <a:rPr lang="en-US" sz="2000" dirty="0">
                          <a:solidFill>
                            <a:schemeClr val="tx1"/>
                          </a:solidFill>
                          <a:effectLst/>
                          <a:latin typeface=""/>
                        </a:rPr>
                        <a:t> </a:t>
                      </a:r>
                      <a:r>
                        <a:rPr lang="en-US" sz="2000" dirty="0" err="1">
                          <a:solidFill>
                            <a:schemeClr val="tx1"/>
                          </a:solidFill>
                          <a:effectLst/>
                          <a:latin typeface=""/>
                        </a:rPr>
                        <a:t>tự</a:t>
                      </a:r>
                      <a:r>
                        <a:rPr lang="en-US" sz="2000" dirty="0">
                          <a:solidFill>
                            <a:schemeClr val="tx1"/>
                          </a:solidFill>
                          <a:effectLst/>
                          <a:latin typeface=""/>
                        </a:rPr>
                        <a:t> </a:t>
                      </a:r>
                      <a:r>
                        <a:rPr lang="en-US" sz="2000" dirty="0" err="1">
                          <a:solidFill>
                            <a:schemeClr val="tx1"/>
                          </a:solidFill>
                          <a:effectLst/>
                          <a:latin typeface=""/>
                        </a:rPr>
                        <a:t>động</a:t>
                      </a:r>
                      <a:r>
                        <a:rPr lang="en-US" sz="2000" dirty="0">
                          <a:solidFill>
                            <a:schemeClr val="tx1"/>
                          </a:solidFill>
                          <a:effectLst/>
                          <a:latin typeface=""/>
                        </a:rPr>
                        <a:t>)</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73 %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05960423"/>
                  </a:ext>
                </a:extLst>
              </a:tr>
              <a:tr h="0">
                <a:tc>
                  <a:txBody>
                    <a:bodyPr/>
                    <a:lstStyle/>
                    <a:p>
                      <a:pPr indent="0" algn="l">
                        <a:lnSpc>
                          <a:spcPct val="130000"/>
                        </a:lnSpc>
                        <a:buNone/>
                      </a:pPr>
                      <a:r>
                        <a:rPr lang="en-US" sz="2000">
                          <a:solidFill>
                            <a:schemeClr val="tx1"/>
                          </a:solidFill>
                          <a:effectLst/>
                          <a:latin typeface=""/>
                        </a:rPr>
                        <a:t>Accuracy (đo thủ công)</a:t>
                      </a:r>
                      <a:endParaRPr lang="en-VN" sz="200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a:solidFill>
                            <a:schemeClr val="tx1"/>
                          </a:solidFill>
                          <a:effectLst/>
                          <a:latin typeface=""/>
                        </a:rPr>
                        <a:t>81 %</a:t>
                      </a:r>
                      <a:endParaRPr lang="en-VN" sz="200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94431602"/>
                  </a:ext>
                </a:extLst>
              </a:tr>
              <a:tr h="0">
                <a:tc>
                  <a:txBody>
                    <a:bodyPr/>
                    <a:lstStyle/>
                    <a:p>
                      <a:pPr indent="0" algn="l">
                        <a:lnSpc>
                          <a:spcPct val="130000"/>
                        </a:lnSpc>
                        <a:buNone/>
                      </a:pPr>
                      <a:r>
                        <a:rPr lang="en-US" sz="2000">
                          <a:solidFill>
                            <a:schemeClr val="tx1"/>
                          </a:solidFill>
                          <a:effectLst/>
                          <a:latin typeface=""/>
                        </a:rPr>
                        <a:t>Recall</a:t>
                      </a:r>
                      <a:endParaRPr lang="en-VN" sz="200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a:solidFill>
                            <a:schemeClr val="tx1"/>
                          </a:solidFill>
                          <a:effectLst/>
                          <a:latin typeface=""/>
                        </a:rPr>
                        <a:t>73,21 %</a:t>
                      </a:r>
                      <a:endParaRPr lang="en-VN" sz="200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a:solidFill>
                            <a:schemeClr val="tx1"/>
                          </a:solidFill>
                          <a:effectLst/>
                          <a:latin typeface=""/>
                        </a:rPr>
                        <a:t>23,21 %</a:t>
                      </a:r>
                      <a:endParaRPr lang="en-VN" sz="200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87,12 %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524582841"/>
                  </a:ext>
                </a:extLst>
              </a:tr>
              <a:tr h="0">
                <a:tc>
                  <a:txBody>
                    <a:bodyPr/>
                    <a:lstStyle/>
                    <a:p>
                      <a:pPr indent="0" algn="l">
                        <a:lnSpc>
                          <a:spcPct val="130000"/>
                        </a:lnSpc>
                        <a:buNone/>
                      </a:pPr>
                      <a:r>
                        <a:rPr lang="en-US" sz="2000">
                          <a:solidFill>
                            <a:schemeClr val="tx1"/>
                          </a:solidFill>
                          <a:effectLst/>
                          <a:latin typeface=""/>
                        </a:rPr>
                        <a:t>Latency</a:t>
                      </a:r>
                      <a:endParaRPr lang="en-VN" sz="200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a:solidFill>
                            <a:schemeClr val="tx1"/>
                          </a:solidFill>
                          <a:effectLst/>
                          <a:latin typeface=""/>
                        </a:rPr>
                        <a:t>47,22 giây</a:t>
                      </a:r>
                      <a:endParaRPr lang="en-VN" sz="200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a:solidFill>
                            <a:schemeClr val="tx1"/>
                          </a:solidFill>
                          <a:effectLst/>
                          <a:latin typeface=""/>
                        </a:rPr>
                        <a:t>12,2 giây</a:t>
                      </a:r>
                      <a:endParaRPr lang="en-VN" sz="200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112,7 </a:t>
                      </a:r>
                      <a:r>
                        <a:rPr lang="en-US" sz="2000" dirty="0" err="1">
                          <a:solidFill>
                            <a:schemeClr val="tx1"/>
                          </a:solidFill>
                          <a:effectLst/>
                          <a:latin typeface=""/>
                        </a:rPr>
                        <a:t>giây</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219617071"/>
                  </a:ext>
                </a:extLst>
              </a:tr>
            </a:tbl>
          </a:graphicData>
        </a:graphic>
      </p:graphicFrame>
      <p:graphicFrame>
        <p:nvGraphicFramePr>
          <p:cNvPr id="16" name="Table 15">
            <a:extLst>
              <a:ext uri="{FF2B5EF4-FFF2-40B4-BE49-F238E27FC236}">
                <a16:creationId xmlns:a16="http://schemas.microsoft.com/office/drawing/2014/main" id="{6B4FD8BB-A30D-E084-E6BD-F82779A6DF91}"/>
              </a:ext>
            </a:extLst>
          </p:cNvPr>
          <p:cNvGraphicFramePr>
            <a:graphicFrameLocks noGrp="1"/>
          </p:cNvGraphicFramePr>
          <p:nvPr>
            <p:extLst>
              <p:ext uri="{D42A27DB-BD31-4B8C-83A1-F6EECF244321}">
                <p14:modId xmlns:p14="http://schemas.microsoft.com/office/powerpoint/2010/main" val="166124000"/>
              </p:ext>
            </p:extLst>
          </p:nvPr>
        </p:nvGraphicFramePr>
        <p:xfrm>
          <a:off x="10515600" y="3667717"/>
          <a:ext cx="6096000" cy="3360105"/>
        </p:xfrm>
        <a:graphic>
          <a:graphicData uri="http://schemas.openxmlformats.org/drawingml/2006/table">
            <a:tbl>
              <a:tblPr firstRow="1" firstCol="1" bandRow="1">
                <a:tableStyleId>{5C22544A-7EE6-4342-B048-85BDC9FD1C3A}</a:tableStyleId>
              </a:tblPr>
              <a:tblGrid>
                <a:gridCol w="1714500">
                  <a:extLst>
                    <a:ext uri="{9D8B030D-6E8A-4147-A177-3AD203B41FA5}">
                      <a16:colId xmlns:a16="http://schemas.microsoft.com/office/drawing/2014/main" val="1284440045"/>
                    </a:ext>
                  </a:extLst>
                </a:gridCol>
                <a:gridCol w="1371600">
                  <a:extLst>
                    <a:ext uri="{9D8B030D-6E8A-4147-A177-3AD203B41FA5}">
                      <a16:colId xmlns:a16="http://schemas.microsoft.com/office/drawing/2014/main" val="2976822781"/>
                    </a:ext>
                  </a:extLst>
                </a:gridCol>
                <a:gridCol w="1485900">
                  <a:extLst>
                    <a:ext uri="{9D8B030D-6E8A-4147-A177-3AD203B41FA5}">
                      <a16:colId xmlns:a16="http://schemas.microsoft.com/office/drawing/2014/main" val="3504238919"/>
                    </a:ext>
                  </a:extLst>
                </a:gridCol>
                <a:gridCol w="1524000">
                  <a:extLst>
                    <a:ext uri="{9D8B030D-6E8A-4147-A177-3AD203B41FA5}">
                      <a16:colId xmlns:a16="http://schemas.microsoft.com/office/drawing/2014/main" val="3811331763"/>
                    </a:ext>
                  </a:extLst>
                </a:gridCol>
              </a:tblGrid>
              <a:tr h="0">
                <a:tc>
                  <a:txBody>
                    <a:bodyPr/>
                    <a:lstStyle/>
                    <a:p>
                      <a:pPr indent="0" algn="just">
                        <a:lnSpc>
                          <a:spcPct val="130000"/>
                        </a:lnSpc>
                        <a:buNone/>
                      </a:pPr>
                      <a:r>
                        <a:rPr lang="en-US" sz="2000" dirty="0" err="1">
                          <a:solidFill>
                            <a:schemeClr val="tx1"/>
                          </a:solidFill>
                          <a:effectLst/>
                          <a:latin typeface=""/>
                        </a:rPr>
                        <a:t>Chỉ</a:t>
                      </a:r>
                      <a:r>
                        <a:rPr lang="en-US" sz="2000" dirty="0">
                          <a:solidFill>
                            <a:schemeClr val="tx1"/>
                          </a:solidFill>
                          <a:effectLst/>
                          <a:latin typeface=""/>
                        </a:rPr>
                        <a:t> </a:t>
                      </a:r>
                      <a:r>
                        <a:rPr lang="en-US" sz="2000" dirty="0" err="1">
                          <a:solidFill>
                            <a:schemeClr val="tx1"/>
                          </a:solidFill>
                          <a:effectLst/>
                          <a:latin typeface=""/>
                        </a:rPr>
                        <a:t>số</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Trung </a:t>
                      </a:r>
                      <a:r>
                        <a:rPr lang="en-US" sz="2000" dirty="0" err="1">
                          <a:solidFill>
                            <a:schemeClr val="tx1"/>
                          </a:solidFill>
                          <a:effectLst/>
                          <a:latin typeface=""/>
                        </a:rPr>
                        <a:t>bình</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Min</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Max</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80667592"/>
                  </a:ext>
                </a:extLst>
              </a:tr>
              <a:tr h="0">
                <a:tc>
                  <a:txBody>
                    <a:bodyPr/>
                    <a:lstStyle/>
                    <a:p>
                      <a:pPr indent="0" algn="l">
                        <a:lnSpc>
                          <a:spcPct val="130000"/>
                        </a:lnSpc>
                        <a:buNone/>
                      </a:pPr>
                      <a:r>
                        <a:rPr lang="en-US" sz="2000" dirty="0">
                          <a:solidFill>
                            <a:schemeClr val="tx1"/>
                          </a:solidFill>
                          <a:effectLst/>
                          <a:latin typeface=""/>
                        </a:rPr>
                        <a:t>Accuracy (</a:t>
                      </a:r>
                      <a:r>
                        <a:rPr lang="en-US" sz="2000" dirty="0" err="1">
                          <a:solidFill>
                            <a:schemeClr val="tx1"/>
                          </a:solidFill>
                          <a:effectLst/>
                          <a:latin typeface=""/>
                        </a:rPr>
                        <a:t>đo</a:t>
                      </a:r>
                      <a:r>
                        <a:rPr lang="en-US" sz="2000" dirty="0">
                          <a:solidFill>
                            <a:schemeClr val="tx1"/>
                          </a:solidFill>
                          <a:effectLst/>
                          <a:latin typeface=""/>
                        </a:rPr>
                        <a:t> </a:t>
                      </a:r>
                      <a:r>
                        <a:rPr lang="en-US" sz="2000" dirty="0" err="1">
                          <a:solidFill>
                            <a:schemeClr val="tx1"/>
                          </a:solidFill>
                          <a:effectLst/>
                          <a:latin typeface=""/>
                        </a:rPr>
                        <a:t>tự</a:t>
                      </a:r>
                      <a:r>
                        <a:rPr lang="en-US" sz="2000" dirty="0">
                          <a:solidFill>
                            <a:schemeClr val="tx1"/>
                          </a:solidFill>
                          <a:effectLst/>
                          <a:latin typeface=""/>
                        </a:rPr>
                        <a:t> </a:t>
                      </a:r>
                      <a:r>
                        <a:rPr lang="en-US" sz="2000" dirty="0" err="1">
                          <a:solidFill>
                            <a:schemeClr val="tx1"/>
                          </a:solidFill>
                          <a:effectLst/>
                          <a:latin typeface=""/>
                        </a:rPr>
                        <a:t>động</a:t>
                      </a:r>
                      <a:r>
                        <a:rPr lang="en-US" sz="2000" dirty="0">
                          <a:solidFill>
                            <a:schemeClr val="tx1"/>
                          </a:solidFill>
                          <a:effectLst/>
                          <a:latin typeface=""/>
                        </a:rPr>
                        <a:t>)</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34 %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05960423"/>
                  </a:ext>
                </a:extLst>
              </a:tr>
              <a:tr h="0">
                <a:tc>
                  <a:txBody>
                    <a:bodyPr/>
                    <a:lstStyle/>
                    <a:p>
                      <a:pPr indent="0" algn="l">
                        <a:lnSpc>
                          <a:spcPct val="130000"/>
                        </a:lnSpc>
                        <a:buNone/>
                      </a:pPr>
                      <a:r>
                        <a:rPr lang="en-US" sz="2000">
                          <a:solidFill>
                            <a:schemeClr val="tx1"/>
                          </a:solidFill>
                          <a:effectLst/>
                          <a:latin typeface=""/>
                        </a:rPr>
                        <a:t>Accuracy (đo thủ công)</a:t>
                      </a:r>
                      <a:endParaRPr lang="en-VN" sz="200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77 %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94431602"/>
                  </a:ext>
                </a:extLst>
              </a:tr>
              <a:tr h="70907">
                <a:tc>
                  <a:txBody>
                    <a:bodyPr/>
                    <a:lstStyle/>
                    <a:p>
                      <a:pPr indent="0" algn="l">
                        <a:lnSpc>
                          <a:spcPct val="130000"/>
                        </a:lnSpc>
                        <a:buNone/>
                      </a:pPr>
                      <a:r>
                        <a:rPr lang="en-US" sz="2000">
                          <a:solidFill>
                            <a:schemeClr val="tx1"/>
                          </a:solidFill>
                          <a:effectLst/>
                          <a:latin typeface=""/>
                        </a:rPr>
                        <a:t>Recall</a:t>
                      </a:r>
                      <a:endParaRPr lang="en-VN" sz="200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64,21 %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11,73 %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93,11 %</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524582841"/>
                  </a:ext>
                </a:extLst>
              </a:tr>
              <a:tr h="0">
                <a:tc>
                  <a:txBody>
                    <a:bodyPr/>
                    <a:lstStyle/>
                    <a:p>
                      <a:pPr indent="0" algn="l">
                        <a:lnSpc>
                          <a:spcPct val="130000"/>
                        </a:lnSpc>
                        <a:buNone/>
                      </a:pPr>
                      <a:r>
                        <a:rPr lang="en-US" sz="2000">
                          <a:solidFill>
                            <a:schemeClr val="tx1"/>
                          </a:solidFill>
                          <a:effectLst/>
                          <a:latin typeface=""/>
                        </a:rPr>
                        <a:t>Latency</a:t>
                      </a:r>
                      <a:endParaRPr lang="en-VN" sz="200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66,17 </a:t>
                      </a:r>
                      <a:r>
                        <a:rPr lang="en-US" sz="2000" dirty="0" err="1">
                          <a:solidFill>
                            <a:schemeClr val="tx1"/>
                          </a:solidFill>
                          <a:effectLst/>
                          <a:latin typeface=""/>
                        </a:rPr>
                        <a:t>giây</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27,06 </a:t>
                      </a:r>
                      <a:r>
                        <a:rPr lang="en-US" sz="2000" dirty="0" err="1">
                          <a:solidFill>
                            <a:schemeClr val="tx1"/>
                          </a:solidFill>
                          <a:effectLst/>
                          <a:latin typeface=""/>
                        </a:rPr>
                        <a:t>giây</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indent="0" algn="just">
                        <a:lnSpc>
                          <a:spcPct val="130000"/>
                        </a:lnSpc>
                        <a:buNone/>
                      </a:pPr>
                      <a:r>
                        <a:rPr lang="en-US" sz="2000" dirty="0">
                          <a:solidFill>
                            <a:schemeClr val="tx1"/>
                          </a:solidFill>
                          <a:effectLst/>
                          <a:latin typeface=""/>
                        </a:rPr>
                        <a:t>86,20 </a:t>
                      </a:r>
                      <a:r>
                        <a:rPr lang="en-US" sz="2000" dirty="0" err="1">
                          <a:solidFill>
                            <a:schemeClr val="tx1"/>
                          </a:solidFill>
                          <a:effectLst/>
                          <a:latin typeface=""/>
                        </a:rPr>
                        <a:t>giây</a:t>
                      </a:r>
                      <a:endParaRPr lang="en-VN" sz="2000" dirty="0">
                        <a:solidFill>
                          <a:schemeClr val="tx1"/>
                        </a:solidFill>
                        <a:effectLst/>
                        <a:latin typeface=""/>
                        <a:ea typeface="Times New Roman" panose="02020603050405020304" pitchFamily="18" charset="0"/>
                        <a:cs typeface="Cordia New" panose="020B0304020202020204" pitchFamily="34" charset="-34"/>
                      </a:endParaRPr>
                    </a:p>
                  </a:txBody>
                  <a:tcPr marL="68580" marR="68580" marT="0" marB="0">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219617071"/>
                  </a:ext>
                </a:extLst>
              </a:tr>
            </a:tbl>
          </a:graphicData>
        </a:graphic>
      </p:graphicFrame>
      <p:sp>
        <p:nvSpPr>
          <p:cNvPr id="17" name="TextBox 9">
            <a:extLst>
              <a:ext uri="{FF2B5EF4-FFF2-40B4-BE49-F238E27FC236}">
                <a16:creationId xmlns:a16="http://schemas.microsoft.com/office/drawing/2014/main" id="{BB3EB485-1594-A005-6E86-069383C4D662}"/>
              </a:ext>
            </a:extLst>
          </p:cNvPr>
          <p:cNvSpPr txBox="1"/>
          <p:nvPr/>
        </p:nvSpPr>
        <p:spPr>
          <a:xfrm>
            <a:off x="1301111" y="7303979"/>
            <a:ext cx="4630512" cy="556755"/>
          </a:xfrm>
          <a:prstGeom prst="rect">
            <a:avLst/>
          </a:prstGeom>
        </p:spPr>
        <p:txBody>
          <a:bodyPr wrap="square" lIns="0" tIns="0" rIns="0" bIns="0" rtlCol="0" anchor="t">
            <a:spAutoFit/>
          </a:bodyPr>
          <a:lstStyle/>
          <a:p>
            <a:pPr marL="323850" lvl="1" algn="ctr">
              <a:lnSpc>
                <a:spcPts val="4800"/>
              </a:lnSpc>
            </a:pPr>
            <a:r>
              <a:rPr lang="en-US" sz="3000" dirty="0" err="1">
                <a:solidFill>
                  <a:srgbClr val="0C1D4B"/>
                </a:solidFill>
                <a:latin typeface="Montserrat"/>
                <a:ea typeface="Montserrat"/>
                <a:cs typeface="Montserrat"/>
                <a:sym typeface="Montserrat"/>
              </a:rPr>
              <a:t>Nhóm</a:t>
            </a:r>
            <a:r>
              <a:rPr lang="en-US" sz="3000" dirty="0">
                <a:solidFill>
                  <a:srgbClr val="0C1D4B"/>
                </a:solidFill>
                <a:latin typeface="Montserrat"/>
                <a:ea typeface="Montserrat"/>
                <a:cs typeface="Montserrat"/>
                <a:sym typeface="Montserrat"/>
              </a:rPr>
              <a:t> N1</a:t>
            </a:r>
          </a:p>
        </p:txBody>
      </p:sp>
      <p:sp>
        <p:nvSpPr>
          <p:cNvPr id="18" name="TextBox 9">
            <a:extLst>
              <a:ext uri="{FF2B5EF4-FFF2-40B4-BE49-F238E27FC236}">
                <a16:creationId xmlns:a16="http://schemas.microsoft.com/office/drawing/2014/main" id="{832BCB6F-86C9-2FC3-CEAA-FA07EA3FEEAB}"/>
              </a:ext>
            </a:extLst>
          </p:cNvPr>
          <p:cNvSpPr txBox="1"/>
          <p:nvPr/>
        </p:nvSpPr>
        <p:spPr>
          <a:xfrm>
            <a:off x="11140570" y="7316858"/>
            <a:ext cx="4630512" cy="556755"/>
          </a:xfrm>
          <a:prstGeom prst="rect">
            <a:avLst/>
          </a:prstGeom>
        </p:spPr>
        <p:txBody>
          <a:bodyPr wrap="square" lIns="0" tIns="0" rIns="0" bIns="0" rtlCol="0" anchor="t">
            <a:spAutoFit/>
          </a:bodyPr>
          <a:lstStyle/>
          <a:p>
            <a:pPr marL="323850" lvl="1" algn="ctr">
              <a:lnSpc>
                <a:spcPts val="4800"/>
              </a:lnSpc>
            </a:pPr>
            <a:r>
              <a:rPr lang="en-US" sz="3000" dirty="0" err="1">
                <a:solidFill>
                  <a:srgbClr val="0C1D4B"/>
                </a:solidFill>
                <a:latin typeface="Montserrat"/>
                <a:ea typeface="Montserrat"/>
                <a:cs typeface="Montserrat"/>
                <a:sym typeface="Montserrat"/>
              </a:rPr>
              <a:t>Nhóm</a:t>
            </a:r>
            <a:r>
              <a:rPr lang="en-US" sz="3000" dirty="0">
                <a:solidFill>
                  <a:srgbClr val="0C1D4B"/>
                </a:solidFill>
                <a:latin typeface="Montserrat"/>
                <a:ea typeface="Montserrat"/>
                <a:cs typeface="Montserrat"/>
                <a:sym typeface="Montserrat"/>
              </a:rPr>
              <a:t> N2</a:t>
            </a:r>
          </a:p>
        </p:txBody>
      </p:sp>
    </p:spTree>
    <p:extLst>
      <p:ext uri="{BB962C8B-B14F-4D97-AF65-F5344CB8AC3E}">
        <p14:creationId xmlns:p14="http://schemas.microsoft.com/office/powerpoint/2010/main" val="8514039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081F8-93BD-E4E7-7812-C97BBDD4814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F5D5F76-B3D1-BD3E-E0A6-56FBB678DA79}"/>
              </a:ext>
            </a:extLst>
          </p:cNvPr>
          <p:cNvGrpSpPr/>
          <p:nvPr/>
        </p:nvGrpSpPr>
        <p:grpSpPr>
          <a:xfrm>
            <a:off x="705846" y="434975"/>
            <a:ext cx="5042638" cy="603250"/>
            <a:chOff x="0" y="0"/>
            <a:chExt cx="6723518" cy="804333"/>
          </a:xfrm>
        </p:grpSpPr>
        <p:sp>
          <p:nvSpPr>
            <p:cNvPr id="3" name="TextBox 3">
              <a:extLst>
                <a:ext uri="{FF2B5EF4-FFF2-40B4-BE49-F238E27FC236}">
                  <a16:creationId xmlns:a16="http://schemas.microsoft.com/office/drawing/2014/main" id="{63E8D976-5A57-941A-BA84-B1C8111FACB5}"/>
                </a:ext>
              </a:extLst>
            </p:cNvPr>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a:extLst>
                <a:ext uri="{FF2B5EF4-FFF2-40B4-BE49-F238E27FC236}">
                  <a16:creationId xmlns:a16="http://schemas.microsoft.com/office/drawing/2014/main" id="{75A3DAB6-B3BC-815C-02F8-5CD7F407FE7F}"/>
                </a:ext>
              </a:extLst>
            </p:cNvPr>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a:extLst>
              <a:ext uri="{FF2B5EF4-FFF2-40B4-BE49-F238E27FC236}">
                <a16:creationId xmlns:a16="http://schemas.microsoft.com/office/drawing/2014/main" id="{F805299C-F456-7C78-8533-6DFEDA86B53C}"/>
              </a:ext>
            </a:extLst>
          </p:cNvPr>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a:extLst>
              <a:ext uri="{FF2B5EF4-FFF2-40B4-BE49-F238E27FC236}">
                <a16:creationId xmlns:a16="http://schemas.microsoft.com/office/drawing/2014/main" id="{FCC45CEC-BBC7-8AFA-5484-426E0CBE0761}"/>
              </a:ext>
            </a:extLst>
          </p:cNvPr>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a:extLst>
              <a:ext uri="{FF2B5EF4-FFF2-40B4-BE49-F238E27FC236}">
                <a16:creationId xmlns:a16="http://schemas.microsoft.com/office/drawing/2014/main" id="{992690B4-4410-C2E2-F59C-0616B00EB885}"/>
              </a:ext>
            </a:extLst>
          </p:cNvPr>
          <p:cNvGrpSpPr/>
          <p:nvPr/>
        </p:nvGrpSpPr>
        <p:grpSpPr>
          <a:xfrm>
            <a:off x="-3158965" y="9357593"/>
            <a:ext cx="22035035" cy="3394679"/>
            <a:chOff x="0" y="0"/>
            <a:chExt cx="29380046" cy="4526239"/>
          </a:xfrm>
        </p:grpSpPr>
        <p:grpSp>
          <p:nvGrpSpPr>
            <p:cNvPr id="8" name="Group 8">
              <a:extLst>
                <a:ext uri="{FF2B5EF4-FFF2-40B4-BE49-F238E27FC236}">
                  <a16:creationId xmlns:a16="http://schemas.microsoft.com/office/drawing/2014/main" id="{31631D90-B250-8995-877D-400DB3FD4EC7}"/>
                </a:ext>
              </a:extLst>
            </p:cNvPr>
            <p:cNvGrpSpPr/>
            <p:nvPr/>
          </p:nvGrpSpPr>
          <p:grpSpPr>
            <a:xfrm>
              <a:off x="0" y="954681"/>
              <a:ext cx="29380046" cy="3571558"/>
              <a:chOff x="0" y="0"/>
              <a:chExt cx="5803466" cy="705493"/>
            </a:xfrm>
          </p:grpSpPr>
          <p:sp>
            <p:nvSpPr>
              <p:cNvPr id="9" name="Freeform 9">
                <a:extLst>
                  <a:ext uri="{FF2B5EF4-FFF2-40B4-BE49-F238E27FC236}">
                    <a16:creationId xmlns:a16="http://schemas.microsoft.com/office/drawing/2014/main" id="{01AABB1F-12D7-0783-80CF-EC06A9BC67FE}"/>
                  </a:ext>
                </a:extLst>
              </p:cNvPr>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a:extLst>
                  <a:ext uri="{FF2B5EF4-FFF2-40B4-BE49-F238E27FC236}">
                    <a16:creationId xmlns:a16="http://schemas.microsoft.com/office/drawing/2014/main" id="{E26016A1-A533-2969-D59A-BB96822C7A59}"/>
                  </a:ext>
                </a:extLst>
              </p:cNvPr>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a:extLst>
                <a:ext uri="{FF2B5EF4-FFF2-40B4-BE49-F238E27FC236}">
                  <a16:creationId xmlns:a16="http://schemas.microsoft.com/office/drawing/2014/main" id="{FF4B0305-2C7B-FC3A-929A-BC6CF142D2CD}"/>
                </a:ext>
              </a:extLst>
            </p:cNvPr>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a:extLst>
              <a:ext uri="{FF2B5EF4-FFF2-40B4-BE49-F238E27FC236}">
                <a16:creationId xmlns:a16="http://schemas.microsoft.com/office/drawing/2014/main" id="{42DE57B7-F868-29A1-7848-4C6CA3AF97D5}"/>
              </a:ext>
            </a:extLst>
          </p:cNvPr>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31</a:t>
            </a:r>
          </a:p>
        </p:txBody>
      </p:sp>
      <p:sp>
        <p:nvSpPr>
          <p:cNvPr id="14" name="TextBox 14">
            <a:extLst>
              <a:ext uri="{FF2B5EF4-FFF2-40B4-BE49-F238E27FC236}">
                <a16:creationId xmlns:a16="http://schemas.microsoft.com/office/drawing/2014/main" id="{C49C003F-48AD-CC44-A0EE-C485D5944B23}"/>
              </a:ext>
            </a:extLst>
          </p:cNvPr>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dirty="0">
                <a:solidFill>
                  <a:srgbClr val="0C1D4B"/>
                </a:solidFill>
                <a:latin typeface="Montserrat Heavy"/>
                <a:ea typeface="Montserrat Heavy"/>
                <a:cs typeface="Montserrat Heavy"/>
                <a:sym typeface="Montserrat Heavy"/>
              </a:rPr>
              <a:t>4.3. </a:t>
            </a:r>
            <a:r>
              <a:rPr lang="en-US" sz="3999" b="1" dirty="0" err="1">
                <a:solidFill>
                  <a:srgbClr val="0C1D4B"/>
                </a:solidFill>
                <a:latin typeface="Montserrat Heavy"/>
                <a:ea typeface="Montserrat Heavy"/>
                <a:cs typeface="Montserrat Heavy"/>
                <a:sym typeface="Montserrat Heavy"/>
              </a:rPr>
              <a:t>Kết</a:t>
            </a:r>
            <a:r>
              <a:rPr lang="en-US" sz="3999" b="1" dirty="0">
                <a:solidFill>
                  <a:srgbClr val="0C1D4B"/>
                </a:solidFill>
                <a:latin typeface="Montserrat Heavy"/>
                <a:ea typeface="Montserrat Heavy"/>
                <a:cs typeface="Montserrat Heavy"/>
                <a:sym typeface="Montserrat Heavy"/>
              </a:rPr>
              <a:t> </a:t>
            </a:r>
            <a:r>
              <a:rPr lang="en-US" sz="3999" b="1" dirty="0" err="1">
                <a:solidFill>
                  <a:srgbClr val="0C1D4B"/>
                </a:solidFill>
                <a:latin typeface="Montserrat Heavy"/>
                <a:ea typeface="Montserrat Heavy"/>
                <a:cs typeface="Montserrat Heavy"/>
                <a:sym typeface="Montserrat Heavy"/>
              </a:rPr>
              <a:t>luận</a:t>
            </a:r>
            <a:endParaRPr lang="en-US" sz="3999" b="1" dirty="0">
              <a:solidFill>
                <a:srgbClr val="0C1D4B"/>
              </a:solidFill>
              <a:latin typeface="Montserrat Heavy"/>
              <a:ea typeface="Montserrat Heavy"/>
              <a:cs typeface="Montserrat Heavy"/>
              <a:sym typeface="Montserrat Heavy"/>
            </a:endParaRPr>
          </a:p>
        </p:txBody>
      </p:sp>
      <p:sp>
        <p:nvSpPr>
          <p:cNvPr id="15" name="TextBox 6">
            <a:extLst>
              <a:ext uri="{FF2B5EF4-FFF2-40B4-BE49-F238E27FC236}">
                <a16:creationId xmlns:a16="http://schemas.microsoft.com/office/drawing/2014/main" id="{497B2451-E95E-B041-15F1-E153A37E1888}"/>
              </a:ext>
            </a:extLst>
          </p:cNvPr>
          <p:cNvSpPr txBox="1"/>
          <p:nvPr/>
        </p:nvSpPr>
        <p:spPr>
          <a:xfrm>
            <a:off x="1188476" y="2277383"/>
            <a:ext cx="15699796" cy="2492990"/>
          </a:xfrm>
          <a:prstGeom prst="rect">
            <a:avLst/>
          </a:prstGeom>
        </p:spPr>
        <p:txBody>
          <a:bodyPr wrap="square" lIns="0" tIns="0" rIns="0" bIns="0" rtlCol="0" anchor="t">
            <a:spAutoFit/>
          </a:bodyPr>
          <a:lstStyle/>
          <a:p>
            <a:r>
              <a:rPr lang="en-US" sz="2700" b="1" dirty="0">
                <a:solidFill>
                  <a:srgbClr val="000000"/>
                </a:solidFill>
                <a:latin typeface="Montserrat" panose="00000500000000000000" pitchFamily="2" charset="0"/>
              </a:rPr>
              <a:t>Kết quả</a:t>
            </a:r>
          </a:p>
          <a:p>
            <a:r>
              <a:rPr lang="en-US" sz="2700" dirty="0">
                <a:solidFill>
                  <a:srgbClr val="000000"/>
                </a:solidFill>
                <a:latin typeface="Montserrat" panose="00000500000000000000" pitchFamily="2" charset="0"/>
              </a:rPr>
              <a:t>Quá trình thực hiện đồ án, em đã đạt được một số kết quả sau:</a:t>
            </a:r>
          </a:p>
          <a:p>
            <a:pPr marL="457200" indent="-457200">
              <a:buFont typeface="Arial" panose="020B0604020202020204" pitchFamily="34" charset="0"/>
              <a:buChar char="•"/>
            </a:pPr>
            <a:r>
              <a:rPr lang="vi-VN" sz="2700" dirty="0">
                <a:solidFill>
                  <a:srgbClr val="000000"/>
                </a:solidFill>
                <a:latin typeface="Montserrat" panose="00000500000000000000" pitchFamily="2" charset="0"/>
              </a:rPr>
              <a:t>T</a:t>
            </a:r>
            <a:r>
              <a:rPr lang="en-US" sz="2700" dirty="0" err="1">
                <a:solidFill>
                  <a:srgbClr val="000000"/>
                </a:solidFill>
                <a:latin typeface="Montserrat" panose="00000500000000000000" pitchFamily="2" charset="0"/>
              </a:rPr>
              <a:t>ìm</a:t>
            </a:r>
            <a:r>
              <a:rPr lang="en-US" sz="2700" dirty="0">
                <a:solidFill>
                  <a:srgbClr val="000000"/>
                </a:solidFill>
                <a:latin typeface="Montserrat" panose="00000500000000000000" pitchFamily="2" charset="0"/>
              </a:rPr>
              <a:t> hiểu về</a:t>
            </a:r>
            <a:r>
              <a:rPr lang="vi-VN" sz="2700" dirty="0">
                <a:solidFill>
                  <a:srgbClr val="000000"/>
                </a:solidFill>
                <a:latin typeface="Montserrat" panose="00000500000000000000" pitchFamily="2" charset="0"/>
              </a:rPr>
              <a:t> các khái niệm về chatbot, AI Agent, RAG, LLMs.</a:t>
            </a:r>
            <a:endParaRPr lang="en-US" sz="2700" dirty="0">
              <a:solidFill>
                <a:srgbClr val="000000"/>
              </a:solidFill>
              <a:latin typeface="Montserrat" panose="00000500000000000000" pitchFamily="2" charset="0"/>
            </a:endParaRPr>
          </a:p>
          <a:p>
            <a:pPr marL="457200" indent="-457200">
              <a:buFont typeface="Arial" panose="020B0604020202020204" pitchFamily="34" charset="0"/>
              <a:buChar char="•"/>
            </a:pPr>
            <a:r>
              <a:rPr lang="en-US" sz="2700" dirty="0" err="1">
                <a:solidFill>
                  <a:srgbClr val="000000"/>
                </a:solidFill>
                <a:latin typeface="Montserrat" panose="00000500000000000000" pitchFamily="2" charset="0"/>
              </a:rPr>
              <a:t>Xây</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dựng</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thành</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công</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mô</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hình</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hệ</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thống</a:t>
            </a:r>
            <a:r>
              <a:rPr lang="en-US" sz="2700" dirty="0">
                <a:solidFill>
                  <a:srgbClr val="000000"/>
                </a:solidFill>
                <a:latin typeface="Montserrat" panose="00000500000000000000" pitchFamily="2" charset="0"/>
              </a:rPr>
              <a:t> chatbot </a:t>
            </a:r>
            <a:r>
              <a:rPr lang="en-US" sz="2700" dirty="0" err="1">
                <a:solidFill>
                  <a:srgbClr val="000000"/>
                </a:solidFill>
                <a:latin typeface="Montserrat" panose="00000500000000000000" pitchFamily="2" charset="0"/>
              </a:rPr>
              <a:t>với</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kiến</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trúc</a:t>
            </a:r>
            <a:r>
              <a:rPr lang="en-US" sz="2700" dirty="0">
                <a:solidFill>
                  <a:srgbClr val="000000"/>
                </a:solidFill>
                <a:latin typeface="Montserrat" panose="00000500000000000000" pitchFamily="2" charset="0"/>
              </a:rPr>
              <a:t> AI Agent.</a:t>
            </a:r>
          </a:p>
          <a:p>
            <a:pPr marL="457200" indent="-457200">
              <a:buFont typeface="Arial" panose="020B0604020202020204" pitchFamily="34" charset="0"/>
              <a:buChar char="•"/>
            </a:pPr>
            <a:r>
              <a:rPr lang="en-US" sz="2700" dirty="0" err="1">
                <a:solidFill>
                  <a:srgbClr val="000000"/>
                </a:solidFill>
                <a:latin typeface="Montserrat" panose="00000500000000000000" pitchFamily="2" charset="0"/>
              </a:rPr>
              <a:t>Ứng</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dụng</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thành</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công</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kỹ</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thuật</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truy</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vấn</a:t>
            </a:r>
            <a:r>
              <a:rPr lang="en-US" sz="2700" dirty="0">
                <a:solidFill>
                  <a:srgbClr val="000000"/>
                </a:solidFill>
                <a:latin typeface="Montserrat" panose="00000500000000000000" pitchFamily="2" charset="0"/>
              </a:rPr>
              <a:t> RAG </a:t>
            </a:r>
            <a:r>
              <a:rPr lang="en-US" sz="2700" dirty="0" err="1">
                <a:solidFill>
                  <a:srgbClr val="000000"/>
                </a:solidFill>
                <a:latin typeface="Montserrat" panose="00000500000000000000" pitchFamily="2" charset="0"/>
              </a:rPr>
              <a:t>vào</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hệ</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thống</a:t>
            </a:r>
            <a:r>
              <a:rPr lang="en-US" sz="2700" dirty="0">
                <a:solidFill>
                  <a:srgbClr val="000000"/>
                </a:solidFill>
                <a:latin typeface="Montserrat" panose="00000500000000000000" pitchFamily="2" charset="0"/>
              </a:rPr>
              <a:t>.</a:t>
            </a:r>
          </a:p>
          <a:p>
            <a:pPr marL="457200" indent="-457200">
              <a:buFont typeface="Arial" panose="020B0604020202020204" pitchFamily="34" charset="0"/>
              <a:buChar char="•"/>
            </a:pPr>
            <a:r>
              <a:rPr lang="en-US" sz="2700" dirty="0" err="1">
                <a:solidFill>
                  <a:srgbClr val="000000"/>
                </a:solidFill>
                <a:latin typeface="Montserrat" panose="00000500000000000000" pitchFamily="2" charset="0"/>
              </a:rPr>
              <a:t>Xây</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dựng</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được</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ứng</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dụng</a:t>
            </a:r>
            <a:r>
              <a:rPr lang="en-US" sz="2700" dirty="0">
                <a:solidFill>
                  <a:srgbClr val="000000"/>
                </a:solidFill>
                <a:latin typeface="Montserrat" panose="00000500000000000000" pitchFamily="2" charset="0"/>
              </a:rPr>
              <a:t> web </a:t>
            </a:r>
            <a:r>
              <a:rPr lang="en-US" sz="2700" dirty="0" err="1">
                <a:solidFill>
                  <a:srgbClr val="000000"/>
                </a:solidFill>
                <a:latin typeface="Montserrat" panose="00000500000000000000" pitchFamily="2" charset="0"/>
              </a:rPr>
              <a:t>tích</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hợp</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hệ</a:t>
            </a:r>
            <a:r>
              <a:rPr lang="en-US" sz="2700" dirty="0">
                <a:solidFill>
                  <a:srgbClr val="000000"/>
                </a:solidFill>
                <a:latin typeface="Montserrat" panose="00000500000000000000" pitchFamily="2" charset="0"/>
              </a:rPr>
              <a:t> </a:t>
            </a:r>
            <a:r>
              <a:rPr lang="en-US" sz="2700" dirty="0" err="1">
                <a:solidFill>
                  <a:srgbClr val="000000"/>
                </a:solidFill>
                <a:latin typeface="Montserrat" panose="00000500000000000000" pitchFamily="2" charset="0"/>
              </a:rPr>
              <a:t>thống</a:t>
            </a:r>
            <a:r>
              <a:rPr lang="en-US" sz="2700" dirty="0">
                <a:solidFill>
                  <a:srgbClr val="000000"/>
                </a:solidFill>
                <a:latin typeface="Montserrat" panose="00000500000000000000" pitchFamily="2" charset="0"/>
              </a:rPr>
              <a:t> chat AI.</a:t>
            </a:r>
          </a:p>
        </p:txBody>
      </p:sp>
      <p:sp>
        <p:nvSpPr>
          <p:cNvPr id="16" name="TextBox 6">
            <a:extLst>
              <a:ext uri="{FF2B5EF4-FFF2-40B4-BE49-F238E27FC236}">
                <a16:creationId xmlns:a16="http://schemas.microsoft.com/office/drawing/2014/main" id="{D0750750-FC4B-2E49-14A3-DF6815098A75}"/>
              </a:ext>
            </a:extLst>
          </p:cNvPr>
          <p:cNvSpPr txBox="1"/>
          <p:nvPr/>
        </p:nvSpPr>
        <p:spPr>
          <a:xfrm>
            <a:off x="1188476" y="5077872"/>
            <a:ext cx="15699796" cy="2077492"/>
          </a:xfrm>
          <a:prstGeom prst="rect">
            <a:avLst/>
          </a:prstGeom>
        </p:spPr>
        <p:txBody>
          <a:bodyPr wrap="square" lIns="0" tIns="0" rIns="0" bIns="0" rtlCol="0" anchor="t">
            <a:spAutoFit/>
          </a:bodyPr>
          <a:lstStyle/>
          <a:p>
            <a:r>
              <a:rPr lang="en-US" sz="2700" b="1" dirty="0">
                <a:solidFill>
                  <a:srgbClr val="000000"/>
                </a:solidFill>
                <a:latin typeface="Montserrat" panose="00000500000000000000" pitchFamily="2" charset="0"/>
              </a:rPr>
              <a:t>Hạn chế</a:t>
            </a:r>
          </a:p>
          <a:p>
            <a:pPr marL="457200" indent="-457200">
              <a:buFont typeface="Arial" panose="020B0604020202020204" pitchFamily="34" charset="0"/>
              <a:buChar char="•"/>
            </a:pPr>
            <a:r>
              <a:rPr lang="vi-VN" sz="2700" dirty="0">
                <a:solidFill>
                  <a:srgbClr val="000000"/>
                </a:solidFill>
                <a:latin typeface="Montserrat" panose="00000500000000000000" pitchFamily="2" charset="0"/>
              </a:rPr>
              <a:t>Do giới hạn về thời gian và nguồn lực, chatbot chưa được tích hợp lên nhiều nền tảng khác nhau.</a:t>
            </a:r>
          </a:p>
          <a:p>
            <a:pPr marL="457200" indent="-457200">
              <a:buFont typeface="Arial" panose="020B0604020202020204" pitchFamily="34" charset="0"/>
              <a:buChar char="•"/>
            </a:pPr>
            <a:r>
              <a:rPr lang="vi-VN" sz="2700" dirty="0">
                <a:solidFill>
                  <a:srgbClr val="000000"/>
                </a:solidFill>
                <a:latin typeface="Montserrat" panose="00000500000000000000" pitchFamily="2" charset="0"/>
              </a:rPr>
              <a:t>Một số chức năng trong ứng dụng vẫn còn tồn tại lỗi nhỏ và cần được cải thiện thêm về hiệu suất cũng như  giao diện người dùng.</a:t>
            </a:r>
          </a:p>
        </p:txBody>
      </p:sp>
      <p:sp>
        <p:nvSpPr>
          <p:cNvPr id="17" name="TextBox 6">
            <a:extLst>
              <a:ext uri="{FF2B5EF4-FFF2-40B4-BE49-F238E27FC236}">
                <a16:creationId xmlns:a16="http://schemas.microsoft.com/office/drawing/2014/main" id="{E7A52B67-7D49-768F-9361-167F7BF4DD65}"/>
              </a:ext>
            </a:extLst>
          </p:cNvPr>
          <p:cNvSpPr txBox="1"/>
          <p:nvPr/>
        </p:nvSpPr>
        <p:spPr>
          <a:xfrm>
            <a:off x="1188476" y="7462863"/>
            <a:ext cx="15699796" cy="1661993"/>
          </a:xfrm>
          <a:prstGeom prst="rect">
            <a:avLst/>
          </a:prstGeom>
        </p:spPr>
        <p:txBody>
          <a:bodyPr wrap="square" lIns="0" tIns="0" rIns="0" bIns="0" rtlCol="0" anchor="t">
            <a:spAutoFit/>
          </a:bodyPr>
          <a:lstStyle/>
          <a:p>
            <a:r>
              <a:rPr lang="en-US" sz="2700" b="1" dirty="0">
                <a:solidFill>
                  <a:srgbClr val="000000"/>
                </a:solidFill>
                <a:latin typeface="Montserrat" panose="00000500000000000000" pitchFamily="2" charset="0"/>
              </a:rPr>
              <a:t>Hướng phát triển</a:t>
            </a:r>
          </a:p>
          <a:p>
            <a:pPr marL="457200" indent="-457200">
              <a:buFont typeface="Arial" panose="020B0604020202020204" pitchFamily="34" charset="0"/>
              <a:buChar char="•"/>
            </a:pPr>
            <a:r>
              <a:rPr lang="vi-VN" sz="2700" dirty="0">
                <a:solidFill>
                  <a:srgbClr val="000000"/>
                </a:solidFill>
                <a:latin typeface="Montserrat" panose="00000500000000000000" pitchFamily="2" charset="0"/>
              </a:rPr>
              <a:t>Tiếp tục hoàn thiện và mở rộng các chức năng, cải thiện độ ổn định, hiệu năng và khả năng sử dụng thực tế của ứng dụng.</a:t>
            </a:r>
          </a:p>
          <a:p>
            <a:pPr marL="457200" indent="-457200">
              <a:buFont typeface="Arial" panose="020B0604020202020204" pitchFamily="34" charset="0"/>
              <a:buChar char="•"/>
            </a:pPr>
            <a:r>
              <a:rPr lang="vi-VN" sz="2700" dirty="0">
                <a:solidFill>
                  <a:srgbClr val="000000"/>
                </a:solidFill>
                <a:latin typeface="Montserrat" panose="00000500000000000000" pitchFamily="2" charset="0"/>
              </a:rPr>
              <a:t>Cải thiện khả năng phản hồi của chatbot và mở rộng tính năng cho chatbot.</a:t>
            </a:r>
          </a:p>
        </p:txBody>
      </p:sp>
    </p:spTree>
    <p:extLst>
      <p:ext uri="{BB962C8B-B14F-4D97-AF65-F5344CB8AC3E}">
        <p14:creationId xmlns:p14="http://schemas.microsoft.com/office/powerpoint/2010/main" val="406504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1000"/>
                                        <p:tgtEl>
                                          <p:spTgt spid="15"/>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1000"/>
                                        <p:tgtEl>
                                          <p:spTgt spid="16"/>
                                        </p:tgtEl>
                                      </p:cBhvr>
                                    </p:animEffect>
                                  </p:childTnLst>
                                </p:cTn>
                              </p:par>
                            </p:childTnLst>
                          </p:cTn>
                        </p:par>
                        <p:par>
                          <p:cTn id="12" fill="hold">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up)">
                                      <p:cBhvr>
                                        <p:cTn id="15"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Freeform 5"/>
          <p:cNvSpPr/>
          <p:nvPr/>
        </p:nvSpPr>
        <p:spPr>
          <a:xfrm>
            <a:off x="15569234" y="8449152"/>
            <a:ext cx="1052409" cy="263102"/>
          </a:xfrm>
          <a:custGeom>
            <a:avLst/>
            <a:gdLst/>
            <a:ahLst/>
            <a:cxnLst/>
            <a:rect l="l" t="t" r="r" b="b"/>
            <a:pathLst>
              <a:path w="1052409" h="263102">
                <a:moveTo>
                  <a:pt x="0" y="0"/>
                </a:moveTo>
                <a:lnTo>
                  <a:pt x="1052409" y="0"/>
                </a:lnTo>
                <a:lnTo>
                  <a:pt x="1052409" y="263102"/>
                </a:lnTo>
                <a:lnTo>
                  <a:pt x="0" y="2631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5"/>
            <a:stretch>
              <a:fillRect/>
            </a:stretch>
          </a:blipFill>
        </p:spPr>
      </p:sp>
      <p:grpSp>
        <p:nvGrpSpPr>
          <p:cNvPr id="7" name="Group 7"/>
          <p:cNvGrpSpPr/>
          <p:nvPr/>
        </p:nvGrpSpPr>
        <p:grpSpPr>
          <a:xfrm>
            <a:off x="-3127839" y="9429370"/>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5"/>
              <a:stretch>
                <a:fillRect/>
              </a:stretch>
            </a:blipFill>
          </p:spPr>
        </p:sp>
      </p:grpSp>
      <p:sp>
        <p:nvSpPr>
          <p:cNvPr id="12" name="TextBox 1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32</a:t>
            </a:r>
          </a:p>
        </p:txBody>
      </p:sp>
      <p:grpSp>
        <p:nvGrpSpPr>
          <p:cNvPr id="13" name="Group 13"/>
          <p:cNvGrpSpPr/>
          <p:nvPr/>
        </p:nvGrpSpPr>
        <p:grpSpPr>
          <a:xfrm>
            <a:off x="5686529" y="6018859"/>
            <a:ext cx="6914943" cy="814121"/>
            <a:chOff x="0" y="0"/>
            <a:chExt cx="1821220" cy="214419"/>
          </a:xfrm>
        </p:grpSpPr>
        <p:sp>
          <p:nvSpPr>
            <p:cNvPr id="14" name="Freeform 14"/>
            <p:cNvSpPr/>
            <p:nvPr/>
          </p:nvSpPr>
          <p:spPr>
            <a:xfrm>
              <a:off x="0" y="0"/>
              <a:ext cx="1821219" cy="214419"/>
            </a:xfrm>
            <a:custGeom>
              <a:avLst/>
              <a:gdLst/>
              <a:ahLst/>
              <a:cxnLst/>
              <a:rect l="l" t="t" r="r" b="b"/>
              <a:pathLst>
                <a:path w="1821219" h="214419">
                  <a:moveTo>
                    <a:pt x="31349" y="0"/>
                  </a:moveTo>
                  <a:lnTo>
                    <a:pt x="1789871" y="0"/>
                  </a:lnTo>
                  <a:cubicBezTo>
                    <a:pt x="1798185" y="0"/>
                    <a:pt x="1806159" y="3303"/>
                    <a:pt x="1812038" y="9182"/>
                  </a:cubicBezTo>
                  <a:cubicBezTo>
                    <a:pt x="1817917" y="15061"/>
                    <a:pt x="1821219" y="23034"/>
                    <a:pt x="1821219" y="31349"/>
                  </a:cubicBezTo>
                  <a:lnTo>
                    <a:pt x="1821219" y="183070"/>
                  </a:lnTo>
                  <a:cubicBezTo>
                    <a:pt x="1821219" y="200384"/>
                    <a:pt x="1807184" y="214419"/>
                    <a:pt x="1789871" y="214419"/>
                  </a:cubicBezTo>
                  <a:lnTo>
                    <a:pt x="31349" y="214419"/>
                  </a:lnTo>
                  <a:cubicBezTo>
                    <a:pt x="23034" y="214419"/>
                    <a:pt x="15061" y="211116"/>
                    <a:pt x="9182" y="205237"/>
                  </a:cubicBezTo>
                  <a:cubicBezTo>
                    <a:pt x="3303" y="199358"/>
                    <a:pt x="0" y="191384"/>
                    <a:pt x="0" y="183070"/>
                  </a:cubicBezTo>
                  <a:lnTo>
                    <a:pt x="0" y="31349"/>
                  </a:lnTo>
                  <a:cubicBezTo>
                    <a:pt x="0" y="14035"/>
                    <a:pt x="14035" y="0"/>
                    <a:pt x="31349" y="0"/>
                  </a:cubicBezTo>
                  <a:close/>
                </a:path>
              </a:pathLst>
            </a:custGeom>
            <a:solidFill>
              <a:srgbClr val="0D1D4B"/>
            </a:solidFill>
          </p:spPr>
        </p:sp>
        <p:sp>
          <p:nvSpPr>
            <p:cNvPr id="15" name="TextBox 15"/>
            <p:cNvSpPr txBox="1"/>
            <p:nvPr/>
          </p:nvSpPr>
          <p:spPr>
            <a:xfrm>
              <a:off x="0" y="-47625"/>
              <a:ext cx="1821220" cy="262044"/>
            </a:xfrm>
            <a:prstGeom prst="rect">
              <a:avLst/>
            </a:prstGeom>
          </p:spPr>
          <p:txBody>
            <a:bodyPr lIns="50800" tIns="50800" rIns="50800" bIns="50800" rtlCol="0" anchor="ctr"/>
            <a:lstStyle/>
            <a:p>
              <a:pPr algn="ctr">
                <a:lnSpc>
                  <a:spcPts val="2940"/>
                </a:lnSpc>
              </a:pPr>
              <a:endParaRPr/>
            </a:p>
          </p:txBody>
        </p:sp>
      </p:grpSp>
      <p:sp>
        <p:nvSpPr>
          <p:cNvPr id="16" name="TextBox 16"/>
          <p:cNvSpPr txBox="1"/>
          <p:nvPr/>
        </p:nvSpPr>
        <p:spPr>
          <a:xfrm>
            <a:off x="2915182" y="3345934"/>
            <a:ext cx="12457635" cy="2190750"/>
          </a:xfrm>
          <a:prstGeom prst="rect">
            <a:avLst/>
          </a:prstGeom>
        </p:spPr>
        <p:txBody>
          <a:bodyPr lIns="0" tIns="0" rIns="0" bIns="0" rtlCol="0" anchor="t">
            <a:spAutoFit/>
          </a:bodyPr>
          <a:lstStyle/>
          <a:p>
            <a:pPr algn="ctr">
              <a:lnSpc>
                <a:spcPts val="8640"/>
              </a:lnSpc>
            </a:pPr>
            <a:r>
              <a:rPr lang="en-US" sz="7200" b="1">
                <a:solidFill>
                  <a:srgbClr val="0C1D4B"/>
                </a:solidFill>
                <a:latin typeface="Montserrat Heavy"/>
                <a:ea typeface="Montserrat Heavy"/>
                <a:cs typeface="Montserrat Heavy"/>
                <a:sym typeface="Montserrat Heavy"/>
              </a:rPr>
              <a:t>CẢM ƠN THẦY CÔ VÀ CÁC BẠN ĐÃ LẮNG NGHE</a:t>
            </a:r>
          </a:p>
        </p:txBody>
      </p:sp>
      <p:sp>
        <p:nvSpPr>
          <p:cNvPr id="17" name="TextBox 17"/>
          <p:cNvSpPr txBox="1"/>
          <p:nvPr/>
        </p:nvSpPr>
        <p:spPr>
          <a:xfrm>
            <a:off x="6478371" y="6110641"/>
            <a:ext cx="5331258" cy="563881"/>
          </a:xfrm>
          <a:prstGeom prst="rect">
            <a:avLst/>
          </a:prstGeom>
        </p:spPr>
        <p:txBody>
          <a:bodyPr lIns="0" tIns="0" rIns="0" bIns="0" rtlCol="0" anchor="t">
            <a:spAutoFit/>
          </a:bodyPr>
          <a:lstStyle/>
          <a:p>
            <a:pPr algn="ctr">
              <a:lnSpc>
                <a:spcPts val="4619"/>
              </a:lnSpc>
            </a:pPr>
            <a:r>
              <a:rPr lang="en-US" sz="3299" b="1" spc="79">
                <a:solidFill>
                  <a:srgbClr val="FFFFFF"/>
                </a:solidFill>
                <a:latin typeface="DM Sans Bold"/>
                <a:ea typeface="DM Sans Bold"/>
                <a:cs typeface="DM Sans Bold"/>
                <a:sym typeface="DM Sans Bold"/>
              </a:rPr>
              <a:t>Thank you!</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05771"/>
            <a:ext cx="574347" cy="422929"/>
          </a:xfrm>
          <a:custGeom>
            <a:avLst/>
            <a:gdLst/>
            <a:ahLst/>
            <a:cxnLst/>
            <a:rect l="l" t="t" r="r" b="b"/>
            <a:pathLst>
              <a:path w="574347" h="422929">
                <a:moveTo>
                  <a:pt x="0" y="0"/>
                </a:moveTo>
                <a:lnTo>
                  <a:pt x="574347" y="0"/>
                </a:lnTo>
                <a:lnTo>
                  <a:pt x="574347" y="422929"/>
                </a:lnTo>
                <a:lnTo>
                  <a:pt x="0" y="4229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5686529" y="5681516"/>
            <a:ext cx="6914943" cy="814121"/>
            <a:chOff x="0" y="0"/>
            <a:chExt cx="1821220" cy="214419"/>
          </a:xfrm>
        </p:grpSpPr>
        <p:sp>
          <p:nvSpPr>
            <p:cNvPr id="4" name="Freeform 4"/>
            <p:cNvSpPr/>
            <p:nvPr/>
          </p:nvSpPr>
          <p:spPr>
            <a:xfrm>
              <a:off x="0" y="0"/>
              <a:ext cx="1821219" cy="214419"/>
            </a:xfrm>
            <a:custGeom>
              <a:avLst/>
              <a:gdLst/>
              <a:ahLst/>
              <a:cxnLst/>
              <a:rect l="l" t="t" r="r" b="b"/>
              <a:pathLst>
                <a:path w="1821219" h="214419">
                  <a:moveTo>
                    <a:pt x="31349" y="0"/>
                  </a:moveTo>
                  <a:lnTo>
                    <a:pt x="1789871" y="0"/>
                  </a:lnTo>
                  <a:cubicBezTo>
                    <a:pt x="1798185" y="0"/>
                    <a:pt x="1806159" y="3303"/>
                    <a:pt x="1812038" y="9182"/>
                  </a:cubicBezTo>
                  <a:cubicBezTo>
                    <a:pt x="1817917" y="15061"/>
                    <a:pt x="1821219" y="23034"/>
                    <a:pt x="1821219" y="31349"/>
                  </a:cubicBezTo>
                  <a:lnTo>
                    <a:pt x="1821219" y="183070"/>
                  </a:lnTo>
                  <a:cubicBezTo>
                    <a:pt x="1821219" y="200384"/>
                    <a:pt x="1807184" y="214419"/>
                    <a:pt x="1789871" y="214419"/>
                  </a:cubicBezTo>
                  <a:lnTo>
                    <a:pt x="31349" y="214419"/>
                  </a:lnTo>
                  <a:cubicBezTo>
                    <a:pt x="23034" y="214419"/>
                    <a:pt x="15061" y="211116"/>
                    <a:pt x="9182" y="205237"/>
                  </a:cubicBezTo>
                  <a:cubicBezTo>
                    <a:pt x="3303" y="199358"/>
                    <a:pt x="0" y="191384"/>
                    <a:pt x="0" y="183070"/>
                  </a:cubicBezTo>
                  <a:lnTo>
                    <a:pt x="0" y="31349"/>
                  </a:lnTo>
                  <a:cubicBezTo>
                    <a:pt x="0" y="14035"/>
                    <a:pt x="14035" y="0"/>
                    <a:pt x="31349" y="0"/>
                  </a:cubicBezTo>
                  <a:close/>
                </a:path>
              </a:pathLst>
            </a:custGeom>
            <a:solidFill>
              <a:srgbClr val="0D1D4B"/>
            </a:solidFill>
          </p:spPr>
        </p:sp>
        <p:sp>
          <p:nvSpPr>
            <p:cNvPr id="5" name="TextBox 5"/>
            <p:cNvSpPr txBox="1"/>
            <p:nvPr/>
          </p:nvSpPr>
          <p:spPr>
            <a:xfrm>
              <a:off x="0" y="-47625"/>
              <a:ext cx="1821220" cy="262044"/>
            </a:xfrm>
            <a:prstGeom prst="rect">
              <a:avLst/>
            </a:prstGeom>
          </p:spPr>
          <p:txBody>
            <a:bodyPr lIns="50800" tIns="50800" rIns="50800" bIns="50800" rtlCol="0" anchor="ctr"/>
            <a:lstStyle/>
            <a:p>
              <a:pPr algn="ctr">
                <a:lnSpc>
                  <a:spcPts val="2940"/>
                </a:lnSpc>
              </a:pPr>
              <a:endParaRPr/>
            </a:p>
          </p:txBody>
        </p:sp>
      </p:grpSp>
      <p:sp>
        <p:nvSpPr>
          <p:cNvPr id="6" name="Freeform 6"/>
          <p:cNvSpPr/>
          <p:nvPr/>
        </p:nvSpPr>
        <p:spPr>
          <a:xfrm>
            <a:off x="15569234" y="8449152"/>
            <a:ext cx="1052409" cy="263102"/>
          </a:xfrm>
          <a:custGeom>
            <a:avLst/>
            <a:gdLst/>
            <a:ahLst/>
            <a:cxnLst/>
            <a:rect l="l" t="t" r="r" b="b"/>
            <a:pathLst>
              <a:path w="1052409" h="263102">
                <a:moveTo>
                  <a:pt x="0" y="0"/>
                </a:moveTo>
                <a:lnTo>
                  <a:pt x="1052409" y="0"/>
                </a:lnTo>
                <a:lnTo>
                  <a:pt x="1052409" y="263102"/>
                </a:lnTo>
                <a:lnTo>
                  <a:pt x="0" y="2631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797799" y="679450"/>
            <a:ext cx="3726948" cy="365760"/>
          </a:xfrm>
          <a:prstGeom prst="rect">
            <a:avLst/>
          </a:prstGeom>
        </p:spPr>
        <p:txBody>
          <a:bodyPr lIns="0" tIns="0" rIns="0" bIns="0" rtlCol="0" anchor="t">
            <a:spAutoFit/>
          </a:bodyPr>
          <a:lstStyle/>
          <a:p>
            <a:pPr algn="l">
              <a:lnSpc>
                <a:spcPts val="2940"/>
              </a:lnSpc>
            </a:pPr>
            <a:r>
              <a:rPr lang="en-US" sz="2100" b="1">
                <a:solidFill>
                  <a:srgbClr val="0C1D4B"/>
                </a:solidFill>
                <a:latin typeface="DM Sans Bold"/>
                <a:ea typeface="DM Sans Bold"/>
                <a:cs typeface="DM Sans Bold"/>
                <a:sym typeface="DM Sans Bold"/>
              </a:rPr>
              <a:t>BORCELLE UNIVERSITY</a:t>
            </a:r>
          </a:p>
        </p:txBody>
      </p:sp>
      <p:sp>
        <p:nvSpPr>
          <p:cNvPr id="8" name="TextBox 8"/>
          <p:cNvSpPr txBox="1"/>
          <p:nvPr/>
        </p:nvSpPr>
        <p:spPr>
          <a:xfrm>
            <a:off x="14289678" y="679450"/>
            <a:ext cx="2969622" cy="365760"/>
          </a:xfrm>
          <a:prstGeom prst="rect">
            <a:avLst/>
          </a:prstGeom>
        </p:spPr>
        <p:txBody>
          <a:bodyPr lIns="0" tIns="0" rIns="0" bIns="0" rtlCol="0" anchor="t">
            <a:spAutoFit/>
          </a:bodyPr>
          <a:lstStyle/>
          <a:p>
            <a:pPr algn="r">
              <a:lnSpc>
                <a:spcPts val="2940"/>
              </a:lnSpc>
            </a:pPr>
            <a:r>
              <a:rPr lang="en-US" sz="2100" b="1" spc="50">
                <a:solidFill>
                  <a:srgbClr val="0C1D4B"/>
                </a:solidFill>
                <a:latin typeface="DM Sans Bold"/>
                <a:ea typeface="DM Sans Bold"/>
                <a:cs typeface="DM Sans Bold"/>
                <a:sym typeface="DM Sans Bold"/>
              </a:rPr>
              <a:t>INTERIOR DESIGN</a:t>
            </a:r>
          </a:p>
        </p:txBody>
      </p:sp>
      <p:sp>
        <p:nvSpPr>
          <p:cNvPr id="9" name="TextBox 9"/>
          <p:cNvSpPr txBox="1"/>
          <p:nvPr/>
        </p:nvSpPr>
        <p:spPr>
          <a:xfrm>
            <a:off x="3334264" y="3653648"/>
            <a:ext cx="11619472" cy="1604010"/>
          </a:xfrm>
          <a:prstGeom prst="rect">
            <a:avLst/>
          </a:prstGeom>
        </p:spPr>
        <p:txBody>
          <a:bodyPr lIns="0" tIns="0" rIns="0" bIns="0" rtlCol="0" anchor="t">
            <a:spAutoFit/>
          </a:bodyPr>
          <a:lstStyle/>
          <a:p>
            <a:pPr algn="ctr">
              <a:lnSpc>
                <a:spcPts val="12120"/>
              </a:lnSpc>
            </a:pPr>
            <a:r>
              <a:rPr lang="en-US" sz="12000" b="1">
                <a:solidFill>
                  <a:srgbClr val="0C1D4B"/>
                </a:solidFill>
                <a:latin typeface="Montserrat Heavy"/>
                <a:ea typeface="Montserrat Heavy"/>
                <a:cs typeface="Montserrat Heavy"/>
                <a:sym typeface="Montserrat Heavy"/>
              </a:rPr>
              <a:t>THANK YOU</a:t>
            </a:r>
          </a:p>
        </p:txBody>
      </p:sp>
      <p:sp>
        <p:nvSpPr>
          <p:cNvPr id="10" name="TextBox 10"/>
          <p:cNvSpPr txBox="1"/>
          <p:nvPr/>
        </p:nvSpPr>
        <p:spPr>
          <a:xfrm>
            <a:off x="6478371" y="5773299"/>
            <a:ext cx="5331258" cy="563881"/>
          </a:xfrm>
          <a:prstGeom prst="rect">
            <a:avLst/>
          </a:prstGeom>
        </p:spPr>
        <p:txBody>
          <a:bodyPr lIns="0" tIns="0" rIns="0" bIns="0" rtlCol="0" anchor="t">
            <a:spAutoFit/>
          </a:bodyPr>
          <a:lstStyle/>
          <a:p>
            <a:pPr algn="ctr">
              <a:lnSpc>
                <a:spcPts val="4619"/>
              </a:lnSpc>
            </a:pPr>
            <a:r>
              <a:rPr lang="en-US" sz="3299" b="1" spc="79">
                <a:solidFill>
                  <a:srgbClr val="FFFFFF"/>
                </a:solidFill>
                <a:latin typeface="DM Sans Bold"/>
                <a:ea typeface="DM Sans Bold"/>
                <a:cs typeface="DM Sans Bold"/>
                <a:sym typeface="DM Sans Bold"/>
              </a:rPr>
              <a:t>For your attention</a:t>
            </a:r>
          </a:p>
        </p:txBody>
      </p:sp>
      <p:sp>
        <p:nvSpPr>
          <p:cNvPr id="11" name="Freeform 11"/>
          <p:cNvSpPr/>
          <p:nvPr/>
        </p:nvSpPr>
        <p:spPr>
          <a:xfrm>
            <a:off x="1271595" y="1470063"/>
            <a:ext cx="1052409" cy="263102"/>
          </a:xfrm>
          <a:custGeom>
            <a:avLst/>
            <a:gdLst/>
            <a:ahLst/>
            <a:cxnLst/>
            <a:rect l="l" t="t" r="r" b="b"/>
            <a:pathLst>
              <a:path w="1052409" h="263102">
                <a:moveTo>
                  <a:pt x="0" y="0"/>
                </a:moveTo>
                <a:lnTo>
                  <a:pt x="1052408" y="0"/>
                </a:lnTo>
                <a:lnTo>
                  <a:pt x="1052408" y="263102"/>
                </a:lnTo>
                <a:lnTo>
                  <a:pt x="0" y="2631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2" name="Group 12"/>
          <p:cNvGrpSpPr/>
          <p:nvPr/>
        </p:nvGrpSpPr>
        <p:grpSpPr>
          <a:xfrm>
            <a:off x="-3127839" y="9258300"/>
            <a:ext cx="22035035" cy="3565748"/>
            <a:chOff x="0" y="0"/>
            <a:chExt cx="5803466" cy="939127"/>
          </a:xfrm>
        </p:grpSpPr>
        <p:sp>
          <p:nvSpPr>
            <p:cNvPr id="13" name="Freeform 13"/>
            <p:cNvSpPr/>
            <p:nvPr/>
          </p:nvSpPr>
          <p:spPr>
            <a:xfrm>
              <a:off x="0" y="0"/>
              <a:ext cx="5803466" cy="939127"/>
            </a:xfrm>
            <a:custGeom>
              <a:avLst/>
              <a:gdLst/>
              <a:ahLst/>
              <a:cxnLst/>
              <a:rect l="l" t="t" r="r" b="b"/>
              <a:pathLst>
                <a:path w="5803466" h="939127">
                  <a:moveTo>
                    <a:pt x="0" y="0"/>
                  </a:moveTo>
                  <a:lnTo>
                    <a:pt x="5803466" y="0"/>
                  </a:lnTo>
                  <a:lnTo>
                    <a:pt x="5803466" y="939127"/>
                  </a:lnTo>
                  <a:lnTo>
                    <a:pt x="0" y="939127"/>
                  </a:lnTo>
                  <a:close/>
                </a:path>
              </a:pathLst>
            </a:custGeom>
            <a:solidFill>
              <a:srgbClr val="3C4F75"/>
            </a:solidFill>
          </p:spPr>
        </p:sp>
        <p:sp>
          <p:nvSpPr>
            <p:cNvPr id="14" name="TextBox 14"/>
            <p:cNvSpPr txBox="1"/>
            <p:nvPr/>
          </p:nvSpPr>
          <p:spPr>
            <a:xfrm>
              <a:off x="0" y="-47625"/>
              <a:ext cx="5803466" cy="986752"/>
            </a:xfrm>
            <a:prstGeom prst="rect">
              <a:avLst/>
            </a:prstGeom>
          </p:spPr>
          <p:txBody>
            <a:bodyPr lIns="50800" tIns="50800" rIns="50800" bIns="50800" rtlCol="0" anchor="ctr"/>
            <a:lstStyle/>
            <a:p>
              <a:pPr algn="ctr">
                <a:lnSpc>
                  <a:spcPts val="2940"/>
                </a:lnSpc>
              </a:pPr>
              <a:endParaRPr/>
            </a:p>
          </p:txBody>
        </p:sp>
      </p:grpSp>
      <p:sp>
        <p:nvSpPr>
          <p:cNvPr id="15" name="TextBox 1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16" name="TextBox 16"/>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Montserrat"/>
                <a:ea typeface="Montserrat"/>
                <a:cs typeface="Montserrat"/>
                <a:sym typeface="Montserrat"/>
              </a:rPr>
              <a:t>33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grpSp>
        <p:nvGrpSpPr>
          <p:cNvPr id="5" name="Group 5"/>
          <p:cNvGrpSpPr/>
          <p:nvPr/>
        </p:nvGrpSpPr>
        <p:grpSpPr>
          <a:xfrm>
            <a:off x="4135752" y="4425482"/>
            <a:ext cx="10244442" cy="1436035"/>
            <a:chOff x="0" y="0"/>
            <a:chExt cx="2698125" cy="378215"/>
          </a:xfrm>
        </p:grpSpPr>
        <p:sp>
          <p:nvSpPr>
            <p:cNvPr id="6" name="Freeform 6"/>
            <p:cNvSpPr/>
            <p:nvPr/>
          </p:nvSpPr>
          <p:spPr>
            <a:xfrm>
              <a:off x="0" y="0"/>
              <a:ext cx="2698125" cy="378215"/>
            </a:xfrm>
            <a:custGeom>
              <a:avLst/>
              <a:gdLst/>
              <a:ahLst/>
              <a:cxnLst/>
              <a:rect l="l" t="t" r="r" b="b"/>
              <a:pathLst>
                <a:path w="2698125" h="378215">
                  <a:moveTo>
                    <a:pt x="21160" y="0"/>
                  </a:moveTo>
                  <a:lnTo>
                    <a:pt x="2676965" y="0"/>
                  </a:lnTo>
                  <a:cubicBezTo>
                    <a:pt x="2682577" y="0"/>
                    <a:pt x="2687959" y="2229"/>
                    <a:pt x="2691927" y="6198"/>
                  </a:cubicBezTo>
                  <a:cubicBezTo>
                    <a:pt x="2695896" y="10166"/>
                    <a:pt x="2698125" y="15548"/>
                    <a:pt x="2698125" y="21160"/>
                  </a:cubicBezTo>
                  <a:lnTo>
                    <a:pt x="2698125" y="357055"/>
                  </a:lnTo>
                  <a:cubicBezTo>
                    <a:pt x="2698125" y="362667"/>
                    <a:pt x="2695896" y="368049"/>
                    <a:pt x="2691927" y="372017"/>
                  </a:cubicBezTo>
                  <a:cubicBezTo>
                    <a:pt x="2687959" y="375986"/>
                    <a:pt x="2682577" y="378215"/>
                    <a:pt x="2676965" y="378215"/>
                  </a:cubicBezTo>
                  <a:lnTo>
                    <a:pt x="21160" y="378215"/>
                  </a:lnTo>
                  <a:cubicBezTo>
                    <a:pt x="15548" y="378215"/>
                    <a:pt x="10166" y="375986"/>
                    <a:pt x="6198" y="372017"/>
                  </a:cubicBezTo>
                  <a:cubicBezTo>
                    <a:pt x="2229" y="368049"/>
                    <a:pt x="0" y="362667"/>
                    <a:pt x="0" y="357055"/>
                  </a:cubicBezTo>
                  <a:lnTo>
                    <a:pt x="0" y="21160"/>
                  </a:lnTo>
                  <a:cubicBezTo>
                    <a:pt x="0" y="15548"/>
                    <a:pt x="2229" y="10166"/>
                    <a:pt x="6198" y="6198"/>
                  </a:cubicBezTo>
                  <a:cubicBezTo>
                    <a:pt x="10166" y="2229"/>
                    <a:pt x="15548" y="0"/>
                    <a:pt x="21160" y="0"/>
                  </a:cubicBezTo>
                  <a:close/>
                </a:path>
              </a:pathLst>
            </a:custGeom>
            <a:solidFill>
              <a:srgbClr val="000000">
                <a:alpha val="0"/>
              </a:srgbClr>
            </a:solidFill>
            <a:ln w="38100" cap="rnd">
              <a:solidFill>
                <a:srgbClr val="0D1D4B"/>
              </a:solidFill>
              <a:prstDash val="solid"/>
              <a:round/>
            </a:ln>
          </p:spPr>
        </p:sp>
        <p:sp>
          <p:nvSpPr>
            <p:cNvPr id="7" name="TextBox 7"/>
            <p:cNvSpPr txBox="1"/>
            <p:nvPr/>
          </p:nvSpPr>
          <p:spPr>
            <a:xfrm>
              <a:off x="0" y="-47625"/>
              <a:ext cx="2698125" cy="425840"/>
            </a:xfrm>
            <a:prstGeom prst="rect">
              <a:avLst/>
            </a:prstGeom>
          </p:spPr>
          <p:txBody>
            <a:bodyPr lIns="50800" tIns="50800" rIns="50800" bIns="50800" rtlCol="0" anchor="ctr"/>
            <a:lstStyle/>
            <a:p>
              <a:pPr algn="ctr">
                <a:lnSpc>
                  <a:spcPts val="2940"/>
                </a:lnSpc>
              </a:pPr>
              <a:endParaRPr/>
            </a:p>
          </p:txBody>
        </p:sp>
      </p:grpSp>
      <p:sp>
        <p:nvSpPr>
          <p:cNvPr id="8" name="TextBox 8"/>
          <p:cNvSpPr txBox="1"/>
          <p:nvPr/>
        </p:nvSpPr>
        <p:spPr>
          <a:xfrm>
            <a:off x="4135752" y="4876038"/>
            <a:ext cx="10016496" cy="630174"/>
          </a:xfrm>
          <a:prstGeom prst="rect">
            <a:avLst/>
          </a:prstGeom>
        </p:spPr>
        <p:txBody>
          <a:bodyPr lIns="0" tIns="0" rIns="0" bIns="0" rtlCol="0" anchor="t">
            <a:spAutoFit/>
          </a:bodyPr>
          <a:lstStyle/>
          <a:p>
            <a:pPr algn="ctr">
              <a:lnSpc>
                <a:spcPts val="4848"/>
              </a:lnSpc>
            </a:pPr>
            <a:r>
              <a:rPr lang="en-US" sz="4800" b="1">
                <a:solidFill>
                  <a:srgbClr val="0C1D4B"/>
                </a:solidFill>
                <a:latin typeface="Montserrat Heavy"/>
                <a:ea typeface="Montserrat Heavy"/>
                <a:cs typeface="Montserrat Heavy"/>
                <a:sym typeface="Montserrat Heavy"/>
              </a:rPr>
              <a:t>PHỤ LỤC</a:t>
            </a:r>
          </a:p>
        </p:txBody>
      </p:sp>
      <p:sp>
        <p:nvSpPr>
          <p:cNvPr id="9" name="Freeform 9"/>
          <p:cNvSpPr/>
          <p:nvPr/>
        </p:nvSpPr>
        <p:spPr>
          <a:xfrm>
            <a:off x="15569234" y="8449152"/>
            <a:ext cx="1052409" cy="263102"/>
          </a:xfrm>
          <a:custGeom>
            <a:avLst/>
            <a:gdLst/>
            <a:ahLst/>
            <a:cxnLst/>
            <a:rect l="l" t="t" r="r" b="b"/>
            <a:pathLst>
              <a:path w="1052409" h="263102">
                <a:moveTo>
                  <a:pt x="0" y="0"/>
                </a:moveTo>
                <a:lnTo>
                  <a:pt x="1052409" y="0"/>
                </a:lnTo>
                <a:lnTo>
                  <a:pt x="1052409" y="263102"/>
                </a:lnTo>
                <a:lnTo>
                  <a:pt x="0" y="2631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5"/>
            <a:stretch>
              <a:fillRect/>
            </a:stretch>
          </a:blipFill>
        </p:spPr>
      </p:sp>
      <p:grpSp>
        <p:nvGrpSpPr>
          <p:cNvPr id="11" name="Group 11"/>
          <p:cNvGrpSpPr/>
          <p:nvPr/>
        </p:nvGrpSpPr>
        <p:grpSpPr>
          <a:xfrm>
            <a:off x="-3127839" y="9429370"/>
            <a:ext cx="22035035" cy="3394679"/>
            <a:chOff x="0" y="0"/>
            <a:chExt cx="29380046" cy="4526239"/>
          </a:xfrm>
        </p:grpSpPr>
        <p:grpSp>
          <p:nvGrpSpPr>
            <p:cNvPr id="12" name="Group 12"/>
            <p:cNvGrpSpPr/>
            <p:nvPr/>
          </p:nvGrpSpPr>
          <p:grpSpPr>
            <a:xfrm>
              <a:off x="0" y="954681"/>
              <a:ext cx="29380046" cy="3571558"/>
              <a:chOff x="0" y="0"/>
              <a:chExt cx="5803466" cy="705493"/>
            </a:xfrm>
          </p:grpSpPr>
          <p:sp>
            <p:nvSpPr>
              <p:cNvPr id="13" name="Freeform 13"/>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4" name="TextBox 14"/>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5" name="Freeform 15"/>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5"/>
              <a:stretch>
                <a:fillRect/>
              </a:stretch>
            </a:blipFill>
          </p:spPr>
        </p:sp>
      </p:grpSp>
      <p:sp>
        <p:nvSpPr>
          <p:cNvPr id="16" name="TextBox 16"/>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35</a:t>
            </a:r>
          </a:p>
        </p:txBody>
      </p:sp>
      <p:sp>
        <p:nvSpPr>
          <p:cNvPr id="13" name="TextBox 13"/>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Phụ lục 1: PROMPT sử dụng trong hệ thống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5846" y="434975"/>
            <a:ext cx="5042638" cy="603250"/>
            <a:chOff x="0" y="0"/>
            <a:chExt cx="6723518" cy="804333"/>
          </a:xfrm>
        </p:grpSpPr>
        <p:sp>
          <p:nvSpPr>
            <p:cNvPr id="3" name="TextBox 3"/>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4" name="Freeform 4"/>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sp>
        <p:nvSpPr>
          <p:cNvPr id="5" name="TextBox 5"/>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6" name="Freeform 6"/>
          <p:cNvSpPr/>
          <p:nvPr/>
        </p:nvSpPr>
        <p:spPr>
          <a:xfrm rot="-10800000">
            <a:off x="17259300" y="-233821"/>
            <a:ext cx="1940841" cy="970421"/>
          </a:xfrm>
          <a:custGeom>
            <a:avLst/>
            <a:gdLst/>
            <a:ahLst/>
            <a:cxnLst/>
            <a:rect l="l" t="t" r="r" b="b"/>
            <a:pathLst>
              <a:path w="1940841" h="970421">
                <a:moveTo>
                  <a:pt x="0" y="0"/>
                </a:moveTo>
                <a:lnTo>
                  <a:pt x="1940841" y="0"/>
                </a:lnTo>
                <a:lnTo>
                  <a:pt x="1940841" y="970421"/>
                </a:lnTo>
                <a:lnTo>
                  <a:pt x="0" y="970421"/>
                </a:lnTo>
                <a:lnTo>
                  <a:pt x="0" y="0"/>
                </a:lnTo>
                <a:close/>
              </a:path>
            </a:pathLst>
          </a:custGeom>
          <a:blipFill>
            <a:blip r:embed="rId3"/>
            <a:stretch>
              <a:fillRect/>
            </a:stretch>
          </a:blipFill>
        </p:spPr>
      </p:sp>
      <p:grpSp>
        <p:nvGrpSpPr>
          <p:cNvPr id="7" name="Group 7"/>
          <p:cNvGrpSpPr/>
          <p:nvPr/>
        </p:nvGrpSpPr>
        <p:grpSpPr>
          <a:xfrm>
            <a:off x="-3158965" y="9357593"/>
            <a:ext cx="22035035" cy="3394679"/>
            <a:chOff x="0" y="0"/>
            <a:chExt cx="29380046" cy="4526239"/>
          </a:xfrm>
        </p:grpSpPr>
        <p:grpSp>
          <p:nvGrpSpPr>
            <p:cNvPr id="8" name="Group 8"/>
            <p:cNvGrpSpPr/>
            <p:nvPr/>
          </p:nvGrpSpPr>
          <p:grpSpPr>
            <a:xfrm>
              <a:off x="0" y="954681"/>
              <a:ext cx="29380046" cy="3571558"/>
              <a:chOff x="0" y="0"/>
              <a:chExt cx="5803466" cy="705493"/>
            </a:xfrm>
          </p:grpSpPr>
          <p:sp>
            <p:nvSpPr>
              <p:cNvPr id="9" name="Freeform 9"/>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10" name="TextBox 10"/>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2954264" y="0"/>
              <a:ext cx="2587788" cy="1293894"/>
            </a:xfrm>
            <a:custGeom>
              <a:avLst/>
              <a:gdLst/>
              <a:ahLst/>
              <a:cxnLst/>
              <a:rect l="l" t="t" r="r" b="b"/>
              <a:pathLst>
                <a:path w="2587788" h="1293894">
                  <a:moveTo>
                    <a:pt x="0" y="0"/>
                  </a:moveTo>
                  <a:lnTo>
                    <a:pt x="2587788" y="0"/>
                  </a:lnTo>
                  <a:lnTo>
                    <a:pt x="2587788" y="1293894"/>
                  </a:lnTo>
                  <a:lnTo>
                    <a:pt x="0" y="1293894"/>
                  </a:lnTo>
                  <a:lnTo>
                    <a:pt x="0" y="0"/>
                  </a:lnTo>
                  <a:close/>
                </a:path>
              </a:pathLst>
            </a:custGeom>
            <a:blipFill>
              <a:blip r:embed="rId3"/>
              <a:stretch>
                <a:fillRect/>
              </a:stretch>
            </a:blipFill>
          </p:spPr>
        </p:sp>
      </p:grpSp>
      <p:sp>
        <p:nvSpPr>
          <p:cNvPr id="12" name="TextBox 1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36</a:t>
            </a:r>
          </a:p>
        </p:txBody>
      </p:sp>
      <p:sp>
        <p:nvSpPr>
          <p:cNvPr id="13" name="TextBox 13"/>
          <p:cNvSpPr txBox="1"/>
          <p:nvPr/>
        </p:nvSpPr>
        <p:spPr>
          <a:xfrm>
            <a:off x="1028700" y="1593214"/>
            <a:ext cx="16230600" cy="525145"/>
          </a:xfrm>
          <a:prstGeom prst="rect">
            <a:avLst/>
          </a:prstGeom>
        </p:spPr>
        <p:txBody>
          <a:bodyPr lIns="0" tIns="0" rIns="0" bIns="0" rtlCol="0" anchor="t">
            <a:spAutoFit/>
          </a:bodyPr>
          <a:lstStyle/>
          <a:p>
            <a:pPr algn="just">
              <a:lnSpc>
                <a:spcPts val="4039"/>
              </a:lnSpc>
            </a:pPr>
            <a:r>
              <a:rPr lang="en-US" sz="3999" b="1">
                <a:solidFill>
                  <a:srgbClr val="0C1D4B"/>
                </a:solidFill>
                <a:latin typeface="Montserrat Heavy"/>
                <a:ea typeface="Montserrat Heavy"/>
                <a:cs typeface="Montserrat Heavy"/>
                <a:sym typeface="Montserrat Heavy"/>
              </a:rPr>
              <a:t>Phụ lục 2: Các câu hỏi thường gặp</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089923" y="7630724"/>
            <a:ext cx="1433734" cy="546735"/>
          </a:xfrm>
          <a:prstGeom prst="rect">
            <a:avLst/>
          </a:prstGeom>
        </p:spPr>
        <p:txBody>
          <a:bodyPr lIns="0" tIns="0" rIns="0" bIns="0" rtlCol="0" anchor="t">
            <a:spAutoFit/>
          </a:bodyPr>
          <a:lstStyle/>
          <a:p>
            <a:pPr algn="just">
              <a:lnSpc>
                <a:spcPts val="4800"/>
              </a:lnSpc>
            </a:pPr>
            <a:r>
              <a:rPr lang="en-US" sz="2400">
                <a:solidFill>
                  <a:srgbClr val="0C1D4B"/>
                </a:solidFill>
                <a:latin typeface="Montserrat"/>
                <a:ea typeface="Montserrat"/>
                <a:cs typeface="Montserrat"/>
                <a:sym typeface="Montserrat"/>
              </a:rPr>
              <a:t>Leaf</a:t>
            </a:r>
          </a:p>
        </p:txBody>
      </p:sp>
      <p:grpSp>
        <p:nvGrpSpPr>
          <p:cNvPr id="3" name="Group 3"/>
          <p:cNvGrpSpPr/>
          <p:nvPr/>
        </p:nvGrpSpPr>
        <p:grpSpPr>
          <a:xfrm>
            <a:off x="705846" y="434975"/>
            <a:ext cx="5042638" cy="603250"/>
            <a:chOff x="0" y="0"/>
            <a:chExt cx="6723518" cy="804333"/>
          </a:xfrm>
        </p:grpSpPr>
        <p:sp>
          <p:nvSpPr>
            <p:cNvPr id="4" name="TextBox 4"/>
            <p:cNvSpPr txBox="1"/>
            <p:nvPr/>
          </p:nvSpPr>
          <p:spPr>
            <a:xfrm>
              <a:off x="1043867" y="151977"/>
              <a:ext cx="5679650" cy="462280"/>
            </a:xfrm>
            <a:prstGeom prst="rect">
              <a:avLst/>
            </a:prstGeom>
          </p:spPr>
          <p:txBody>
            <a:bodyPr lIns="0" tIns="0" rIns="0" bIns="0" rtlCol="0" anchor="t">
              <a:spAutoFit/>
            </a:bodyPr>
            <a:lstStyle/>
            <a:p>
              <a:pPr algn="l">
                <a:lnSpc>
                  <a:spcPts val="2940"/>
                </a:lnSpc>
              </a:pPr>
              <a:r>
                <a:rPr lang="en-US" sz="2100" b="1">
                  <a:solidFill>
                    <a:srgbClr val="2C2C2C"/>
                  </a:solidFill>
                  <a:latin typeface="Montserrat Bold"/>
                  <a:ea typeface="Montserrat Bold"/>
                  <a:cs typeface="Montserrat Bold"/>
                  <a:sym typeface="Montserrat Bold"/>
                </a:rPr>
                <a:t>HỌC VIỆN KỸ THUẬT MẬT MÃ</a:t>
              </a:r>
            </a:p>
          </p:txBody>
        </p:sp>
        <p:sp>
          <p:nvSpPr>
            <p:cNvPr id="5" name="Freeform 5"/>
            <p:cNvSpPr/>
            <p:nvPr/>
          </p:nvSpPr>
          <p:spPr>
            <a:xfrm>
              <a:off x="0" y="0"/>
              <a:ext cx="819444" cy="804333"/>
            </a:xfrm>
            <a:custGeom>
              <a:avLst/>
              <a:gdLst/>
              <a:ahLst/>
              <a:cxnLst/>
              <a:rect l="l" t="t" r="r" b="b"/>
              <a:pathLst>
                <a:path w="819444" h="804333">
                  <a:moveTo>
                    <a:pt x="0" y="0"/>
                  </a:moveTo>
                  <a:lnTo>
                    <a:pt x="819444" y="0"/>
                  </a:lnTo>
                  <a:lnTo>
                    <a:pt x="819444" y="804333"/>
                  </a:lnTo>
                  <a:lnTo>
                    <a:pt x="0" y="804333"/>
                  </a:lnTo>
                  <a:lnTo>
                    <a:pt x="0" y="0"/>
                  </a:lnTo>
                  <a:close/>
                </a:path>
              </a:pathLst>
            </a:custGeom>
            <a:blipFill>
              <a:blip r:embed="rId2"/>
              <a:stretch>
                <a:fillRect t="-295" b="-1201"/>
              </a:stretch>
            </a:blipFill>
          </p:spPr>
        </p:sp>
      </p:grpSp>
      <p:grpSp>
        <p:nvGrpSpPr>
          <p:cNvPr id="6" name="Group 6"/>
          <p:cNvGrpSpPr/>
          <p:nvPr/>
        </p:nvGrpSpPr>
        <p:grpSpPr>
          <a:xfrm>
            <a:off x="-3127839" y="10145380"/>
            <a:ext cx="22035035" cy="2678668"/>
            <a:chOff x="0" y="0"/>
            <a:chExt cx="5803466" cy="705493"/>
          </a:xfrm>
        </p:grpSpPr>
        <p:sp>
          <p:nvSpPr>
            <p:cNvPr id="7" name="Freeform 7"/>
            <p:cNvSpPr/>
            <p:nvPr/>
          </p:nvSpPr>
          <p:spPr>
            <a:xfrm>
              <a:off x="0" y="0"/>
              <a:ext cx="5803466" cy="705493"/>
            </a:xfrm>
            <a:custGeom>
              <a:avLst/>
              <a:gdLst/>
              <a:ahLst/>
              <a:cxnLst/>
              <a:rect l="l" t="t" r="r" b="b"/>
              <a:pathLst>
                <a:path w="5803466" h="705493">
                  <a:moveTo>
                    <a:pt x="0" y="0"/>
                  </a:moveTo>
                  <a:lnTo>
                    <a:pt x="5803466" y="0"/>
                  </a:lnTo>
                  <a:lnTo>
                    <a:pt x="5803466" y="705493"/>
                  </a:lnTo>
                  <a:lnTo>
                    <a:pt x="0" y="705493"/>
                  </a:lnTo>
                  <a:close/>
                </a:path>
              </a:pathLst>
            </a:custGeom>
            <a:solidFill>
              <a:srgbClr val="3C4F75"/>
            </a:solidFill>
          </p:spPr>
        </p:sp>
        <p:sp>
          <p:nvSpPr>
            <p:cNvPr id="8" name="TextBox 8"/>
            <p:cNvSpPr txBox="1"/>
            <p:nvPr/>
          </p:nvSpPr>
          <p:spPr>
            <a:xfrm>
              <a:off x="0" y="-47625"/>
              <a:ext cx="5803466" cy="753118"/>
            </a:xfrm>
            <a:prstGeom prst="rect">
              <a:avLst/>
            </a:prstGeom>
          </p:spPr>
          <p:txBody>
            <a:bodyPr lIns="50800" tIns="50800" rIns="50800" bIns="50800" rtlCol="0" anchor="ctr"/>
            <a:lstStyle/>
            <a:p>
              <a:pPr algn="ctr">
                <a:lnSpc>
                  <a:spcPts val="2940"/>
                </a:lnSpc>
              </a:pPr>
              <a:endParaRPr/>
            </a:p>
          </p:txBody>
        </p:sp>
      </p:grpSp>
      <p:grpSp>
        <p:nvGrpSpPr>
          <p:cNvPr id="9" name="Group 9"/>
          <p:cNvGrpSpPr/>
          <p:nvPr/>
        </p:nvGrpSpPr>
        <p:grpSpPr>
          <a:xfrm>
            <a:off x="9144000" y="736600"/>
            <a:ext cx="6914943" cy="814121"/>
            <a:chOff x="0" y="0"/>
            <a:chExt cx="1821220" cy="214419"/>
          </a:xfrm>
        </p:grpSpPr>
        <p:sp>
          <p:nvSpPr>
            <p:cNvPr id="10" name="Freeform 10"/>
            <p:cNvSpPr/>
            <p:nvPr/>
          </p:nvSpPr>
          <p:spPr>
            <a:xfrm>
              <a:off x="0" y="0"/>
              <a:ext cx="1821219" cy="214419"/>
            </a:xfrm>
            <a:custGeom>
              <a:avLst/>
              <a:gdLst/>
              <a:ahLst/>
              <a:cxnLst/>
              <a:rect l="l" t="t" r="r" b="b"/>
              <a:pathLst>
                <a:path w="1821219" h="214419">
                  <a:moveTo>
                    <a:pt x="31349" y="0"/>
                  </a:moveTo>
                  <a:lnTo>
                    <a:pt x="1789871" y="0"/>
                  </a:lnTo>
                  <a:cubicBezTo>
                    <a:pt x="1798185" y="0"/>
                    <a:pt x="1806159" y="3303"/>
                    <a:pt x="1812038" y="9182"/>
                  </a:cubicBezTo>
                  <a:cubicBezTo>
                    <a:pt x="1817917" y="15061"/>
                    <a:pt x="1821219" y="23034"/>
                    <a:pt x="1821219" y="31349"/>
                  </a:cubicBezTo>
                  <a:lnTo>
                    <a:pt x="1821219" y="183070"/>
                  </a:lnTo>
                  <a:cubicBezTo>
                    <a:pt x="1821219" y="200384"/>
                    <a:pt x="1807184" y="214419"/>
                    <a:pt x="1789871" y="214419"/>
                  </a:cubicBezTo>
                  <a:lnTo>
                    <a:pt x="31349" y="214419"/>
                  </a:lnTo>
                  <a:cubicBezTo>
                    <a:pt x="23034" y="214419"/>
                    <a:pt x="15061" y="211116"/>
                    <a:pt x="9182" y="205237"/>
                  </a:cubicBezTo>
                  <a:cubicBezTo>
                    <a:pt x="3303" y="199358"/>
                    <a:pt x="0" y="191384"/>
                    <a:pt x="0" y="183070"/>
                  </a:cubicBezTo>
                  <a:lnTo>
                    <a:pt x="0" y="31349"/>
                  </a:lnTo>
                  <a:cubicBezTo>
                    <a:pt x="0" y="14035"/>
                    <a:pt x="14035" y="0"/>
                    <a:pt x="31349" y="0"/>
                  </a:cubicBezTo>
                  <a:close/>
                </a:path>
              </a:pathLst>
            </a:custGeom>
            <a:solidFill>
              <a:srgbClr val="0D1D4B"/>
            </a:solidFill>
          </p:spPr>
        </p:sp>
        <p:sp>
          <p:nvSpPr>
            <p:cNvPr id="11" name="TextBox 11"/>
            <p:cNvSpPr txBox="1"/>
            <p:nvPr/>
          </p:nvSpPr>
          <p:spPr>
            <a:xfrm>
              <a:off x="0" y="-47625"/>
              <a:ext cx="1821220" cy="262044"/>
            </a:xfrm>
            <a:prstGeom prst="rect">
              <a:avLst/>
            </a:prstGeom>
          </p:spPr>
          <p:txBody>
            <a:bodyPr lIns="50800" tIns="50800" rIns="50800" bIns="50800" rtlCol="0" anchor="ctr"/>
            <a:lstStyle/>
            <a:p>
              <a:pPr algn="ctr">
                <a:lnSpc>
                  <a:spcPts val="2940"/>
                </a:lnSpc>
              </a:pPr>
              <a:endParaRPr/>
            </a:p>
          </p:txBody>
        </p:sp>
      </p:grpSp>
      <p:grpSp>
        <p:nvGrpSpPr>
          <p:cNvPr id="12" name="Group 12"/>
          <p:cNvGrpSpPr/>
          <p:nvPr/>
        </p:nvGrpSpPr>
        <p:grpSpPr>
          <a:xfrm>
            <a:off x="9191015" y="3327456"/>
            <a:ext cx="6914943" cy="814121"/>
            <a:chOff x="0" y="0"/>
            <a:chExt cx="1821220" cy="214419"/>
          </a:xfrm>
        </p:grpSpPr>
        <p:sp>
          <p:nvSpPr>
            <p:cNvPr id="13" name="Freeform 13"/>
            <p:cNvSpPr/>
            <p:nvPr/>
          </p:nvSpPr>
          <p:spPr>
            <a:xfrm>
              <a:off x="0" y="0"/>
              <a:ext cx="1821219" cy="214419"/>
            </a:xfrm>
            <a:custGeom>
              <a:avLst/>
              <a:gdLst/>
              <a:ahLst/>
              <a:cxnLst/>
              <a:rect l="l" t="t" r="r" b="b"/>
              <a:pathLst>
                <a:path w="1821219" h="214419">
                  <a:moveTo>
                    <a:pt x="31349" y="0"/>
                  </a:moveTo>
                  <a:lnTo>
                    <a:pt x="1789871" y="0"/>
                  </a:lnTo>
                  <a:cubicBezTo>
                    <a:pt x="1798185" y="0"/>
                    <a:pt x="1806159" y="3303"/>
                    <a:pt x="1812038" y="9182"/>
                  </a:cubicBezTo>
                  <a:cubicBezTo>
                    <a:pt x="1817917" y="15061"/>
                    <a:pt x="1821219" y="23034"/>
                    <a:pt x="1821219" y="31349"/>
                  </a:cubicBezTo>
                  <a:lnTo>
                    <a:pt x="1821219" y="183070"/>
                  </a:lnTo>
                  <a:cubicBezTo>
                    <a:pt x="1821219" y="200384"/>
                    <a:pt x="1807184" y="214419"/>
                    <a:pt x="1789871" y="214419"/>
                  </a:cubicBezTo>
                  <a:lnTo>
                    <a:pt x="31349" y="214419"/>
                  </a:lnTo>
                  <a:cubicBezTo>
                    <a:pt x="23034" y="214419"/>
                    <a:pt x="15061" y="211116"/>
                    <a:pt x="9182" y="205237"/>
                  </a:cubicBezTo>
                  <a:cubicBezTo>
                    <a:pt x="3303" y="199358"/>
                    <a:pt x="0" y="191384"/>
                    <a:pt x="0" y="183070"/>
                  </a:cubicBezTo>
                  <a:lnTo>
                    <a:pt x="0" y="31349"/>
                  </a:lnTo>
                  <a:cubicBezTo>
                    <a:pt x="0" y="14035"/>
                    <a:pt x="14035" y="0"/>
                    <a:pt x="31349" y="0"/>
                  </a:cubicBezTo>
                  <a:close/>
                </a:path>
              </a:pathLst>
            </a:custGeom>
            <a:solidFill>
              <a:srgbClr val="000000">
                <a:alpha val="0"/>
              </a:srgbClr>
            </a:solidFill>
            <a:ln w="38100" cap="rnd">
              <a:solidFill>
                <a:srgbClr val="0D1D4B"/>
              </a:solidFill>
              <a:prstDash val="solid"/>
              <a:round/>
            </a:ln>
          </p:spPr>
        </p:sp>
        <p:sp>
          <p:nvSpPr>
            <p:cNvPr id="14" name="TextBox 14"/>
            <p:cNvSpPr txBox="1"/>
            <p:nvPr/>
          </p:nvSpPr>
          <p:spPr>
            <a:xfrm>
              <a:off x="0" y="-47625"/>
              <a:ext cx="1821220" cy="262044"/>
            </a:xfrm>
            <a:prstGeom prst="rect">
              <a:avLst/>
            </a:prstGeom>
          </p:spPr>
          <p:txBody>
            <a:bodyPr lIns="50800" tIns="50800" rIns="50800" bIns="50800" rtlCol="0" anchor="ctr"/>
            <a:lstStyle/>
            <a:p>
              <a:pPr algn="ctr">
                <a:lnSpc>
                  <a:spcPts val="2940"/>
                </a:lnSpc>
              </a:pPr>
              <a:endParaRPr/>
            </a:p>
          </p:txBody>
        </p:sp>
      </p:grpSp>
      <p:grpSp>
        <p:nvGrpSpPr>
          <p:cNvPr id="15" name="Group 15"/>
          <p:cNvGrpSpPr/>
          <p:nvPr/>
        </p:nvGrpSpPr>
        <p:grpSpPr>
          <a:xfrm>
            <a:off x="9191015" y="2121837"/>
            <a:ext cx="6914943" cy="814121"/>
            <a:chOff x="0" y="0"/>
            <a:chExt cx="1821220" cy="214419"/>
          </a:xfrm>
        </p:grpSpPr>
        <p:sp>
          <p:nvSpPr>
            <p:cNvPr id="16" name="Freeform 16"/>
            <p:cNvSpPr/>
            <p:nvPr/>
          </p:nvSpPr>
          <p:spPr>
            <a:xfrm>
              <a:off x="0" y="0"/>
              <a:ext cx="1821219" cy="214419"/>
            </a:xfrm>
            <a:custGeom>
              <a:avLst/>
              <a:gdLst/>
              <a:ahLst/>
              <a:cxnLst/>
              <a:rect l="l" t="t" r="r" b="b"/>
              <a:pathLst>
                <a:path w="1821219" h="214419">
                  <a:moveTo>
                    <a:pt x="31349" y="0"/>
                  </a:moveTo>
                  <a:lnTo>
                    <a:pt x="1789871" y="0"/>
                  </a:lnTo>
                  <a:cubicBezTo>
                    <a:pt x="1798185" y="0"/>
                    <a:pt x="1806159" y="3303"/>
                    <a:pt x="1812038" y="9182"/>
                  </a:cubicBezTo>
                  <a:cubicBezTo>
                    <a:pt x="1817917" y="15061"/>
                    <a:pt x="1821219" y="23034"/>
                    <a:pt x="1821219" y="31349"/>
                  </a:cubicBezTo>
                  <a:lnTo>
                    <a:pt x="1821219" y="183070"/>
                  </a:lnTo>
                  <a:cubicBezTo>
                    <a:pt x="1821219" y="200384"/>
                    <a:pt x="1807184" y="214419"/>
                    <a:pt x="1789871" y="214419"/>
                  </a:cubicBezTo>
                  <a:lnTo>
                    <a:pt x="31349" y="214419"/>
                  </a:lnTo>
                  <a:cubicBezTo>
                    <a:pt x="23034" y="214419"/>
                    <a:pt x="15061" y="211116"/>
                    <a:pt x="9182" y="205237"/>
                  </a:cubicBezTo>
                  <a:cubicBezTo>
                    <a:pt x="3303" y="199358"/>
                    <a:pt x="0" y="191384"/>
                    <a:pt x="0" y="183070"/>
                  </a:cubicBezTo>
                  <a:lnTo>
                    <a:pt x="0" y="31349"/>
                  </a:lnTo>
                  <a:cubicBezTo>
                    <a:pt x="0" y="14035"/>
                    <a:pt x="14035" y="0"/>
                    <a:pt x="31349" y="0"/>
                  </a:cubicBezTo>
                  <a:close/>
                </a:path>
              </a:pathLst>
            </a:custGeom>
            <a:solidFill>
              <a:srgbClr val="173996"/>
            </a:solidFill>
          </p:spPr>
        </p:sp>
        <p:sp>
          <p:nvSpPr>
            <p:cNvPr id="17" name="TextBox 17"/>
            <p:cNvSpPr txBox="1"/>
            <p:nvPr/>
          </p:nvSpPr>
          <p:spPr>
            <a:xfrm>
              <a:off x="0" y="-47625"/>
              <a:ext cx="1821220" cy="262044"/>
            </a:xfrm>
            <a:prstGeom prst="rect">
              <a:avLst/>
            </a:prstGeom>
          </p:spPr>
          <p:txBody>
            <a:bodyPr lIns="50800" tIns="50800" rIns="50800" bIns="50800" rtlCol="0" anchor="ctr"/>
            <a:lstStyle/>
            <a:p>
              <a:pPr algn="ctr">
                <a:lnSpc>
                  <a:spcPts val="2940"/>
                </a:lnSpc>
              </a:pPr>
              <a:endParaRPr/>
            </a:p>
          </p:txBody>
        </p:sp>
      </p:grpSp>
      <p:sp>
        <p:nvSpPr>
          <p:cNvPr id="18" name="AutoShape 18"/>
          <p:cNvSpPr/>
          <p:nvPr/>
        </p:nvSpPr>
        <p:spPr>
          <a:xfrm>
            <a:off x="705846" y="6094173"/>
            <a:ext cx="6492240" cy="0"/>
          </a:xfrm>
          <a:prstGeom prst="line">
            <a:avLst/>
          </a:prstGeom>
          <a:ln w="38100" cap="flat">
            <a:solidFill>
              <a:srgbClr val="0D1D4B"/>
            </a:solidFill>
            <a:prstDash val="solid"/>
            <a:headEnd type="none" w="sm" len="sm"/>
            <a:tailEnd type="none" w="sm" len="sm"/>
          </a:ln>
        </p:spPr>
      </p:sp>
      <p:sp>
        <p:nvSpPr>
          <p:cNvPr id="19" name="AutoShape 19"/>
          <p:cNvSpPr/>
          <p:nvPr/>
        </p:nvSpPr>
        <p:spPr>
          <a:xfrm>
            <a:off x="14613858" y="7285718"/>
            <a:ext cx="1538788" cy="576120"/>
          </a:xfrm>
          <a:prstGeom prst="line">
            <a:avLst/>
          </a:prstGeom>
          <a:ln w="38100" cap="flat">
            <a:solidFill>
              <a:srgbClr val="0D1D4B"/>
            </a:solidFill>
            <a:prstDash val="solid"/>
            <a:headEnd type="none" w="sm" len="sm"/>
            <a:tailEnd type="none" w="sm" len="sm"/>
          </a:ln>
        </p:spPr>
      </p:sp>
      <p:sp>
        <p:nvSpPr>
          <p:cNvPr id="20" name="AutoShape 20"/>
          <p:cNvSpPr/>
          <p:nvPr/>
        </p:nvSpPr>
        <p:spPr>
          <a:xfrm>
            <a:off x="722637" y="7062363"/>
            <a:ext cx="6492240" cy="0"/>
          </a:xfrm>
          <a:prstGeom prst="line">
            <a:avLst/>
          </a:prstGeom>
          <a:ln w="38100" cap="flat">
            <a:solidFill>
              <a:srgbClr val="0D1D4B"/>
            </a:solidFill>
            <a:prstDash val="lgDash"/>
            <a:headEnd type="none" w="sm" len="sm"/>
            <a:tailEnd type="none" w="sm" len="sm"/>
          </a:ln>
        </p:spPr>
      </p:sp>
      <p:sp>
        <p:nvSpPr>
          <p:cNvPr id="21" name="AutoShape 21"/>
          <p:cNvSpPr/>
          <p:nvPr/>
        </p:nvSpPr>
        <p:spPr>
          <a:xfrm flipV="1">
            <a:off x="10019023" y="7063280"/>
            <a:ext cx="0" cy="1501191"/>
          </a:xfrm>
          <a:prstGeom prst="line">
            <a:avLst/>
          </a:prstGeom>
          <a:ln w="38100" cap="flat">
            <a:solidFill>
              <a:srgbClr val="0D1D4B"/>
            </a:solidFill>
            <a:prstDash val="lgDash"/>
            <a:headEnd type="none" w="sm" len="sm"/>
            <a:tailEnd type="none" w="sm" len="sm"/>
          </a:ln>
        </p:spPr>
      </p:sp>
      <p:sp>
        <p:nvSpPr>
          <p:cNvPr id="22" name="AutoShape 22"/>
          <p:cNvSpPr/>
          <p:nvPr/>
        </p:nvSpPr>
        <p:spPr>
          <a:xfrm>
            <a:off x="722637" y="7538613"/>
            <a:ext cx="6492240" cy="0"/>
          </a:xfrm>
          <a:prstGeom prst="line">
            <a:avLst/>
          </a:prstGeom>
          <a:ln w="38100" cap="flat">
            <a:solidFill>
              <a:srgbClr val="0D1D4B"/>
            </a:solidFill>
            <a:prstDash val="lgDash"/>
            <a:headEnd type="none" w="sm" len="sm"/>
            <a:tailEnd type="arrow" w="med" len="sm"/>
          </a:ln>
        </p:spPr>
      </p:sp>
      <p:sp>
        <p:nvSpPr>
          <p:cNvPr id="23" name="AutoShape 23"/>
          <p:cNvSpPr/>
          <p:nvPr/>
        </p:nvSpPr>
        <p:spPr>
          <a:xfrm>
            <a:off x="722637" y="6576588"/>
            <a:ext cx="6492240" cy="0"/>
          </a:xfrm>
          <a:prstGeom prst="line">
            <a:avLst/>
          </a:prstGeom>
          <a:ln w="57150" cap="flat">
            <a:solidFill>
              <a:srgbClr val="0D1D4B"/>
            </a:solidFill>
            <a:prstDash val="solid"/>
            <a:headEnd type="none" w="sm" len="sm"/>
            <a:tailEnd type="none" w="sm" len="sm"/>
          </a:ln>
        </p:spPr>
      </p:sp>
      <p:grpSp>
        <p:nvGrpSpPr>
          <p:cNvPr id="24" name="Group 24"/>
          <p:cNvGrpSpPr/>
          <p:nvPr/>
        </p:nvGrpSpPr>
        <p:grpSpPr>
          <a:xfrm>
            <a:off x="13844465" y="6471597"/>
            <a:ext cx="1538788" cy="814121"/>
            <a:chOff x="0" y="0"/>
            <a:chExt cx="2051717" cy="1085495"/>
          </a:xfrm>
        </p:grpSpPr>
        <p:grpSp>
          <p:nvGrpSpPr>
            <p:cNvPr id="25" name="Group 25"/>
            <p:cNvGrpSpPr/>
            <p:nvPr/>
          </p:nvGrpSpPr>
          <p:grpSpPr>
            <a:xfrm>
              <a:off x="0" y="0"/>
              <a:ext cx="2051717" cy="1085495"/>
              <a:chOff x="0" y="0"/>
              <a:chExt cx="405277" cy="214419"/>
            </a:xfrm>
          </p:grpSpPr>
          <p:sp>
            <p:nvSpPr>
              <p:cNvPr id="26" name="Freeform 26"/>
              <p:cNvSpPr/>
              <p:nvPr/>
            </p:nvSpPr>
            <p:spPr>
              <a:xfrm>
                <a:off x="0" y="0"/>
                <a:ext cx="405277" cy="214419"/>
              </a:xfrm>
              <a:custGeom>
                <a:avLst/>
                <a:gdLst/>
                <a:ahLst/>
                <a:cxnLst/>
                <a:rect l="l" t="t" r="r" b="b"/>
                <a:pathLst>
                  <a:path w="405277" h="214419">
                    <a:moveTo>
                      <a:pt x="107209" y="0"/>
                    </a:moveTo>
                    <a:lnTo>
                      <a:pt x="298068" y="0"/>
                    </a:lnTo>
                    <a:cubicBezTo>
                      <a:pt x="357278" y="0"/>
                      <a:pt x="405277" y="47999"/>
                      <a:pt x="405277" y="107209"/>
                    </a:cubicBezTo>
                    <a:lnTo>
                      <a:pt x="405277" y="107209"/>
                    </a:lnTo>
                    <a:cubicBezTo>
                      <a:pt x="405277" y="166419"/>
                      <a:pt x="357278" y="214419"/>
                      <a:pt x="298068" y="214419"/>
                    </a:cubicBezTo>
                    <a:lnTo>
                      <a:pt x="107209" y="214419"/>
                    </a:lnTo>
                    <a:cubicBezTo>
                      <a:pt x="47999" y="214419"/>
                      <a:pt x="0" y="166419"/>
                      <a:pt x="0" y="107209"/>
                    </a:cubicBezTo>
                    <a:lnTo>
                      <a:pt x="0" y="107209"/>
                    </a:lnTo>
                    <a:cubicBezTo>
                      <a:pt x="0" y="47999"/>
                      <a:pt x="47999" y="0"/>
                      <a:pt x="107209" y="0"/>
                    </a:cubicBezTo>
                    <a:close/>
                  </a:path>
                </a:pathLst>
              </a:custGeom>
              <a:solidFill>
                <a:srgbClr val="0D1D4B"/>
              </a:solidFill>
            </p:spPr>
          </p:sp>
          <p:sp>
            <p:nvSpPr>
              <p:cNvPr id="27" name="TextBox 27"/>
              <p:cNvSpPr txBox="1"/>
              <p:nvPr/>
            </p:nvSpPr>
            <p:spPr>
              <a:xfrm>
                <a:off x="0" y="-47625"/>
                <a:ext cx="405277" cy="262044"/>
              </a:xfrm>
              <a:prstGeom prst="rect">
                <a:avLst/>
              </a:prstGeom>
            </p:spPr>
            <p:txBody>
              <a:bodyPr lIns="50800" tIns="50800" rIns="50800" bIns="50800" rtlCol="0" anchor="ctr"/>
              <a:lstStyle/>
              <a:p>
                <a:pPr algn="ctr">
                  <a:lnSpc>
                    <a:spcPts val="2940"/>
                  </a:lnSpc>
                </a:pPr>
                <a:endParaRPr/>
              </a:p>
            </p:txBody>
          </p:sp>
        </p:grpSp>
        <p:sp>
          <p:nvSpPr>
            <p:cNvPr id="28" name="TextBox 28"/>
            <p:cNvSpPr txBox="1"/>
            <p:nvPr/>
          </p:nvSpPr>
          <p:spPr>
            <a:xfrm>
              <a:off x="160286" y="-99238"/>
              <a:ext cx="1731145" cy="1007745"/>
            </a:xfrm>
            <a:prstGeom prst="rect">
              <a:avLst/>
            </a:prstGeom>
          </p:spPr>
          <p:txBody>
            <a:bodyPr lIns="0" tIns="0" rIns="0" bIns="0" rtlCol="0" anchor="t">
              <a:spAutoFit/>
            </a:bodyPr>
            <a:lstStyle/>
            <a:p>
              <a:pPr algn="ctr">
                <a:lnSpc>
                  <a:spcPts val="7200"/>
                </a:lnSpc>
              </a:pPr>
              <a:r>
                <a:rPr lang="en-US" sz="3600" b="1">
                  <a:solidFill>
                    <a:srgbClr val="FFFFFF"/>
                  </a:solidFill>
                  <a:latin typeface="Montserrat Bold"/>
                  <a:ea typeface="Montserrat Bold"/>
                  <a:cs typeface="Montserrat Bold"/>
                  <a:sym typeface="Montserrat Bold"/>
                </a:rPr>
                <a:t>Root</a:t>
              </a:r>
            </a:p>
          </p:txBody>
        </p:sp>
      </p:grpSp>
      <p:grpSp>
        <p:nvGrpSpPr>
          <p:cNvPr id="29" name="Group 29"/>
          <p:cNvGrpSpPr/>
          <p:nvPr/>
        </p:nvGrpSpPr>
        <p:grpSpPr>
          <a:xfrm>
            <a:off x="15383252" y="7861838"/>
            <a:ext cx="1538788" cy="631241"/>
            <a:chOff x="0" y="0"/>
            <a:chExt cx="2051717" cy="841655"/>
          </a:xfrm>
        </p:grpSpPr>
        <p:grpSp>
          <p:nvGrpSpPr>
            <p:cNvPr id="30" name="Group 30"/>
            <p:cNvGrpSpPr/>
            <p:nvPr/>
          </p:nvGrpSpPr>
          <p:grpSpPr>
            <a:xfrm>
              <a:off x="0" y="0"/>
              <a:ext cx="2051717" cy="841655"/>
              <a:chOff x="0" y="0"/>
              <a:chExt cx="405277" cy="166253"/>
            </a:xfrm>
          </p:grpSpPr>
          <p:sp>
            <p:nvSpPr>
              <p:cNvPr id="31" name="Freeform 31"/>
              <p:cNvSpPr/>
              <p:nvPr/>
            </p:nvSpPr>
            <p:spPr>
              <a:xfrm>
                <a:off x="0" y="0"/>
                <a:ext cx="405277" cy="166253"/>
              </a:xfrm>
              <a:custGeom>
                <a:avLst/>
                <a:gdLst/>
                <a:ahLst/>
                <a:cxnLst/>
                <a:rect l="l" t="t" r="r" b="b"/>
                <a:pathLst>
                  <a:path w="405277" h="166253">
                    <a:moveTo>
                      <a:pt x="83126" y="0"/>
                    </a:moveTo>
                    <a:lnTo>
                      <a:pt x="322151" y="0"/>
                    </a:lnTo>
                    <a:cubicBezTo>
                      <a:pt x="368060" y="0"/>
                      <a:pt x="405277" y="37217"/>
                      <a:pt x="405277" y="83126"/>
                    </a:cubicBezTo>
                    <a:lnTo>
                      <a:pt x="405277" y="83126"/>
                    </a:lnTo>
                    <a:cubicBezTo>
                      <a:pt x="405277" y="105173"/>
                      <a:pt x="396519" y="126316"/>
                      <a:pt x="380930" y="141906"/>
                    </a:cubicBezTo>
                    <a:cubicBezTo>
                      <a:pt x="365341" y="157495"/>
                      <a:pt x="344197" y="166253"/>
                      <a:pt x="322151" y="166253"/>
                    </a:cubicBezTo>
                    <a:lnTo>
                      <a:pt x="83126" y="166253"/>
                    </a:lnTo>
                    <a:cubicBezTo>
                      <a:pt x="61080" y="166253"/>
                      <a:pt x="39936" y="157495"/>
                      <a:pt x="24347" y="141906"/>
                    </a:cubicBezTo>
                    <a:cubicBezTo>
                      <a:pt x="8758" y="126316"/>
                      <a:pt x="0" y="105173"/>
                      <a:pt x="0" y="83126"/>
                    </a:cubicBezTo>
                    <a:lnTo>
                      <a:pt x="0" y="83126"/>
                    </a:lnTo>
                    <a:cubicBezTo>
                      <a:pt x="0" y="61080"/>
                      <a:pt x="8758" y="39936"/>
                      <a:pt x="24347" y="24347"/>
                    </a:cubicBezTo>
                    <a:cubicBezTo>
                      <a:pt x="39936" y="8758"/>
                      <a:pt x="61080" y="0"/>
                      <a:pt x="83126" y="0"/>
                    </a:cubicBezTo>
                    <a:close/>
                  </a:path>
                </a:pathLst>
              </a:custGeom>
              <a:solidFill>
                <a:srgbClr val="0D1D4B"/>
              </a:solidFill>
            </p:spPr>
          </p:sp>
          <p:sp>
            <p:nvSpPr>
              <p:cNvPr id="32" name="TextBox 32"/>
              <p:cNvSpPr txBox="1"/>
              <p:nvPr/>
            </p:nvSpPr>
            <p:spPr>
              <a:xfrm>
                <a:off x="0" y="-47625"/>
                <a:ext cx="405277" cy="213878"/>
              </a:xfrm>
              <a:prstGeom prst="rect">
                <a:avLst/>
              </a:prstGeom>
            </p:spPr>
            <p:txBody>
              <a:bodyPr lIns="50800" tIns="50800" rIns="50800" bIns="50800" rtlCol="0" anchor="ctr"/>
              <a:lstStyle/>
              <a:p>
                <a:pPr algn="ctr">
                  <a:lnSpc>
                    <a:spcPts val="2940"/>
                  </a:lnSpc>
                </a:pPr>
                <a:endParaRPr/>
              </a:p>
            </p:txBody>
          </p:sp>
        </p:grpSp>
        <p:sp>
          <p:nvSpPr>
            <p:cNvPr id="33" name="TextBox 33"/>
            <p:cNvSpPr txBox="1"/>
            <p:nvPr/>
          </p:nvSpPr>
          <p:spPr>
            <a:xfrm>
              <a:off x="160286" y="-3988"/>
              <a:ext cx="1731145" cy="668655"/>
            </a:xfrm>
            <a:prstGeom prst="rect">
              <a:avLst/>
            </a:prstGeom>
          </p:spPr>
          <p:txBody>
            <a:bodyPr lIns="0" tIns="0" rIns="0" bIns="0" rtlCol="0" anchor="t">
              <a:spAutoFit/>
            </a:bodyPr>
            <a:lstStyle/>
            <a:p>
              <a:pPr algn="ctr">
                <a:lnSpc>
                  <a:spcPts val="4800"/>
                </a:lnSpc>
              </a:pPr>
              <a:r>
                <a:rPr lang="en-US" sz="2400" b="1">
                  <a:solidFill>
                    <a:srgbClr val="FFFFFF"/>
                  </a:solidFill>
                  <a:latin typeface="Montserrat Bold"/>
                  <a:ea typeface="Montserrat Bold"/>
                  <a:cs typeface="Montserrat Bold"/>
                  <a:sym typeface="Montserrat Bold"/>
                </a:rPr>
                <a:t>Root</a:t>
              </a:r>
            </a:p>
          </p:txBody>
        </p:sp>
      </p:grpSp>
      <p:grpSp>
        <p:nvGrpSpPr>
          <p:cNvPr id="34" name="Group 34"/>
          <p:cNvGrpSpPr/>
          <p:nvPr/>
        </p:nvGrpSpPr>
        <p:grpSpPr>
          <a:xfrm>
            <a:off x="12523657" y="7828643"/>
            <a:ext cx="1538788" cy="631241"/>
            <a:chOff x="0" y="0"/>
            <a:chExt cx="2051717" cy="841655"/>
          </a:xfrm>
        </p:grpSpPr>
        <p:grpSp>
          <p:nvGrpSpPr>
            <p:cNvPr id="35" name="Group 35"/>
            <p:cNvGrpSpPr/>
            <p:nvPr/>
          </p:nvGrpSpPr>
          <p:grpSpPr>
            <a:xfrm>
              <a:off x="0" y="0"/>
              <a:ext cx="2051717" cy="841655"/>
              <a:chOff x="0" y="0"/>
              <a:chExt cx="405277" cy="166253"/>
            </a:xfrm>
          </p:grpSpPr>
          <p:sp>
            <p:nvSpPr>
              <p:cNvPr id="36" name="Freeform 36"/>
              <p:cNvSpPr/>
              <p:nvPr/>
            </p:nvSpPr>
            <p:spPr>
              <a:xfrm>
                <a:off x="0" y="0"/>
                <a:ext cx="405277" cy="166253"/>
              </a:xfrm>
              <a:custGeom>
                <a:avLst/>
                <a:gdLst/>
                <a:ahLst/>
                <a:cxnLst/>
                <a:rect l="l" t="t" r="r" b="b"/>
                <a:pathLst>
                  <a:path w="405277" h="166253">
                    <a:moveTo>
                      <a:pt x="83126" y="0"/>
                    </a:moveTo>
                    <a:lnTo>
                      <a:pt x="322151" y="0"/>
                    </a:lnTo>
                    <a:cubicBezTo>
                      <a:pt x="368060" y="0"/>
                      <a:pt x="405277" y="37217"/>
                      <a:pt x="405277" y="83126"/>
                    </a:cubicBezTo>
                    <a:lnTo>
                      <a:pt x="405277" y="83126"/>
                    </a:lnTo>
                    <a:cubicBezTo>
                      <a:pt x="405277" y="105173"/>
                      <a:pt x="396519" y="126316"/>
                      <a:pt x="380930" y="141906"/>
                    </a:cubicBezTo>
                    <a:cubicBezTo>
                      <a:pt x="365341" y="157495"/>
                      <a:pt x="344197" y="166253"/>
                      <a:pt x="322151" y="166253"/>
                    </a:cubicBezTo>
                    <a:lnTo>
                      <a:pt x="83126" y="166253"/>
                    </a:lnTo>
                    <a:cubicBezTo>
                      <a:pt x="61080" y="166253"/>
                      <a:pt x="39936" y="157495"/>
                      <a:pt x="24347" y="141906"/>
                    </a:cubicBezTo>
                    <a:cubicBezTo>
                      <a:pt x="8758" y="126316"/>
                      <a:pt x="0" y="105173"/>
                      <a:pt x="0" y="83126"/>
                    </a:cubicBezTo>
                    <a:lnTo>
                      <a:pt x="0" y="83126"/>
                    </a:lnTo>
                    <a:cubicBezTo>
                      <a:pt x="0" y="61080"/>
                      <a:pt x="8758" y="39936"/>
                      <a:pt x="24347" y="24347"/>
                    </a:cubicBezTo>
                    <a:cubicBezTo>
                      <a:pt x="39936" y="8758"/>
                      <a:pt x="61080" y="0"/>
                      <a:pt x="83126" y="0"/>
                    </a:cubicBezTo>
                    <a:close/>
                  </a:path>
                </a:pathLst>
              </a:custGeom>
              <a:solidFill>
                <a:srgbClr val="0D1D4B"/>
              </a:solidFill>
            </p:spPr>
          </p:sp>
          <p:sp>
            <p:nvSpPr>
              <p:cNvPr id="37" name="TextBox 37"/>
              <p:cNvSpPr txBox="1"/>
              <p:nvPr/>
            </p:nvSpPr>
            <p:spPr>
              <a:xfrm>
                <a:off x="0" y="-47625"/>
                <a:ext cx="405277" cy="213878"/>
              </a:xfrm>
              <a:prstGeom prst="rect">
                <a:avLst/>
              </a:prstGeom>
            </p:spPr>
            <p:txBody>
              <a:bodyPr lIns="50800" tIns="50800" rIns="50800" bIns="50800" rtlCol="0" anchor="ctr"/>
              <a:lstStyle/>
              <a:p>
                <a:pPr algn="ctr">
                  <a:lnSpc>
                    <a:spcPts val="2940"/>
                  </a:lnSpc>
                </a:pPr>
                <a:endParaRPr/>
              </a:p>
            </p:txBody>
          </p:sp>
        </p:grpSp>
        <p:sp>
          <p:nvSpPr>
            <p:cNvPr id="38" name="TextBox 38"/>
            <p:cNvSpPr txBox="1"/>
            <p:nvPr/>
          </p:nvSpPr>
          <p:spPr>
            <a:xfrm>
              <a:off x="160286" y="-3988"/>
              <a:ext cx="1731145" cy="668655"/>
            </a:xfrm>
            <a:prstGeom prst="rect">
              <a:avLst/>
            </a:prstGeom>
          </p:spPr>
          <p:txBody>
            <a:bodyPr lIns="0" tIns="0" rIns="0" bIns="0" rtlCol="0" anchor="t">
              <a:spAutoFit/>
            </a:bodyPr>
            <a:lstStyle/>
            <a:p>
              <a:pPr algn="ctr">
                <a:lnSpc>
                  <a:spcPts val="4800"/>
                </a:lnSpc>
              </a:pPr>
              <a:r>
                <a:rPr lang="en-US" sz="2400" b="1">
                  <a:solidFill>
                    <a:srgbClr val="FFFFFF"/>
                  </a:solidFill>
                  <a:latin typeface="Montserrat Bold"/>
                  <a:ea typeface="Montserrat Bold"/>
                  <a:cs typeface="Montserrat Bold"/>
                  <a:sym typeface="Montserrat Bold"/>
                </a:rPr>
                <a:t>Root</a:t>
              </a:r>
            </a:p>
          </p:txBody>
        </p:sp>
      </p:grpSp>
      <p:sp>
        <p:nvSpPr>
          <p:cNvPr id="39" name="AutoShape 39"/>
          <p:cNvSpPr/>
          <p:nvPr/>
        </p:nvSpPr>
        <p:spPr>
          <a:xfrm flipH="1">
            <a:off x="10019023" y="7994579"/>
            <a:ext cx="1070900" cy="0"/>
          </a:xfrm>
          <a:prstGeom prst="line">
            <a:avLst/>
          </a:prstGeom>
          <a:ln w="38100" cap="flat">
            <a:solidFill>
              <a:srgbClr val="0D1D4B"/>
            </a:solidFill>
            <a:prstDash val="lgDash"/>
            <a:headEnd type="oval" w="lg" len="lg"/>
            <a:tailEnd type="none" w="sm" len="sm"/>
          </a:ln>
        </p:spPr>
      </p:sp>
      <p:sp>
        <p:nvSpPr>
          <p:cNvPr id="40" name="AutoShape 40"/>
          <p:cNvSpPr/>
          <p:nvPr/>
        </p:nvSpPr>
        <p:spPr>
          <a:xfrm flipH="1">
            <a:off x="13293051" y="7285718"/>
            <a:ext cx="1320807" cy="542925"/>
          </a:xfrm>
          <a:prstGeom prst="line">
            <a:avLst/>
          </a:prstGeom>
          <a:ln w="38100" cap="flat">
            <a:solidFill>
              <a:srgbClr val="0D1D4B"/>
            </a:solidFill>
            <a:prstDash val="solid"/>
            <a:headEnd type="none" w="sm" len="sm"/>
            <a:tailEnd type="none" w="sm" len="sm"/>
          </a:ln>
        </p:spPr>
      </p:sp>
      <p:grpSp>
        <p:nvGrpSpPr>
          <p:cNvPr id="41" name="Group 41"/>
          <p:cNvGrpSpPr/>
          <p:nvPr/>
        </p:nvGrpSpPr>
        <p:grpSpPr>
          <a:xfrm>
            <a:off x="9191015" y="4338194"/>
            <a:ext cx="1224163" cy="1224163"/>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0C1D4B"/>
              </a:solidFill>
              <a:prstDash val="solid"/>
              <a:miter/>
            </a:ln>
          </p:spPr>
        </p:sp>
        <p:sp>
          <p:nvSpPr>
            <p:cNvPr id="43" name="TextBox 43"/>
            <p:cNvSpPr txBox="1"/>
            <p:nvPr/>
          </p:nvSpPr>
          <p:spPr>
            <a:xfrm>
              <a:off x="76200" y="28575"/>
              <a:ext cx="660400" cy="708025"/>
            </a:xfrm>
            <a:prstGeom prst="rect">
              <a:avLst/>
            </a:prstGeom>
          </p:spPr>
          <p:txBody>
            <a:bodyPr lIns="50800" tIns="50800" rIns="50800" bIns="50800" rtlCol="0" anchor="ctr"/>
            <a:lstStyle/>
            <a:p>
              <a:pPr algn="ctr">
                <a:lnSpc>
                  <a:spcPts val="2940"/>
                </a:lnSpc>
              </a:pPr>
              <a:endParaRPr/>
            </a:p>
          </p:txBody>
        </p:sp>
      </p:grpSp>
      <p:sp>
        <p:nvSpPr>
          <p:cNvPr id="44" name="Freeform 44"/>
          <p:cNvSpPr/>
          <p:nvPr/>
        </p:nvSpPr>
        <p:spPr>
          <a:xfrm>
            <a:off x="10735891" y="4669481"/>
            <a:ext cx="3276346" cy="1078216"/>
          </a:xfrm>
          <a:custGeom>
            <a:avLst/>
            <a:gdLst/>
            <a:ahLst/>
            <a:cxnLst/>
            <a:rect l="l" t="t" r="r" b="b"/>
            <a:pathLst>
              <a:path w="3276346" h="1078216">
                <a:moveTo>
                  <a:pt x="0" y="0"/>
                </a:moveTo>
                <a:lnTo>
                  <a:pt x="3276346" y="0"/>
                </a:lnTo>
                <a:lnTo>
                  <a:pt x="3276346" y="1078216"/>
                </a:lnTo>
                <a:lnTo>
                  <a:pt x="0" y="107821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5" name="Freeform 45"/>
          <p:cNvSpPr/>
          <p:nvPr/>
        </p:nvSpPr>
        <p:spPr>
          <a:xfrm>
            <a:off x="1354937" y="8144264"/>
            <a:ext cx="3491405" cy="1029964"/>
          </a:xfrm>
          <a:custGeom>
            <a:avLst/>
            <a:gdLst/>
            <a:ahLst/>
            <a:cxnLst/>
            <a:rect l="l" t="t" r="r" b="b"/>
            <a:pathLst>
              <a:path w="3491405" h="1029964">
                <a:moveTo>
                  <a:pt x="0" y="0"/>
                </a:moveTo>
                <a:lnTo>
                  <a:pt x="3491404" y="0"/>
                </a:lnTo>
                <a:lnTo>
                  <a:pt x="3491404" y="1029964"/>
                </a:lnTo>
                <a:lnTo>
                  <a:pt x="0" y="10299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6" name="TextBox 46"/>
          <p:cNvSpPr txBox="1"/>
          <p:nvPr/>
        </p:nvSpPr>
        <p:spPr>
          <a:xfrm>
            <a:off x="705846" y="1720154"/>
            <a:ext cx="7627731" cy="630174"/>
          </a:xfrm>
          <a:prstGeom prst="rect">
            <a:avLst/>
          </a:prstGeom>
        </p:spPr>
        <p:txBody>
          <a:bodyPr lIns="0" tIns="0" rIns="0" bIns="0" rtlCol="0" anchor="t">
            <a:spAutoFit/>
          </a:bodyPr>
          <a:lstStyle/>
          <a:p>
            <a:pPr algn="just">
              <a:lnSpc>
                <a:spcPts val="4848"/>
              </a:lnSpc>
            </a:pPr>
            <a:r>
              <a:rPr lang="en-US" sz="4800" b="1">
                <a:solidFill>
                  <a:srgbClr val="0C1D4B"/>
                </a:solidFill>
                <a:latin typeface="Montserrat Heavy"/>
                <a:ea typeface="Montserrat Heavy"/>
                <a:cs typeface="Montserrat Heavy"/>
                <a:sym typeface="Montserrat Heavy"/>
              </a:rPr>
              <a:t>STYLE GUIDE</a:t>
            </a:r>
          </a:p>
        </p:txBody>
      </p:sp>
      <p:sp>
        <p:nvSpPr>
          <p:cNvPr id="47" name="TextBox 47"/>
          <p:cNvSpPr txBox="1"/>
          <p:nvPr/>
        </p:nvSpPr>
        <p:spPr>
          <a:xfrm>
            <a:off x="705846" y="2624148"/>
            <a:ext cx="7627731" cy="630174"/>
          </a:xfrm>
          <a:prstGeom prst="rect">
            <a:avLst/>
          </a:prstGeom>
        </p:spPr>
        <p:txBody>
          <a:bodyPr lIns="0" tIns="0" rIns="0" bIns="0" rtlCol="0" anchor="t">
            <a:spAutoFit/>
          </a:bodyPr>
          <a:lstStyle/>
          <a:p>
            <a:pPr algn="just">
              <a:lnSpc>
                <a:spcPts val="4848"/>
              </a:lnSpc>
            </a:pPr>
            <a:r>
              <a:rPr lang="en-US" sz="4800" b="1">
                <a:solidFill>
                  <a:srgbClr val="0C1D4B"/>
                </a:solidFill>
                <a:latin typeface="Montserrat Heavy"/>
                <a:ea typeface="Montserrat Heavy"/>
                <a:cs typeface="Montserrat Heavy"/>
                <a:sym typeface="Montserrat Heavy"/>
              </a:rPr>
              <a:t>TITLE H1</a:t>
            </a:r>
          </a:p>
        </p:txBody>
      </p:sp>
      <p:sp>
        <p:nvSpPr>
          <p:cNvPr id="48" name="TextBox 48"/>
          <p:cNvSpPr txBox="1"/>
          <p:nvPr/>
        </p:nvSpPr>
        <p:spPr>
          <a:xfrm>
            <a:off x="705846" y="3137616"/>
            <a:ext cx="6440123" cy="898525"/>
          </a:xfrm>
          <a:prstGeom prst="rect">
            <a:avLst/>
          </a:prstGeom>
        </p:spPr>
        <p:txBody>
          <a:bodyPr lIns="0" tIns="0" rIns="0" bIns="0" rtlCol="0" anchor="t">
            <a:spAutoFit/>
          </a:bodyPr>
          <a:lstStyle/>
          <a:p>
            <a:pPr algn="just">
              <a:lnSpc>
                <a:spcPts val="7999"/>
              </a:lnSpc>
            </a:pPr>
            <a:r>
              <a:rPr lang="en-US" sz="3999" b="1">
                <a:solidFill>
                  <a:srgbClr val="0C1D4B"/>
                </a:solidFill>
                <a:latin typeface="Montserrat Bold"/>
                <a:ea typeface="Montserrat Bold"/>
                <a:cs typeface="Montserrat Bold"/>
                <a:sym typeface="Montserrat Bold"/>
              </a:rPr>
              <a:t>Title H2</a:t>
            </a:r>
          </a:p>
        </p:txBody>
      </p:sp>
      <p:sp>
        <p:nvSpPr>
          <p:cNvPr id="49" name="TextBox 49"/>
          <p:cNvSpPr txBox="1"/>
          <p:nvPr/>
        </p:nvSpPr>
        <p:spPr>
          <a:xfrm>
            <a:off x="705846" y="4047233"/>
            <a:ext cx="6440123" cy="768985"/>
          </a:xfrm>
          <a:prstGeom prst="rect">
            <a:avLst/>
          </a:prstGeom>
        </p:spPr>
        <p:txBody>
          <a:bodyPr lIns="0" tIns="0" rIns="0" bIns="0" rtlCol="0" anchor="t">
            <a:spAutoFit/>
          </a:bodyPr>
          <a:lstStyle/>
          <a:p>
            <a:pPr algn="just">
              <a:lnSpc>
                <a:spcPts val="6799"/>
              </a:lnSpc>
            </a:pPr>
            <a:r>
              <a:rPr lang="en-US" sz="3399" b="1">
                <a:solidFill>
                  <a:srgbClr val="0C1D4B"/>
                </a:solidFill>
                <a:latin typeface="Montserrat Bold"/>
                <a:ea typeface="Montserrat Bold"/>
                <a:cs typeface="Montserrat Bold"/>
                <a:sym typeface="Montserrat Bold"/>
              </a:rPr>
              <a:t>Title H3</a:t>
            </a:r>
          </a:p>
        </p:txBody>
      </p:sp>
      <p:sp>
        <p:nvSpPr>
          <p:cNvPr id="50" name="TextBox 50"/>
          <p:cNvSpPr txBox="1"/>
          <p:nvPr/>
        </p:nvSpPr>
        <p:spPr>
          <a:xfrm>
            <a:off x="705846" y="4858014"/>
            <a:ext cx="6440123" cy="685800"/>
          </a:xfrm>
          <a:prstGeom prst="rect">
            <a:avLst/>
          </a:prstGeom>
        </p:spPr>
        <p:txBody>
          <a:bodyPr lIns="0" tIns="0" rIns="0" bIns="0" rtlCol="0" anchor="t">
            <a:spAutoFit/>
          </a:bodyPr>
          <a:lstStyle/>
          <a:p>
            <a:pPr algn="just">
              <a:lnSpc>
                <a:spcPts val="6000"/>
              </a:lnSpc>
            </a:pPr>
            <a:r>
              <a:rPr lang="en-US" sz="3000">
                <a:solidFill>
                  <a:srgbClr val="0C1D4B"/>
                </a:solidFill>
                <a:latin typeface="Montserrat"/>
                <a:ea typeface="Montserrat"/>
                <a:cs typeface="Montserrat"/>
                <a:sym typeface="Montserrat"/>
              </a:rPr>
              <a:t>Content </a:t>
            </a:r>
            <a:r>
              <a:rPr lang="en-US" sz="3000" b="1">
                <a:solidFill>
                  <a:srgbClr val="0C1D4B"/>
                </a:solidFill>
                <a:latin typeface="Montserrat Bold"/>
                <a:ea typeface="Montserrat Bold"/>
                <a:cs typeface="Montserrat Bold"/>
                <a:sym typeface="Montserrat Bold"/>
              </a:rPr>
              <a:t>Content </a:t>
            </a:r>
            <a:r>
              <a:rPr lang="en-US" sz="3000" i="1">
                <a:solidFill>
                  <a:srgbClr val="0C1D4B"/>
                </a:solidFill>
                <a:latin typeface="Montserrat Italics"/>
                <a:ea typeface="Montserrat Italics"/>
                <a:cs typeface="Montserrat Italics"/>
                <a:sym typeface="Montserrat Italics"/>
              </a:rPr>
              <a:t>Content</a:t>
            </a:r>
          </a:p>
        </p:txBody>
      </p:sp>
      <p:sp>
        <p:nvSpPr>
          <p:cNvPr id="51" name="TextBox 51"/>
          <p:cNvSpPr txBox="1"/>
          <p:nvPr/>
        </p:nvSpPr>
        <p:spPr>
          <a:xfrm>
            <a:off x="9302156" y="6238415"/>
            <a:ext cx="1433734" cy="824865"/>
          </a:xfrm>
          <a:prstGeom prst="rect">
            <a:avLst/>
          </a:prstGeom>
        </p:spPr>
        <p:txBody>
          <a:bodyPr lIns="0" tIns="0" rIns="0" bIns="0" rtlCol="0" anchor="t">
            <a:spAutoFit/>
          </a:bodyPr>
          <a:lstStyle/>
          <a:p>
            <a:pPr algn="just">
              <a:lnSpc>
                <a:spcPts val="7200"/>
              </a:lnSpc>
            </a:pPr>
            <a:r>
              <a:rPr lang="en-US" sz="3600" b="1">
                <a:solidFill>
                  <a:srgbClr val="0C1D4B"/>
                </a:solidFill>
                <a:latin typeface="Montserrat Bold"/>
                <a:ea typeface="Montserrat Bold"/>
                <a:cs typeface="Montserrat Bold"/>
                <a:sym typeface="Montserrat Bold"/>
              </a:rPr>
              <a:t>Root</a:t>
            </a:r>
          </a:p>
        </p:txBody>
      </p:sp>
      <p:sp>
        <p:nvSpPr>
          <p:cNvPr id="52" name="TextBox 52"/>
          <p:cNvSpPr txBox="1"/>
          <p:nvPr/>
        </p:nvSpPr>
        <p:spPr>
          <a:xfrm>
            <a:off x="7472432" y="5566722"/>
            <a:ext cx="1433734" cy="546735"/>
          </a:xfrm>
          <a:prstGeom prst="rect">
            <a:avLst/>
          </a:prstGeom>
        </p:spPr>
        <p:txBody>
          <a:bodyPr lIns="0" tIns="0" rIns="0" bIns="0" rtlCol="0" anchor="t">
            <a:spAutoFit/>
          </a:bodyPr>
          <a:lstStyle/>
          <a:p>
            <a:pPr algn="just">
              <a:lnSpc>
                <a:spcPts val="4800"/>
              </a:lnSpc>
            </a:pPr>
            <a:r>
              <a:rPr lang="en-US" sz="2400">
                <a:solidFill>
                  <a:srgbClr val="0C1D4B"/>
                </a:solidFill>
                <a:latin typeface="Montserrat"/>
                <a:ea typeface="Montserrat"/>
                <a:cs typeface="Montserrat"/>
                <a:sym typeface="Montserrat"/>
              </a:rPr>
              <a:t>Thin</a:t>
            </a:r>
          </a:p>
        </p:txBody>
      </p:sp>
      <p:sp>
        <p:nvSpPr>
          <p:cNvPr id="53" name="TextBox 53"/>
          <p:cNvSpPr txBox="1"/>
          <p:nvPr/>
        </p:nvSpPr>
        <p:spPr>
          <a:xfrm>
            <a:off x="7472432" y="6772851"/>
            <a:ext cx="1433734" cy="546735"/>
          </a:xfrm>
          <a:prstGeom prst="rect">
            <a:avLst/>
          </a:prstGeom>
        </p:spPr>
        <p:txBody>
          <a:bodyPr lIns="0" tIns="0" rIns="0" bIns="0" rtlCol="0" anchor="t">
            <a:spAutoFit/>
          </a:bodyPr>
          <a:lstStyle/>
          <a:p>
            <a:pPr algn="just">
              <a:lnSpc>
                <a:spcPts val="4800"/>
              </a:lnSpc>
            </a:pPr>
            <a:r>
              <a:rPr lang="en-US" sz="2400">
                <a:solidFill>
                  <a:srgbClr val="0C1D4B"/>
                </a:solidFill>
                <a:latin typeface="Montserrat"/>
                <a:ea typeface="Montserrat"/>
                <a:cs typeface="Montserrat"/>
                <a:sym typeface="Montserrat"/>
              </a:rPr>
              <a:t>Dash</a:t>
            </a:r>
          </a:p>
        </p:txBody>
      </p:sp>
      <p:sp>
        <p:nvSpPr>
          <p:cNvPr id="54" name="TextBox 54"/>
          <p:cNvSpPr txBox="1"/>
          <p:nvPr/>
        </p:nvSpPr>
        <p:spPr>
          <a:xfrm>
            <a:off x="7472432" y="7174758"/>
            <a:ext cx="1433734" cy="546735"/>
          </a:xfrm>
          <a:prstGeom prst="rect">
            <a:avLst/>
          </a:prstGeom>
        </p:spPr>
        <p:txBody>
          <a:bodyPr lIns="0" tIns="0" rIns="0" bIns="0" rtlCol="0" anchor="t">
            <a:spAutoFit/>
          </a:bodyPr>
          <a:lstStyle/>
          <a:p>
            <a:pPr algn="just">
              <a:lnSpc>
                <a:spcPts val="4800"/>
              </a:lnSpc>
            </a:pPr>
            <a:r>
              <a:rPr lang="en-US" sz="2400">
                <a:solidFill>
                  <a:srgbClr val="0C1D4B"/>
                </a:solidFill>
                <a:latin typeface="Montserrat"/>
                <a:ea typeface="Montserrat"/>
                <a:cs typeface="Montserrat"/>
                <a:sym typeface="Montserrat"/>
              </a:rPr>
              <a:t>Arrow</a:t>
            </a:r>
          </a:p>
        </p:txBody>
      </p:sp>
      <p:sp>
        <p:nvSpPr>
          <p:cNvPr id="55" name="TextBox 55"/>
          <p:cNvSpPr txBox="1"/>
          <p:nvPr/>
        </p:nvSpPr>
        <p:spPr>
          <a:xfrm>
            <a:off x="7472432" y="6168966"/>
            <a:ext cx="1433734" cy="546735"/>
          </a:xfrm>
          <a:prstGeom prst="rect">
            <a:avLst/>
          </a:prstGeom>
        </p:spPr>
        <p:txBody>
          <a:bodyPr lIns="0" tIns="0" rIns="0" bIns="0" rtlCol="0" anchor="t">
            <a:spAutoFit/>
          </a:bodyPr>
          <a:lstStyle/>
          <a:p>
            <a:pPr algn="just">
              <a:lnSpc>
                <a:spcPts val="4800"/>
              </a:lnSpc>
            </a:pPr>
            <a:r>
              <a:rPr lang="en-US" sz="2400">
                <a:solidFill>
                  <a:srgbClr val="0C1D4B"/>
                </a:solidFill>
                <a:latin typeface="Montserrat"/>
                <a:ea typeface="Montserrat"/>
                <a:cs typeface="Montserrat"/>
                <a:sym typeface="Montserrat"/>
              </a:rPr>
              <a:t>Big</a:t>
            </a:r>
          </a:p>
        </p:txBody>
      </p:sp>
      <p:sp>
        <p:nvSpPr>
          <p:cNvPr id="56" name="TextBox 56"/>
          <p:cNvSpPr txBox="1"/>
          <p:nvPr/>
        </p:nvSpPr>
        <p:spPr>
          <a:xfrm>
            <a:off x="9935842" y="835685"/>
            <a:ext cx="5331258" cy="563881"/>
          </a:xfrm>
          <a:prstGeom prst="rect">
            <a:avLst/>
          </a:prstGeom>
        </p:spPr>
        <p:txBody>
          <a:bodyPr lIns="0" tIns="0" rIns="0" bIns="0" rtlCol="0" anchor="t">
            <a:spAutoFit/>
          </a:bodyPr>
          <a:lstStyle/>
          <a:p>
            <a:pPr algn="ctr">
              <a:lnSpc>
                <a:spcPts val="4619"/>
              </a:lnSpc>
            </a:pPr>
            <a:r>
              <a:rPr lang="en-US" sz="3299" b="1" spc="79">
                <a:solidFill>
                  <a:srgbClr val="FFFFFF"/>
                </a:solidFill>
                <a:latin typeface="Montserrat Bold"/>
                <a:ea typeface="Montserrat Bold"/>
                <a:cs typeface="Montserrat Bold"/>
                <a:sym typeface="Montserrat Bold"/>
              </a:rPr>
              <a:t>Box with text</a:t>
            </a:r>
          </a:p>
        </p:txBody>
      </p:sp>
      <p:sp>
        <p:nvSpPr>
          <p:cNvPr id="57" name="TextBox 57"/>
          <p:cNvSpPr txBox="1"/>
          <p:nvPr/>
        </p:nvSpPr>
        <p:spPr>
          <a:xfrm>
            <a:off x="9935842" y="2197521"/>
            <a:ext cx="5331258" cy="563881"/>
          </a:xfrm>
          <a:prstGeom prst="rect">
            <a:avLst/>
          </a:prstGeom>
        </p:spPr>
        <p:txBody>
          <a:bodyPr lIns="0" tIns="0" rIns="0" bIns="0" rtlCol="0" anchor="t">
            <a:spAutoFit/>
          </a:bodyPr>
          <a:lstStyle/>
          <a:p>
            <a:pPr algn="ctr">
              <a:lnSpc>
                <a:spcPts val="4619"/>
              </a:lnSpc>
            </a:pPr>
            <a:r>
              <a:rPr lang="en-US" sz="3299" b="1" spc="79">
                <a:solidFill>
                  <a:srgbClr val="FFFFFF"/>
                </a:solidFill>
                <a:latin typeface="Montserrat Bold"/>
                <a:ea typeface="Montserrat Bold"/>
                <a:cs typeface="Montserrat Bold"/>
                <a:sym typeface="Montserrat Bold"/>
              </a:rPr>
              <a:t>Box with text á ê ư </a:t>
            </a:r>
          </a:p>
        </p:txBody>
      </p:sp>
      <p:sp>
        <p:nvSpPr>
          <p:cNvPr id="58" name="TextBox 58"/>
          <p:cNvSpPr txBox="1"/>
          <p:nvPr/>
        </p:nvSpPr>
        <p:spPr>
          <a:xfrm>
            <a:off x="9935842" y="3419239"/>
            <a:ext cx="5331258" cy="563881"/>
          </a:xfrm>
          <a:prstGeom prst="rect">
            <a:avLst/>
          </a:prstGeom>
        </p:spPr>
        <p:txBody>
          <a:bodyPr lIns="0" tIns="0" rIns="0" bIns="0" rtlCol="0" anchor="t">
            <a:spAutoFit/>
          </a:bodyPr>
          <a:lstStyle/>
          <a:p>
            <a:pPr algn="ctr">
              <a:lnSpc>
                <a:spcPts val="4619"/>
              </a:lnSpc>
            </a:pPr>
            <a:r>
              <a:rPr lang="en-US" sz="3299" b="1" spc="79">
                <a:solidFill>
                  <a:srgbClr val="0D1D4B"/>
                </a:solidFill>
                <a:latin typeface="Montserrat Bold"/>
                <a:ea typeface="Montserrat Bold"/>
                <a:cs typeface="Montserrat Bold"/>
                <a:sym typeface="Montserrat Bold"/>
              </a:rPr>
              <a:t>Outlined Box</a:t>
            </a:r>
          </a:p>
        </p:txBody>
      </p:sp>
      <p:sp>
        <p:nvSpPr>
          <p:cNvPr id="59" name="TextBox 59"/>
          <p:cNvSpPr txBox="1"/>
          <p:nvPr/>
        </p:nvSpPr>
        <p:spPr>
          <a:xfrm>
            <a:off x="2195630" y="8298119"/>
            <a:ext cx="1487245" cy="563881"/>
          </a:xfrm>
          <a:prstGeom prst="rect">
            <a:avLst/>
          </a:prstGeom>
        </p:spPr>
        <p:txBody>
          <a:bodyPr lIns="0" tIns="0" rIns="0" bIns="0" rtlCol="0" anchor="t">
            <a:spAutoFit/>
          </a:bodyPr>
          <a:lstStyle/>
          <a:p>
            <a:pPr algn="ctr">
              <a:lnSpc>
                <a:spcPts val="4619"/>
              </a:lnSpc>
            </a:pPr>
            <a:r>
              <a:rPr lang="en-US" sz="3299" b="1" spc="79">
                <a:solidFill>
                  <a:srgbClr val="0D1D4B"/>
                </a:solidFill>
                <a:latin typeface="Montserrat Bold"/>
                <a:ea typeface="Montserrat Bold"/>
                <a:cs typeface="Montserrat Bold"/>
                <a:sym typeface="Montserrat Bold"/>
              </a:rPr>
              <a:t>Chat</a:t>
            </a:r>
          </a:p>
        </p:txBody>
      </p:sp>
      <p:sp>
        <p:nvSpPr>
          <p:cNvPr id="60" name="TextBox 60"/>
          <p:cNvSpPr txBox="1"/>
          <p:nvPr/>
        </p:nvSpPr>
        <p:spPr>
          <a:xfrm>
            <a:off x="9599128" y="4922008"/>
            <a:ext cx="5331258" cy="563881"/>
          </a:xfrm>
          <a:prstGeom prst="rect">
            <a:avLst/>
          </a:prstGeom>
        </p:spPr>
        <p:txBody>
          <a:bodyPr lIns="0" tIns="0" rIns="0" bIns="0" rtlCol="0" anchor="t">
            <a:spAutoFit/>
          </a:bodyPr>
          <a:lstStyle/>
          <a:p>
            <a:pPr algn="ctr">
              <a:lnSpc>
                <a:spcPts val="4619"/>
              </a:lnSpc>
            </a:pPr>
            <a:r>
              <a:rPr lang="en-US" sz="3299" b="1" spc="79">
                <a:solidFill>
                  <a:srgbClr val="FFFFFF"/>
                </a:solidFill>
                <a:latin typeface="Montserrat Bold"/>
                <a:ea typeface="Montserrat Bold"/>
                <a:cs typeface="Montserrat Bold"/>
                <a:sym typeface="Montserrat Bold"/>
              </a:rPr>
              <a:t>Label</a:t>
            </a:r>
          </a:p>
        </p:txBody>
      </p:sp>
      <p:sp>
        <p:nvSpPr>
          <p:cNvPr id="61" name="TextBox 61"/>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Montserrat"/>
                <a:ea typeface="Montserrat"/>
                <a:cs typeface="Montserrat"/>
                <a:sym typeface="Montserrat"/>
              </a:rPr>
              <a:t>37</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05771"/>
            <a:ext cx="574347" cy="422929"/>
          </a:xfrm>
          <a:custGeom>
            <a:avLst/>
            <a:gdLst/>
            <a:ahLst/>
            <a:cxnLst/>
            <a:rect l="l" t="t" r="r" b="b"/>
            <a:pathLst>
              <a:path w="574347" h="422929">
                <a:moveTo>
                  <a:pt x="0" y="0"/>
                </a:moveTo>
                <a:lnTo>
                  <a:pt x="574347" y="0"/>
                </a:lnTo>
                <a:lnTo>
                  <a:pt x="574347" y="422929"/>
                </a:lnTo>
                <a:lnTo>
                  <a:pt x="0" y="4229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186941" y="3103818"/>
            <a:ext cx="6947014" cy="4976588"/>
          </a:xfrm>
          <a:custGeom>
            <a:avLst/>
            <a:gdLst/>
            <a:ahLst/>
            <a:cxnLst/>
            <a:rect l="l" t="t" r="r" b="b"/>
            <a:pathLst>
              <a:path w="6947014" h="4976588">
                <a:moveTo>
                  <a:pt x="0" y="0"/>
                </a:moveTo>
                <a:lnTo>
                  <a:pt x="6947014" y="0"/>
                </a:lnTo>
                <a:lnTo>
                  <a:pt x="6947014" y="4976588"/>
                </a:lnTo>
                <a:lnTo>
                  <a:pt x="0" y="49765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3127839" y="9258300"/>
            <a:ext cx="22035035" cy="3565748"/>
            <a:chOff x="0" y="0"/>
            <a:chExt cx="5803466" cy="939127"/>
          </a:xfrm>
        </p:grpSpPr>
        <p:sp>
          <p:nvSpPr>
            <p:cNvPr id="5" name="Freeform 5"/>
            <p:cNvSpPr/>
            <p:nvPr/>
          </p:nvSpPr>
          <p:spPr>
            <a:xfrm>
              <a:off x="0" y="0"/>
              <a:ext cx="5803466" cy="939127"/>
            </a:xfrm>
            <a:custGeom>
              <a:avLst/>
              <a:gdLst/>
              <a:ahLst/>
              <a:cxnLst/>
              <a:rect l="l" t="t" r="r" b="b"/>
              <a:pathLst>
                <a:path w="5803466" h="939127">
                  <a:moveTo>
                    <a:pt x="0" y="0"/>
                  </a:moveTo>
                  <a:lnTo>
                    <a:pt x="5803466" y="0"/>
                  </a:lnTo>
                  <a:lnTo>
                    <a:pt x="5803466" y="939127"/>
                  </a:lnTo>
                  <a:lnTo>
                    <a:pt x="0" y="939127"/>
                  </a:lnTo>
                  <a:close/>
                </a:path>
              </a:pathLst>
            </a:custGeom>
            <a:solidFill>
              <a:srgbClr val="3C4F75"/>
            </a:solidFill>
          </p:spPr>
        </p:sp>
        <p:sp>
          <p:nvSpPr>
            <p:cNvPr id="6" name="TextBox 6"/>
            <p:cNvSpPr txBox="1"/>
            <p:nvPr/>
          </p:nvSpPr>
          <p:spPr>
            <a:xfrm>
              <a:off x="0" y="-47625"/>
              <a:ext cx="5803466" cy="986752"/>
            </a:xfrm>
            <a:prstGeom prst="rect">
              <a:avLst/>
            </a:prstGeom>
          </p:spPr>
          <p:txBody>
            <a:bodyPr lIns="50800" tIns="50800" rIns="50800" bIns="50800" rtlCol="0" anchor="ctr"/>
            <a:lstStyle/>
            <a:p>
              <a:pPr algn="ctr">
                <a:lnSpc>
                  <a:spcPts val="2940"/>
                </a:lnSpc>
              </a:pPr>
              <a:endParaRPr/>
            </a:p>
          </p:txBody>
        </p:sp>
      </p:grpSp>
      <p:sp>
        <p:nvSpPr>
          <p:cNvPr id="7" name="TextBox 7"/>
          <p:cNvSpPr txBox="1"/>
          <p:nvPr/>
        </p:nvSpPr>
        <p:spPr>
          <a:xfrm>
            <a:off x="1797799" y="679450"/>
            <a:ext cx="3726948" cy="365760"/>
          </a:xfrm>
          <a:prstGeom prst="rect">
            <a:avLst/>
          </a:prstGeom>
        </p:spPr>
        <p:txBody>
          <a:bodyPr lIns="0" tIns="0" rIns="0" bIns="0" rtlCol="0" anchor="t">
            <a:spAutoFit/>
          </a:bodyPr>
          <a:lstStyle/>
          <a:p>
            <a:pPr algn="l">
              <a:lnSpc>
                <a:spcPts val="2940"/>
              </a:lnSpc>
            </a:pPr>
            <a:r>
              <a:rPr lang="en-US" sz="2100" b="1">
                <a:solidFill>
                  <a:srgbClr val="0C1D4B"/>
                </a:solidFill>
                <a:latin typeface="DM Sans Bold"/>
                <a:ea typeface="DM Sans Bold"/>
                <a:cs typeface="DM Sans Bold"/>
                <a:sym typeface="DM Sans Bold"/>
              </a:rPr>
              <a:t>BORCELLE UNIVERSITY</a:t>
            </a:r>
          </a:p>
        </p:txBody>
      </p:sp>
      <p:sp>
        <p:nvSpPr>
          <p:cNvPr id="8" name="TextBox 8"/>
          <p:cNvSpPr txBox="1"/>
          <p:nvPr/>
        </p:nvSpPr>
        <p:spPr>
          <a:xfrm>
            <a:off x="14289678" y="679450"/>
            <a:ext cx="2969622" cy="365760"/>
          </a:xfrm>
          <a:prstGeom prst="rect">
            <a:avLst/>
          </a:prstGeom>
        </p:spPr>
        <p:txBody>
          <a:bodyPr lIns="0" tIns="0" rIns="0" bIns="0" rtlCol="0" anchor="t">
            <a:spAutoFit/>
          </a:bodyPr>
          <a:lstStyle/>
          <a:p>
            <a:pPr algn="r">
              <a:lnSpc>
                <a:spcPts val="2940"/>
              </a:lnSpc>
            </a:pPr>
            <a:r>
              <a:rPr lang="en-US" sz="2100" b="1" spc="50">
                <a:solidFill>
                  <a:srgbClr val="0C1D4B"/>
                </a:solidFill>
                <a:latin typeface="DM Sans Bold"/>
                <a:ea typeface="DM Sans Bold"/>
                <a:cs typeface="DM Sans Bold"/>
                <a:sym typeface="DM Sans Bold"/>
              </a:rPr>
              <a:t>INTERIOR DESIGN</a:t>
            </a:r>
          </a:p>
        </p:txBody>
      </p:sp>
      <p:sp>
        <p:nvSpPr>
          <p:cNvPr id="9" name="TextBox 9"/>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10" name="TextBox 10"/>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Montserrat"/>
                <a:ea typeface="Montserrat"/>
                <a:cs typeface="Montserrat"/>
                <a:sym typeface="Montserrat"/>
              </a:rPr>
              <a:t>38</a:t>
            </a:r>
          </a:p>
        </p:txBody>
      </p:sp>
      <p:sp>
        <p:nvSpPr>
          <p:cNvPr id="11" name="Freeform 11"/>
          <p:cNvSpPr/>
          <p:nvPr/>
        </p:nvSpPr>
        <p:spPr>
          <a:xfrm>
            <a:off x="1603047" y="2602330"/>
            <a:ext cx="6832068" cy="5478077"/>
          </a:xfrm>
          <a:custGeom>
            <a:avLst/>
            <a:gdLst/>
            <a:ahLst/>
            <a:cxnLst/>
            <a:rect l="l" t="t" r="r" b="b"/>
            <a:pathLst>
              <a:path w="6832068" h="5478077">
                <a:moveTo>
                  <a:pt x="0" y="0"/>
                </a:moveTo>
                <a:lnTo>
                  <a:pt x="6832069" y="0"/>
                </a:lnTo>
                <a:lnTo>
                  <a:pt x="6832069" y="5478076"/>
                </a:lnTo>
                <a:lnTo>
                  <a:pt x="0" y="547807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05771"/>
            <a:ext cx="574347" cy="422929"/>
          </a:xfrm>
          <a:custGeom>
            <a:avLst/>
            <a:gdLst/>
            <a:ahLst/>
            <a:cxnLst/>
            <a:rect l="l" t="t" r="r" b="b"/>
            <a:pathLst>
              <a:path w="574347" h="422929">
                <a:moveTo>
                  <a:pt x="0" y="0"/>
                </a:moveTo>
                <a:lnTo>
                  <a:pt x="574347" y="0"/>
                </a:lnTo>
                <a:lnTo>
                  <a:pt x="574347" y="422929"/>
                </a:lnTo>
                <a:lnTo>
                  <a:pt x="0" y="4229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226647" y="2761611"/>
            <a:ext cx="5224848" cy="5224848"/>
          </a:xfrm>
          <a:custGeom>
            <a:avLst/>
            <a:gdLst/>
            <a:ahLst/>
            <a:cxnLst/>
            <a:rect l="l" t="t" r="r" b="b"/>
            <a:pathLst>
              <a:path w="5224848" h="5224848">
                <a:moveTo>
                  <a:pt x="0" y="0"/>
                </a:moveTo>
                <a:lnTo>
                  <a:pt x="5224848" y="0"/>
                </a:lnTo>
                <a:lnTo>
                  <a:pt x="5224848" y="5224848"/>
                </a:lnTo>
                <a:lnTo>
                  <a:pt x="0" y="52248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797799" y="679450"/>
            <a:ext cx="3726948" cy="365760"/>
          </a:xfrm>
          <a:prstGeom prst="rect">
            <a:avLst/>
          </a:prstGeom>
        </p:spPr>
        <p:txBody>
          <a:bodyPr lIns="0" tIns="0" rIns="0" bIns="0" rtlCol="0" anchor="t">
            <a:spAutoFit/>
          </a:bodyPr>
          <a:lstStyle/>
          <a:p>
            <a:pPr algn="l">
              <a:lnSpc>
                <a:spcPts val="2940"/>
              </a:lnSpc>
            </a:pPr>
            <a:r>
              <a:rPr lang="en-US" sz="2100" b="1">
                <a:solidFill>
                  <a:srgbClr val="0C1D4B"/>
                </a:solidFill>
                <a:latin typeface="DM Sans Bold"/>
                <a:ea typeface="DM Sans Bold"/>
                <a:cs typeface="DM Sans Bold"/>
                <a:sym typeface="DM Sans Bold"/>
              </a:rPr>
              <a:t>BORCELLE UNIVERSITY</a:t>
            </a:r>
          </a:p>
        </p:txBody>
      </p:sp>
      <p:sp>
        <p:nvSpPr>
          <p:cNvPr id="5" name="TextBox 5"/>
          <p:cNvSpPr txBox="1"/>
          <p:nvPr/>
        </p:nvSpPr>
        <p:spPr>
          <a:xfrm>
            <a:off x="14289678" y="679450"/>
            <a:ext cx="2969622" cy="365760"/>
          </a:xfrm>
          <a:prstGeom prst="rect">
            <a:avLst/>
          </a:prstGeom>
        </p:spPr>
        <p:txBody>
          <a:bodyPr lIns="0" tIns="0" rIns="0" bIns="0" rtlCol="0" anchor="t">
            <a:spAutoFit/>
          </a:bodyPr>
          <a:lstStyle/>
          <a:p>
            <a:pPr algn="r">
              <a:lnSpc>
                <a:spcPts val="2940"/>
              </a:lnSpc>
            </a:pPr>
            <a:r>
              <a:rPr lang="en-US" sz="2100" b="1" spc="50">
                <a:solidFill>
                  <a:srgbClr val="0C1D4B"/>
                </a:solidFill>
                <a:latin typeface="DM Sans Bold"/>
                <a:ea typeface="DM Sans Bold"/>
                <a:cs typeface="DM Sans Bold"/>
                <a:sym typeface="DM Sans Bold"/>
              </a:rPr>
              <a:t>INTERIOR DESIGN</a:t>
            </a:r>
          </a:p>
        </p:txBody>
      </p:sp>
      <p:grpSp>
        <p:nvGrpSpPr>
          <p:cNvPr id="6" name="Group 6"/>
          <p:cNvGrpSpPr/>
          <p:nvPr/>
        </p:nvGrpSpPr>
        <p:grpSpPr>
          <a:xfrm>
            <a:off x="1871171" y="5813043"/>
            <a:ext cx="1324985" cy="1209418"/>
            <a:chOff x="0" y="0"/>
            <a:chExt cx="348967" cy="318530"/>
          </a:xfrm>
        </p:grpSpPr>
        <p:sp>
          <p:nvSpPr>
            <p:cNvPr id="7" name="Freeform 7"/>
            <p:cNvSpPr/>
            <p:nvPr/>
          </p:nvSpPr>
          <p:spPr>
            <a:xfrm>
              <a:off x="0" y="0"/>
              <a:ext cx="348967" cy="318530"/>
            </a:xfrm>
            <a:custGeom>
              <a:avLst/>
              <a:gdLst/>
              <a:ahLst/>
              <a:cxnLst/>
              <a:rect l="l" t="t" r="r" b="b"/>
              <a:pathLst>
                <a:path w="348967" h="318530">
                  <a:moveTo>
                    <a:pt x="58430" y="0"/>
                  </a:moveTo>
                  <a:lnTo>
                    <a:pt x="290537" y="0"/>
                  </a:lnTo>
                  <a:cubicBezTo>
                    <a:pt x="306034" y="0"/>
                    <a:pt x="320896" y="6156"/>
                    <a:pt x="331854" y="17114"/>
                  </a:cubicBezTo>
                  <a:cubicBezTo>
                    <a:pt x="342811" y="28072"/>
                    <a:pt x="348967" y="42934"/>
                    <a:pt x="348967" y="58430"/>
                  </a:cubicBezTo>
                  <a:lnTo>
                    <a:pt x="348967" y="260100"/>
                  </a:lnTo>
                  <a:cubicBezTo>
                    <a:pt x="348967" y="292370"/>
                    <a:pt x="322807" y="318530"/>
                    <a:pt x="290537" y="318530"/>
                  </a:cubicBezTo>
                  <a:lnTo>
                    <a:pt x="58430" y="318530"/>
                  </a:lnTo>
                  <a:cubicBezTo>
                    <a:pt x="26160" y="318530"/>
                    <a:pt x="0" y="292370"/>
                    <a:pt x="0" y="260100"/>
                  </a:cubicBezTo>
                  <a:lnTo>
                    <a:pt x="0" y="58430"/>
                  </a:lnTo>
                  <a:cubicBezTo>
                    <a:pt x="0" y="42934"/>
                    <a:pt x="6156" y="28072"/>
                    <a:pt x="17114" y="17114"/>
                  </a:cubicBezTo>
                  <a:cubicBezTo>
                    <a:pt x="28072" y="6156"/>
                    <a:pt x="42934" y="0"/>
                    <a:pt x="58430" y="0"/>
                  </a:cubicBezTo>
                  <a:close/>
                </a:path>
              </a:pathLst>
            </a:custGeom>
            <a:solidFill>
              <a:srgbClr val="0D1D4B"/>
            </a:solidFill>
          </p:spPr>
        </p:sp>
        <p:sp>
          <p:nvSpPr>
            <p:cNvPr id="8" name="TextBox 8"/>
            <p:cNvSpPr txBox="1"/>
            <p:nvPr/>
          </p:nvSpPr>
          <p:spPr>
            <a:xfrm>
              <a:off x="0" y="-47625"/>
              <a:ext cx="348967" cy="366155"/>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2174699" y="6055494"/>
            <a:ext cx="717929" cy="724516"/>
          </a:xfrm>
          <a:custGeom>
            <a:avLst/>
            <a:gdLst/>
            <a:ahLst/>
            <a:cxnLst/>
            <a:rect l="l" t="t" r="r" b="b"/>
            <a:pathLst>
              <a:path w="717929" h="724516">
                <a:moveTo>
                  <a:pt x="0" y="0"/>
                </a:moveTo>
                <a:lnTo>
                  <a:pt x="717930" y="0"/>
                </a:lnTo>
                <a:lnTo>
                  <a:pt x="717930" y="724516"/>
                </a:lnTo>
                <a:lnTo>
                  <a:pt x="0" y="7245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1871171" y="2059276"/>
            <a:ext cx="7307152" cy="904621"/>
          </a:xfrm>
          <a:prstGeom prst="rect">
            <a:avLst/>
          </a:prstGeom>
        </p:spPr>
        <p:txBody>
          <a:bodyPr lIns="0" tIns="0" rIns="0" bIns="0" rtlCol="0" anchor="t">
            <a:spAutoFit/>
          </a:bodyPr>
          <a:lstStyle/>
          <a:p>
            <a:pPr algn="l">
              <a:lnSpc>
                <a:spcPts val="6766"/>
              </a:lnSpc>
            </a:pPr>
            <a:r>
              <a:rPr lang="en-US" sz="6699" b="1">
                <a:solidFill>
                  <a:srgbClr val="0C1D4B"/>
                </a:solidFill>
                <a:latin typeface="Montserrat Heavy"/>
                <a:ea typeface="Montserrat Heavy"/>
                <a:cs typeface="Montserrat Heavy"/>
                <a:sym typeface="Montserrat Heavy"/>
              </a:rPr>
              <a:t>Problem</a:t>
            </a:r>
          </a:p>
        </p:txBody>
      </p:sp>
      <p:sp>
        <p:nvSpPr>
          <p:cNvPr id="11" name="TextBox 11"/>
          <p:cNvSpPr txBox="1"/>
          <p:nvPr/>
        </p:nvSpPr>
        <p:spPr>
          <a:xfrm>
            <a:off x="1871171" y="3297442"/>
            <a:ext cx="7307152" cy="15582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Lorem ipsum dolor sit amet, consectetur adipiscing elit. Vivamus ornare sollicitudin est, vitae ullamcorper felis ultrices et. Donec ut risus quis libero hendrerit dignissim et </a:t>
            </a:r>
          </a:p>
        </p:txBody>
      </p:sp>
      <p:sp>
        <p:nvSpPr>
          <p:cNvPr id="12" name="TextBox 12"/>
          <p:cNvSpPr txBox="1"/>
          <p:nvPr/>
        </p:nvSpPr>
        <p:spPr>
          <a:xfrm>
            <a:off x="5621808" y="1080106"/>
            <a:ext cx="7307152" cy="4914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Xin chào ViệtNam</a:t>
            </a:r>
          </a:p>
        </p:txBody>
      </p:sp>
      <p:sp>
        <p:nvSpPr>
          <p:cNvPr id="13" name="TextBox 13"/>
          <p:cNvSpPr txBox="1"/>
          <p:nvPr/>
        </p:nvSpPr>
        <p:spPr>
          <a:xfrm>
            <a:off x="3860868" y="5552882"/>
            <a:ext cx="5206105" cy="15582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How does lighting design influence the ambiance and customer satisfaction in restaurants? </a:t>
            </a:r>
          </a:p>
        </p:txBody>
      </p:sp>
      <p:grpSp>
        <p:nvGrpSpPr>
          <p:cNvPr id="14" name="Group 14"/>
          <p:cNvGrpSpPr/>
          <p:nvPr/>
        </p:nvGrpSpPr>
        <p:grpSpPr>
          <a:xfrm>
            <a:off x="-3127839" y="9258300"/>
            <a:ext cx="22035035" cy="3565748"/>
            <a:chOff x="0" y="0"/>
            <a:chExt cx="5803466" cy="939127"/>
          </a:xfrm>
        </p:grpSpPr>
        <p:sp>
          <p:nvSpPr>
            <p:cNvPr id="15" name="Freeform 15"/>
            <p:cNvSpPr/>
            <p:nvPr/>
          </p:nvSpPr>
          <p:spPr>
            <a:xfrm>
              <a:off x="0" y="0"/>
              <a:ext cx="5803466" cy="939127"/>
            </a:xfrm>
            <a:custGeom>
              <a:avLst/>
              <a:gdLst/>
              <a:ahLst/>
              <a:cxnLst/>
              <a:rect l="l" t="t" r="r" b="b"/>
              <a:pathLst>
                <a:path w="5803466" h="939127">
                  <a:moveTo>
                    <a:pt x="0" y="0"/>
                  </a:moveTo>
                  <a:lnTo>
                    <a:pt x="5803466" y="0"/>
                  </a:lnTo>
                  <a:lnTo>
                    <a:pt x="5803466" y="939127"/>
                  </a:lnTo>
                  <a:lnTo>
                    <a:pt x="0" y="939127"/>
                  </a:lnTo>
                  <a:close/>
                </a:path>
              </a:pathLst>
            </a:custGeom>
            <a:solidFill>
              <a:srgbClr val="3C4F75"/>
            </a:solidFill>
          </p:spPr>
        </p:sp>
        <p:sp>
          <p:nvSpPr>
            <p:cNvPr id="16" name="TextBox 16"/>
            <p:cNvSpPr txBox="1"/>
            <p:nvPr/>
          </p:nvSpPr>
          <p:spPr>
            <a:xfrm>
              <a:off x="0" y="-47625"/>
              <a:ext cx="5803466" cy="986752"/>
            </a:xfrm>
            <a:prstGeom prst="rect">
              <a:avLst/>
            </a:prstGeom>
          </p:spPr>
          <p:txBody>
            <a:bodyPr lIns="50800" tIns="50800" rIns="50800" bIns="50800" rtlCol="0" anchor="ctr"/>
            <a:lstStyle/>
            <a:p>
              <a:pPr algn="ctr">
                <a:lnSpc>
                  <a:spcPts val="2940"/>
                </a:lnSpc>
              </a:pPr>
              <a:endParaRPr/>
            </a:p>
          </p:txBody>
        </p:sp>
      </p:grpSp>
      <p:sp>
        <p:nvSpPr>
          <p:cNvPr id="17" name="TextBox 17"/>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18" name="TextBox 18"/>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Montserrat"/>
                <a:ea typeface="Montserrat"/>
                <a:cs typeface="Montserrat"/>
                <a:sym typeface="Montserrat"/>
              </a:rPr>
              <a:t>39</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05771"/>
            <a:ext cx="574347" cy="422929"/>
          </a:xfrm>
          <a:custGeom>
            <a:avLst/>
            <a:gdLst/>
            <a:ahLst/>
            <a:cxnLst/>
            <a:rect l="l" t="t" r="r" b="b"/>
            <a:pathLst>
              <a:path w="574347" h="422929">
                <a:moveTo>
                  <a:pt x="0" y="0"/>
                </a:moveTo>
                <a:lnTo>
                  <a:pt x="574347" y="0"/>
                </a:lnTo>
                <a:lnTo>
                  <a:pt x="574347" y="422929"/>
                </a:lnTo>
                <a:lnTo>
                  <a:pt x="0" y="4229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9217992" y="1483600"/>
            <a:ext cx="603385" cy="556622"/>
          </a:xfrm>
          <a:custGeom>
            <a:avLst/>
            <a:gdLst/>
            <a:ahLst/>
            <a:cxnLst/>
            <a:rect l="l" t="t" r="r" b="b"/>
            <a:pathLst>
              <a:path w="603385" h="556622">
                <a:moveTo>
                  <a:pt x="0" y="0"/>
                </a:moveTo>
                <a:lnTo>
                  <a:pt x="603385" y="0"/>
                </a:lnTo>
                <a:lnTo>
                  <a:pt x="603385" y="556622"/>
                </a:lnTo>
                <a:lnTo>
                  <a:pt x="0" y="5566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217992" y="4230126"/>
            <a:ext cx="603385" cy="556622"/>
          </a:xfrm>
          <a:custGeom>
            <a:avLst/>
            <a:gdLst/>
            <a:ahLst/>
            <a:cxnLst/>
            <a:rect l="l" t="t" r="r" b="b"/>
            <a:pathLst>
              <a:path w="603385" h="556622">
                <a:moveTo>
                  <a:pt x="0" y="0"/>
                </a:moveTo>
                <a:lnTo>
                  <a:pt x="603385" y="0"/>
                </a:lnTo>
                <a:lnTo>
                  <a:pt x="603385" y="556622"/>
                </a:lnTo>
                <a:lnTo>
                  <a:pt x="0" y="5566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9217992" y="6744213"/>
            <a:ext cx="603385" cy="556622"/>
          </a:xfrm>
          <a:custGeom>
            <a:avLst/>
            <a:gdLst/>
            <a:ahLst/>
            <a:cxnLst/>
            <a:rect l="l" t="t" r="r" b="b"/>
            <a:pathLst>
              <a:path w="603385" h="556622">
                <a:moveTo>
                  <a:pt x="0" y="0"/>
                </a:moveTo>
                <a:lnTo>
                  <a:pt x="603385" y="0"/>
                </a:lnTo>
                <a:lnTo>
                  <a:pt x="603385" y="556622"/>
                </a:lnTo>
                <a:lnTo>
                  <a:pt x="0" y="5566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797799" y="4395383"/>
            <a:ext cx="5084227" cy="3864013"/>
          </a:xfrm>
          <a:custGeom>
            <a:avLst/>
            <a:gdLst/>
            <a:ahLst/>
            <a:cxnLst/>
            <a:rect l="l" t="t" r="r" b="b"/>
            <a:pathLst>
              <a:path w="5084227" h="3864013">
                <a:moveTo>
                  <a:pt x="0" y="0"/>
                </a:moveTo>
                <a:lnTo>
                  <a:pt x="5084228" y="0"/>
                </a:lnTo>
                <a:lnTo>
                  <a:pt x="5084228" y="3864013"/>
                </a:lnTo>
                <a:lnTo>
                  <a:pt x="0" y="386401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1797799" y="679450"/>
            <a:ext cx="3726948" cy="365760"/>
          </a:xfrm>
          <a:prstGeom prst="rect">
            <a:avLst/>
          </a:prstGeom>
        </p:spPr>
        <p:txBody>
          <a:bodyPr lIns="0" tIns="0" rIns="0" bIns="0" rtlCol="0" anchor="t">
            <a:spAutoFit/>
          </a:bodyPr>
          <a:lstStyle/>
          <a:p>
            <a:pPr algn="l">
              <a:lnSpc>
                <a:spcPts val="2940"/>
              </a:lnSpc>
            </a:pPr>
            <a:r>
              <a:rPr lang="en-US" sz="2100" b="1">
                <a:solidFill>
                  <a:srgbClr val="0C1D4B"/>
                </a:solidFill>
                <a:latin typeface="DM Sans Bold"/>
                <a:ea typeface="DM Sans Bold"/>
                <a:cs typeface="DM Sans Bold"/>
                <a:sym typeface="DM Sans Bold"/>
              </a:rPr>
              <a:t>BORCELLE UNIVERSITY</a:t>
            </a:r>
          </a:p>
        </p:txBody>
      </p:sp>
      <p:sp>
        <p:nvSpPr>
          <p:cNvPr id="8" name="TextBox 8"/>
          <p:cNvSpPr txBox="1"/>
          <p:nvPr/>
        </p:nvSpPr>
        <p:spPr>
          <a:xfrm>
            <a:off x="14289678" y="679450"/>
            <a:ext cx="2969622" cy="365760"/>
          </a:xfrm>
          <a:prstGeom prst="rect">
            <a:avLst/>
          </a:prstGeom>
        </p:spPr>
        <p:txBody>
          <a:bodyPr lIns="0" tIns="0" rIns="0" bIns="0" rtlCol="0" anchor="t">
            <a:spAutoFit/>
          </a:bodyPr>
          <a:lstStyle/>
          <a:p>
            <a:pPr algn="r">
              <a:lnSpc>
                <a:spcPts val="2940"/>
              </a:lnSpc>
            </a:pPr>
            <a:r>
              <a:rPr lang="en-US" sz="2100" b="1" spc="50">
                <a:solidFill>
                  <a:srgbClr val="0C1D4B"/>
                </a:solidFill>
                <a:latin typeface="DM Sans Bold"/>
                <a:ea typeface="DM Sans Bold"/>
                <a:cs typeface="DM Sans Bold"/>
                <a:sym typeface="DM Sans Bold"/>
              </a:rPr>
              <a:t>INTERIOR DESIGN</a:t>
            </a:r>
          </a:p>
        </p:txBody>
      </p:sp>
      <p:sp>
        <p:nvSpPr>
          <p:cNvPr id="9" name="TextBox 9"/>
          <p:cNvSpPr txBox="1"/>
          <p:nvPr/>
        </p:nvSpPr>
        <p:spPr>
          <a:xfrm>
            <a:off x="1797799" y="1885736"/>
            <a:ext cx="6100847" cy="1795272"/>
          </a:xfrm>
          <a:prstGeom prst="rect">
            <a:avLst/>
          </a:prstGeom>
        </p:spPr>
        <p:txBody>
          <a:bodyPr lIns="0" tIns="0" rIns="0" bIns="0" rtlCol="0" anchor="t">
            <a:spAutoFit/>
          </a:bodyPr>
          <a:lstStyle/>
          <a:p>
            <a:pPr algn="l">
              <a:lnSpc>
                <a:spcPts val="6968"/>
              </a:lnSpc>
            </a:pPr>
            <a:r>
              <a:rPr lang="en-US" sz="6899" b="1">
                <a:solidFill>
                  <a:srgbClr val="0C1D4B"/>
                </a:solidFill>
                <a:latin typeface="Montserrat Heavy"/>
                <a:ea typeface="Montserrat Heavy"/>
                <a:cs typeface="Montserrat Heavy"/>
                <a:sym typeface="Montserrat Heavy"/>
              </a:rPr>
              <a:t>Literature Review</a:t>
            </a:r>
          </a:p>
        </p:txBody>
      </p:sp>
      <p:sp>
        <p:nvSpPr>
          <p:cNvPr id="10" name="TextBox 10"/>
          <p:cNvSpPr txBox="1"/>
          <p:nvPr/>
        </p:nvSpPr>
        <p:spPr>
          <a:xfrm>
            <a:off x="10165755" y="1965565"/>
            <a:ext cx="6684169" cy="15582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Lorem ipsum dolor sit amet, consectetur adipiscing elit. Vivamus ornare sollicitudin est, vitae ullamcorper felis ultrices et. Donec ut risus quis libero hendrerit.</a:t>
            </a:r>
          </a:p>
        </p:txBody>
      </p:sp>
      <p:sp>
        <p:nvSpPr>
          <p:cNvPr id="11" name="TextBox 11"/>
          <p:cNvSpPr txBox="1"/>
          <p:nvPr/>
        </p:nvSpPr>
        <p:spPr>
          <a:xfrm>
            <a:off x="10165755" y="4615298"/>
            <a:ext cx="6684169" cy="15582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Lorem ipsum dolor sit amet, consectetur adipiscing elit. Vivamus ornare sollicitudin est, vitae ullamcorper felis ultrices et. Donec ut risus quis libero hendrerit.</a:t>
            </a:r>
          </a:p>
        </p:txBody>
      </p:sp>
      <p:sp>
        <p:nvSpPr>
          <p:cNvPr id="12" name="TextBox 12"/>
          <p:cNvSpPr txBox="1"/>
          <p:nvPr/>
        </p:nvSpPr>
        <p:spPr>
          <a:xfrm>
            <a:off x="10165755" y="7206357"/>
            <a:ext cx="6684169" cy="15582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Lorem ipsum dolor sit amet, consectetur adipiscing elit. Vivamus ornare sollicitudin est, vitae ullamcorper felis ultrices et. Donec ut risus quis libero hendrerit.</a:t>
            </a:r>
          </a:p>
        </p:txBody>
      </p:sp>
      <p:sp>
        <p:nvSpPr>
          <p:cNvPr id="13" name="TextBox 13"/>
          <p:cNvSpPr txBox="1"/>
          <p:nvPr/>
        </p:nvSpPr>
        <p:spPr>
          <a:xfrm>
            <a:off x="10165755" y="1540750"/>
            <a:ext cx="6684169" cy="396240"/>
          </a:xfrm>
          <a:prstGeom prst="rect">
            <a:avLst/>
          </a:prstGeom>
        </p:spPr>
        <p:txBody>
          <a:bodyPr lIns="0" tIns="0" rIns="0" bIns="0" rtlCol="0" anchor="t">
            <a:spAutoFit/>
          </a:bodyPr>
          <a:lstStyle/>
          <a:p>
            <a:pPr algn="l">
              <a:lnSpc>
                <a:spcPts val="3030"/>
              </a:lnSpc>
            </a:pPr>
            <a:r>
              <a:rPr lang="en-US" sz="3000" b="1">
                <a:solidFill>
                  <a:srgbClr val="0C1D4B"/>
                </a:solidFill>
                <a:latin typeface="Montserrat Heavy"/>
                <a:ea typeface="Montserrat Heavy"/>
                <a:cs typeface="Montserrat Heavy"/>
                <a:sym typeface="Montserrat Heavy"/>
              </a:rPr>
              <a:t>Theory 1</a:t>
            </a:r>
          </a:p>
        </p:txBody>
      </p:sp>
      <p:sp>
        <p:nvSpPr>
          <p:cNvPr id="14" name="TextBox 14"/>
          <p:cNvSpPr txBox="1"/>
          <p:nvPr/>
        </p:nvSpPr>
        <p:spPr>
          <a:xfrm>
            <a:off x="10165755" y="4247633"/>
            <a:ext cx="6684169" cy="396240"/>
          </a:xfrm>
          <a:prstGeom prst="rect">
            <a:avLst/>
          </a:prstGeom>
        </p:spPr>
        <p:txBody>
          <a:bodyPr lIns="0" tIns="0" rIns="0" bIns="0" rtlCol="0" anchor="t">
            <a:spAutoFit/>
          </a:bodyPr>
          <a:lstStyle/>
          <a:p>
            <a:pPr algn="l">
              <a:lnSpc>
                <a:spcPts val="3030"/>
              </a:lnSpc>
            </a:pPr>
            <a:r>
              <a:rPr lang="en-US" sz="3000" b="1">
                <a:solidFill>
                  <a:srgbClr val="0C1D4B"/>
                </a:solidFill>
                <a:latin typeface="Montserrat Heavy"/>
                <a:ea typeface="Montserrat Heavy"/>
                <a:cs typeface="Montserrat Heavy"/>
                <a:sym typeface="Montserrat Heavy"/>
              </a:rPr>
              <a:t>Theory 2</a:t>
            </a:r>
          </a:p>
        </p:txBody>
      </p:sp>
      <p:sp>
        <p:nvSpPr>
          <p:cNvPr id="15" name="TextBox 15"/>
          <p:cNvSpPr txBox="1"/>
          <p:nvPr/>
        </p:nvSpPr>
        <p:spPr>
          <a:xfrm>
            <a:off x="10165755" y="6781542"/>
            <a:ext cx="6684169" cy="396240"/>
          </a:xfrm>
          <a:prstGeom prst="rect">
            <a:avLst/>
          </a:prstGeom>
        </p:spPr>
        <p:txBody>
          <a:bodyPr lIns="0" tIns="0" rIns="0" bIns="0" rtlCol="0" anchor="t">
            <a:spAutoFit/>
          </a:bodyPr>
          <a:lstStyle/>
          <a:p>
            <a:pPr algn="l">
              <a:lnSpc>
                <a:spcPts val="3030"/>
              </a:lnSpc>
            </a:pPr>
            <a:r>
              <a:rPr lang="en-US" sz="3000" b="1">
                <a:solidFill>
                  <a:srgbClr val="0C1D4B"/>
                </a:solidFill>
                <a:latin typeface="Montserrat Heavy"/>
                <a:ea typeface="Montserrat Heavy"/>
                <a:cs typeface="Montserrat Heavy"/>
                <a:sym typeface="Montserrat Heavy"/>
              </a:rPr>
              <a:t>Theory 3</a:t>
            </a:r>
          </a:p>
        </p:txBody>
      </p:sp>
      <p:grpSp>
        <p:nvGrpSpPr>
          <p:cNvPr id="16" name="Group 16"/>
          <p:cNvGrpSpPr/>
          <p:nvPr/>
        </p:nvGrpSpPr>
        <p:grpSpPr>
          <a:xfrm>
            <a:off x="-3127839" y="9258300"/>
            <a:ext cx="22035035" cy="3565748"/>
            <a:chOff x="0" y="0"/>
            <a:chExt cx="5803466" cy="939127"/>
          </a:xfrm>
        </p:grpSpPr>
        <p:sp>
          <p:nvSpPr>
            <p:cNvPr id="17" name="Freeform 17"/>
            <p:cNvSpPr/>
            <p:nvPr/>
          </p:nvSpPr>
          <p:spPr>
            <a:xfrm>
              <a:off x="0" y="0"/>
              <a:ext cx="5803466" cy="939127"/>
            </a:xfrm>
            <a:custGeom>
              <a:avLst/>
              <a:gdLst/>
              <a:ahLst/>
              <a:cxnLst/>
              <a:rect l="l" t="t" r="r" b="b"/>
              <a:pathLst>
                <a:path w="5803466" h="939127">
                  <a:moveTo>
                    <a:pt x="0" y="0"/>
                  </a:moveTo>
                  <a:lnTo>
                    <a:pt x="5803466" y="0"/>
                  </a:lnTo>
                  <a:lnTo>
                    <a:pt x="5803466" y="939127"/>
                  </a:lnTo>
                  <a:lnTo>
                    <a:pt x="0" y="939127"/>
                  </a:lnTo>
                  <a:close/>
                </a:path>
              </a:pathLst>
            </a:custGeom>
            <a:solidFill>
              <a:srgbClr val="3C4F75"/>
            </a:solidFill>
          </p:spPr>
        </p:sp>
        <p:sp>
          <p:nvSpPr>
            <p:cNvPr id="18" name="TextBox 18"/>
            <p:cNvSpPr txBox="1"/>
            <p:nvPr/>
          </p:nvSpPr>
          <p:spPr>
            <a:xfrm>
              <a:off x="0" y="-47625"/>
              <a:ext cx="5803466" cy="986752"/>
            </a:xfrm>
            <a:prstGeom prst="rect">
              <a:avLst/>
            </a:prstGeom>
          </p:spPr>
          <p:txBody>
            <a:bodyPr lIns="50800" tIns="50800" rIns="50800" bIns="50800" rtlCol="0" anchor="ctr"/>
            <a:lstStyle/>
            <a:p>
              <a:pPr algn="ctr">
                <a:lnSpc>
                  <a:spcPts val="2940"/>
                </a:lnSpc>
              </a:pPr>
              <a:endParaRPr/>
            </a:p>
          </p:txBody>
        </p:sp>
      </p:grpSp>
      <p:sp>
        <p:nvSpPr>
          <p:cNvPr id="19" name="TextBox 19"/>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20" name="TextBox 20"/>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Montserrat"/>
                <a:ea typeface="Montserrat"/>
                <a:cs typeface="Montserrat"/>
                <a:sym typeface="Montserrat"/>
              </a:rPr>
              <a:t>40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05771"/>
            <a:ext cx="574347" cy="422929"/>
          </a:xfrm>
          <a:custGeom>
            <a:avLst/>
            <a:gdLst/>
            <a:ahLst/>
            <a:cxnLst/>
            <a:rect l="l" t="t" r="r" b="b"/>
            <a:pathLst>
              <a:path w="574347" h="422929">
                <a:moveTo>
                  <a:pt x="0" y="0"/>
                </a:moveTo>
                <a:lnTo>
                  <a:pt x="574347" y="0"/>
                </a:lnTo>
                <a:lnTo>
                  <a:pt x="574347" y="422929"/>
                </a:lnTo>
                <a:lnTo>
                  <a:pt x="0" y="4229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9144000" y="2174153"/>
            <a:ext cx="927916" cy="575308"/>
          </a:xfrm>
          <a:custGeom>
            <a:avLst/>
            <a:gdLst/>
            <a:ahLst/>
            <a:cxnLst/>
            <a:rect l="l" t="t" r="r" b="b"/>
            <a:pathLst>
              <a:path w="927916" h="575308">
                <a:moveTo>
                  <a:pt x="0" y="0"/>
                </a:moveTo>
                <a:lnTo>
                  <a:pt x="927916" y="0"/>
                </a:lnTo>
                <a:lnTo>
                  <a:pt x="927916" y="575308"/>
                </a:lnTo>
                <a:lnTo>
                  <a:pt x="0" y="5753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144000" y="5143500"/>
            <a:ext cx="927916" cy="575308"/>
          </a:xfrm>
          <a:custGeom>
            <a:avLst/>
            <a:gdLst/>
            <a:ahLst/>
            <a:cxnLst/>
            <a:rect l="l" t="t" r="r" b="b"/>
            <a:pathLst>
              <a:path w="927916" h="575308">
                <a:moveTo>
                  <a:pt x="0" y="0"/>
                </a:moveTo>
                <a:lnTo>
                  <a:pt x="927916" y="0"/>
                </a:lnTo>
                <a:lnTo>
                  <a:pt x="927916" y="575308"/>
                </a:lnTo>
                <a:lnTo>
                  <a:pt x="0" y="5753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797799" y="4423954"/>
            <a:ext cx="5410503" cy="3875888"/>
          </a:xfrm>
          <a:custGeom>
            <a:avLst/>
            <a:gdLst/>
            <a:ahLst/>
            <a:cxnLst/>
            <a:rect l="l" t="t" r="r" b="b"/>
            <a:pathLst>
              <a:path w="5410503" h="3875888">
                <a:moveTo>
                  <a:pt x="0" y="0"/>
                </a:moveTo>
                <a:lnTo>
                  <a:pt x="5410503" y="0"/>
                </a:lnTo>
                <a:lnTo>
                  <a:pt x="5410503" y="3875888"/>
                </a:lnTo>
                <a:lnTo>
                  <a:pt x="0" y="38758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1797799" y="679450"/>
            <a:ext cx="3726948" cy="365760"/>
          </a:xfrm>
          <a:prstGeom prst="rect">
            <a:avLst/>
          </a:prstGeom>
        </p:spPr>
        <p:txBody>
          <a:bodyPr lIns="0" tIns="0" rIns="0" bIns="0" rtlCol="0" anchor="t">
            <a:spAutoFit/>
          </a:bodyPr>
          <a:lstStyle/>
          <a:p>
            <a:pPr algn="l">
              <a:lnSpc>
                <a:spcPts val="2940"/>
              </a:lnSpc>
            </a:pPr>
            <a:r>
              <a:rPr lang="en-US" sz="2100" b="1">
                <a:solidFill>
                  <a:srgbClr val="0C1D4B"/>
                </a:solidFill>
                <a:latin typeface="DM Sans Bold"/>
                <a:ea typeface="DM Sans Bold"/>
                <a:cs typeface="DM Sans Bold"/>
                <a:sym typeface="DM Sans Bold"/>
              </a:rPr>
              <a:t>BORCELLE UNIVERSITY</a:t>
            </a:r>
          </a:p>
        </p:txBody>
      </p:sp>
      <p:sp>
        <p:nvSpPr>
          <p:cNvPr id="7" name="TextBox 7"/>
          <p:cNvSpPr txBox="1"/>
          <p:nvPr/>
        </p:nvSpPr>
        <p:spPr>
          <a:xfrm>
            <a:off x="14289678" y="679450"/>
            <a:ext cx="2969622" cy="365760"/>
          </a:xfrm>
          <a:prstGeom prst="rect">
            <a:avLst/>
          </a:prstGeom>
        </p:spPr>
        <p:txBody>
          <a:bodyPr lIns="0" tIns="0" rIns="0" bIns="0" rtlCol="0" anchor="t">
            <a:spAutoFit/>
          </a:bodyPr>
          <a:lstStyle/>
          <a:p>
            <a:pPr algn="r">
              <a:lnSpc>
                <a:spcPts val="2940"/>
              </a:lnSpc>
            </a:pPr>
            <a:r>
              <a:rPr lang="en-US" sz="2100" b="1" spc="50">
                <a:solidFill>
                  <a:srgbClr val="0C1D4B"/>
                </a:solidFill>
                <a:latin typeface="DM Sans Bold"/>
                <a:ea typeface="DM Sans Bold"/>
                <a:cs typeface="DM Sans Bold"/>
                <a:sym typeface="DM Sans Bold"/>
              </a:rPr>
              <a:t>INTERIOR DESIGN</a:t>
            </a:r>
          </a:p>
        </p:txBody>
      </p:sp>
      <p:sp>
        <p:nvSpPr>
          <p:cNvPr id="8" name="TextBox 8"/>
          <p:cNvSpPr txBox="1"/>
          <p:nvPr/>
        </p:nvSpPr>
        <p:spPr>
          <a:xfrm>
            <a:off x="1461049" y="2103245"/>
            <a:ext cx="6763507" cy="918972"/>
          </a:xfrm>
          <a:prstGeom prst="rect">
            <a:avLst/>
          </a:prstGeom>
        </p:spPr>
        <p:txBody>
          <a:bodyPr lIns="0" tIns="0" rIns="0" bIns="0" rtlCol="0" anchor="t">
            <a:spAutoFit/>
          </a:bodyPr>
          <a:lstStyle/>
          <a:p>
            <a:pPr algn="l">
              <a:lnSpc>
                <a:spcPts val="6968"/>
              </a:lnSpc>
            </a:pPr>
            <a:r>
              <a:rPr lang="en-US" sz="6899" b="1">
                <a:solidFill>
                  <a:srgbClr val="0C1D4B"/>
                </a:solidFill>
                <a:latin typeface="Montserrat Heavy"/>
                <a:ea typeface="Montserrat Heavy"/>
                <a:cs typeface="Montserrat Heavy"/>
                <a:sym typeface="Montserrat Heavy"/>
              </a:rPr>
              <a:t>Methodology </a:t>
            </a:r>
          </a:p>
        </p:txBody>
      </p:sp>
      <p:sp>
        <p:nvSpPr>
          <p:cNvPr id="9" name="TextBox 9"/>
          <p:cNvSpPr txBox="1"/>
          <p:nvPr/>
        </p:nvSpPr>
        <p:spPr>
          <a:xfrm>
            <a:off x="10424666" y="2819141"/>
            <a:ext cx="5460266" cy="1737361"/>
          </a:xfrm>
          <a:prstGeom prst="rect">
            <a:avLst/>
          </a:prstGeom>
        </p:spPr>
        <p:txBody>
          <a:bodyPr lIns="0" tIns="0" rIns="0" bIns="0" rtlCol="0" anchor="t">
            <a:spAutoFit/>
          </a:bodyPr>
          <a:lstStyle/>
          <a:p>
            <a:pPr algn="just">
              <a:lnSpc>
                <a:spcPts val="4799"/>
              </a:lnSpc>
            </a:pPr>
            <a:r>
              <a:rPr lang="en-US" sz="2399">
                <a:solidFill>
                  <a:srgbClr val="696D76"/>
                </a:solidFill>
                <a:latin typeface="DM Sans"/>
                <a:ea typeface="DM Sans"/>
                <a:cs typeface="DM Sans"/>
                <a:sym typeface="DM Sans"/>
              </a:rPr>
              <a:t>Comparative analysis of different restaurants with varying lighting schemes</a:t>
            </a:r>
          </a:p>
        </p:txBody>
      </p:sp>
      <p:sp>
        <p:nvSpPr>
          <p:cNvPr id="10" name="TextBox 10"/>
          <p:cNvSpPr txBox="1"/>
          <p:nvPr/>
        </p:nvSpPr>
        <p:spPr>
          <a:xfrm>
            <a:off x="10424666" y="2231303"/>
            <a:ext cx="5793359" cy="429641"/>
          </a:xfrm>
          <a:prstGeom prst="rect">
            <a:avLst/>
          </a:prstGeom>
        </p:spPr>
        <p:txBody>
          <a:bodyPr lIns="0" tIns="0" rIns="0" bIns="0" rtlCol="0" anchor="t">
            <a:spAutoFit/>
          </a:bodyPr>
          <a:lstStyle/>
          <a:p>
            <a:pPr algn="l">
              <a:lnSpc>
                <a:spcPts val="3231"/>
              </a:lnSpc>
            </a:pPr>
            <a:r>
              <a:rPr lang="en-US" sz="3199" b="1">
                <a:solidFill>
                  <a:srgbClr val="0C1D4B"/>
                </a:solidFill>
                <a:latin typeface="Montserrat Heavy"/>
                <a:ea typeface="Montserrat Heavy"/>
                <a:cs typeface="Montserrat Heavy"/>
                <a:sym typeface="Montserrat Heavy"/>
              </a:rPr>
              <a:t>Research Design</a:t>
            </a:r>
          </a:p>
        </p:txBody>
      </p:sp>
      <p:sp>
        <p:nvSpPr>
          <p:cNvPr id="11" name="TextBox 11"/>
          <p:cNvSpPr txBox="1"/>
          <p:nvPr/>
        </p:nvSpPr>
        <p:spPr>
          <a:xfrm>
            <a:off x="10424666" y="5648195"/>
            <a:ext cx="4519117" cy="2337436"/>
          </a:xfrm>
          <a:prstGeom prst="rect">
            <a:avLst/>
          </a:prstGeom>
        </p:spPr>
        <p:txBody>
          <a:bodyPr lIns="0" tIns="0" rIns="0" bIns="0" rtlCol="0" anchor="t">
            <a:spAutoFit/>
          </a:bodyPr>
          <a:lstStyle/>
          <a:p>
            <a:pPr marL="518158" lvl="1" indent="-259079" algn="just">
              <a:lnSpc>
                <a:spcPts val="4799"/>
              </a:lnSpc>
              <a:buFont typeface="Arial"/>
              <a:buChar char="•"/>
            </a:pPr>
            <a:r>
              <a:rPr lang="en-US" sz="2399">
                <a:solidFill>
                  <a:srgbClr val="696D76"/>
                </a:solidFill>
                <a:latin typeface="DM Sans"/>
                <a:ea typeface="DM Sans"/>
                <a:cs typeface="DM Sans"/>
                <a:sym typeface="DM Sans"/>
              </a:rPr>
              <a:t>Customer surveys</a:t>
            </a:r>
          </a:p>
          <a:p>
            <a:pPr marL="518158" lvl="1" indent="-259079" algn="just">
              <a:lnSpc>
                <a:spcPts val="4799"/>
              </a:lnSpc>
              <a:buFont typeface="Arial"/>
              <a:buChar char="•"/>
            </a:pPr>
            <a:r>
              <a:rPr lang="en-US" sz="2399">
                <a:solidFill>
                  <a:srgbClr val="696D76"/>
                </a:solidFill>
                <a:latin typeface="DM Sans"/>
                <a:ea typeface="DM Sans"/>
                <a:cs typeface="DM Sans"/>
                <a:sym typeface="DM Sans"/>
              </a:rPr>
              <a:t>In-depth interviews</a:t>
            </a:r>
          </a:p>
          <a:p>
            <a:pPr marL="518158" lvl="1" indent="-259079" algn="just">
              <a:lnSpc>
                <a:spcPts val="4799"/>
              </a:lnSpc>
              <a:buFont typeface="Arial"/>
              <a:buChar char="•"/>
            </a:pPr>
            <a:r>
              <a:rPr lang="en-US" sz="2399">
                <a:solidFill>
                  <a:srgbClr val="696D76"/>
                </a:solidFill>
                <a:latin typeface="DM Sans"/>
                <a:ea typeface="DM Sans"/>
                <a:cs typeface="DM Sans"/>
                <a:sym typeface="DM Sans"/>
              </a:rPr>
              <a:t>Observational analysis of restaurant ambience</a:t>
            </a:r>
          </a:p>
        </p:txBody>
      </p:sp>
      <p:sp>
        <p:nvSpPr>
          <p:cNvPr id="12" name="TextBox 12"/>
          <p:cNvSpPr txBox="1"/>
          <p:nvPr/>
        </p:nvSpPr>
        <p:spPr>
          <a:xfrm>
            <a:off x="10424666" y="5200650"/>
            <a:ext cx="5793359" cy="429641"/>
          </a:xfrm>
          <a:prstGeom prst="rect">
            <a:avLst/>
          </a:prstGeom>
        </p:spPr>
        <p:txBody>
          <a:bodyPr lIns="0" tIns="0" rIns="0" bIns="0" rtlCol="0" anchor="t">
            <a:spAutoFit/>
          </a:bodyPr>
          <a:lstStyle/>
          <a:p>
            <a:pPr algn="l">
              <a:lnSpc>
                <a:spcPts val="3231"/>
              </a:lnSpc>
            </a:pPr>
            <a:r>
              <a:rPr lang="en-US" sz="3199" b="1">
                <a:solidFill>
                  <a:srgbClr val="0C1D4B"/>
                </a:solidFill>
                <a:latin typeface="Montserrat Heavy"/>
                <a:ea typeface="Montserrat Heavy"/>
                <a:cs typeface="Montserrat Heavy"/>
                <a:sym typeface="Montserrat Heavy"/>
              </a:rPr>
              <a:t>Data Collection</a:t>
            </a:r>
          </a:p>
        </p:txBody>
      </p:sp>
      <p:grpSp>
        <p:nvGrpSpPr>
          <p:cNvPr id="13" name="Group 13"/>
          <p:cNvGrpSpPr/>
          <p:nvPr/>
        </p:nvGrpSpPr>
        <p:grpSpPr>
          <a:xfrm>
            <a:off x="-3127839" y="9258300"/>
            <a:ext cx="22035035" cy="3565748"/>
            <a:chOff x="0" y="0"/>
            <a:chExt cx="5803466" cy="939127"/>
          </a:xfrm>
        </p:grpSpPr>
        <p:sp>
          <p:nvSpPr>
            <p:cNvPr id="14" name="Freeform 14"/>
            <p:cNvSpPr/>
            <p:nvPr/>
          </p:nvSpPr>
          <p:spPr>
            <a:xfrm>
              <a:off x="0" y="0"/>
              <a:ext cx="5803466" cy="939127"/>
            </a:xfrm>
            <a:custGeom>
              <a:avLst/>
              <a:gdLst/>
              <a:ahLst/>
              <a:cxnLst/>
              <a:rect l="l" t="t" r="r" b="b"/>
              <a:pathLst>
                <a:path w="5803466" h="939127">
                  <a:moveTo>
                    <a:pt x="0" y="0"/>
                  </a:moveTo>
                  <a:lnTo>
                    <a:pt x="5803466" y="0"/>
                  </a:lnTo>
                  <a:lnTo>
                    <a:pt x="5803466" y="939127"/>
                  </a:lnTo>
                  <a:lnTo>
                    <a:pt x="0" y="939127"/>
                  </a:lnTo>
                  <a:close/>
                </a:path>
              </a:pathLst>
            </a:custGeom>
            <a:solidFill>
              <a:srgbClr val="3C4F75"/>
            </a:solidFill>
          </p:spPr>
        </p:sp>
        <p:sp>
          <p:nvSpPr>
            <p:cNvPr id="15" name="TextBox 15"/>
            <p:cNvSpPr txBox="1"/>
            <p:nvPr/>
          </p:nvSpPr>
          <p:spPr>
            <a:xfrm>
              <a:off x="0" y="-47625"/>
              <a:ext cx="5803466" cy="986752"/>
            </a:xfrm>
            <a:prstGeom prst="rect">
              <a:avLst/>
            </a:prstGeom>
          </p:spPr>
          <p:txBody>
            <a:bodyPr lIns="50800" tIns="50800" rIns="50800" bIns="50800" rtlCol="0" anchor="ctr"/>
            <a:lstStyle/>
            <a:p>
              <a:pPr algn="ctr">
                <a:lnSpc>
                  <a:spcPts val="2940"/>
                </a:lnSpc>
              </a:pPr>
              <a:endParaRPr/>
            </a:p>
          </p:txBody>
        </p:sp>
      </p:grpSp>
      <p:sp>
        <p:nvSpPr>
          <p:cNvPr id="16" name="TextBox 16"/>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17" name="TextBox 17"/>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Montserrat"/>
                <a:ea typeface="Montserrat"/>
                <a:cs typeface="Montserrat"/>
                <a:sym typeface="Montserrat"/>
              </a:rPr>
              <a:t>41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05771"/>
            <a:ext cx="574347" cy="422929"/>
          </a:xfrm>
          <a:custGeom>
            <a:avLst/>
            <a:gdLst/>
            <a:ahLst/>
            <a:cxnLst/>
            <a:rect l="l" t="t" r="r" b="b"/>
            <a:pathLst>
              <a:path w="574347" h="422929">
                <a:moveTo>
                  <a:pt x="0" y="0"/>
                </a:moveTo>
                <a:lnTo>
                  <a:pt x="574347" y="0"/>
                </a:lnTo>
                <a:lnTo>
                  <a:pt x="574347" y="422929"/>
                </a:lnTo>
                <a:lnTo>
                  <a:pt x="0" y="4229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844471" y="3183006"/>
            <a:ext cx="4890414" cy="5008804"/>
          </a:xfrm>
          <a:custGeom>
            <a:avLst/>
            <a:gdLst/>
            <a:ahLst/>
            <a:cxnLst/>
            <a:rect l="l" t="t" r="r" b="b"/>
            <a:pathLst>
              <a:path w="4890414" h="5008804">
                <a:moveTo>
                  <a:pt x="0" y="0"/>
                </a:moveTo>
                <a:lnTo>
                  <a:pt x="4890414" y="0"/>
                </a:lnTo>
                <a:lnTo>
                  <a:pt x="4890414" y="5008804"/>
                </a:lnTo>
                <a:lnTo>
                  <a:pt x="0" y="50088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797799" y="679450"/>
            <a:ext cx="3726948" cy="365760"/>
          </a:xfrm>
          <a:prstGeom prst="rect">
            <a:avLst/>
          </a:prstGeom>
        </p:spPr>
        <p:txBody>
          <a:bodyPr lIns="0" tIns="0" rIns="0" bIns="0" rtlCol="0" anchor="t">
            <a:spAutoFit/>
          </a:bodyPr>
          <a:lstStyle/>
          <a:p>
            <a:pPr algn="l">
              <a:lnSpc>
                <a:spcPts val="2940"/>
              </a:lnSpc>
            </a:pPr>
            <a:r>
              <a:rPr lang="en-US" sz="2100" b="1">
                <a:solidFill>
                  <a:srgbClr val="0C1D4B"/>
                </a:solidFill>
                <a:latin typeface="DM Sans Bold"/>
                <a:ea typeface="DM Sans Bold"/>
                <a:cs typeface="DM Sans Bold"/>
                <a:sym typeface="DM Sans Bold"/>
              </a:rPr>
              <a:t>BORCELLE UNIVERSITY</a:t>
            </a:r>
          </a:p>
        </p:txBody>
      </p:sp>
      <p:sp>
        <p:nvSpPr>
          <p:cNvPr id="5" name="TextBox 5"/>
          <p:cNvSpPr txBox="1"/>
          <p:nvPr/>
        </p:nvSpPr>
        <p:spPr>
          <a:xfrm>
            <a:off x="14289678" y="679450"/>
            <a:ext cx="2969622" cy="365760"/>
          </a:xfrm>
          <a:prstGeom prst="rect">
            <a:avLst/>
          </a:prstGeom>
        </p:spPr>
        <p:txBody>
          <a:bodyPr lIns="0" tIns="0" rIns="0" bIns="0" rtlCol="0" anchor="t">
            <a:spAutoFit/>
          </a:bodyPr>
          <a:lstStyle/>
          <a:p>
            <a:pPr algn="r">
              <a:lnSpc>
                <a:spcPts val="2940"/>
              </a:lnSpc>
            </a:pPr>
            <a:r>
              <a:rPr lang="en-US" sz="2100" b="1" spc="50">
                <a:solidFill>
                  <a:srgbClr val="0C1D4B"/>
                </a:solidFill>
                <a:latin typeface="DM Sans Bold"/>
                <a:ea typeface="DM Sans Bold"/>
                <a:cs typeface="DM Sans Bold"/>
                <a:sym typeface="DM Sans Bold"/>
              </a:rPr>
              <a:t>INTERIOR DESIGN</a:t>
            </a:r>
          </a:p>
        </p:txBody>
      </p:sp>
      <p:sp>
        <p:nvSpPr>
          <p:cNvPr id="6" name="TextBox 6"/>
          <p:cNvSpPr txBox="1"/>
          <p:nvPr/>
        </p:nvSpPr>
        <p:spPr>
          <a:xfrm>
            <a:off x="5387454" y="1680721"/>
            <a:ext cx="7189948" cy="1000124"/>
          </a:xfrm>
          <a:prstGeom prst="rect">
            <a:avLst/>
          </a:prstGeom>
        </p:spPr>
        <p:txBody>
          <a:bodyPr lIns="0" tIns="0" rIns="0" bIns="0" rtlCol="0" anchor="t">
            <a:spAutoFit/>
          </a:bodyPr>
          <a:lstStyle/>
          <a:p>
            <a:pPr algn="ctr">
              <a:lnSpc>
                <a:spcPts val="7574"/>
              </a:lnSpc>
            </a:pPr>
            <a:r>
              <a:rPr lang="en-US" sz="7499" b="1">
                <a:solidFill>
                  <a:srgbClr val="0C1D4B"/>
                </a:solidFill>
                <a:latin typeface="Montserrat Heavy"/>
                <a:ea typeface="Montserrat Heavy"/>
                <a:cs typeface="Montserrat Heavy"/>
                <a:sym typeface="Montserrat Heavy"/>
              </a:rPr>
              <a:t>Analysis</a:t>
            </a:r>
          </a:p>
        </p:txBody>
      </p:sp>
      <p:sp>
        <p:nvSpPr>
          <p:cNvPr id="7" name="TextBox 7"/>
          <p:cNvSpPr txBox="1"/>
          <p:nvPr/>
        </p:nvSpPr>
        <p:spPr>
          <a:xfrm>
            <a:off x="1236933" y="3254826"/>
            <a:ext cx="7907067" cy="20916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Lorem ipsum dolor sit amet, consectetur adipiscing elit. Vivamus ornare sollicitudin est, vitae ullamcorper felis ultrices et. Aliquam erat volutpat. Cras vel mi dui. Donec varius odio eu nibh molestie, vel maximus quam viverra. </a:t>
            </a:r>
          </a:p>
        </p:txBody>
      </p:sp>
      <p:sp>
        <p:nvSpPr>
          <p:cNvPr id="8" name="TextBox 8"/>
          <p:cNvSpPr txBox="1"/>
          <p:nvPr/>
        </p:nvSpPr>
        <p:spPr>
          <a:xfrm>
            <a:off x="1763752" y="6633520"/>
            <a:ext cx="3426714" cy="15582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Comparative analysis of different restaurants with varying lighting schemes</a:t>
            </a:r>
          </a:p>
        </p:txBody>
      </p:sp>
      <p:sp>
        <p:nvSpPr>
          <p:cNvPr id="9" name="TextBox 9"/>
          <p:cNvSpPr txBox="1"/>
          <p:nvPr/>
        </p:nvSpPr>
        <p:spPr>
          <a:xfrm>
            <a:off x="1763752" y="6149097"/>
            <a:ext cx="3426714" cy="429641"/>
          </a:xfrm>
          <a:prstGeom prst="rect">
            <a:avLst/>
          </a:prstGeom>
        </p:spPr>
        <p:txBody>
          <a:bodyPr lIns="0" tIns="0" rIns="0" bIns="0" rtlCol="0" anchor="t">
            <a:spAutoFit/>
          </a:bodyPr>
          <a:lstStyle/>
          <a:p>
            <a:pPr algn="l">
              <a:lnSpc>
                <a:spcPts val="3231"/>
              </a:lnSpc>
            </a:pPr>
            <a:r>
              <a:rPr lang="en-US" sz="3199" b="1">
                <a:solidFill>
                  <a:srgbClr val="0C1D4B"/>
                </a:solidFill>
                <a:latin typeface="Montserrat Heavy"/>
                <a:ea typeface="Montserrat Heavy"/>
                <a:cs typeface="Montserrat Heavy"/>
                <a:sym typeface="Montserrat Heavy"/>
              </a:rPr>
              <a:t>Analysis 1</a:t>
            </a:r>
          </a:p>
        </p:txBody>
      </p:sp>
      <p:sp>
        <p:nvSpPr>
          <p:cNvPr id="10" name="TextBox 10"/>
          <p:cNvSpPr txBox="1"/>
          <p:nvPr/>
        </p:nvSpPr>
        <p:spPr>
          <a:xfrm>
            <a:off x="6952418" y="6633520"/>
            <a:ext cx="3426714" cy="15582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Comparative analysis of different restaurants with varying lighting schemes</a:t>
            </a:r>
          </a:p>
        </p:txBody>
      </p:sp>
      <p:sp>
        <p:nvSpPr>
          <p:cNvPr id="11" name="TextBox 11"/>
          <p:cNvSpPr txBox="1"/>
          <p:nvPr/>
        </p:nvSpPr>
        <p:spPr>
          <a:xfrm>
            <a:off x="6952418" y="6146616"/>
            <a:ext cx="3426714" cy="429641"/>
          </a:xfrm>
          <a:prstGeom prst="rect">
            <a:avLst/>
          </a:prstGeom>
        </p:spPr>
        <p:txBody>
          <a:bodyPr lIns="0" tIns="0" rIns="0" bIns="0" rtlCol="0" anchor="t">
            <a:spAutoFit/>
          </a:bodyPr>
          <a:lstStyle/>
          <a:p>
            <a:pPr algn="l">
              <a:lnSpc>
                <a:spcPts val="3231"/>
              </a:lnSpc>
            </a:pPr>
            <a:r>
              <a:rPr lang="en-US" sz="3199" b="1">
                <a:solidFill>
                  <a:srgbClr val="0C1D4B"/>
                </a:solidFill>
                <a:latin typeface="Montserrat Heavy"/>
                <a:ea typeface="Montserrat Heavy"/>
                <a:cs typeface="Montserrat Heavy"/>
                <a:sym typeface="Montserrat Heavy"/>
              </a:rPr>
              <a:t>Analysis 2</a:t>
            </a:r>
          </a:p>
        </p:txBody>
      </p:sp>
      <p:sp>
        <p:nvSpPr>
          <p:cNvPr id="12" name="Freeform 12"/>
          <p:cNvSpPr/>
          <p:nvPr/>
        </p:nvSpPr>
        <p:spPr>
          <a:xfrm>
            <a:off x="1075361" y="6091947"/>
            <a:ext cx="527687" cy="486791"/>
          </a:xfrm>
          <a:custGeom>
            <a:avLst/>
            <a:gdLst/>
            <a:ahLst/>
            <a:cxnLst/>
            <a:rect l="l" t="t" r="r" b="b"/>
            <a:pathLst>
              <a:path w="527687" h="486791">
                <a:moveTo>
                  <a:pt x="0" y="0"/>
                </a:moveTo>
                <a:lnTo>
                  <a:pt x="527686" y="0"/>
                </a:lnTo>
                <a:lnTo>
                  <a:pt x="527686" y="486791"/>
                </a:lnTo>
                <a:lnTo>
                  <a:pt x="0" y="486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6087271" y="6089466"/>
            <a:ext cx="527687" cy="486791"/>
          </a:xfrm>
          <a:custGeom>
            <a:avLst/>
            <a:gdLst/>
            <a:ahLst/>
            <a:cxnLst/>
            <a:rect l="l" t="t" r="r" b="b"/>
            <a:pathLst>
              <a:path w="527687" h="486791">
                <a:moveTo>
                  <a:pt x="0" y="0"/>
                </a:moveTo>
                <a:lnTo>
                  <a:pt x="527687" y="0"/>
                </a:lnTo>
                <a:lnTo>
                  <a:pt x="527687" y="486791"/>
                </a:lnTo>
                <a:lnTo>
                  <a:pt x="0" y="486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4" name="Group 14"/>
          <p:cNvGrpSpPr/>
          <p:nvPr/>
        </p:nvGrpSpPr>
        <p:grpSpPr>
          <a:xfrm>
            <a:off x="-3127839" y="9258300"/>
            <a:ext cx="22035035" cy="3565748"/>
            <a:chOff x="0" y="0"/>
            <a:chExt cx="5803466" cy="939127"/>
          </a:xfrm>
        </p:grpSpPr>
        <p:sp>
          <p:nvSpPr>
            <p:cNvPr id="15" name="Freeform 15"/>
            <p:cNvSpPr/>
            <p:nvPr/>
          </p:nvSpPr>
          <p:spPr>
            <a:xfrm>
              <a:off x="0" y="0"/>
              <a:ext cx="5803466" cy="939127"/>
            </a:xfrm>
            <a:custGeom>
              <a:avLst/>
              <a:gdLst/>
              <a:ahLst/>
              <a:cxnLst/>
              <a:rect l="l" t="t" r="r" b="b"/>
              <a:pathLst>
                <a:path w="5803466" h="939127">
                  <a:moveTo>
                    <a:pt x="0" y="0"/>
                  </a:moveTo>
                  <a:lnTo>
                    <a:pt x="5803466" y="0"/>
                  </a:lnTo>
                  <a:lnTo>
                    <a:pt x="5803466" y="939127"/>
                  </a:lnTo>
                  <a:lnTo>
                    <a:pt x="0" y="939127"/>
                  </a:lnTo>
                  <a:close/>
                </a:path>
              </a:pathLst>
            </a:custGeom>
            <a:solidFill>
              <a:srgbClr val="3C4F75"/>
            </a:solidFill>
          </p:spPr>
        </p:sp>
        <p:sp>
          <p:nvSpPr>
            <p:cNvPr id="16" name="TextBox 16"/>
            <p:cNvSpPr txBox="1"/>
            <p:nvPr/>
          </p:nvSpPr>
          <p:spPr>
            <a:xfrm>
              <a:off x="0" y="-47625"/>
              <a:ext cx="5803466" cy="986752"/>
            </a:xfrm>
            <a:prstGeom prst="rect">
              <a:avLst/>
            </a:prstGeom>
          </p:spPr>
          <p:txBody>
            <a:bodyPr lIns="50800" tIns="50800" rIns="50800" bIns="50800" rtlCol="0" anchor="ctr"/>
            <a:lstStyle/>
            <a:p>
              <a:pPr algn="ctr">
                <a:lnSpc>
                  <a:spcPts val="2940"/>
                </a:lnSpc>
              </a:pPr>
              <a:endParaRPr/>
            </a:p>
          </p:txBody>
        </p:sp>
      </p:grpSp>
      <p:sp>
        <p:nvSpPr>
          <p:cNvPr id="17" name="TextBox 17"/>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18" name="TextBox 18"/>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Montserrat"/>
                <a:ea typeface="Montserrat"/>
                <a:cs typeface="Montserrat"/>
                <a:sym typeface="Montserrat"/>
              </a:rPr>
              <a:t>42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05771"/>
            <a:ext cx="574347" cy="422929"/>
          </a:xfrm>
          <a:custGeom>
            <a:avLst/>
            <a:gdLst/>
            <a:ahLst/>
            <a:cxnLst/>
            <a:rect l="l" t="t" r="r" b="b"/>
            <a:pathLst>
              <a:path w="574347" h="422929">
                <a:moveTo>
                  <a:pt x="0" y="0"/>
                </a:moveTo>
                <a:lnTo>
                  <a:pt x="574347" y="0"/>
                </a:lnTo>
                <a:lnTo>
                  <a:pt x="574347" y="422929"/>
                </a:lnTo>
                <a:lnTo>
                  <a:pt x="0" y="4229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174699" y="6244826"/>
            <a:ext cx="717929" cy="724516"/>
          </a:xfrm>
          <a:custGeom>
            <a:avLst/>
            <a:gdLst/>
            <a:ahLst/>
            <a:cxnLst/>
            <a:rect l="l" t="t" r="r" b="b"/>
            <a:pathLst>
              <a:path w="717929" h="724516">
                <a:moveTo>
                  <a:pt x="0" y="0"/>
                </a:moveTo>
                <a:lnTo>
                  <a:pt x="717930" y="0"/>
                </a:lnTo>
                <a:lnTo>
                  <a:pt x="717930" y="724516"/>
                </a:lnTo>
                <a:lnTo>
                  <a:pt x="0" y="7245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443902" y="3165327"/>
            <a:ext cx="6815398" cy="4287505"/>
          </a:xfrm>
          <a:custGeom>
            <a:avLst/>
            <a:gdLst/>
            <a:ahLst/>
            <a:cxnLst/>
            <a:rect l="l" t="t" r="r" b="b"/>
            <a:pathLst>
              <a:path w="6815398" h="4287505">
                <a:moveTo>
                  <a:pt x="0" y="0"/>
                </a:moveTo>
                <a:lnTo>
                  <a:pt x="6815398" y="0"/>
                </a:lnTo>
                <a:lnTo>
                  <a:pt x="6815398" y="4287505"/>
                </a:lnTo>
                <a:lnTo>
                  <a:pt x="0" y="42875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797799" y="679450"/>
            <a:ext cx="3726948" cy="365760"/>
          </a:xfrm>
          <a:prstGeom prst="rect">
            <a:avLst/>
          </a:prstGeom>
        </p:spPr>
        <p:txBody>
          <a:bodyPr lIns="0" tIns="0" rIns="0" bIns="0" rtlCol="0" anchor="t">
            <a:spAutoFit/>
          </a:bodyPr>
          <a:lstStyle/>
          <a:p>
            <a:pPr algn="l">
              <a:lnSpc>
                <a:spcPts val="2940"/>
              </a:lnSpc>
            </a:pPr>
            <a:r>
              <a:rPr lang="en-US" sz="2100" b="1">
                <a:solidFill>
                  <a:srgbClr val="0C1D4B"/>
                </a:solidFill>
                <a:latin typeface="DM Sans Bold"/>
                <a:ea typeface="DM Sans Bold"/>
                <a:cs typeface="DM Sans Bold"/>
                <a:sym typeface="DM Sans Bold"/>
              </a:rPr>
              <a:t>BORCELLE UNIVERSITY</a:t>
            </a:r>
          </a:p>
        </p:txBody>
      </p:sp>
      <p:sp>
        <p:nvSpPr>
          <p:cNvPr id="6" name="TextBox 6"/>
          <p:cNvSpPr txBox="1"/>
          <p:nvPr/>
        </p:nvSpPr>
        <p:spPr>
          <a:xfrm>
            <a:off x="14289678" y="679450"/>
            <a:ext cx="2969622" cy="365760"/>
          </a:xfrm>
          <a:prstGeom prst="rect">
            <a:avLst/>
          </a:prstGeom>
        </p:spPr>
        <p:txBody>
          <a:bodyPr lIns="0" tIns="0" rIns="0" bIns="0" rtlCol="0" anchor="t">
            <a:spAutoFit/>
          </a:bodyPr>
          <a:lstStyle/>
          <a:p>
            <a:pPr algn="r">
              <a:lnSpc>
                <a:spcPts val="2940"/>
              </a:lnSpc>
            </a:pPr>
            <a:r>
              <a:rPr lang="en-US" sz="2100" b="1" spc="50">
                <a:solidFill>
                  <a:srgbClr val="0C1D4B"/>
                </a:solidFill>
                <a:latin typeface="DM Sans Bold"/>
                <a:ea typeface="DM Sans Bold"/>
                <a:cs typeface="DM Sans Bold"/>
                <a:sym typeface="DM Sans Bold"/>
              </a:rPr>
              <a:t>INTERIOR DESIGN</a:t>
            </a:r>
          </a:p>
        </p:txBody>
      </p:sp>
      <p:sp>
        <p:nvSpPr>
          <p:cNvPr id="7" name="TextBox 7"/>
          <p:cNvSpPr txBox="1"/>
          <p:nvPr/>
        </p:nvSpPr>
        <p:spPr>
          <a:xfrm>
            <a:off x="1797799" y="2842763"/>
            <a:ext cx="7307152" cy="904621"/>
          </a:xfrm>
          <a:prstGeom prst="rect">
            <a:avLst/>
          </a:prstGeom>
        </p:spPr>
        <p:txBody>
          <a:bodyPr lIns="0" tIns="0" rIns="0" bIns="0" rtlCol="0" anchor="t">
            <a:spAutoFit/>
          </a:bodyPr>
          <a:lstStyle/>
          <a:p>
            <a:pPr algn="l">
              <a:lnSpc>
                <a:spcPts val="6766"/>
              </a:lnSpc>
            </a:pPr>
            <a:r>
              <a:rPr lang="en-US" sz="6699" b="1">
                <a:solidFill>
                  <a:srgbClr val="0C1D4B"/>
                </a:solidFill>
                <a:latin typeface="Montserrat Heavy"/>
                <a:ea typeface="Montserrat Heavy"/>
                <a:cs typeface="Montserrat Heavy"/>
                <a:sym typeface="Montserrat Heavy"/>
              </a:rPr>
              <a:t>Discussion</a:t>
            </a:r>
          </a:p>
        </p:txBody>
      </p:sp>
      <p:sp>
        <p:nvSpPr>
          <p:cNvPr id="8" name="TextBox 8"/>
          <p:cNvSpPr txBox="1"/>
          <p:nvPr/>
        </p:nvSpPr>
        <p:spPr>
          <a:xfrm>
            <a:off x="1797799" y="3970264"/>
            <a:ext cx="7307152" cy="15582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Lorem ipsum dolor sit amet, consectetur adipiscing elit. Vivamus ornare sollicitudin est, vitae ullamcorper felis ultrices et. Donec ut risus quis libero hendrerit dignissim et </a:t>
            </a:r>
          </a:p>
        </p:txBody>
      </p:sp>
      <p:sp>
        <p:nvSpPr>
          <p:cNvPr id="9" name="TextBox 9"/>
          <p:cNvSpPr txBox="1"/>
          <p:nvPr/>
        </p:nvSpPr>
        <p:spPr>
          <a:xfrm>
            <a:off x="1797799" y="5894542"/>
            <a:ext cx="7307152" cy="15582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Lorem ipsum dolor sit amet, consectetur adipiscing elit. Vivamus ornare sollicitudin est, vitae ullamcorper felis ultrices et. Donec ut risus quis libero hendrerit dignissim et </a:t>
            </a:r>
          </a:p>
        </p:txBody>
      </p:sp>
      <p:grpSp>
        <p:nvGrpSpPr>
          <p:cNvPr id="10" name="Group 10"/>
          <p:cNvGrpSpPr/>
          <p:nvPr/>
        </p:nvGrpSpPr>
        <p:grpSpPr>
          <a:xfrm>
            <a:off x="-3127839" y="9258300"/>
            <a:ext cx="22035035" cy="3565748"/>
            <a:chOff x="0" y="0"/>
            <a:chExt cx="5803466" cy="939127"/>
          </a:xfrm>
        </p:grpSpPr>
        <p:sp>
          <p:nvSpPr>
            <p:cNvPr id="11" name="Freeform 11"/>
            <p:cNvSpPr/>
            <p:nvPr/>
          </p:nvSpPr>
          <p:spPr>
            <a:xfrm>
              <a:off x="0" y="0"/>
              <a:ext cx="5803466" cy="939127"/>
            </a:xfrm>
            <a:custGeom>
              <a:avLst/>
              <a:gdLst/>
              <a:ahLst/>
              <a:cxnLst/>
              <a:rect l="l" t="t" r="r" b="b"/>
              <a:pathLst>
                <a:path w="5803466" h="939127">
                  <a:moveTo>
                    <a:pt x="0" y="0"/>
                  </a:moveTo>
                  <a:lnTo>
                    <a:pt x="5803466" y="0"/>
                  </a:lnTo>
                  <a:lnTo>
                    <a:pt x="5803466" y="939127"/>
                  </a:lnTo>
                  <a:lnTo>
                    <a:pt x="0" y="939127"/>
                  </a:lnTo>
                  <a:close/>
                </a:path>
              </a:pathLst>
            </a:custGeom>
            <a:solidFill>
              <a:srgbClr val="3C4F75"/>
            </a:solidFill>
          </p:spPr>
        </p:sp>
        <p:sp>
          <p:nvSpPr>
            <p:cNvPr id="12" name="TextBox 12"/>
            <p:cNvSpPr txBox="1"/>
            <p:nvPr/>
          </p:nvSpPr>
          <p:spPr>
            <a:xfrm>
              <a:off x="0" y="-47625"/>
              <a:ext cx="5803466" cy="986752"/>
            </a:xfrm>
            <a:prstGeom prst="rect">
              <a:avLst/>
            </a:prstGeom>
          </p:spPr>
          <p:txBody>
            <a:bodyPr lIns="50800" tIns="50800" rIns="50800" bIns="50800" rtlCol="0" anchor="ctr"/>
            <a:lstStyle/>
            <a:p>
              <a:pPr algn="ctr">
                <a:lnSpc>
                  <a:spcPts val="2940"/>
                </a:lnSpc>
              </a:pPr>
              <a:endParaRPr/>
            </a:p>
          </p:txBody>
        </p:sp>
      </p:grpSp>
      <p:sp>
        <p:nvSpPr>
          <p:cNvPr id="13" name="TextBox 13"/>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14" name="TextBox 14"/>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Montserrat"/>
                <a:ea typeface="Montserrat"/>
                <a:cs typeface="Montserrat"/>
                <a:sym typeface="Montserrat"/>
              </a:rPr>
              <a:t>43</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05771"/>
            <a:ext cx="574347" cy="422929"/>
          </a:xfrm>
          <a:custGeom>
            <a:avLst/>
            <a:gdLst/>
            <a:ahLst/>
            <a:cxnLst/>
            <a:rect l="l" t="t" r="r" b="b"/>
            <a:pathLst>
              <a:path w="574347" h="422929">
                <a:moveTo>
                  <a:pt x="0" y="0"/>
                </a:moveTo>
                <a:lnTo>
                  <a:pt x="574347" y="0"/>
                </a:lnTo>
                <a:lnTo>
                  <a:pt x="574347" y="422929"/>
                </a:lnTo>
                <a:lnTo>
                  <a:pt x="0" y="4229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801521">
            <a:off x="11227096" y="2936483"/>
            <a:ext cx="5006522" cy="5374801"/>
          </a:xfrm>
          <a:custGeom>
            <a:avLst/>
            <a:gdLst/>
            <a:ahLst/>
            <a:cxnLst/>
            <a:rect l="l" t="t" r="r" b="b"/>
            <a:pathLst>
              <a:path w="5006522" h="5374801">
                <a:moveTo>
                  <a:pt x="0" y="0"/>
                </a:moveTo>
                <a:lnTo>
                  <a:pt x="5006522" y="0"/>
                </a:lnTo>
                <a:lnTo>
                  <a:pt x="5006522" y="5374801"/>
                </a:lnTo>
                <a:lnTo>
                  <a:pt x="0" y="53748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797799" y="679450"/>
            <a:ext cx="3726948" cy="365760"/>
          </a:xfrm>
          <a:prstGeom prst="rect">
            <a:avLst/>
          </a:prstGeom>
        </p:spPr>
        <p:txBody>
          <a:bodyPr lIns="0" tIns="0" rIns="0" bIns="0" rtlCol="0" anchor="t">
            <a:spAutoFit/>
          </a:bodyPr>
          <a:lstStyle/>
          <a:p>
            <a:pPr algn="l">
              <a:lnSpc>
                <a:spcPts val="2940"/>
              </a:lnSpc>
            </a:pPr>
            <a:r>
              <a:rPr lang="en-US" sz="2100" b="1">
                <a:solidFill>
                  <a:srgbClr val="0C1D4B"/>
                </a:solidFill>
                <a:latin typeface="DM Sans Bold"/>
                <a:ea typeface="DM Sans Bold"/>
                <a:cs typeface="DM Sans Bold"/>
                <a:sym typeface="DM Sans Bold"/>
              </a:rPr>
              <a:t>BORCELLE UNIVERSITY</a:t>
            </a:r>
          </a:p>
        </p:txBody>
      </p:sp>
      <p:sp>
        <p:nvSpPr>
          <p:cNvPr id="5" name="TextBox 5"/>
          <p:cNvSpPr txBox="1"/>
          <p:nvPr/>
        </p:nvSpPr>
        <p:spPr>
          <a:xfrm>
            <a:off x="14289678" y="679450"/>
            <a:ext cx="2969622" cy="365760"/>
          </a:xfrm>
          <a:prstGeom prst="rect">
            <a:avLst/>
          </a:prstGeom>
        </p:spPr>
        <p:txBody>
          <a:bodyPr lIns="0" tIns="0" rIns="0" bIns="0" rtlCol="0" anchor="t">
            <a:spAutoFit/>
          </a:bodyPr>
          <a:lstStyle/>
          <a:p>
            <a:pPr algn="r">
              <a:lnSpc>
                <a:spcPts val="2940"/>
              </a:lnSpc>
            </a:pPr>
            <a:r>
              <a:rPr lang="en-US" sz="2100" b="1" spc="50">
                <a:solidFill>
                  <a:srgbClr val="0C1D4B"/>
                </a:solidFill>
                <a:latin typeface="DM Sans Bold"/>
                <a:ea typeface="DM Sans Bold"/>
                <a:cs typeface="DM Sans Bold"/>
                <a:sym typeface="DM Sans Bold"/>
              </a:rPr>
              <a:t>INTERIOR DESIGN</a:t>
            </a:r>
          </a:p>
        </p:txBody>
      </p:sp>
      <p:sp>
        <p:nvSpPr>
          <p:cNvPr id="6" name="TextBox 6"/>
          <p:cNvSpPr txBox="1"/>
          <p:nvPr/>
        </p:nvSpPr>
        <p:spPr>
          <a:xfrm>
            <a:off x="1797799" y="2555402"/>
            <a:ext cx="6657603" cy="871220"/>
          </a:xfrm>
          <a:prstGeom prst="rect">
            <a:avLst/>
          </a:prstGeom>
        </p:spPr>
        <p:txBody>
          <a:bodyPr lIns="0" tIns="0" rIns="0" bIns="0" rtlCol="0" anchor="t">
            <a:spAutoFit/>
          </a:bodyPr>
          <a:lstStyle/>
          <a:p>
            <a:pPr algn="l">
              <a:lnSpc>
                <a:spcPts val="6565"/>
              </a:lnSpc>
            </a:pPr>
            <a:r>
              <a:rPr lang="en-US" sz="6500" b="1">
                <a:solidFill>
                  <a:srgbClr val="0C1D4B"/>
                </a:solidFill>
                <a:latin typeface="Montserrat Heavy"/>
                <a:ea typeface="Montserrat Heavy"/>
                <a:cs typeface="Montserrat Heavy"/>
                <a:sym typeface="Montserrat Heavy"/>
              </a:rPr>
              <a:t>Results</a:t>
            </a:r>
          </a:p>
        </p:txBody>
      </p:sp>
      <p:sp>
        <p:nvSpPr>
          <p:cNvPr id="7" name="TextBox 7"/>
          <p:cNvSpPr txBox="1"/>
          <p:nvPr/>
        </p:nvSpPr>
        <p:spPr>
          <a:xfrm>
            <a:off x="1797799" y="3692213"/>
            <a:ext cx="6434901" cy="36918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Lorem ipsum dolor sit amet, consectetur adipiscing elit. Vivamus ornare sollicitudin est, vitae ullamcorper felis ultrices et. Aliquam erat volutpat. Cras vel mi dui. Donec varius odio eu nibh molestie, vel maximus quam viverra. Donec eget velit id nisi scelerisque tempus. Donec ut risus quis libero hendrerit dignissim et vitae magna.</a:t>
            </a:r>
          </a:p>
        </p:txBody>
      </p:sp>
      <p:grpSp>
        <p:nvGrpSpPr>
          <p:cNvPr id="8" name="Group 8"/>
          <p:cNvGrpSpPr/>
          <p:nvPr/>
        </p:nvGrpSpPr>
        <p:grpSpPr>
          <a:xfrm>
            <a:off x="-3127839" y="9258300"/>
            <a:ext cx="22035035" cy="3565748"/>
            <a:chOff x="0" y="0"/>
            <a:chExt cx="5803466" cy="939127"/>
          </a:xfrm>
        </p:grpSpPr>
        <p:sp>
          <p:nvSpPr>
            <p:cNvPr id="9" name="Freeform 9"/>
            <p:cNvSpPr/>
            <p:nvPr/>
          </p:nvSpPr>
          <p:spPr>
            <a:xfrm>
              <a:off x="0" y="0"/>
              <a:ext cx="5803466" cy="939127"/>
            </a:xfrm>
            <a:custGeom>
              <a:avLst/>
              <a:gdLst/>
              <a:ahLst/>
              <a:cxnLst/>
              <a:rect l="l" t="t" r="r" b="b"/>
              <a:pathLst>
                <a:path w="5803466" h="939127">
                  <a:moveTo>
                    <a:pt x="0" y="0"/>
                  </a:moveTo>
                  <a:lnTo>
                    <a:pt x="5803466" y="0"/>
                  </a:lnTo>
                  <a:lnTo>
                    <a:pt x="5803466" y="939127"/>
                  </a:lnTo>
                  <a:lnTo>
                    <a:pt x="0" y="939127"/>
                  </a:lnTo>
                  <a:close/>
                </a:path>
              </a:pathLst>
            </a:custGeom>
            <a:solidFill>
              <a:srgbClr val="3C4F75"/>
            </a:solidFill>
          </p:spPr>
        </p:sp>
        <p:sp>
          <p:nvSpPr>
            <p:cNvPr id="10" name="TextBox 10"/>
            <p:cNvSpPr txBox="1"/>
            <p:nvPr/>
          </p:nvSpPr>
          <p:spPr>
            <a:xfrm>
              <a:off x="0" y="-47625"/>
              <a:ext cx="5803466" cy="986752"/>
            </a:xfrm>
            <a:prstGeom prst="rect">
              <a:avLst/>
            </a:prstGeom>
          </p:spPr>
          <p:txBody>
            <a:bodyPr lIns="50800" tIns="50800" rIns="50800" bIns="50800" rtlCol="0" anchor="ctr"/>
            <a:lstStyle/>
            <a:p>
              <a:pPr algn="ctr">
                <a:lnSpc>
                  <a:spcPts val="2940"/>
                </a:lnSpc>
              </a:pPr>
              <a:endParaRPr/>
            </a:p>
          </p:txBody>
        </p:sp>
      </p:grpSp>
      <p:sp>
        <p:nvSpPr>
          <p:cNvPr id="11" name="TextBox 11"/>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12" name="TextBox 1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Montserrat"/>
                <a:ea typeface="Montserrat"/>
                <a:cs typeface="Montserrat"/>
                <a:sym typeface="Montserrat"/>
              </a:rPr>
              <a:t>44</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05771"/>
            <a:ext cx="574347" cy="422929"/>
          </a:xfrm>
          <a:custGeom>
            <a:avLst/>
            <a:gdLst/>
            <a:ahLst/>
            <a:cxnLst/>
            <a:rect l="l" t="t" r="r" b="b"/>
            <a:pathLst>
              <a:path w="574347" h="422929">
                <a:moveTo>
                  <a:pt x="0" y="0"/>
                </a:moveTo>
                <a:lnTo>
                  <a:pt x="574347" y="0"/>
                </a:lnTo>
                <a:lnTo>
                  <a:pt x="574347" y="422929"/>
                </a:lnTo>
                <a:lnTo>
                  <a:pt x="0" y="4229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174699" y="6244826"/>
            <a:ext cx="717929" cy="724516"/>
          </a:xfrm>
          <a:custGeom>
            <a:avLst/>
            <a:gdLst/>
            <a:ahLst/>
            <a:cxnLst/>
            <a:rect l="l" t="t" r="r" b="b"/>
            <a:pathLst>
              <a:path w="717929" h="724516">
                <a:moveTo>
                  <a:pt x="0" y="0"/>
                </a:moveTo>
                <a:lnTo>
                  <a:pt x="717930" y="0"/>
                </a:lnTo>
                <a:lnTo>
                  <a:pt x="717930" y="724516"/>
                </a:lnTo>
                <a:lnTo>
                  <a:pt x="0" y="7245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797799" y="679450"/>
            <a:ext cx="3726948" cy="365760"/>
          </a:xfrm>
          <a:prstGeom prst="rect">
            <a:avLst/>
          </a:prstGeom>
        </p:spPr>
        <p:txBody>
          <a:bodyPr lIns="0" tIns="0" rIns="0" bIns="0" rtlCol="0" anchor="t">
            <a:spAutoFit/>
          </a:bodyPr>
          <a:lstStyle/>
          <a:p>
            <a:pPr algn="l">
              <a:lnSpc>
                <a:spcPts val="2940"/>
              </a:lnSpc>
            </a:pPr>
            <a:r>
              <a:rPr lang="en-US" sz="2100" b="1">
                <a:solidFill>
                  <a:srgbClr val="0C1D4B"/>
                </a:solidFill>
                <a:latin typeface="DM Sans Bold"/>
                <a:ea typeface="DM Sans Bold"/>
                <a:cs typeface="DM Sans Bold"/>
                <a:sym typeface="DM Sans Bold"/>
              </a:rPr>
              <a:t>BORCELLE UNIVERSITY</a:t>
            </a:r>
          </a:p>
        </p:txBody>
      </p:sp>
      <p:sp>
        <p:nvSpPr>
          <p:cNvPr id="5" name="TextBox 5"/>
          <p:cNvSpPr txBox="1"/>
          <p:nvPr/>
        </p:nvSpPr>
        <p:spPr>
          <a:xfrm>
            <a:off x="14289678" y="679450"/>
            <a:ext cx="2969622" cy="365760"/>
          </a:xfrm>
          <a:prstGeom prst="rect">
            <a:avLst/>
          </a:prstGeom>
        </p:spPr>
        <p:txBody>
          <a:bodyPr lIns="0" tIns="0" rIns="0" bIns="0" rtlCol="0" anchor="t">
            <a:spAutoFit/>
          </a:bodyPr>
          <a:lstStyle/>
          <a:p>
            <a:pPr algn="r">
              <a:lnSpc>
                <a:spcPts val="2940"/>
              </a:lnSpc>
            </a:pPr>
            <a:r>
              <a:rPr lang="en-US" sz="2100" b="1" spc="50">
                <a:solidFill>
                  <a:srgbClr val="0C1D4B"/>
                </a:solidFill>
                <a:latin typeface="DM Sans Bold"/>
                <a:ea typeface="DM Sans Bold"/>
                <a:cs typeface="DM Sans Bold"/>
                <a:sym typeface="DM Sans Bold"/>
              </a:rPr>
              <a:t>INTERIOR DESIGN</a:t>
            </a:r>
          </a:p>
        </p:txBody>
      </p:sp>
      <p:sp>
        <p:nvSpPr>
          <p:cNvPr id="6" name="TextBox 6"/>
          <p:cNvSpPr txBox="1"/>
          <p:nvPr/>
        </p:nvSpPr>
        <p:spPr>
          <a:xfrm>
            <a:off x="5524747" y="1457177"/>
            <a:ext cx="7307152" cy="904621"/>
          </a:xfrm>
          <a:prstGeom prst="rect">
            <a:avLst/>
          </a:prstGeom>
        </p:spPr>
        <p:txBody>
          <a:bodyPr lIns="0" tIns="0" rIns="0" bIns="0" rtlCol="0" anchor="t">
            <a:spAutoFit/>
          </a:bodyPr>
          <a:lstStyle/>
          <a:p>
            <a:pPr algn="ctr">
              <a:lnSpc>
                <a:spcPts val="6766"/>
              </a:lnSpc>
            </a:pPr>
            <a:r>
              <a:rPr lang="en-US" sz="6699" b="1">
                <a:solidFill>
                  <a:srgbClr val="0C1D4B"/>
                </a:solidFill>
                <a:latin typeface="Montserrat Heavy"/>
                <a:ea typeface="Montserrat Heavy"/>
                <a:cs typeface="Montserrat Heavy"/>
                <a:sym typeface="Montserrat Heavy"/>
              </a:rPr>
              <a:t>Conclusion</a:t>
            </a:r>
          </a:p>
        </p:txBody>
      </p:sp>
      <p:sp>
        <p:nvSpPr>
          <p:cNvPr id="7" name="TextBox 7"/>
          <p:cNvSpPr txBox="1"/>
          <p:nvPr/>
        </p:nvSpPr>
        <p:spPr>
          <a:xfrm>
            <a:off x="2533664" y="3794993"/>
            <a:ext cx="5695168" cy="42252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Lorem ipsum dolor sit amet, consectetur adipiscing elit. Vivamus ornare sollicitudin est, vitae ullamcorper felis ultrices et. Aliquam erat volutpat. Cras vel mi dui. Donec varius odio eu nibh molestie, vel maximus quam viverra. Donec eget velit id nisi scelerisque tempus. Donec ut risus quis libero hendrerit dignissim et vitae magna. </a:t>
            </a:r>
          </a:p>
        </p:txBody>
      </p:sp>
      <p:sp>
        <p:nvSpPr>
          <p:cNvPr id="8" name="TextBox 8"/>
          <p:cNvSpPr txBox="1"/>
          <p:nvPr/>
        </p:nvSpPr>
        <p:spPr>
          <a:xfrm>
            <a:off x="10561220" y="4046456"/>
            <a:ext cx="5647835" cy="4225290"/>
          </a:xfrm>
          <a:prstGeom prst="rect">
            <a:avLst/>
          </a:prstGeom>
        </p:spPr>
        <p:txBody>
          <a:bodyPr lIns="0" tIns="0" rIns="0" bIns="0" rtlCol="0" anchor="t">
            <a:spAutoFit/>
          </a:bodyPr>
          <a:lstStyle/>
          <a:p>
            <a:pPr algn="just">
              <a:lnSpc>
                <a:spcPts val="4200"/>
              </a:lnSpc>
            </a:pPr>
            <a:r>
              <a:rPr lang="en-US" sz="2100">
                <a:solidFill>
                  <a:srgbClr val="696D76"/>
                </a:solidFill>
                <a:latin typeface="DM Sans"/>
                <a:ea typeface="DM Sans"/>
                <a:cs typeface="DM Sans"/>
                <a:sym typeface="DM Sans"/>
              </a:rPr>
              <a:t>Lorem ipsum dolor sit amet, consectetur adipiscing elit. Vivamus ornare sollicitudin est, vitae ullamcorper felis ultrices et. Aliquam erat volutpat. Cras vel mi dui. Donec varius odio eu nibh molestie, vel maximus quam viverra. Donec eget velit id nisi scelerisque tempus. Donec ut risus quis libero hendrerit dignissim et vitae magna. </a:t>
            </a:r>
          </a:p>
        </p:txBody>
      </p:sp>
      <p:sp>
        <p:nvSpPr>
          <p:cNvPr id="9" name="TextBox 9"/>
          <p:cNvSpPr txBox="1"/>
          <p:nvPr/>
        </p:nvSpPr>
        <p:spPr>
          <a:xfrm>
            <a:off x="2533664" y="3228446"/>
            <a:ext cx="5695168" cy="429641"/>
          </a:xfrm>
          <a:prstGeom prst="rect">
            <a:avLst/>
          </a:prstGeom>
        </p:spPr>
        <p:txBody>
          <a:bodyPr lIns="0" tIns="0" rIns="0" bIns="0" rtlCol="0" anchor="t">
            <a:spAutoFit/>
          </a:bodyPr>
          <a:lstStyle/>
          <a:p>
            <a:pPr algn="l">
              <a:lnSpc>
                <a:spcPts val="3231"/>
              </a:lnSpc>
            </a:pPr>
            <a:r>
              <a:rPr lang="en-US" sz="3199" b="1">
                <a:solidFill>
                  <a:srgbClr val="0C1D4B"/>
                </a:solidFill>
                <a:latin typeface="Montserrat Heavy"/>
                <a:ea typeface="Montserrat Heavy"/>
                <a:cs typeface="Montserrat Heavy"/>
                <a:sym typeface="Montserrat Heavy"/>
              </a:rPr>
              <a:t>Summary</a:t>
            </a:r>
          </a:p>
        </p:txBody>
      </p:sp>
      <p:sp>
        <p:nvSpPr>
          <p:cNvPr id="10" name="TextBox 10"/>
          <p:cNvSpPr txBox="1"/>
          <p:nvPr/>
        </p:nvSpPr>
        <p:spPr>
          <a:xfrm>
            <a:off x="10561220" y="2866623"/>
            <a:ext cx="5647835" cy="1099820"/>
          </a:xfrm>
          <a:prstGeom prst="rect">
            <a:avLst/>
          </a:prstGeom>
        </p:spPr>
        <p:txBody>
          <a:bodyPr lIns="0" tIns="0" rIns="0" bIns="0" rtlCol="0" anchor="t">
            <a:spAutoFit/>
          </a:bodyPr>
          <a:lstStyle/>
          <a:p>
            <a:pPr algn="l">
              <a:lnSpc>
                <a:spcPts val="4479"/>
              </a:lnSpc>
            </a:pPr>
            <a:r>
              <a:rPr lang="en-US" sz="3199" b="1">
                <a:solidFill>
                  <a:srgbClr val="0C1D4B"/>
                </a:solidFill>
                <a:latin typeface="Montserrat Heavy"/>
                <a:ea typeface="Montserrat Heavy"/>
                <a:cs typeface="Montserrat Heavy"/>
                <a:sym typeface="Montserrat Heavy"/>
              </a:rPr>
              <a:t>Recommendation for restaurant owner</a:t>
            </a:r>
          </a:p>
        </p:txBody>
      </p:sp>
      <p:sp>
        <p:nvSpPr>
          <p:cNvPr id="11" name="Freeform 11"/>
          <p:cNvSpPr/>
          <p:nvPr/>
        </p:nvSpPr>
        <p:spPr>
          <a:xfrm>
            <a:off x="1496107" y="3136380"/>
            <a:ext cx="603385" cy="556622"/>
          </a:xfrm>
          <a:custGeom>
            <a:avLst/>
            <a:gdLst/>
            <a:ahLst/>
            <a:cxnLst/>
            <a:rect l="l" t="t" r="r" b="b"/>
            <a:pathLst>
              <a:path w="603385" h="556622">
                <a:moveTo>
                  <a:pt x="0" y="0"/>
                </a:moveTo>
                <a:lnTo>
                  <a:pt x="603384" y="0"/>
                </a:lnTo>
                <a:lnTo>
                  <a:pt x="603384" y="556623"/>
                </a:lnTo>
                <a:lnTo>
                  <a:pt x="0" y="5566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9519685" y="3171296"/>
            <a:ext cx="603385" cy="556622"/>
          </a:xfrm>
          <a:custGeom>
            <a:avLst/>
            <a:gdLst/>
            <a:ahLst/>
            <a:cxnLst/>
            <a:rect l="l" t="t" r="r" b="b"/>
            <a:pathLst>
              <a:path w="603385" h="556622">
                <a:moveTo>
                  <a:pt x="0" y="0"/>
                </a:moveTo>
                <a:lnTo>
                  <a:pt x="603385" y="0"/>
                </a:lnTo>
                <a:lnTo>
                  <a:pt x="603385" y="556623"/>
                </a:lnTo>
                <a:lnTo>
                  <a:pt x="0" y="5566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3" name="Group 13"/>
          <p:cNvGrpSpPr/>
          <p:nvPr/>
        </p:nvGrpSpPr>
        <p:grpSpPr>
          <a:xfrm>
            <a:off x="-3127839" y="9258300"/>
            <a:ext cx="22035035" cy="3565748"/>
            <a:chOff x="0" y="0"/>
            <a:chExt cx="5803466" cy="939127"/>
          </a:xfrm>
        </p:grpSpPr>
        <p:sp>
          <p:nvSpPr>
            <p:cNvPr id="14" name="Freeform 14"/>
            <p:cNvSpPr/>
            <p:nvPr/>
          </p:nvSpPr>
          <p:spPr>
            <a:xfrm>
              <a:off x="0" y="0"/>
              <a:ext cx="5803466" cy="939127"/>
            </a:xfrm>
            <a:custGeom>
              <a:avLst/>
              <a:gdLst/>
              <a:ahLst/>
              <a:cxnLst/>
              <a:rect l="l" t="t" r="r" b="b"/>
              <a:pathLst>
                <a:path w="5803466" h="939127">
                  <a:moveTo>
                    <a:pt x="0" y="0"/>
                  </a:moveTo>
                  <a:lnTo>
                    <a:pt x="5803466" y="0"/>
                  </a:lnTo>
                  <a:lnTo>
                    <a:pt x="5803466" y="939127"/>
                  </a:lnTo>
                  <a:lnTo>
                    <a:pt x="0" y="939127"/>
                  </a:lnTo>
                  <a:close/>
                </a:path>
              </a:pathLst>
            </a:custGeom>
            <a:solidFill>
              <a:srgbClr val="3C4F75"/>
            </a:solidFill>
          </p:spPr>
        </p:sp>
        <p:sp>
          <p:nvSpPr>
            <p:cNvPr id="15" name="TextBox 15"/>
            <p:cNvSpPr txBox="1"/>
            <p:nvPr/>
          </p:nvSpPr>
          <p:spPr>
            <a:xfrm>
              <a:off x="0" y="-47625"/>
              <a:ext cx="5803466" cy="986752"/>
            </a:xfrm>
            <a:prstGeom prst="rect">
              <a:avLst/>
            </a:prstGeom>
          </p:spPr>
          <p:txBody>
            <a:bodyPr lIns="50800" tIns="50800" rIns="50800" bIns="50800" rtlCol="0" anchor="ctr"/>
            <a:lstStyle/>
            <a:p>
              <a:pPr algn="ctr">
                <a:lnSpc>
                  <a:spcPts val="2940"/>
                </a:lnSpc>
              </a:pPr>
              <a:endParaRPr/>
            </a:p>
          </p:txBody>
        </p:sp>
      </p:grpSp>
      <p:sp>
        <p:nvSpPr>
          <p:cNvPr id="16" name="TextBox 16"/>
          <p:cNvSpPr txBox="1"/>
          <p:nvPr/>
        </p:nvSpPr>
        <p:spPr>
          <a:xfrm>
            <a:off x="12601471" y="9525325"/>
            <a:ext cx="4657829" cy="389255"/>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17" name="TextBox 17"/>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Montserrat"/>
                <a:ea typeface="Montserrat"/>
                <a:cs typeface="Montserrat"/>
                <a:sym typeface="Montserrat"/>
              </a:rPr>
              <a:t>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343</TotalTime>
  <Words>3216</Words>
  <Application>Microsoft Macintosh PowerPoint</Application>
  <PresentationFormat>Custom</PresentationFormat>
  <Paragraphs>520</Paragraphs>
  <Slides>51</Slides>
  <Notes>0</Notes>
  <HiddenSlides>0</HiddenSlides>
  <MMClips>1</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51</vt:i4>
      </vt:variant>
    </vt:vector>
  </HeadingPairs>
  <TitlesOfParts>
    <vt:vector size="65" baseType="lpstr">
      <vt:lpstr>Canva Sans Italics</vt:lpstr>
      <vt:lpstr>Montserrat Medium</vt:lpstr>
      <vt:lpstr>Calibri</vt:lpstr>
      <vt:lpstr>Montserrat Heavy</vt:lpstr>
      <vt:lpstr>DM Sans Bold</vt:lpstr>
      <vt:lpstr>Montserrat Bold Italics</vt:lpstr>
      <vt:lpstr>Arial</vt:lpstr>
      <vt:lpstr>Montserrat Semi-Bold</vt:lpstr>
      <vt:lpstr>Montserrat Italics</vt:lpstr>
      <vt:lpstr>DM Sans</vt:lpstr>
      <vt:lpstr>Canva Sans Bold</vt:lpstr>
      <vt:lpstr>Montserrat Bold</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Presentation - HVGiang</dc:title>
  <cp:lastModifiedBy>Lưu Hoàng Linh</cp:lastModifiedBy>
  <cp:revision>6</cp:revision>
  <dcterms:created xsi:type="dcterms:W3CDTF">2006-08-16T00:00:00Z</dcterms:created>
  <dcterms:modified xsi:type="dcterms:W3CDTF">2025-06-13T21:47:05Z</dcterms:modified>
  <dc:identifier>DAGqMEj90VU</dc:identifier>
</cp:coreProperties>
</file>